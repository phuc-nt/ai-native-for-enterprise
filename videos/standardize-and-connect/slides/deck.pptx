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đề xuất cho một quyết định đầu tư: muốn đưa AI agent vào công việc ở quy mô toàn tổ chức thì nên tự xây một platform có harness riêng, hay chuẩn hoá tài sản nội bộ rồi nối vào harness có sẵn. Người nghe là lãnh đạo, người duyệt ngân sách và kiến trúc sư. Kết luận đi trước: chuẩn hoá và kết nối, không viết harness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Nhiều tổ chức đang đứng trước cùng một câu hỏi: xây một platform tập trung có harness riêng, hay chuẩn hoá tài sản nội bộ rồi nối vào harness có sẵn. Đề xuất chọn cách thứ hai. Nó áp đúng nguyên tắc của proposal ba trụ cột, vốn nói cách đưa agent vào một pilot, vào quyết định đầu tư ở cấp tổ chức.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Codex CLI, Gemini CLI, GitHub Copilot, Cursor, Kiro, cùng OpenCode và goose gần như tháng nào cũng ra feature mới: subagent, skill, hook, sandbox, headless, SDK, agent trên cloud. Ở phần chung này, không đội nội bộ nào đuổi kịp. Cùng một harness lại chạy được ở bốn nơi, nên “tool cá nhân” hay “hệ thống tập trung” giờ chỉ là hai cách triển khai.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do Anthropic công bố cuối 2024 và đã thành chuẩn chung để nối agent với tool và dữ liệu. Tháng 12/2025, MCP cùng AGENTS.md và goose được chuyển về Agentic AI Foundation thuộc Linux Foundation, và Agent Skills được công bố thành chuẩn mở, đã có nhiều harness hỗ trợ. Hệ quả: muốn sở hữu phần tích hợp thì không còn phải sở hữu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Báo cáo The GenAI Divide của MIT NANDA năm 2025 ghi nhận khoảng 95% tổ chức trong mẫu chưa thấy lợi nhuận đo được từ generative AI. Giải pháp mua hoặc hợp tác với bên chuyên môn thành công khoảng 67%, còn tự xây nội bộ chỉ đạt khoảng một phần ba mức đó. Đây là báo cáo sơ bộ, mẫu không lớn, nên chỉ đọc như một tín hiệu; nhưng nó trùng với thực tế là dự án AI thường chết ở dữ liệu và phần nối vào quy trình, hiếm khi chết ở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skill thành chuẩn chung, nó cũng thành một đường tấn công. Các nghiên cứu năm 2026 chỉ ra cách tấn công qua skill, kể cả bằng tổ hợp nhiều skill mà từng cái riêng lẻ đều qua được kiểm tra. Vì vậy kit phải được quản trị như code: có owner, có review, có version và phát hành qua registry nội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là phần bao quanh LLM để nó thành agent: agent loop, session, skill, MCP client, permission, hook, sandbox và transcript. Một agent làm việc thật gồm năm phần; LLM và harness thì vendor hoặc open source có, còn kit và data source thì chỉ tổ chức mới có. Cách nhớ: LLM là CPU, harness là hệ điều hành, kit và data source là ứng dụng và dữ liệu nghiệp vụ; không doanh nghiệp nào tự viết hệ điều hành chỉ để chạy phần mềm kế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cá nhân như Claude Code, Kiro, Cursor, GitHub Copilot, Codex CLI có năng lực tốt nhất thị trường, cập nhật nhanh, kỹ sư đã quen, và agent chỉ có đúng quyền của người dùng. Điểm hay bị chê là kết quả phụ thuộc kỹ năng prompt, mỗi người một cấu hình, log nằm trên máy cá nhân, khó nhìn chi phí. Nhưng phần lớn điểm yếu đó đến từ việc thiếu kit, data source và governance dùng chung, không đến từ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tập trung thường gồm năm phần: knowledge base, multi-agent orchestration, integration, governance và một chat UI riêng. Động cơ xây nó đều chính đáng. Vấn đề là bản thiết kế gộp những thứ khác bản chất: phần 1 và 3 là tài sản chỉ tổ chức mới có, phần 4 phần lớn mua hoặc cấu hình được, còn phần 2 và 5 chính là viết lại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này so ba cách làm trên tám tiêu chí. Harness cá nhân không kit có năng lực tốt nhất nhưng kết quả phụ thuộc người; platform tự viết cho kết quả đồng đều nhưng năng lực luôn đi sau và chi phí cao, kéo dài. Đề xuất giữ được cả hai điểm mạnh: năng lực theo vendor, đồng đều nhờ kit, tự động hoá bằng headless có approval gate, và chỉ phụ thuộc vào chuẩn mở.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xuất gói trong một câu: tập trung và chuẩn hoá thứ bên ngoài không có, tức dữ liệu và quy trình; nối chúng tới mọi harness qua connector theo chuẩn mở; harness và LLM thì mua hoặc dùng open source. Bảng năm layer cho thấy tổ chức chỉ xây ba thứ: connector, kit và data source AI-ready. Harness, LLM và phần lớn governance thì mua hoặc cấu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Việc thứ nhất: tri thức đang rải rác trong wiki, issue tracker, chat, source code, spec, biên bản họp và trong đầu người làm lâu năm. Cần đưa nó về dạng agent dùng được ngay: có cấu trúc, có nguồn gốc, có phân quyền, kèm một bộ tri thức nói rõ câu hỏi nào trả lời ở đâu và dữ liệu không nói được gì. Code graph nhiều repo, index tài liệu thiết kế và định nghĩa chỉ số đều thuộc layer này, và đây là phần nên tập trung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Việc thứ hai: quy trình chuẩn của tổ chức hiện được viết cho người đọc; cần viết lại thành skill và workflow cho agent đọc. Mỗi skill làm một việc và ghi rõ input, output, chỗ dừng lại hỏi người và tiêu chí hoàn thành. Kit được quản lý như code, phát hành qua registry nội bộ và mang sẵn guardrail. Đây là chỗ biến “kết quả phụ thuộc kỹ năng prompt” thành “kết quả theo quy trình của tổ chức”.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Việc thứ ba: mỗi hệ thống nội bộ được phơi ra cho agent qua một interface hẹp, là CLI hoặc MCP server, trả JSON kèm ngữ cảnh, tách đọc và ghi, và xác thực bằng quyền của người gọi. Connector viết một lần là dùng được cho mọi harness hỗ trợ MCP hoặc gọi được shell. Kit cũng tách core trung lập và adapter mỏng cho từng harness, vì file rule, format hook và cách chọn agent vẫn khác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Việc thứ tư: những gì cấp quản lý thật sự cần đều không đòi hỏi một harness riêng. LLM gateway đứng giữa mọi harness và model của vendor, ghi cost theo user và dự án, log request, giới hạn model và giữ dữ liệu trong vùng cho phép. Thêm telemetry thu về một chỗ, policy phát hành cùng kit, và human gate đặt ở chỗ đã có sẵn như PR review, branch protection, approval trong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Việc thứ năm: chọn một đến hai harness chuẩn, nhưng giữ tài sản ở định dạng mở để có thể đổi. Khi cần tự động hoá cao hơn, cho chính harness đó chạy headless trên server hoặc trong CI, dùng cùng kit và data source, và dừng ở một approval gate cuối. Claude Code có chế độ non-interactive, Agent SDK và tích hợp GitHub Actions; Kiro CLI có --no-interactive và đã chạy thử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và cộng đồng open source ra feature theo tháng; harness tự viết phải đuổi theo mãi. Phép thử mất giá: với từng hạng mục, hỏi nếu quý sau vendor ra đúng thứ này thì khoản đầu tư có mất trắng không. Agent loop, orchestration và chat UI thì mất; data source, kit theo quy trình riêng và connector tới hệ thống nội bộ thì không, vì bên ngoài không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Automation level là tính chất của workflow, không phải của tool: cùng một harness, dừng hỏi người ở mỗi bước là mức cộng tác, chạy trọn một chuỗi skill rồi trình ở approval gate cuối là mức AI dẫn dắt, người duyệt. Chuẩn mở đã khiến harness thay thế được, nên lock-in lớn nhất lại là harness tự viết. Người dùng sẽ so với harness của vendor lớn, và người giỏi nhất bị dồn vào phần không tạo khác biệt trong khi dữ liệu và quy trình bị bỏ đói.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Tám lo ngại chính đáng về harness đều có cách đáp ứng mà không cần tự viết platform: kit cho kết quả đồng đều, skill chain chạy headless cho end-to-end, code graph làm data source cho nhiều repo, gateway và telemetry cho audit và chi phí. Riêng việc chạy tự động: kinh nghiệm thực tế cho thấy prompt không kích hoạt skill nào mới là prompt dễ gây phá huỷ, và API của hệ thống đích có thể không chặn thao tác xoá, nên guardrail phải nằm trong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Khi các lo ngại đã được đáp ứng, phần thật sự cần xây tập trung chỉ còn ba thứ: data layer, kit registry và governance layer. Đó vẫn là một platform, nhưng là platform của tài sản, không phải platform của harness. Đây là câu nên mang về sau buổi họp.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xuất này không tuyệt đối; có bốn trường hợp nên tự làm nhiều hơn. Người dùng phần lớn không phải kỹ sư thì dùng sản phẩm chat doanh nghiệp hoặc harness đa kênh có sẵn; môi trường air-gapped thì bắt đầu từ harness và model open source tự host. Agent là sản phẩm bán cho khách là bài toán khác, còn khi harness thiếu năng lực thì vá bằng hook, plugin, MCP server; viết harness mới là lựa chọn cuối cùng.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Đề xuất cũng có rủi ro riêng. Portability không trọn vẹn thì dùng adapter mỏng và đo phần phải sửa; license IDE có thể không cho chạy headless trong CI nên phải làm rõ điều khoản và chi phí ngay từ đầu. Kit có thể bị bỏ mặc hoặc bị tấn công qua chuỗi cung ứng, nên mỗi skill cần owner, phát hành qua registry nội bộ và review như code. Chuẩn hoá dữ liệu tốn công, nên bắt đầu nhỏ và đo trước,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Lộ trình gợi ý có bốn giai đoạn. Hai đến bốn tuần đầu dựng nền: chọn harness chuẩn, dựng LLM gateway, đặt policy permission; sau đó một đến ba tháng pilot với một quy trình và một hai nguồn dữ liệu, đo trước và sau. Tiếp theo chạy cùng kit headless trong CI với approval gate và trên harness thứ hai, rồi mở rộng liên tục qua kit registry. Các chỉ số cần theo dõi nằm ở hàng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đi tiếp cần năm quyết định: nguyên tắc đầu tư, owner của data source, kit registry và gateway, chuẩn định dạng, ràng buộc dữ liệu và phạm vi pilot. Quyết định thứ tư, model nào được xem dữ liệu nào và dữ liệu phải ở lại vùng nào, cần có trước khi chọn harness. Sau buổi này, mong muốn là có owner và phạm vi pilot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Các nguồn đều công khai. Số liệu MIT NANDA lấy qua bài của Virtualization Review về báo cáo The GenAI Divide, là báo cáo sơ bộ với mẫu không lớn. Hai bài arXiv năm 2026 là cơ sở cho rủi ro chuỗi cung ứng skill.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www.linuxfoundation.org/press/linux-foundation-announces-the-formation-of-the-agentic-ai-foundation" TargetMode="External"/><Relationship Id="rId2" Type="http://schemas.openxmlformats.org/officeDocument/2006/relationships/hyperlink" Target="https://techcrunch.com/2025/12/09/openai-anthropic-and-block-join-new-linux-foundation-effort-to-standardize-the-ai-agent-era/" TargetMode="External"/><Relationship Id="rId3" Type="http://schemas.openxmlformats.org/officeDocument/2006/relationships/hyperlink" Target="https://agentskills.io/" TargetMode="External"/><Relationship Id="rId4" Type="http://schemas.openxmlformats.org/officeDocument/2006/relationships/hyperlink" Target="https://www.firecrawl.dev/blog/agent-skills" TargetMode="External"/><Relationship Id="rId5" Type="http://schemas.openxmlformats.org/officeDocument/2006/relationships/hyperlink" Target="https://virtualizationreview.com/articles/2025/08/19/mit-report-finds-most-ai-business-investments-fail-reveals-genai-divide.aspx" TargetMode="External"/><Relationship Id="rId6" Type="http://schemas.openxmlformats.org/officeDocument/2006/relationships/hyperlink" Target="https://arxiv.org/pdf/2603.00195" TargetMode="External"/><Relationship Id="rId7" Type="http://schemas.openxmlformats.org/officeDocument/2006/relationships/hyperlink" Target="https://arxiv.org/pdf/2608.16246" TargetMode="External"/><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AE7"/>
        </a:solidFill>
      </p:bgPr>
    </p:bg>
    <p:spTree>
      <p:nvGrpSpPr>
        <p:cNvPr id="1" name=""/>
        <p:cNvGrpSpPr/>
        <p:nvPr/>
      </p:nvGrpSpPr>
      <p:grpSpPr>
        <a:xfrm>
          <a:off x="0" y="0"/>
          <a:ext cx="0" cy="0"/>
          <a:chOff x="0" y="0"/>
          <a:chExt cx="0" cy="0"/>
        </a:xfrm>
      </p:grpSpPr>
      <p:sp>
        <p:nvSpPr>
          <p:cNvPr id="2" name="A_0_0_fade_1"/>
          <p:cNvSpPr/>
          <p:nvPr/>
        </p:nvSpPr>
        <p:spPr>
          <a:xfrm>
            <a:off x="7802941" y="0"/>
            <a:ext cx="4389029" cy="6858000"/>
          </a:xfrm>
          <a:custGeom>
            <a:avLst/>
            <a:gdLst/>
            <a:ahLst/>
            <a:cxnLst/>
            <a:rect l="l" t="t" r="r" b="b"/>
            <a:pathLst>
              <a:path w="4389029" h="6858000">
                <a:moveTo>
                  <a:pt x="1316736" y="0"/>
                </a:moveTo>
                <a:lnTo>
                  <a:pt x="4389029" y="0"/>
                </a:lnTo>
                <a:lnTo>
                  <a:pt x="4389029" y="6858000"/>
                </a:lnTo>
                <a:lnTo>
                  <a:pt x="0" y="6858000"/>
                </a:lnTo>
                <a:close/>
              </a:path>
            </a:pathLst>
          </a:custGeom>
          <a:solidFill>
            <a:srgbClr val="EBE9E9"/>
          </a:solidFill>
          <a:ln/>
        </p:spPr>
      </p:sp>
      <p:sp>
        <p:nvSpPr>
          <p:cNvPr id="3" name="A_1_0_fade_2"/>
          <p:cNvSpPr/>
          <p:nvPr/>
        </p:nvSpPr>
        <p:spPr>
          <a:xfrm>
            <a:off x="10464759" y="1079541"/>
            <a:ext cx="88880" cy="88880"/>
          </a:xfrm>
          <a:prstGeom prst="ellipse">
            <a:avLst/>
          </a:prstGeom>
          <a:solidFill>
            <a:srgbClr val="1E2BFA"/>
          </a:solidFill>
          <a:ln/>
        </p:spPr>
      </p:sp>
      <p:sp>
        <p:nvSpPr>
          <p:cNvPr id="4" name="A_2_0_fade_3"/>
          <p:cNvSpPr/>
          <p:nvPr/>
        </p:nvSpPr>
        <p:spPr>
          <a:xfrm>
            <a:off x="10744200" y="1079541"/>
            <a:ext cx="88880" cy="88880"/>
          </a:xfrm>
          <a:prstGeom prst="ellipse">
            <a:avLst/>
          </a:prstGeom>
          <a:solidFill>
            <a:srgbClr val="1E2BFA"/>
          </a:solidFill>
          <a:ln/>
        </p:spPr>
      </p:sp>
      <p:sp>
        <p:nvSpPr>
          <p:cNvPr id="5" name="A_3_0_fade_4"/>
          <p:cNvSpPr/>
          <p:nvPr/>
        </p:nvSpPr>
        <p:spPr>
          <a:xfrm>
            <a:off x="11023641" y="1079541"/>
            <a:ext cx="88880" cy="88880"/>
          </a:xfrm>
          <a:prstGeom prst="ellipse">
            <a:avLst/>
          </a:prstGeom>
          <a:solidFill>
            <a:srgbClr val="1E2BFA"/>
          </a:solidFill>
          <a:ln/>
        </p:spPr>
      </p:sp>
      <p:sp>
        <p:nvSpPr>
          <p:cNvPr id="6" name="A_4_0_fade_5"/>
          <p:cNvSpPr/>
          <p:nvPr/>
        </p:nvSpPr>
        <p:spPr>
          <a:xfrm>
            <a:off x="10464759" y="1358890"/>
            <a:ext cx="88880" cy="88880"/>
          </a:xfrm>
          <a:prstGeom prst="ellipse">
            <a:avLst/>
          </a:prstGeom>
          <a:solidFill>
            <a:srgbClr val="1E2BFA"/>
          </a:solidFill>
          <a:ln/>
        </p:spPr>
      </p:sp>
      <p:sp>
        <p:nvSpPr>
          <p:cNvPr id="7" name="A_5_0_fade_6"/>
          <p:cNvSpPr/>
          <p:nvPr/>
        </p:nvSpPr>
        <p:spPr>
          <a:xfrm>
            <a:off x="10744200" y="1358890"/>
            <a:ext cx="88880" cy="88880"/>
          </a:xfrm>
          <a:prstGeom prst="ellipse">
            <a:avLst/>
          </a:prstGeom>
          <a:solidFill>
            <a:srgbClr val="1E2BFA"/>
          </a:solidFill>
          <a:ln/>
        </p:spPr>
      </p:sp>
      <p:sp>
        <p:nvSpPr>
          <p:cNvPr id="8" name="A_6_0_fade_7"/>
          <p:cNvSpPr/>
          <p:nvPr/>
        </p:nvSpPr>
        <p:spPr>
          <a:xfrm>
            <a:off x="11023641" y="1358890"/>
            <a:ext cx="88880" cy="88880"/>
          </a:xfrm>
          <a:prstGeom prst="ellipse">
            <a:avLst/>
          </a:prstGeom>
          <a:solidFill>
            <a:srgbClr val="1E2BFA"/>
          </a:solidFill>
          <a:ln/>
        </p:spPr>
      </p:sp>
      <p:sp>
        <p:nvSpPr>
          <p:cNvPr id="9" name="A_7_0_fade_8"/>
          <p:cNvSpPr/>
          <p:nvPr/>
        </p:nvSpPr>
        <p:spPr>
          <a:xfrm>
            <a:off x="10464759" y="1638330"/>
            <a:ext cx="88880" cy="88880"/>
          </a:xfrm>
          <a:prstGeom prst="ellipse">
            <a:avLst/>
          </a:prstGeom>
          <a:solidFill>
            <a:srgbClr val="1E2BFA"/>
          </a:solidFill>
          <a:ln/>
        </p:spPr>
      </p:sp>
      <p:sp>
        <p:nvSpPr>
          <p:cNvPr id="10" name="A_8_0_fade_9"/>
          <p:cNvSpPr/>
          <p:nvPr/>
        </p:nvSpPr>
        <p:spPr>
          <a:xfrm>
            <a:off x="10744200" y="1638330"/>
            <a:ext cx="88880" cy="88880"/>
          </a:xfrm>
          <a:prstGeom prst="ellipse">
            <a:avLst/>
          </a:prstGeom>
          <a:solidFill>
            <a:srgbClr val="1E2BFA"/>
          </a:solidFill>
          <a:ln/>
        </p:spPr>
      </p:sp>
      <p:sp>
        <p:nvSpPr>
          <p:cNvPr id="11" name="A_9_0_fade_10"/>
          <p:cNvSpPr/>
          <p:nvPr/>
        </p:nvSpPr>
        <p:spPr>
          <a:xfrm>
            <a:off x="11023641" y="1638330"/>
            <a:ext cx="88880" cy="88880"/>
          </a:xfrm>
          <a:prstGeom prst="ellipse">
            <a:avLst/>
          </a:prstGeom>
          <a:solidFill>
            <a:srgbClr val="1E2BFA"/>
          </a:solidFill>
          <a:ln/>
        </p:spPr>
      </p:sp>
      <p:sp>
        <p:nvSpPr>
          <p:cNvPr id="12" name="A_10_0_fade_11"/>
          <p:cNvSpPr/>
          <p:nvPr/>
        </p:nvSpPr>
        <p:spPr>
          <a:xfrm>
            <a:off x="10549707" y="5215738"/>
            <a:ext cx="6586515" cy="6586515"/>
          </a:xfrm>
          <a:prstGeom prst="ellipse">
            <a:avLst/>
          </a:prstGeom>
          <a:ln w="9525">
            <a:solidFill>
              <a:srgbClr val="D0D1EB"/>
            </a:solidFill>
            <a:prstDash val="solid"/>
          </a:ln>
        </p:spPr>
      </p:sp>
      <p:sp>
        <p:nvSpPr>
          <p:cNvPr id="13" name="A_11_0_fade_12"/>
          <p:cNvSpPr/>
          <p:nvPr/>
        </p:nvSpPr>
        <p:spPr>
          <a:xfrm>
            <a:off x="9025768" y="3691707"/>
            <a:ext cx="9634576" cy="9634576"/>
          </a:xfrm>
          <a:prstGeom prst="ellipse">
            <a:avLst/>
          </a:prstGeom>
          <a:ln w="9525">
            <a:solidFill>
              <a:srgbClr val="D0D1EB"/>
            </a:solidFill>
            <a:prstDash val="solid"/>
          </a:ln>
        </p:spPr>
      </p:sp>
      <p:sp>
        <p:nvSpPr>
          <p:cNvPr id="14" name="A_12_0_wipe_13"/>
          <p:cNvSpPr/>
          <p:nvPr/>
        </p:nvSpPr>
        <p:spPr>
          <a:xfrm>
            <a:off x="609630" y="1600383"/>
            <a:ext cx="381030" cy="25420"/>
          </a:xfrm>
          <a:prstGeom prst="roundRect">
            <a:avLst>
              <a:gd name="adj" fmla="val 50001"/>
            </a:avLst>
          </a:prstGeom>
          <a:solidFill>
            <a:srgbClr val="1E2BFA"/>
          </a:solidFill>
          <a:ln/>
        </p:spPr>
      </p:sp>
      <p:sp>
        <p:nvSpPr>
          <p:cNvPr id="15" name="A_13_0_fade_14"/>
          <p:cNvSpPr txBox="1"/>
          <p:nvPr/>
        </p:nvSpPr>
        <p:spPr>
          <a:xfrm>
            <a:off x="609630" y="1801734"/>
            <a:ext cx="1796979"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ĐỀ XUẤT · 28/09/2026</a:t>
            </a:r>
            <a:endParaRPr lang="en-US" sz="1100" dirty="0"/>
          </a:p>
        </p:txBody>
      </p:sp>
      <p:sp>
        <p:nvSpPr>
          <p:cNvPr id="16" name="A_14_0_fade_15"/>
          <p:cNvSpPr txBox="1"/>
          <p:nvPr/>
        </p:nvSpPr>
        <p:spPr>
          <a:xfrm>
            <a:off x="609630" y="2147468"/>
            <a:ext cx="6257056" cy="665958"/>
          </a:xfrm>
          <a:prstGeom prst="rect">
            <a:avLst/>
          </a:prstGeom>
          <a:noFill/>
          <a:ln/>
        </p:spPr>
        <p:txBody>
          <a:bodyPr wrap="square" lIns="0" tIns="0" rIns="0" bIns="0" rtlCol="0" anchor="t"/>
          <a:lstStyle/>
          <a:p>
            <a:pPr algn="l" indent="0" marL="0">
              <a:lnSpc>
                <a:spcPts val="5244"/>
              </a:lnSpc>
              <a:buNone/>
            </a:pPr>
            <a:r>
              <a:rPr lang="en-US" sz="4600" b="1" spc="-92" kern="0" dirty="0">
                <a:solidFill>
                  <a:srgbClr val="111111"/>
                </a:solidFill>
                <a:latin typeface="Space Grotesk" pitchFamily="34" charset="0"/>
                <a:ea typeface="Space Grotesk" pitchFamily="34" charset="-122"/>
                <a:cs typeface="Space Grotesk" pitchFamily="34" charset="-120"/>
              </a:rPr>
              <a:t>Chuẩn hoá và kết nối,</a:t>
            </a:r>
            <a:endParaRPr lang="en-US" sz="4600" dirty="0"/>
          </a:p>
        </p:txBody>
      </p:sp>
      <p:sp>
        <p:nvSpPr>
          <p:cNvPr id="17" name="A_14_0_fade_16"/>
          <p:cNvSpPr txBox="1"/>
          <p:nvPr/>
        </p:nvSpPr>
        <p:spPr>
          <a:xfrm>
            <a:off x="609630" y="2813426"/>
            <a:ext cx="6581943" cy="665958"/>
          </a:xfrm>
          <a:prstGeom prst="rect">
            <a:avLst/>
          </a:prstGeom>
          <a:noFill/>
          <a:ln/>
        </p:spPr>
        <p:txBody>
          <a:bodyPr wrap="square" lIns="0" tIns="0" rIns="0" bIns="0" rtlCol="0" anchor="t"/>
          <a:lstStyle/>
          <a:p>
            <a:pPr algn="l" indent="0" marL="0">
              <a:lnSpc>
                <a:spcPts val="5244"/>
              </a:lnSpc>
              <a:buNone/>
            </a:pPr>
            <a:r>
              <a:rPr lang="en-US" sz="4600" b="1" spc="-92" kern="0" dirty="0">
                <a:solidFill>
                  <a:srgbClr val="111111"/>
                </a:solidFill>
                <a:latin typeface="Space Grotesk" pitchFamily="34" charset="0"/>
                <a:ea typeface="Space Grotesk" pitchFamily="34" charset="-122"/>
                <a:cs typeface="Space Grotesk" pitchFamily="34" charset="-120"/>
              </a:rPr>
              <a:t>thay vì xây AI platform</a:t>
            </a:r>
            <a:endParaRPr lang="en-US" sz="4600" dirty="0"/>
          </a:p>
        </p:txBody>
      </p:sp>
      <p:sp>
        <p:nvSpPr>
          <p:cNvPr id="18" name="A_15_0_fade_17"/>
          <p:cNvSpPr txBox="1"/>
          <p:nvPr/>
        </p:nvSpPr>
        <p:spPr>
          <a:xfrm>
            <a:off x="609630" y="3667933"/>
            <a:ext cx="7149511" cy="590520"/>
          </a:xfrm>
          <a:prstGeom prst="rect">
            <a:avLst/>
          </a:prstGeom>
          <a:noFill/>
          <a:ln/>
        </p:spPr>
        <p:txBody>
          <a:bodyPr wrap="square" lIns="0" tIns="0" rIns="0" bIns="0" rtlCol="0" anchor="t"/>
          <a:lstStyle/>
          <a:p>
            <a:pPr algn="l" indent="0" marL="0">
              <a:lnSpc>
                <a:spcPts val="2325"/>
              </a:lnSpc>
              <a:buNone/>
            </a:pPr>
            <a:r>
              <a:rPr lang="en-US" sz="1550" dirty="0">
                <a:solidFill>
                  <a:srgbClr val="6B6B6B"/>
                </a:solidFill>
                <a:latin typeface="Inter" pitchFamily="34" charset="0"/>
                <a:ea typeface="Inter" pitchFamily="34" charset="-122"/>
                <a:cs typeface="Inter" pitchFamily="34" charset="-120"/>
              </a:rPr>
              <a:t>Dành cho lãnh đạo, người duyệt ngân sách và kiến trúc sư đang cân nhắc xây</a:t>
            </a:r>
            <a:endParaRPr lang="en-US" sz="1550" dirty="0"/>
          </a:p>
          <a:p>
            <a:pPr algn="l" indent="0" marL="0">
              <a:lnSpc>
                <a:spcPts val="2325"/>
              </a:lnSpc>
              <a:buNone/>
            </a:pPr>
            <a:r>
              <a:rPr lang="en-US" sz="1550" dirty="0">
                <a:solidFill>
                  <a:srgbClr val="6B6B6B"/>
                </a:solidFill>
                <a:latin typeface="Inter" pitchFamily="34" charset="0"/>
                <a:ea typeface="Inter" pitchFamily="34" charset="-122"/>
                <a:cs typeface="Inter" pitchFamily="34" charset="-120"/>
              </a:rPr>
              <a:t>một AI platform nội bộ.</a:t>
            </a:r>
            <a:endParaRPr lang="en-US" sz="1550" dirty="0"/>
          </a:p>
        </p:txBody>
      </p:sp>
      <p:sp>
        <p:nvSpPr>
          <p:cNvPr id="19" name="A_16_0_fade_18"/>
          <p:cNvSpPr/>
          <p:nvPr/>
        </p:nvSpPr>
        <p:spPr>
          <a:xfrm>
            <a:off x="609630" y="4542648"/>
            <a:ext cx="3088477" cy="333939"/>
          </a:xfrm>
          <a:prstGeom prst="roundRect">
            <a:avLst>
              <a:gd name="adj" fmla="val 50000"/>
            </a:avLst>
          </a:prstGeom>
          <a:solidFill>
            <a:srgbClr val="EBE9E9"/>
          </a:solidFill>
          <a:ln/>
        </p:spPr>
      </p:sp>
      <p:sp>
        <p:nvSpPr>
          <p:cNvPr id="20" name="A_16_0_fade_19"/>
          <p:cNvSpPr txBox="1"/>
          <p:nvPr/>
        </p:nvSpPr>
        <p:spPr>
          <a:xfrm>
            <a:off x="800100" y="4616897"/>
            <a:ext cx="292406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Data · kit · connector · governance mỏng</a:t>
            </a:r>
            <a:endParaRPr lang="en-US" sz="1100" dirty="0"/>
          </a:p>
        </p:txBody>
      </p:sp>
      <p:sp>
        <p:nvSpPr>
          <p:cNvPr id="21" name="S_20"/>
          <p:cNvSpPr txBox="1"/>
          <p:nvPr/>
        </p:nvSpPr>
        <p:spPr>
          <a:xfrm>
            <a:off x="11180369" y="6517660"/>
            <a:ext cx="478231"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01 / 25</a:t>
            </a:r>
            <a:endParaRPr lang="en-US" sz="900" dirty="0"/>
          </a:p>
        </p:txBody>
      </p:sp>
      <p:sp>
        <p:nvSpPr>
          <p:cNvPr id="22" name="S_21"/>
          <p:cNvSpPr/>
          <p:nvPr/>
        </p:nvSpPr>
        <p:spPr>
          <a:xfrm>
            <a:off x="0" y="6838980"/>
            <a:ext cx="48765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61" fill="hold">
                      <p:stCondLst>
                        <p:cond delay="indefinite"/>
                        <p:cond evt="onBegin" delay="0">
                          <p:tn val="2"/>
                        </p:cond>
                      </p:stCondLst>
                      <p:childTnLst>
                        <p:par>
                          <p:cTn id="6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grpId="0" nodeType="withEffect">
                                  <p:stCondLst>
                                    <p:cond delay="76"/>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grpId="0" nodeType="withEffect">
                                  <p:stCondLst>
                                    <p:cond delay="152"/>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grpId="0" nodeType="withEffect">
                                  <p:stCondLst>
                                    <p:cond delay="228"/>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304"/>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38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456"/>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532"/>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608"/>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684"/>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76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836"/>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22" presetClass="entr" presetSubtype="8" fill="hold" grpId="0" nodeType="withEffect">
                                  <p:stCondLst>
                                    <p:cond delay="912"/>
                                  </p:stCondLst>
                                  <p:childTnLst>
                                    <p:set>
                                      <p:cBhvr>
                                        <p:cTn id="40" dur="1" fill="hold">
                                          <p:stCondLst>
                                            <p:cond delay="0"/>
                                          </p:stCondLst>
                                        </p:cTn>
                                        <p:tgtEl>
                                          <p:spTgt spid="14"/>
                                        </p:tgtEl>
                                        <p:attrNameLst>
                                          <p:attrName>style.visibility</p:attrName>
                                        </p:attrNameLst>
                                      </p:cBhvr>
                                      <p:to>
                                        <p:strVal val="visible"/>
                                      </p:to>
                                    </p:set>
                                    <p:animEffect transition="in" filter="wipe(left)">
                                      <p:cBhvr>
                                        <p:cTn id="41" dur="700"/>
                                        <p:tgtEl>
                                          <p:spTgt spid="14"/>
                                        </p:tgtEl>
                                      </p:cBhvr>
                                    </p:animEffect>
                                  </p:childTnLst>
                                </p:cTn>
                              </p:par>
                              <p:par>
                                <p:cTn id="42" presetID="10" presetClass="entr" presetSubtype="0" fill="hold" grpId="0" nodeType="withEffect">
                                  <p:stCondLst>
                                    <p:cond delay="988"/>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1064"/>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1064"/>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114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1216"/>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1216"/>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AE7"/>
        </a:solidFill>
      </p:bgPr>
    </p:bg>
    <p:spTree>
      <p:nvGrpSpPr>
        <p:cNvPr id="1" name=""/>
        <p:cNvGrpSpPr/>
        <p:nvPr/>
      </p:nvGrpSpPr>
      <p:grpSpPr>
        <a:xfrm>
          <a:off x="0" y="0"/>
          <a:ext cx="0" cy="0"/>
          <a:chOff x="0" y="0"/>
          <a:chExt cx="0" cy="0"/>
        </a:xfrm>
      </p:grpSpPr>
      <p:sp>
        <p:nvSpPr>
          <p:cNvPr id="2" name="S_22"/>
          <p:cNvSpPr txBox="1"/>
          <p:nvPr/>
        </p:nvSpPr>
        <p:spPr>
          <a:xfrm>
            <a:off x="609630" y="466070"/>
            <a:ext cx="681502"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CÂU HỎI</a:t>
            </a:r>
            <a:endParaRPr lang="en-US" sz="1100" dirty="0"/>
          </a:p>
        </p:txBody>
      </p:sp>
      <p:sp>
        <p:nvSpPr>
          <p:cNvPr id="3" name="S_23"/>
          <p:cNvSpPr/>
          <p:nvPr/>
        </p:nvSpPr>
        <p:spPr>
          <a:xfrm>
            <a:off x="9188257" y="412760"/>
            <a:ext cx="2394174" cy="292059"/>
          </a:xfrm>
          <a:prstGeom prst="roundRect">
            <a:avLst>
              <a:gd name="adj" fmla="val 50000"/>
            </a:avLst>
          </a:prstGeom>
          <a:solidFill>
            <a:srgbClr val="EBE9E9"/>
          </a:solidFill>
          <a:ln/>
        </p:spPr>
      </p:sp>
      <p:sp>
        <p:nvSpPr>
          <p:cNvPr id="4" name="S_24"/>
          <p:cNvSpPr txBox="1"/>
          <p:nvPr/>
        </p:nvSpPr>
        <p:spPr>
          <a:xfrm>
            <a:off x="9353306" y="476220"/>
            <a:ext cx="2229033"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Quyết định đầu tư của cả tổ chức</a:t>
            </a:r>
            <a:endParaRPr lang="en-US" sz="1000" dirty="0"/>
          </a:p>
        </p:txBody>
      </p:sp>
      <p:sp>
        <p:nvSpPr>
          <p:cNvPr id="5" name="A_0_0_fade_25"/>
          <p:cNvSpPr txBox="1"/>
          <p:nvPr/>
        </p:nvSpPr>
        <p:spPr>
          <a:xfrm>
            <a:off x="609630" y="806592"/>
            <a:ext cx="11159246" cy="824972"/>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Đưa AI agent vào công việc ở quy mô toàn tổ chức: tự xây, hay</a:t>
            </a:r>
            <a:endParaRPr lang="en-US" sz="2800" dirty="0"/>
          </a:p>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chuẩn hoá rồi nối?</a:t>
            </a:r>
            <a:endParaRPr lang="en-US" sz="2800" dirty="0"/>
          </a:p>
        </p:txBody>
      </p:sp>
      <p:sp>
        <p:nvSpPr>
          <p:cNvPr id="6" name="A_1_0_fade_26"/>
          <p:cNvSpPr/>
          <p:nvPr/>
        </p:nvSpPr>
        <p:spPr>
          <a:xfrm>
            <a:off x="612008" y="2483419"/>
            <a:ext cx="5195895" cy="2100102"/>
          </a:xfrm>
          <a:prstGeom prst="roundRect">
            <a:avLst>
              <a:gd name="adj" fmla="val 4232"/>
            </a:avLst>
          </a:prstGeom>
          <a:solidFill>
            <a:srgbClr val="F4F2E8"/>
          </a:solidFill>
          <a:ln w="9525">
            <a:solidFill>
              <a:srgbClr val="C9CAEB"/>
            </a:solidFill>
            <a:prstDash val="solid"/>
          </a:ln>
        </p:spPr>
      </p:sp>
      <p:sp>
        <p:nvSpPr>
          <p:cNvPr id="7" name="A_1_0_fade_27"/>
          <p:cNvSpPr txBox="1"/>
          <p:nvPr/>
        </p:nvSpPr>
        <p:spPr>
          <a:xfrm>
            <a:off x="920709" y="2761397"/>
            <a:ext cx="1112916"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6B6B6B"/>
                </a:solidFill>
                <a:latin typeface="Space Grotesk" pitchFamily="34" charset="0"/>
                <a:ea typeface="Space Grotesk" pitchFamily="34" charset="-122"/>
                <a:cs typeface="Space Grotesk" pitchFamily="34" charset="-120"/>
              </a:rPr>
              <a:t>CÁCH THỨ NHẤT</a:t>
            </a:r>
            <a:endParaRPr lang="en-US" sz="950" dirty="0"/>
          </a:p>
        </p:txBody>
      </p:sp>
      <p:sp>
        <p:nvSpPr>
          <p:cNvPr id="8" name="A_1_0_fade_28"/>
          <p:cNvSpPr txBox="1"/>
          <p:nvPr/>
        </p:nvSpPr>
        <p:spPr>
          <a:xfrm>
            <a:off x="920709" y="3033431"/>
            <a:ext cx="4556638" cy="640080"/>
          </a:xfrm>
          <a:prstGeom prst="rect">
            <a:avLst/>
          </a:prstGeom>
          <a:noFill/>
          <a:ln/>
        </p:spPr>
        <p:txBody>
          <a:bodyPr wrap="square" lIns="0" tIns="0" rIns="0" bIns="0" rtlCol="0" anchor="t"/>
          <a:lstStyle/>
          <a:p>
            <a:pPr algn="l" indent="0" marL="0">
              <a:lnSpc>
                <a:spcPts val="2520"/>
              </a:lnSpc>
              <a:buNone/>
            </a:pPr>
            <a:r>
              <a:rPr lang="en-US" sz="2100" b="1" spc="-21" kern="0" dirty="0">
                <a:solidFill>
                  <a:srgbClr val="111111"/>
                </a:solidFill>
                <a:latin typeface="Space Grotesk" pitchFamily="34" charset="0"/>
                <a:ea typeface="Space Grotesk" pitchFamily="34" charset="-122"/>
                <a:cs typeface="Space Grotesk" pitchFamily="34" charset="-120"/>
              </a:rPr>
              <a:t>Tự xây một platform tập trung có</a:t>
            </a:r>
            <a:endParaRPr lang="en-US" sz="2100" dirty="0"/>
          </a:p>
          <a:p>
            <a:pPr algn="l" indent="0" marL="0">
              <a:lnSpc>
                <a:spcPts val="2520"/>
              </a:lnSpc>
              <a:buNone/>
            </a:pPr>
            <a:r>
              <a:rPr lang="en-US" sz="2100" b="1" spc="-21" kern="0" dirty="0">
                <a:solidFill>
                  <a:srgbClr val="111111"/>
                </a:solidFill>
                <a:latin typeface="Space Grotesk" pitchFamily="34" charset="0"/>
                <a:ea typeface="Space Grotesk" pitchFamily="34" charset="-122"/>
                <a:cs typeface="Space Grotesk" pitchFamily="34" charset="-120"/>
              </a:rPr>
              <a:t>harness riêng</a:t>
            </a:r>
            <a:endParaRPr lang="en-US" sz="2100" dirty="0"/>
          </a:p>
        </p:txBody>
      </p:sp>
      <p:sp>
        <p:nvSpPr>
          <p:cNvPr id="9" name="A_1_0_fade_29"/>
          <p:cNvSpPr txBox="1"/>
          <p:nvPr/>
        </p:nvSpPr>
        <p:spPr>
          <a:xfrm>
            <a:off x="920709" y="3804818"/>
            <a:ext cx="4692792" cy="495330"/>
          </a:xfrm>
          <a:prstGeom prst="rect">
            <a:avLst/>
          </a:prstGeom>
          <a:noFill/>
          <a:ln/>
        </p:spPr>
        <p:txBody>
          <a:bodyPr wrap="square" lIns="0" tIns="0" rIns="0" bIns="0" rtlCol="0" anchor="t"/>
          <a:lstStyle/>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Một hệ thống nội bộ, tự viết cả agent loop, orchestration và</a:t>
            </a:r>
            <a:endParaRPr lang="en-US" sz="1300" dirty="0"/>
          </a:p>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giao diện.</a:t>
            </a:r>
            <a:endParaRPr lang="en-US" sz="1300" dirty="0"/>
          </a:p>
        </p:txBody>
      </p:sp>
      <p:sp>
        <p:nvSpPr>
          <p:cNvPr id="10" name="A_2_0_fade_30"/>
          <p:cNvSpPr txBox="1"/>
          <p:nvPr/>
        </p:nvSpPr>
        <p:spPr>
          <a:xfrm>
            <a:off x="5925038" y="3416016"/>
            <a:ext cx="417972" cy="228600"/>
          </a:xfrm>
          <a:prstGeom prst="rect">
            <a:avLst/>
          </a:prstGeom>
          <a:noFill/>
          <a:ln/>
        </p:spPr>
        <p:txBody>
          <a:bodyPr wrap="square" lIns="0" tIns="0" rIns="0" bIns="0" rtlCol="0" anchor="t"/>
          <a:lstStyle/>
          <a:p>
            <a:pPr algn="l" indent="0" marL="0">
              <a:lnSpc>
                <a:spcPts val="1800"/>
              </a:lnSpc>
              <a:buNone/>
            </a:pPr>
            <a:r>
              <a:rPr lang="en-US" sz="1500" b="1" dirty="0">
                <a:solidFill>
                  <a:srgbClr val="6B6B6B"/>
                </a:solidFill>
                <a:latin typeface="Space Grotesk" pitchFamily="34" charset="0"/>
                <a:ea typeface="Space Grotesk" pitchFamily="34" charset="-122"/>
                <a:cs typeface="Space Grotesk" pitchFamily="34" charset="-120"/>
              </a:rPr>
              <a:t>hay</a:t>
            </a:r>
            <a:endParaRPr lang="en-US" sz="1500" dirty="0"/>
          </a:p>
        </p:txBody>
      </p:sp>
      <p:sp>
        <p:nvSpPr>
          <p:cNvPr id="11" name="A_3_1_fade_31"/>
          <p:cNvSpPr/>
          <p:nvPr/>
        </p:nvSpPr>
        <p:spPr>
          <a:xfrm>
            <a:off x="6384158" y="2483419"/>
            <a:ext cx="5195895" cy="2100102"/>
          </a:xfrm>
          <a:prstGeom prst="roundRect">
            <a:avLst>
              <a:gd name="adj" fmla="val 4232"/>
            </a:avLst>
          </a:prstGeom>
          <a:solidFill>
            <a:srgbClr val="DCDBEA"/>
          </a:solidFill>
          <a:ln w="9525">
            <a:solidFill>
              <a:srgbClr val="1E2BFA"/>
            </a:solidFill>
            <a:prstDash val="solid"/>
          </a:ln>
        </p:spPr>
      </p:sp>
      <p:sp>
        <p:nvSpPr>
          <p:cNvPr id="12" name="A_3_1_fade_32"/>
          <p:cNvSpPr txBox="1"/>
          <p:nvPr/>
        </p:nvSpPr>
        <p:spPr>
          <a:xfrm>
            <a:off x="6692859" y="2761397"/>
            <a:ext cx="1691640"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CÁCH THỨ HAI · ĐỀ XUẤT</a:t>
            </a:r>
            <a:endParaRPr lang="en-US" sz="950" dirty="0"/>
          </a:p>
        </p:txBody>
      </p:sp>
      <p:sp>
        <p:nvSpPr>
          <p:cNvPr id="13" name="A_3_1_fade_33"/>
          <p:cNvSpPr txBox="1"/>
          <p:nvPr/>
        </p:nvSpPr>
        <p:spPr>
          <a:xfrm>
            <a:off x="6692859" y="3033431"/>
            <a:ext cx="4822271" cy="640080"/>
          </a:xfrm>
          <a:prstGeom prst="rect">
            <a:avLst/>
          </a:prstGeom>
          <a:noFill/>
          <a:ln/>
        </p:spPr>
        <p:txBody>
          <a:bodyPr wrap="square" lIns="0" tIns="0" rIns="0" bIns="0" rtlCol="0" anchor="t"/>
          <a:lstStyle/>
          <a:p>
            <a:pPr algn="l" indent="0" marL="0">
              <a:lnSpc>
                <a:spcPts val="2520"/>
              </a:lnSpc>
              <a:buNone/>
            </a:pPr>
            <a:r>
              <a:rPr lang="en-US" sz="2100" b="1" spc="-21" kern="0" dirty="0">
                <a:solidFill>
                  <a:srgbClr val="111111"/>
                </a:solidFill>
                <a:latin typeface="Space Grotesk" pitchFamily="34" charset="0"/>
                <a:ea typeface="Space Grotesk" pitchFamily="34" charset="-122"/>
                <a:cs typeface="Space Grotesk" pitchFamily="34" charset="-120"/>
              </a:rPr>
              <a:t>Chuẩn hoá tài sản nội bộ rồi nối vào</a:t>
            </a:r>
            <a:endParaRPr lang="en-US" sz="2100" dirty="0"/>
          </a:p>
          <a:p>
            <a:pPr algn="l" indent="0" marL="0">
              <a:lnSpc>
                <a:spcPts val="2520"/>
              </a:lnSpc>
              <a:buNone/>
            </a:pPr>
            <a:r>
              <a:rPr lang="en-US" sz="2100" b="1" spc="-21" kern="0" dirty="0">
                <a:solidFill>
                  <a:srgbClr val="111111"/>
                </a:solidFill>
                <a:latin typeface="Space Grotesk" pitchFamily="34" charset="0"/>
                <a:ea typeface="Space Grotesk" pitchFamily="34" charset="-122"/>
                <a:cs typeface="Space Grotesk" pitchFamily="34" charset="-120"/>
              </a:rPr>
              <a:t>harness có sẵn</a:t>
            </a:r>
            <a:endParaRPr lang="en-US" sz="2100" dirty="0"/>
          </a:p>
        </p:txBody>
      </p:sp>
      <p:sp>
        <p:nvSpPr>
          <p:cNvPr id="14" name="A_3_1_fade_34"/>
          <p:cNvSpPr txBox="1"/>
          <p:nvPr/>
        </p:nvSpPr>
        <p:spPr>
          <a:xfrm>
            <a:off x="6692859" y="3804818"/>
            <a:ext cx="4934834" cy="495330"/>
          </a:xfrm>
          <a:prstGeom prst="rect">
            <a:avLst/>
          </a:prstGeom>
          <a:noFill/>
          <a:ln/>
        </p:spPr>
        <p:txBody>
          <a:bodyPr wrap="square" lIns="0" tIns="0" rIns="0" bIns="0" rtlCol="0" anchor="t"/>
          <a:lstStyle/>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Dữ liệu và quy trình thành tài sản AI-ready; harness và LLM thì</a:t>
            </a:r>
            <a:endParaRPr lang="en-US" sz="1300" dirty="0"/>
          </a:p>
          <a:p>
            <a:pPr algn="l" indent="0" marL="0">
              <a:lnSpc>
                <a:spcPts val="1950"/>
              </a:lnSpc>
              <a:buNone/>
            </a:pPr>
            <a:r>
              <a:rPr lang="en-US" sz="1300" dirty="0">
                <a:solidFill>
                  <a:srgbClr val="6B6B6B"/>
                </a:solidFill>
                <a:latin typeface="Inter" pitchFamily="34" charset="0"/>
                <a:ea typeface="Inter" pitchFamily="34" charset="-122"/>
                <a:cs typeface="Inter" pitchFamily="34" charset="-120"/>
              </a:rPr>
              <a:t>mua.</a:t>
            </a:r>
            <a:endParaRPr lang="en-US" sz="1300" dirty="0"/>
          </a:p>
        </p:txBody>
      </p:sp>
      <p:sp>
        <p:nvSpPr>
          <p:cNvPr id="15" name="A_4_1_fade_35"/>
          <p:cNvSpPr/>
          <p:nvPr/>
        </p:nvSpPr>
        <p:spPr>
          <a:xfrm>
            <a:off x="609630" y="4839919"/>
            <a:ext cx="10972800" cy="603230"/>
          </a:xfrm>
          <a:prstGeom prst="roundRect">
            <a:avLst>
              <a:gd name="adj" fmla="val 14734"/>
            </a:avLst>
          </a:prstGeom>
          <a:solidFill>
            <a:srgbClr val="EBE9E9"/>
          </a:solidFill>
          <a:ln/>
        </p:spPr>
      </p:sp>
      <p:sp>
        <p:nvSpPr>
          <p:cNvPr id="16" name="A_4_1_fade_36"/>
          <p:cNvSpPr txBox="1"/>
          <p:nvPr/>
        </p:nvSpPr>
        <p:spPr>
          <a:xfrm>
            <a:off x="838230" y="5017679"/>
            <a:ext cx="9136776" cy="247620"/>
          </a:xfrm>
          <a:prstGeom prst="rect">
            <a:avLst/>
          </a:prstGeom>
          <a:noFill/>
          <a:ln/>
        </p:spPr>
        <p:txBody>
          <a:bodyPr wrap="square" lIns="0" tIns="0" rIns="0" bIns="0" rtlCol="0" anchor="t"/>
          <a:lstStyle/>
          <a:p>
            <a:pPr algn="l" indent="0" marL="0">
              <a:lnSpc>
                <a:spcPts val="1950"/>
              </a:lnSpc>
              <a:buNone/>
            </a:pPr>
            <a:r>
              <a:rPr lang="en-US" sz="1300" dirty="0">
                <a:solidFill>
                  <a:srgbClr val="111111"/>
                </a:solidFill>
                <a:latin typeface="Inter" pitchFamily="34" charset="0"/>
                <a:ea typeface="Inter" pitchFamily="34" charset="-122"/>
                <a:cs typeface="Inter" pitchFamily="34" charset="-120"/>
              </a:rPr>
              <a:t>Tài liệu áp nguyên tắc của proposal ba trụ cột (cách đưa agent vào một pilot) vào quyết định đầu tư của cả tổ chức.</a:t>
            </a:r>
            <a:endParaRPr lang="en-US" sz="1300" dirty="0"/>
          </a:p>
        </p:txBody>
      </p:sp>
      <p:sp>
        <p:nvSpPr>
          <p:cNvPr id="17" name="S_37"/>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18" name="S_38"/>
          <p:cNvSpPr txBox="1"/>
          <p:nvPr/>
        </p:nvSpPr>
        <p:spPr>
          <a:xfrm>
            <a:off x="11161715" y="6517660"/>
            <a:ext cx="496885"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02 / 25</a:t>
            </a:r>
            <a:endParaRPr lang="en-US" sz="900" dirty="0"/>
          </a:p>
        </p:txBody>
      </p:sp>
      <p:sp>
        <p:nvSpPr>
          <p:cNvPr id="19" name="S_39"/>
          <p:cNvSpPr/>
          <p:nvPr/>
        </p:nvSpPr>
        <p:spPr>
          <a:xfrm>
            <a:off x="0" y="6838980"/>
            <a:ext cx="97539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22" fill="hold">
                      <p:stCondLst>
                        <p:cond delay="indefinite"/>
                        <p:cond evt="onBegin" delay="0">
                          <p:tn val="2"/>
                        </p:cond>
                      </p:stCondLst>
                      <p:childTnLst>
                        <p:par>
                          <p:cTn id="2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11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childTnLst>
                          </p:cTn>
                        </p:par>
                      </p:childTnLst>
                    </p:cTn>
                  </p:par>
                  <p:par>
                    <p:cTn id="42" fill="hold">
                      <p:stCondLst>
                        <p:cond delay="indefinite"/>
                      </p:stCondLst>
                      <p:childTnLst>
                        <p:par>
                          <p:cTn id="41"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11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11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AE7"/>
        </a:solidFill>
      </p:bgPr>
    </p:bg>
    <p:spTree>
      <p:nvGrpSpPr>
        <p:cNvPr id="1" name=""/>
        <p:cNvGrpSpPr/>
        <p:nvPr/>
      </p:nvGrpSpPr>
      <p:grpSpPr>
        <a:xfrm>
          <a:off x="0" y="0"/>
          <a:ext cx="0" cy="0"/>
          <a:chOff x="0" y="0"/>
          <a:chExt cx="0" cy="0"/>
        </a:xfrm>
      </p:grpSpPr>
      <p:sp>
        <p:nvSpPr>
          <p:cNvPr id="2" name="S_40"/>
          <p:cNvSpPr txBox="1"/>
          <p:nvPr/>
        </p:nvSpPr>
        <p:spPr>
          <a:xfrm>
            <a:off x="609630" y="466070"/>
            <a:ext cx="2086844"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01 · BỐI CẢNH 2025–2026</a:t>
            </a:r>
            <a:endParaRPr lang="en-US" sz="1100" dirty="0"/>
          </a:p>
        </p:txBody>
      </p:sp>
      <p:sp>
        <p:nvSpPr>
          <p:cNvPr id="3" name="S_41"/>
          <p:cNvSpPr/>
          <p:nvPr/>
        </p:nvSpPr>
        <p:spPr>
          <a:xfrm>
            <a:off x="10760751" y="412760"/>
            <a:ext cx="821588" cy="292059"/>
          </a:xfrm>
          <a:prstGeom prst="roundRect">
            <a:avLst>
              <a:gd name="adj" fmla="val 50000"/>
            </a:avLst>
          </a:prstGeom>
          <a:solidFill>
            <a:srgbClr val="EBE9E9"/>
          </a:solidFill>
          <a:ln/>
        </p:spPr>
      </p:sp>
      <p:sp>
        <p:nvSpPr>
          <p:cNvPr id="4" name="S_42"/>
          <p:cNvSpPr txBox="1"/>
          <p:nvPr/>
        </p:nvSpPr>
        <p:spPr>
          <a:xfrm>
            <a:off x="10925891" y="476220"/>
            <a:ext cx="567660"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Harness</a:t>
            </a:r>
            <a:endParaRPr lang="en-US" sz="1000" dirty="0"/>
          </a:p>
        </p:txBody>
      </p:sp>
      <p:sp>
        <p:nvSpPr>
          <p:cNvPr id="5" name="A_0_0_fade_43"/>
          <p:cNvSpPr txBox="1"/>
          <p:nvPr/>
        </p:nvSpPr>
        <p:spPr>
          <a:xfrm>
            <a:off x="609630" y="806592"/>
            <a:ext cx="9185422"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Harness đã thành hàng hoá, và chạy được ở mọi nơi</a:t>
            </a:r>
            <a:endParaRPr lang="en-US" sz="2800" dirty="0"/>
          </a:p>
        </p:txBody>
      </p:sp>
      <p:sp>
        <p:nvSpPr>
          <p:cNvPr id="6" name="A_1_0_fade_44"/>
          <p:cNvSpPr/>
          <p:nvPr/>
        </p:nvSpPr>
        <p:spPr>
          <a:xfrm>
            <a:off x="612008" y="1982602"/>
            <a:ext cx="5644591" cy="2781330"/>
          </a:xfrm>
          <a:prstGeom prst="roundRect">
            <a:avLst>
              <a:gd name="adj" fmla="val 3196"/>
            </a:avLst>
          </a:prstGeom>
          <a:solidFill>
            <a:srgbClr val="F4F2E8"/>
          </a:solidFill>
          <a:ln w="9525">
            <a:solidFill>
              <a:srgbClr val="C9CAEB"/>
            </a:solidFill>
            <a:prstDash val="solid"/>
          </a:ln>
        </p:spPr>
      </p:sp>
      <p:sp>
        <p:nvSpPr>
          <p:cNvPr id="7" name="A_1_0_fade_45"/>
          <p:cNvSpPr txBox="1"/>
          <p:nvPr/>
        </p:nvSpPr>
        <p:spPr>
          <a:xfrm>
            <a:off x="857250" y="2197029"/>
            <a:ext cx="2208825"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VENDOR CHẠY ĐUA THEO THÁNG</a:t>
            </a:r>
            <a:endParaRPr lang="en-US" sz="950" dirty="0"/>
          </a:p>
        </p:txBody>
      </p:sp>
      <p:sp>
        <p:nvSpPr>
          <p:cNvPr id="8" name="A_1_0_fade_46"/>
          <p:cNvSpPr/>
          <p:nvPr/>
        </p:nvSpPr>
        <p:spPr>
          <a:xfrm>
            <a:off x="857250" y="2460833"/>
            <a:ext cx="1072317" cy="270480"/>
          </a:xfrm>
          <a:prstGeom prst="roundRect">
            <a:avLst>
              <a:gd name="adj" fmla="val 50000"/>
            </a:avLst>
          </a:prstGeom>
          <a:solidFill>
            <a:srgbClr val="E3E2E9"/>
          </a:solidFill>
          <a:ln/>
        </p:spPr>
      </p:sp>
      <p:sp>
        <p:nvSpPr>
          <p:cNvPr id="9" name="A_1_0_fade_47"/>
          <p:cNvSpPr txBox="1"/>
          <p:nvPr/>
        </p:nvSpPr>
        <p:spPr>
          <a:xfrm>
            <a:off x="971550" y="2503353"/>
            <a:ext cx="91997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Claude Code</a:t>
            </a:r>
            <a:endParaRPr lang="en-US" sz="1100" dirty="0"/>
          </a:p>
        </p:txBody>
      </p:sp>
      <p:sp>
        <p:nvSpPr>
          <p:cNvPr id="10" name="A_1_0_fade_48"/>
          <p:cNvSpPr/>
          <p:nvPr/>
        </p:nvSpPr>
        <p:spPr>
          <a:xfrm>
            <a:off x="1993118" y="2460833"/>
            <a:ext cx="890808" cy="270480"/>
          </a:xfrm>
          <a:prstGeom prst="roundRect">
            <a:avLst>
              <a:gd name="adj" fmla="val 50000"/>
            </a:avLst>
          </a:prstGeom>
          <a:solidFill>
            <a:srgbClr val="E3E2E9"/>
          </a:solidFill>
          <a:ln/>
        </p:spPr>
      </p:sp>
      <p:sp>
        <p:nvSpPr>
          <p:cNvPr id="11" name="A_1_0_fade_49"/>
          <p:cNvSpPr txBox="1"/>
          <p:nvPr/>
        </p:nvSpPr>
        <p:spPr>
          <a:xfrm>
            <a:off x="2107418" y="2503353"/>
            <a:ext cx="73837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Codex CLI</a:t>
            </a:r>
            <a:endParaRPr lang="en-US" sz="1100" dirty="0"/>
          </a:p>
        </p:txBody>
      </p:sp>
      <p:sp>
        <p:nvSpPr>
          <p:cNvPr id="12" name="A_1_0_fade_50"/>
          <p:cNvSpPr/>
          <p:nvPr/>
        </p:nvSpPr>
        <p:spPr>
          <a:xfrm>
            <a:off x="2947386" y="2460833"/>
            <a:ext cx="916503" cy="270480"/>
          </a:xfrm>
          <a:prstGeom prst="roundRect">
            <a:avLst>
              <a:gd name="adj" fmla="val 50000"/>
            </a:avLst>
          </a:prstGeom>
          <a:solidFill>
            <a:srgbClr val="E3E2E9"/>
          </a:solidFill>
          <a:ln/>
        </p:spPr>
      </p:sp>
      <p:sp>
        <p:nvSpPr>
          <p:cNvPr id="13" name="A_1_0_fade_51"/>
          <p:cNvSpPr txBox="1"/>
          <p:nvPr/>
        </p:nvSpPr>
        <p:spPr>
          <a:xfrm>
            <a:off x="3061686" y="2503353"/>
            <a:ext cx="764073"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Gemini CLI</a:t>
            </a:r>
            <a:endParaRPr lang="en-US" sz="1100" dirty="0"/>
          </a:p>
        </p:txBody>
      </p:sp>
      <p:sp>
        <p:nvSpPr>
          <p:cNvPr id="14" name="A_1_0_fade_52"/>
          <p:cNvSpPr/>
          <p:nvPr/>
        </p:nvSpPr>
        <p:spPr>
          <a:xfrm>
            <a:off x="3927348" y="2460833"/>
            <a:ext cx="1207374" cy="270480"/>
          </a:xfrm>
          <a:prstGeom prst="roundRect">
            <a:avLst>
              <a:gd name="adj" fmla="val 50000"/>
            </a:avLst>
          </a:prstGeom>
          <a:solidFill>
            <a:srgbClr val="E3E2E9"/>
          </a:solidFill>
          <a:ln/>
        </p:spPr>
      </p:sp>
      <p:sp>
        <p:nvSpPr>
          <p:cNvPr id="15" name="A_1_0_fade_53"/>
          <p:cNvSpPr txBox="1"/>
          <p:nvPr/>
        </p:nvSpPr>
        <p:spPr>
          <a:xfrm>
            <a:off x="4041648" y="2503353"/>
            <a:ext cx="105713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GitHub Copilot</a:t>
            </a:r>
            <a:endParaRPr lang="en-US" sz="1100" dirty="0"/>
          </a:p>
        </p:txBody>
      </p:sp>
      <p:sp>
        <p:nvSpPr>
          <p:cNvPr id="16" name="A_1_0_fade_54"/>
          <p:cNvSpPr/>
          <p:nvPr/>
        </p:nvSpPr>
        <p:spPr>
          <a:xfrm>
            <a:off x="5198273" y="2460833"/>
            <a:ext cx="669981" cy="270480"/>
          </a:xfrm>
          <a:prstGeom prst="roundRect">
            <a:avLst>
              <a:gd name="adj" fmla="val 50000"/>
            </a:avLst>
          </a:prstGeom>
          <a:solidFill>
            <a:srgbClr val="E3E2E9"/>
          </a:solidFill>
          <a:ln/>
        </p:spPr>
      </p:sp>
      <p:sp>
        <p:nvSpPr>
          <p:cNvPr id="17" name="A_1_0_fade_55"/>
          <p:cNvSpPr txBox="1"/>
          <p:nvPr/>
        </p:nvSpPr>
        <p:spPr>
          <a:xfrm>
            <a:off x="5312573" y="2503353"/>
            <a:ext cx="517642"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Cursor</a:t>
            </a:r>
            <a:endParaRPr lang="en-US" sz="1100" dirty="0"/>
          </a:p>
        </p:txBody>
      </p:sp>
      <p:sp>
        <p:nvSpPr>
          <p:cNvPr id="18" name="A_1_0_fade_56"/>
          <p:cNvSpPr/>
          <p:nvPr/>
        </p:nvSpPr>
        <p:spPr>
          <a:xfrm>
            <a:off x="857250" y="2794772"/>
            <a:ext cx="488015" cy="270480"/>
          </a:xfrm>
          <a:prstGeom prst="roundRect">
            <a:avLst>
              <a:gd name="adj" fmla="val 50000"/>
            </a:avLst>
          </a:prstGeom>
          <a:solidFill>
            <a:srgbClr val="E3E2E9"/>
          </a:solidFill>
          <a:ln/>
        </p:spPr>
      </p:sp>
      <p:sp>
        <p:nvSpPr>
          <p:cNvPr id="19" name="A_1_0_fade_57"/>
          <p:cNvSpPr txBox="1"/>
          <p:nvPr/>
        </p:nvSpPr>
        <p:spPr>
          <a:xfrm>
            <a:off x="971550" y="2837383"/>
            <a:ext cx="335676"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Kiro</a:t>
            </a:r>
            <a:endParaRPr lang="en-US" sz="1100" dirty="0"/>
          </a:p>
        </p:txBody>
      </p:sp>
      <p:sp>
        <p:nvSpPr>
          <p:cNvPr id="20" name="A_1_0_fade_58"/>
          <p:cNvSpPr/>
          <p:nvPr/>
        </p:nvSpPr>
        <p:spPr>
          <a:xfrm>
            <a:off x="1411194" y="2797150"/>
            <a:ext cx="915406" cy="265725"/>
          </a:xfrm>
          <a:prstGeom prst="roundRect">
            <a:avLst>
              <a:gd name="adj" fmla="val 50895"/>
            </a:avLst>
          </a:prstGeom>
          <a:ln w="9525">
            <a:solidFill>
              <a:srgbClr val="C9CAEB"/>
            </a:solidFill>
            <a:prstDash val="solid"/>
          </a:ln>
        </p:spPr>
      </p:sp>
      <p:sp>
        <p:nvSpPr>
          <p:cNvPr id="21" name="A_1_0_fade_59"/>
          <p:cNvSpPr txBox="1"/>
          <p:nvPr/>
        </p:nvSpPr>
        <p:spPr>
          <a:xfrm>
            <a:off x="1519916" y="2834183"/>
            <a:ext cx="774131" cy="181600"/>
          </a:xfrm>
          <a:prstGeom prst="rect">
            <a:avLst/>
          </a:prstGeom>
          <a:noFill/>
          <a:ln/>
        </p:spPr>
        <p:txBody>
          <a:bodyPr wrap="square" lIns="0" tIns="0" rIns="0" bIns="0" rtlCol="0" anchor="t"/>
          <a:lstStyle/>
          <a:p>
            <a:pPr algn="l" indent="0" marL="0">
              <a:lnSpc>
                <a:spcPts val="1430"/>
              </a:lnSpc>
              <a:buNone/>
            </a:pPr>
            <a:r>
              <a:rPr lang="en-US" sz="1100" dirty="0">
                <a:solidFill>
                  <a:srgbClr val="6B6B6B"/>
                </a:solidFill>
                <a:latin typeface="Space Grotesk" pitchFamily="34" charset="0"/>
                <a:ea typeface="Space Grotesk" pitchFamily="34" charset="-122"/>
                <a:cs typeface="Space Grotesk" pitchFamily="34" charset="-120"/>
              </a:rPr>
              <a:t>OpenCode</a:t>
            </a:r>
            <a:endParaRPr lang="en-US" sz="1100" dirty="0"/>
          </a:p>
        </p:txBody>
      </p:sp>
      <p:sp>
        <p:nvSpPr>
          <p:cNvPr id="22" name="A_1_0_fade_60"/>
          <p:cNvSpPr/>
          <p:nvPr/>
        </p:nvSpPr>
        <p:spPr>
          <a:xfrm>
            <a:off x="2394814" y="2797150"/>
            <a:ext cx="633771" cy="265725"/>
          </a:xfrm>
          <a:prstGeom prst="roundRect">
            <a:avLst>
              <a:gd name="adj" fmla="val 50895"/>
            </a:avLst>
          </a:prstGeom>
          <a:ln w="9525">
            <a:solidFill>
              <a:srgbClr val="C9CAEB"/>
            </a:solidFill>
            <a:prstDash val="solid"/>
          </a:ln>
        </p:spPr>
      </p:sp>
      <p:sp>
        <p:nvSpPr>
          <p:cNvPr id="23" name="A_1_0_fade_61"/>
          <p:cNvSpPr txBox="1"/>
          <p:nvPr/>
        </p:nvSpPr>
        <p:spPr>
          <a:xfrm>
            <a:off x="2503627" y="2834183"/>
            <a:ext cx="492496" cy="181600"/>
          </a:xfrm>
          <a:prstGeom prst="rect">
            <a:avLst/>
          </a:prstGeom>
          <a:noFill/>
          <a:ln/>
        </p:spPr>
        <p:txBody>
          <a:bodyPr wrap="square" lIns="0" tIns="0" rIns="0" bIns="0" rtlCol="0" anchor="t"/>
          <a:lstStyle/>
          <a:p>
            <a:pPr algn="l" indent="0" marL="0">
              <a:lnSpc>
                <a:spcPts val="1430"/>
              </a:lnSpc>
              <a:buNone/>
            </a:pPr>
            <a:r>
              <a:rPr lang="en-US" sz="1100" dirty="0">
                <a:solidFill>
                  <a:srgbClr val="6B6B6B"/>
                </a:solidFill>
                <a:latin typeface="Space Grotesk" pitchFamily="34" charset="0"/>
                <a:ea typeface="Space Grotesk" pitchFamily="34" charset="-122"/>
                <a:cs typeface="Space Grotesk" pitchFamily="34" charset="-120"/>
              </a:rPr>
              <a:t>goose</a:t>
            </a:r>
            <a:endParaRPr lang="en-US" sz="1100" dirty="0"/>
          </a:p>
        </p:txBody>
      </p:sp>
      <p:sp>
        <p:nvSpPr>
          <p:cNvPr id="24" name="A_1_0_fade_62"/>
          <p:cNvSpPr txBox="1"/>
          <p:nvPr/>
        </p:nvSpPr>
        <p:spPr>
          <a:xfrm>
            <a:off x="857250" y="3250326"/>
            <a:ext cx="3101645"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FEATURE MỚI GẦN NHƯ THÁNG NÀO CŨNG CÓ</a:t>
            </a:r>
            <a:endParaRPr lang="en-US" sz="950" dirty="0"/>
          </a:p>
        </p:txBody>
      </p:sp>
      <p:sp>
        <p:nvSpPr>
          <p:cNvPr id="25" name="A_1_0_fade_63"/>
          <p:cNvSpPr/>
          <p:nvPr/>
        </p:nvSpPr>
        <p:spPr>
          <a:xfrm>
            <a:off x="857250" y="3514131"/>
            <a:ext cx="875172" cy="270480"/>
          </a:xfrm>
          <a:prstGeom prst="roundRect">
            <a:avLst>
              <a:gd name="adj" fmla="val 50000"/>
            </a:avLst>
          </a:prstGeom>
          <a:solidFill>
            <a:srgbClr val="E3E2E9"/>
          </a:solidFill>
          <a:ln/>
        </p:spPr>
      </p:sp>
      <p:sp>
        <p:nvSpPr>
          <p:cNvPr id="26" name="A_1_0_fade_64"/>
          <p:cNvSpPr txBox="1"/>
          <p:nvPr/>
        </p:nvSpPr>
        <p:spPr>
          <a:xfrm>
            <a:off x="971550" y="3556650"/>
            <a:ext cx="722833"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subagent</a:t>
            </a:r>
            <a:endParaRPr lang="en-US" sz="1100" dirty="0"/>
          </a:p>
        </p:txBody>
      </p:sp>
      <p:sp>
        <p:nvSpPr>
          <p:cNvPr id="27" name="A_1_0_fade_65"/>
          <p:cNvSpPr/>
          <p:nvPr/>
        </p:nvSpPr>
        <p:spPr>
          <a:xfrm>
            <a:off x="1795973" y="3514131"/>
            <a:ext cx="486095" cy="270480"/>
          </a:xfrm>
          <a:prstGeom prst="roundRect">
            <a:avLst>
              <a:gd name="adj" fmla="val 50000"/>
            </a:avLst>
          </a:prstGeom>
          <a:solidFill>
            <a:srgbClr val="E3E2E9"/>
          </a:solidFill>
          <a:ln/>
        </p:spPr>
      </p:sp>
      <p:sp>
        <p:nvSpPr>
          <p:cNvPr id="28" name="A_1_0_fade_66"/>
          <p:cNvSpPr txBox="1"/>
          <p:nvPr/>
        </p:nvSpPr>
        <p:spPr>
          <a:xfrm>
            <a:off x="1910273" y="3556650"/>
            <a:ext cx="333665"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skill</a:t>
            </a:r>
            <a:endParaRPr lang="en-US" sz="1100" dirty="0"/>
          </a:p>
        </p:txBody>
      </p:sp>
      <p:sp>
        <p:nvSpPr>
          <p:cNvPr id="29" name="A_1_0_fade_67"/>
          <p:cNvSpPr/>
          <p:nvPr/>
        </p:nvSpPr>
        <p:spPr>
          <a:xfrm>
            <a:off x="2345527" y="3514131"/>
            <a:ext cx="563270" cy="270480"/>
          </a:xfrm>
          <a:prstGeom prst="roundRect">
            <a:avLst>
              <a:gd name="adj" fmla="val 50000"/>
            </a:avLst>
          </a:prstGeom>
          <a:solidFill>
            <a:srgbClr val="E3E2E9"/>
          </a:solidFill>
          <a:ln/>
        </p:spPr>
      </p:sp>
      <p:sp>
        <p:nvSpPr>
          <p:cNvPr id="30" name="A_1_0_fade_68"/>
          <p:cNvSpPr txBox="1"/>
          <p:nvPr/>
        </p:nvSpPr>
        <p:spPr>
          <a:xfrm>
            <a:off x="2459827" y="3556650"/>
            <a:ext cx="410840"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hook</a:t>
            </a:r>
            <a:endParaRPr lang="en-US" sz="1100" dirty="0"/>
          </a:p>
        </p:txBody>
      </p:sp>
      <p:sp>
        <p:nvSpPr>
          <p:cNvPr id="31" name="A_1_0_fade_69"/>
          <p:cNvSpPr/>
          <p:nvPr/>
        </p:nvSpPr>
        <p:spPr>
          <a:xfrm>
            <a:off x="2972257" y="3514131"/>
            <a:ext cx="811073" cy="270480"/>
          </a:xfrm>
          <a:prstGeom prst="roundRect">
            <a:avLst>
              <a:gd name="adj" fmla="val 50000"/>
            </a:avLst>
          </a:prstGeom>
          <a:solidFill>
            <a:srgbClr val="E3E2E9"/>
          </a:solidFill>
          <a:ln/>
        </p:spPr>
      </p:sp>
      <p:sp>
        <p:nvSpPr>
          <p:cNvPr id="32" name="A_1_0_fade_70"/>
          <p:cNvSpPr txBox="1"/>
          <p:nvPr/>
        </p:nvSpPr>
        <p:spPr>
          <a:xfrm>
            <a:off x="3086557" y="3556650"/>
            <a:ext cx="658734"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sandbox</a:t>
            </a:r>
            <a:endParaRPr lang="en-US" sz="1100" dirty="0"/>
          </a:p>
        </p:txBody>
      </p:sp>
      <p:sp>
        <p:nvSpPr>
          <p:cNvPr id="33" name="A_1_0_fade_71"/>
          <p:cNvSpPr/>
          <p:nvPr/>
        </p:nvSpPr>
        <p:spPr>
          <a:xfrm>
            <a:off x="3846881" y="3514131"/>
            <a:ext cx="828721" cy="270480"/>
          </a:xfrm>
          <a:prstGeom prst="roundRect">
            <a:avLst>
              <a:gd name="adj" fmla="val 50000"/>
            </a:avLst>
          </a:prstGeom>
          <a:solidFill>
            <a:srgbClr val="E3E2E9"/>
          </a:solidFill>
          <a:ln/>
        </p:spPr>
      </p:sp>
      <p:sp>
        <p:nvSpPr>
          <p:cNvPr id="34" name="A_1_0_fade_72"/>
          <p:cNvSpPr txBox="1"/>
          <p:nvPr/>
        </p:nvSpPr>
        <p:spPr>
          <a:xfrm>
            <a:off x="3961181" y="3556650"/>
            <a:ext cx="676290"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headless</a:t>
            </a:r>
            <a:endParaRPr lang="en-US" sz="1100" dirty="0"/>
          </a:p>
        </p:txBody>
      </p:sp>
      <p:sp>
        <p:nvSpPr>
          <p:cNvPr id="35" name="A_1_0_fade_73"/>
          <p:cNvSpPr/>
          <p:nvPr/>
        </p:nvSpPr>
        <p:spPr>
          <a:xfrm>
            <a:off x="4739061" y="3514131"/>
            <a:ext cx="1166683" cy="270480"/>
          </a:xfrm>
          <a:prstGeom prst="roundRect">
            <a:avLst>
              <a:gd name="adj" fmla="val 50000"/>
            </a:avLst>
          </a:prstGeom>
          <a:solidFill>
            <a:srgbClr val="E3E2E9"/>
          </a:solidFill>
          <a:ln/>
        </p:spPr>
      </p:sp>
      <p:sp>
        <p:nvSpPr>
          <p:cNvPr id="36" name="A_1_0_fade_74"/>
          <p:cNvSpPr txBox="1"/>
          <p:nvPr/>
        </p:nvSpPr>
        <p:spPr>
          <a:xfrm>
            <a:off x="4853361" y="3556650"/>
            <a:ext cx="1014344"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SDK để nhúng</a:t>
            </a:r>
            <a:endParaRPr lang="en-US" sz="1100" dirty="0"/>
          </a:p>
        </p:txBody>
      </p:sp>
      <p:sp>
        <p:nvSpPr>
          <p:cNvPr id="37" name="A_1_0_fade_75"/>
          <p:cNvSpPr/>
          <p:nvPr/>
        </p:nvSpPr>
        <p:spPr>
          <a:xfrm>
            <a:off x="857250" y="3848070"/>
            <a:ext cx="1360444" cy="270480"/>
          </a:xfrm>
          <a:prstGeom prst="roundRect">
            <a:avLst>
              <a:gd name="adj" fmla="val 50000"/>
            </a:avLst>
          </a:prstGeom>
          <a:solidFill>
            <a:srgbClr val="E3E2E9"/>
          </a:solidFill>
          <a:ln/>
        </p:spPr>
      </p:sp>
      <p:sp>
        <p:nvSpPr>
          <p:cNvPr id="38" name="A_1_0_fade_76"/>
          <p:cNvSpPr txBox="1"/>
          <p:nvPr/>
        </p:nvSpPr>
        <p:spPr>
          <a:xfrm>
            <a:off x="971550" y="3890681"/>
            <a:ext cx="1222461"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agent trên cloud</a:t>
            </a:r>
            <a:endParaRPr lang="en-US" sz="1100" dirty="0"/>
          </a:p>
        </p:txBody>
      </p:sp>
      <p:sp>
        <p:nvSpPr>
          <p:cNvPr id="39" name="A_1_0_fade_77"/>
          <p:cNvSpPr txBox="1"/>
          <p:nvPr/>
        </p:nvSpPr>
        <p:spPr>
          <a:xfrm>
            <a:off x="857250" y="4296400"/>
            <a:ext cx="4719767" cy="247620"/>
          </a:xfrm>
          <a:prstGeom prst="rect">
            <a:avLst/>
          </a:prstGeom>
          <a:noFill/>
          <a:ln/>
        </p:spPr>
        <p:txBody>
          <a:bodyPr wrap="square" lIns="0" tIns="0" rIns="0" bIns="0" rtlCol="0" anchor="t"/>
          <a:lstStyle/>
          <a:p>
            <a:pPr algn="l" indent="0" marL="0">
              <a:lnSpc>
                <a:spcPts val="1950"/>
              </a:lnSpc>
              <a:buNone/>
            </a:pPr>
            <a:r>
              <a:rPr lang="en-US" sz="1300" dirty="0">
                <a:solidFill>
                  <a:srgbClr val="111111"/>
                </a:solidFill>
                <a:latin typeface="Inter" pitchFamily="34" charset="0"/>
                <a:ea typeface="Inter" pitchFamily="34" charset="-122"/>
                <a:cs typeface="Inter" pitchFamily="34" charset="-120"/>
              </a:rPr>
              <a:t>Ở phần chung này, không đội nội bộ nào đuổi kịp tốc độ đó.</a:t>
            </a:r>
            <a:endParaRPr lang="en-US" sz="1300" dirty="0"/>
          </a:p>
        </p:txBody>
      </p:sp>
      <p:sp>
        <p:nvSpPr>
          <p:cNvPr id="40" name="A_2_1_fade_78"/>
          <p:cNvSpPr txBox="1"/>
          <p:nvPr/>
        </p:nvSpPr>
        <p:spPr>
          <a:xfrm>
            <a:off x="6538326" y="1974830"/>
            <a:ext cx="2624511"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CÙNG MỘT HARNESS, BỐN CÁCH CHẠY</a:t>
            </a:r>
            <a:endParaRPr lang="en-US" sz="950" dirty="0"/>
          </a:p>
        </p:txBody>
      </p:sp>
      <p:sp>
        <p:nvSpPr>
          <p:cNvPr id="41" name="A_3_1_fade_79"/>
          <p:cNvSpPr/>
          <p:nvPr/>
        </p:nvSpPr>
        <p:spPr>
          <a:xfrm>
            <a:off x="6540703" y="2228210"/>
            <a:ext cx="5039350" cy="524774"/>
          </a:xfrm>
          <a:prstGeom prst="roundRect">
            <a:avLst>
              <a:gd name="adj" fmla="val 16937"/>
            </a:avLst>
          </a:prstGeom>
          <a:solidFill>
            <a:srgbClr val="F4F2E8"/>
          </a:solidFill>
          <a:ln w="9525">
            <a:solidFill>
              <a:srgbClr val="C9CAEB"/>
            </a:solidFill>
            <a:prstDash val="solid"/>
          </a:ln>
        </p:spPr>
      </p:sp>
      <p:sp>
        <p:nvSpPr>
          <p:cNvPr id="42" name="A_3_1_fade_80"/>
          <p:cNvSpPr txBox="1"/>
          <p:nvPr/>
        </p:nvSpPr>
        <p:spPr>
          <a:xfrm>
            <a:off x="6722486" y="2354763"/>
            <a:ext cx="318577" cy="262890"/>
          </a:xfrm>
          <a:prstGeom prst="rect">
            <a:avLst/>
          </a:prstGeom>
          <a:noFill/>
          <a:ln/>
        </p:spPr>
        <p:txBody>
          <a:bodyPr wrap="square" lIns="0" tIns="0" rIns="0" bIns="0" rtlCol="0" anchor="t"/>
          <a:lstStyle/>
          <a:p>
            <a:pPr algn="l" indent="0" marL="0">
              <a:lnSpc>
                <a:spcPts val="2070"/>
              </a:lnSpc>
              <a:buNone/>
            </a:pPr>
            <a:r>
              <a:rPr lang="en-US" sz="1800" b="1" spc="-36" kern="0" dirty="0">
                <a:solidFill>
                  <a:srgbClr val="1E2BFA"/>
                </a:solidFill>
                <a:latin typeface="Space Grotesk" pitchFamily="34" charset="0"/>
                <a:ea typeface="Space Grotesk" pitchFamily="34" charset="-122"/>
                <a:cs typeface="Space Grotesk" pitchFamily="34" charset="-120"/>
              </a:rPr>
              <a:t>01</a:t>
            </a:r>
            <a:endParaRPr lang="en-US" sz="1800" dirty="0"/>
          </a:p>
        </p:txBody>
      </p:sp>
      <p:sp>
        <p:nvSpPr>
          <p:cNvPr id="43" name="A_3_1_fade_81"/>
          <p:cNvSpPr txBox="1"/>
          <p:nvPr/>
        </p:nvSpPr>
        <p:spPr>
          <a:xfrm>
            <a:off x="7166976" y="2376251"/>
            <a:ext cx="2990545"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Tương tác trong IDE hay terminal</a:t>
            </a:r>
            <a:endParaRPr lang="en-US" sz="1400" dirty="0"/>
          </a:p>
        </p:txBody>
      </p:sp>
      <p:sp>
        <p:nvSpPr>
          <p:cNvPr id="44" name="A_4_1_fade_82"/>
          <p:cNvSpPr/>
          <p:nvPr/>
        </p:nvSpPr>
        <p:spPr>
          <a:xfrm>
            <a:off x="6540703" y="2846710"/>
            <a:ext cx="5039350" cy="524774"/>
          </a:xfrm>
          <a:prstGeom prst="roundRect">
            <a:avLst>
              <a:gd name="adj" fmla="val 16937"/>
            </a:avLst>
          </a:prstGeom>
          <a:solidFill>
            <a:srgbClr val="F4F2E8"/>
          </a:solidFill>
          <a:ln w="9525">
            <a:solidFill>
              <a:srgbClr val="C9CAEB"/>
            </a:solidFill>
            <a:prstDash val="solid"/>
          </a:ln>
        </p:spPr>
      </p:sp>
      <p:sp>
        <p:nvSpPr>
          <p:cNvPr id="45" name="A_4_1_fade_83"/>
          <p:cNvSpPr txBox="1"/>
          <p:nvPr/>
        </p:nvSpPr>
        <p:spPr>
          <a:xfrm>
            <a:off x="6722486" y="2973172"/>
            <a:ext cx="351038" cy="262890"/>
          </a:xfrm>
          <a:prstGeom prst="rect">
            <a:avLst/>
          </a:prstGeom>
          <a:noFill/>
          <a:ln/>
        </p:spPr>
        <p:txBody>
          <a:bodyPr wrap="square" lIns="0" tIns="0" rIns="0" bIns="0" rtlCol="0" anchor="t"/>
          <a:lstStyle/>
          <a:p>
            <a:pPr algn="l" indent="0" marL="0">
              <a:lnSpc>
                <a:spcPts val="2070"/>
              </a:lnSpc>
              <a:buNone/>
            </a:pPr>
            <a:r>
              <a:rPr lang="en-US" sz="1800" b="1" spc="-36" kern="0" dirty="0">
                <a:solidFill>
                  <a:srgbClr val="1E2BFA"/>
                </a:solidFill>
                <a:latin typeface="Space Grotesk" pitchFamily="34" charset="0"/>
                <a:ea typeface="Space Grotesk" pitchFamily="34" charset="-122"/>
                <a:cs typeface="Space Grotesk" pitchFamily="34" charset="-120"/>
              </a:rPr>
              <a:t>02</a:t>
            </a:r>
            <a:endParaRPr lang="en-US" sz="1800" dirty="0"/>
          </a:p>
        </p:txBody>
      </p:sp>
      <p:sp>
        <p:nvSpPr>
          <p:cNvPr id="46" name="A_4_1_fade_84"/>
          <p:cNvSpPr txBox="1"/>
          <p:nvPr/>
        </p:nvSpPr>
        <p:spPr>
          <a:xfrm>
            <a:off x="7166976" y="2994751"/>
            <a:ext cx="1588679"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Headless trong CI</a:t>
            </a:r>
            <a:endParaRPr lang="en-US" sz="1400" dirty="0"/>
          </a:p>
        </p:txBody>
      </p:sp>
      <p:sp>
        <p:nvSpPr>
          <p:cNvPr id="47" name="A_5_1_fade_85"/>
          <p:cNvSpPr/>
          <p:nvPr/>
        </p:nvSpPr>
        <p:spPr>
          <a:xfrm>
            <a:off x="6540703" y="3465119"/>
            <a:ext cx="5039350" cy="524774"/>
          </a:xfrm>
          <a:prstGeom prst="roundRect">
            <a:avLst>
              <a:gd name="adj" fmla="val 16937"/>
            </a:avLst>
          </a:prstGeom>
          <a:solidFill>
            <a:srgbClr val="F4F2E8"/>
          </a:solidFill>
          <a:ln w="9525">
            <a:solidFill>
              <a:srgbClr val="C9CAEB"/>
            </a:solidFill>
            <a:prstDash val="solid"/>
          </a:ln>
        </p:spPr>
      </p:sp>
      <p:sp>
        <p:nvSpPr>
          <p:cNvPr id="48" name="A_5_1_fade_86"/>
          <p:cNvSpPr txBox="1"/>
          <p:nvPr/>
        </p:nvSpPr>
        <p:spPr>
          <a:xfrm>
            <a:off x="6722486" y="3591672"/>
            <a:ext cx="354239" cy="262890"/>
          </a:xfrm>
          <a:prstGeom prst="rect">
            <a:avLst/>
          </a:prstGeom>
          <a:noFill/>
          <a:ln/>
        </p:spPr>
        <p:txBody>
          <a:bodyPr wrap="square" lIns="0" tIns="0" rIns="0" bIns="0" rtlCol="0" anchor="t"/>
          <a:lstStyle/>
          <a:p>
            <a:pPr algn="l" indent="0" marL="0">
              <a:lnSpc>
                <a:spcPts val="2070"/>
              </a:lnSpc>
              <a:buNone/>
            </a:pPr>
            <a:r>
              <a:rPr lang="en-US" sz="1800" b="1" spc="-36" kern="0" dirty="0">
                <a:solidFill>
                  <a:srgbClr val="1E2BFA"/>
                </a:solidFill>
                <a:latin typeface="Space Grotesk" pitchFamily="34" charset="0"/>
                <a:ea typeface="Space Grotesk" pitchFamily="34" charset="-122"/>
                <a:cs typeface="Space Grotesk" pitchFamily="34" charset="-120"/>
              </a:rPr>
              <a:t>03</a:t>
            </a:r>
            <a:endParaRPr lang="en-US" sz="1800" dirty="0"/>
          </a:p>
        </p:txBody>
      </p:sp>
      <p:sp>
        <p:nvSpPr>
          <p:cNvPr id="49" name="A_5_1_fade_87"/>
          <p:cNvSpPr txBox="1"/>
          <p:nvPr/>
        </p:nvSpPr>
        <p:spPr>
          <a:xfrm>
            <a:off x="7166976" y="3613160"/>
            <a:ext cx="1391717"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Nhúng qua SDK</a:t>
            </a:r>
            <a:endParaRPr lang="en-US" sz="1400" dirty="0"/>
          </a:p>
        </p:txBody>
      </p:sp>
      <p:sp>
        <p:nvSpPr>
          <p:cNvPr id="50" name="A_6_1_fade_88"/>
          <p:cNvSpPr/>
          <p:nvPr/>
        </p:nvSpPr>
        <p:spPr>
          <a:xfrm>
            <a:off x="6540703" y="4083528"/>
            <a:ext cx="5039350" cy="524774"/>
          </a:xfrm>
          <a:prstGeom prst="roundRect">
            <a:avLst>
              <a:gd name="adj" fmla="val 16937"/>
            </a:avLst>
          </a:prstGeom>
          <a:solidFill>
            <a:srgbClr val="F4F2E8"/>
          </a:solidFill>
          <a:ln w="9525">
            <a:solidFill>
              <a:srgbClr val="C9CAEB"/>
            </a:solidFill>
            <a:prstDash val="solid"/>
          </a:ln>
        </p:spPr>
      </p:sp>
      <p:sp>
        <p:nvSpPr>
          <p:cNvPr id="51" name="A_6_1_fade_89"/>
          <p:cNvSpPr txBox="1"/>
          <p:nvPr/>
        </p:nvSpPr>
        <p:spPr>
          <a:xfrm>
            <a:off x="6722486" y="4210080"/>
            <a:ext cx="360639" cy="262890"/>
          </a:xfrm>
          <a:prstGeom prst="rect">
            <a:avLst/>
          </a:prstGeom>
          <a:noFill/>
          <a:ln/>
        </p:spPr>
        <p:txBody>
          <a:bodyPr wrap="square" lIns="0" tIns="0" rIns="0" bIns="0" rtlCol="0" anchor="t"/>
          <a:lstStyle/>
          <a:p>
            <a:pPr algn="l" indent="0" marL="0">
              <a:lnSpc>
                <a:spcPts val="2070"/>
              </a:lnSpc>
              <a:buNone/>
            </a:pPr>
            <a:r>
              <a:rPr lang="en-US" sz="1800" b="1" spc="-36" kern="0" dirty="0">
                <a:solidFill>
                  <a:srgbClr val="1E2BFA"/>
                </a:solidFill>
                <a:latin typeface="Space Grotesk" pitchFamily="34" charset="0"/>
                <a:ea typeface="Space Grotesk" pitchFamily="34" charset="-122"/>
                <a:cs typeface="Space Grotesk" pitchFamily="34" charset="-120"/>
              </a:rPr>
              <a:t>04</a:t>
            </a:r>
            <a:endParaRPr lang="en-US" sz="1800" dirty="0"/>
          </a:p>
        </p:txBody>
      </p:sp>
      <p:sp>
        <p:nvSpPr>
          <p:cNvPr id="52" name="A_6_1_fade_90"/>
          <p:cNvSpPr txBox="1"/>
          <p:nvPr/>
        </p:nvSpPr>
        <p:spPr>
          <a:xfrm>
            <a:off x="7166976" y="4231569"/>
            <a:ext cx="2603022"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Agent trên cloud của vendor</a:t>
            </a:r>
            <a:endParaRPr lang="en-US" sz="1400" dirty="0"/>
          </a:p>
        </p:txBody>
      </p:sp>
      <p:sp>
        <p:nvSpPr>
          <p:cNvPr id="53" name="A_7_2_fade_91"/>
          <p:cNvSpPr/>
          <p:nvPr/>
        </p:nvSpPr>
        <p:spPr>
          <a:xfrm>
            <a:off x="609630" y="4969490"/>
            <a:ext cx="10972800" cy="561990"/>
          </a:xfrm>
          <a:prstGeom prst="roundRect">
            <a:avLst>
              <a:gd name="adj" fmla="val 15815"/>
            </a:avLst>
          </a:prstGeom>
          <a:solidFill>
            <a:srgbClr val="EBE9E9"/>
          </a:solidFill>
          <a:ln/>
        </p:spPr>
      </p:sp>
      <p:sp>
        <p:nvSpPr>
          <p:cNvPr id="54" name="A_7_2_fade_92"/>
          <p:cNvSpPr txBox="1"/>
          <p:nvPr/>
        </p:nvSpPr>
        <p:spPr>
          <a:xfrm>
            <a:off x="838230" y="5117074"/>
            <a:ext cx="10505084" cy="257221"/>
          </a:xfrm>
          <a:prstGeom prst="rect">
            <a:avLst/>
          </a:prstGeom>
          <a:noFill/>
          <a:ln/>
        </p:spPr>
        <p:txBody>
          <a:bodyPr wrap="square" lIns="0" tIns="0" rIns="0" bIns="0" rtlCol="0" anchor="t"/>
          <a:lstStyle/>
          <a:p>
            <a:pPr algn="l" indent="0" marL="0">
              <a:lnSpc>
                <a:spcPts val="2025"/>
              </a:lnSpc>
              <a:buNone/>
            </a:pPr>
            <a:r>
              <a:rPr lang="en-US" sz="1500" spc="-15" kern="0" dirty="0">
                <a:solidFill>
                  <a:srgbClr val="111111"/>
                </a:solidFill>
                <a:latin typeface="Space Grotesk" pitchFamily="34" charset="0"/>
                <a:ea typeface="Space Grotesk" pitchFamily="34" charset="-122"/>
                <a:cs typeface="Space Grotesk" pitchFamily="34" charset="-120"/>
              </a:rPr>
              <a:t>“Tool cá nhân” hay “hệ thống tập trung” giờ chỉ khác nhau ở cách triển khai, không còn là hai loại sản phẩm.</a:t>
            </a:r>
            <a:endParaRPr lang="en-US" sz="1500" dirty="0"/>
          </a:p>
        </p:txBody>
      </p:sp>
      <p:sp>
        <p:nvSpPr>
          <p:cNvPr id="55" name="S_93"/>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56" name="S_94"/>
          <p:cNvSpPr txBox="1"/>
          <p:nvPr/>
        </p:nvSpPr>
        <p:spPr>
          <a:xfrm>
            <a:off x="11160801" y="6517660"/>
            <a:ext cx="497799"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03 / 25</a:t>
            </a:r>
            <a:endParaRPr lang="en-US" sz="900" dirty="0"/>
          </a:p>
        </p:txBody>
      </p:sp>
      <p:sp>
        <p:nvSpPr>
          <p:cNvPr id="57" name="S_95"/>
          <p:cNvSpPr/>
          <p:nvPr/>
        </p:nvSpPr>
        <p:spPr>
          <a:xfrm>
            <a:off x="0" y="6838980"/>
            <a:ext cx="146304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09" fill="hold">
                      <p:stCondLst>
                        <p:cond delay="indefinite"/>
                        <p:cond evt="onBegin" delay="0">
                          <p:tn val="2"/>
                        </p:cond>
                      </p:stCondLst>
                      <p:childTnLst>
                        <p:par>
                          <p:cTn id="108"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11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11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11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1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11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11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11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11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11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11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11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11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11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11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11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11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11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grpId="0" nodeType="withEffect">
                                  <p:stCondLst>
                                    <p:cond delay="11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par>
                                <p:cTn id="69" presetID="10" presetClass="entr" presetSubtype="0" fill="hold" grpId="0" nodeType="withEffect">
                                  <p:stCondLst>
                                    <p:cond delay="11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11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11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grpId="0" nodeType="withEffect">
                                  <p:stCondLst>
                                    <p:cond delay="11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grpId="0" nodeType="withEffect">
                                  <p:stCondLst>
                                    <p:cond delay="11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par>
                                <p:cTn id="84" presetID="10" presetClass="entr" presetSubtype="0" fill="hold" grpId="0" nodeType="withEffect">
                                  <p:stCondLst>
                                    <p:cond delay="11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500"/>
                                        <p:tgtEl>
                                          <p:spTgt spid="32"/>
                                        </p:tgtEl>
                                      </p:cBhvr>
                                    </p:animEffect>
                                  </p:childTnLst>
                                </p:cTn>
                              </p:par>
                              <p:par>
                                <p:cTn id="87" presetID="10" presetClass="entr" presetSubtype="0" fill="hold" grpId="0" nodeType="withEffect">
                                  <p:stCondLst>
                                    <p:cond delay="11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500"/>
                                        <p:tgtEl>
                                          <p:spTgt spid="33"/>
                                        </p:tgtEl>
                                      </p:cBhvr>
                                    </p:animEffect>
                                  </p:childTnLst>
                                </p:cTn>
                              </p:par>
                              <p:par>
                                <p:cTn id="90" presetID="10" presetClass="entr" presetSubtype="0" fill="hold" grpId="0" nodeType="withEffect">
                                  <p:stCondLst>
                                    <p:cond delay="11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500"/>
                                        <p:tgtEl>
                                          <p:spTgt spid="34"/>
                                        </p:tgtEl>
                                      </p:cBhvr>
                                    </p:animEffect>
                                  </p:childTnLst>
                                </p:cTn>
                              </p:par>
                              <p:par>
                                <p:cTn id="93" presetID="10" presetClass="entr" presetSubtype="0" fill="hold" grpId="0" nodeType="withEffect">
                                  <p:stCondLst>
                                    <p:cond delay="11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500"/>
                                        <p:tgtEl>
                                          <p:spTgt spid="35"/>
                                        </p:tgtEl>
                                      </p:cBhvr>
                                    </p:animEffect>
                                  </p:childTnLst>
                                </p:cTn>
                              </p:par>
                              <p:par>
                                <p:cTn id="96" presetID="10" presetClass="entr" presetSubtype="0" fill="hold" grpId="0" nodeType="withEffect">
                                  <p:stCondLst>
                                    <p:cond delay="11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500"/>
                                        <p:tgtEl>
                                          <p:spTgt spid="36"/>
                                        </p:tgtEl>
                                      </p:cBhvr>
                                    </p:animEffect>
                                  </p:childTnLst>
                                </p:cTn>
                              </p:par>
                              <p:par>
                                <p:cTn id="99" presetID="10" presetClass="entr" presetSubtype="0" fill="hold" grpId="0" nodeType="withEffect">
                                  <p:stCondLst>
                                    <p:cond delay="110"/>
                                  </p:stCondLst>
                                  <p:childTnLst>
                                    <p:set>
                                      <p:cBhvr>
                                        <p:cTn id="100" dur="1" fill="hold">
                                          <p:stCondLst>
                                            <p:cond delay="0"/>
                                          </p:stCondLst>
                                        </p:cTn>
                                        <p:tgtEl>
                                          <p:spTgt spid="37"/>
                                        </p:tgtEl>
                                        <p:attrNameLst>
                                          <p:attrName>style.visibility</p:attrName>
                                        </p:attrNameLst>
                                      </p:cBhvr>
                                      <p:to>
                                        <p:strVal val="visible"/>
                                      </p:to>
                                    </p:set>
                                    <p:animEffect transition="in" filter="fade">
                                      <p:cBhvr>
                                        <p:cTn id="101" dur="500"/>
                                        <p:tgtEl>
                                          <p:spTgt spid="37"/>
                                        </p:tgtEl>
                                      </p:cBhvr>
                                    </p:animEffect>
                                  </p:childTnLst>
                                </p:cTn>
                              </p:par>
                              <p:par>
                                <p:cTn id="102" presetID="10" presetClass="entr" presetSubtype="0" fill="hold" grpId="0" nodeType="withEffect">
                                  <p:stCondLst>
                                    <p:cond delay="11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500"/>
                                        <p:tgtEl>
                                          <p:spTgt spid="38"/>
                                        </p:tgtEl>
                                      </p:cBhvr>
                                    </p:animEffect>
                                  </p:childTnLst>
                                </p:cTn>
                              </p:par>
                              <p:par>
                                <p:cTn id="105" presetID="10" presetClass="entr" presetSubtype="0" fill="hold" grpId="0" nodeType="withEffect">
                                  <p:stCondLst>
                                    <p:cond delay="11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500"/>
                                        <p:tgtEl>
                                          <p:spTgt spid="39"/>
                                        </p:tgtEl>
                                      </p:cBhvr>
                                    </p:animEffect>
                                  </p:childTnLst>
                                </p:cTn>
                              </p:par>
                            </p:childTnLst>
                          </p:cTn>
                        </p:par>
                      </p:childTnLst>
                    </p:cTn>
                  </p:par>
                  <p:par>
                    <p:cTn id="150" fill="hold">
                      <p:stCondLst>
                        <p:cond delay="indefinite"/>
                      </p:stCondLst>
                      <p:childTnLst>
                        <p:par>
                          <p:cTn id="14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11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11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11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22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22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22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33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33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par>
                                <p:cTn id="137" presetID="10" presetClass="entr" presetSubtype="0" fill="hold" grpId="0" nodeType="withEffect">
                                  <p:stCondLst>
                                    <p:cond delay="33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0"/>
                                        <p:tgtEl>
                                          <p:spTgt spid="49"/>
                                        </p:tgtEl>
                                      </p:cBhvr>
                                    </p:animEffect>
                                  </p:childTnLst>
                                </p:cTn>
                              </p:par>
                              <p:par>
                                <p:cTn id="140" presetID="10" presetClass="entr" presetSubtype="0" fill="hold" grpId="0" nodeType="withEffect">
                                  <p:stCondLst>
                                    <p:cond delay="440"/>
                                  </p:stCondLst>
                                  <p:childTnLst>
                                    <p:set>
                                      <p:cBhvr>
                                        <p:cTn id="141" dur="1" fill="hold">
                                          <p:stCondLst>
                                            <p:cond delay="0"/>
                                          </p:stCondLst>
                                        </p:cTn>
                                        <p:tgtEl>
                                          <p:spTgt spid="50"/>
                                        </p:tgtEl>
                                        <p:attrNameLst>
                                          <p:attrName>style.visibility</p:attrName>
                                        </p:attrNameLst>
                                      </p:cBhvr>
                                      <p:to>
                                        <p:strVal val="visible"/>
                                      </p:to>
                                    </p:set>
                                    <p:animEffect transition="in" filter="fade">
                                      <p:cBhvr>
                                        <p:cTn id="142" dur="500"/>
                                        <p:tgtEl>
                                          <p:spTgt spid="50"/>
                                        </p:tgtEl>
                                      </p:cBhvr>
                                    </p:animEffect>
                                  </p:childTnLst>
                                </p:cTn>
                              </p:par>
                              <p:par>
                                <p:cTn id="143" presetID="10" presetClass="entr" presetSubtype="0" fill="hold" grpId="0" nodeType="withEffect">
                                  <p:stCondLst>
                                    <p:cond delay="440"/>
                                  </p:stCondLst>
                                  <p:childTnLst>
                                    <p:set>
                                      <p:cBhvr>
                                        <p:cTn id="144" dur="1" fill="hold">
                                          <p:stCondLst>
                                            <p:cond delay="0"/>
                                          </p:stCondLst>
                                        </p:cTn>
                                        <p:tgtEl>
                                          <p:spTgt spid="51"/>
                                        </p:tgtEl>
                                        <p:attrNameLst>
                                          <p:attrName>style.visibility</p:attrName>
                                        </p:attrNameLst>
                                      </p:cBhvr>
                                      <p:to>
                                        <p:strVal val="visible"/>
                                      </p:to>
                                    </p:set>
                                    <p:animEffect transition="in" filter="fade">
                                      <p:cBhvr>
                                        <p:cTn id="145" dur="500"/>
                                        <p:tgtEl>
                                          <p:spTgt spid="51"/>
                                        </p:tgtEl>
                                      </p:cBhvr>
                                    </p:animEffect>
                                  </p:childTnLst>
                                </p:cTn>
                              </p:par>
                              <p:par>
                                <p:cTn id="146" presetID="10" presetClass="entr" presetSubtype="0" fill="hold" grpId="0" nodeType="withEffect">
                                  <p:stCondLst>
                                    <p:cond delay="440"/>
                                  </p:stCondLst>
                                  <p:childTnLst>
                                    <p:set>
                                      <p:cBhvr>
                                        <p:cTn id="147" dur="1" fill="hold">
                                          <p:stCondLst>
                                            <p:cond delay="0"/>
                                          </p:stCondLst>
                                        </p:cTn>
                                        <p:tgtEl>
                                          <p:spTgt spid="52"/>
                                        </p:tgtEl>
                                        <p:attrNameLst>
                                          <p:attrName>style.visibility</p:attrName>
                                        </p:attrNameLst>
                                      </p:cBhvr>
                                      <p:to>
                                        <p:strVal val="visible"/>
                                      </p:to>
                                    </p:set>
                                    <p:animEffect transition="in" filter="fade">
                                      <p:cBhvr>
                                        <p:cTn id="148" dur="500"/>
                                        <p:tgtEl>
                                          <p:spTgt spid="52"/>
                                        </p:tgtEl>
                                      </p:cBhvr>
                                    </p:animEffect>
                                  </p:childTnLst>
                                </p:cTn>
                              </p:par>
                            </p:childTnLst>
                          </p:cTn>
                        </p:par>
                      </p:childTnLst>
                    </p:cTn>
                  </p:par>
                  <p:par>
                    <p:cTn id="158" fill="hold">
                      <p:stCondLst>
                        <p:cond delay="indefinite"/>
                      </p:stCondLst>
                      <p:childTnLst>
                        <p:par>
                          <p:cTn id="157"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53"/>
                                        </p:tgtEl>
                                        <p:attrNameLst>
                                          <p:attrName>style.visibility</p:attrName>
                                        </p:attrNameLst>
                                      </p:cBhvr>
                                      <p:to>
                                        <p:strVal val="visible"/>
                                      </p:to>
                                    </p:set>
                                    <p:animEffect transition="in" filter="fade">
                                      <p:cBhvr>
                                        <p:cTn id="153" dur="500"/>
                                        <p:tgtEl>
                                          <p:spTgt spid="53"/>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4"/>
                                        </p:tgtEl>
                                        <p:attrNameLst>
                                          <p:attrName>style.visibility</p:attrName>
                                        </p:attrNameLst>
                                      </p:cBhvr>
                                      <p:to>
                                        <p:strVal val="visible"/>
                                      </p:to>
                                    </p:set>
                                    <p:animEffect transition="in" filter="fade">
                                      <p:cBhvr>
                                        <p:cTn id="156"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AE7"/>
        </a:solidFill>
      </p:bgPr>
    </p:bg>
    <p:spTree>
      <p:nvGrpSpPr>
        <p:cNvPr id="1" name=""/>
        <p:cNvGrpSpPr/>
        <p:nvPr/>
      </p:nvGrpSpPr>
      <p:grpSpPr>
        <a:xfrm>
          <a:off x="0" y="0"/>
          <a:ext cx="0" cy="0"/>
          <a:chOff x="0" y="0"/>
          <a:chExt cx="0" cy="0"/>
        </a:xfrm>
      </p:grpSpPr>
      <p:sp>
        <p:nvSpPr>
          <p:cNvPr id="2" name="S_96"/>
          <p:cNvSpPr txBox="1"/>
          <p:nvPr/>
        </p:nvSpPr>
        <p:spPr>
          <a:xfrm>
            <a:off x="609630" y="466070"/>
            <a:ext cx="2086844"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01 · BỐI CẢNH 2025–2026</a:t>
            </a:r>
            <a:endParaRPr lang="en-US" sz="1100" dirty="0"/>
          </a:p>
        </p:txBody>
      </p:sp>
      <p:sp>
        <p:nvSpPr>
          <p:cNvPr id="3" name="S_97"/>
          <p:cNvSpPr/>
          <p:nvPr/>
        </p:nvSpPr>
        <p:spPr>
          <a:xfrm>
            <a:off x="10641879" y="412760"/>
            <a:ext cx="940460" cy="292059"/>
          </a:xfrm>
          <a:prstGeom prst="roundRect">
            <a:avLst>
              <a:gd name="adj" fmla="val 50000"/>
            </a:avLst>
          </a:prstGeom>
          <a:solidFill>
            <a:srgbClr val="EBE9E9"/>
          </a:solidFill>
          <a:ln/>
        </p:spPr>
      </p:sp>
      <p:sp>
        <p:nvSpPr>
          <p:cNvPr id="4" name="S_98"/>
          <p:cNvSpPr txBox="1"/>
          <p:nvPr/>
        </p:nvSpPr>
        <p:spPr>
          <a:xfrm>
            <a:off x="10807019" y="476220"/>
            <a:ext cx="686532"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Chuẩn mở</a:t>
            </a:r>
            <a:endParaRPr lang="en-US" sz="1000" dirty="0"/>
          </a:p>
        </p:txBody>
      </p:sp>
      <p:sp>
        <p:nvSpPr>
          <p:cNvPr id="5" name="A_0_0_fade_99"/>
          <p:cNvSpPr txBox="1"/>
          <p:nvPr/>
        </p:nvSpPr>
        <p:spPr>
          <a:xfrm>
            <a:off x="609630" y="806592"/>
            <a:ext cx="9346265"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Các “ổ cắm” đã được chuẩn hoá: MCP và Agent Skills</a:t>
            </a:r>
            <a:endParaRPr lang="en-US" sz="2800" dirty="0"/>
          </a:p>
        </p:txBody>
      </p:sp>
      <p:sp>
        <p:nvSpPr>
          <p:cNvPr id="6" name="A_1_0_wipe_100"/>
          <p:cNvSpPr/>
          <p:nvPr/>
        </p:nvSpPr>
        <p:spPr>
          <a:xfrm>
            <a:off x="673090" y="2039112"/>
            <a:ext cx="10909341" cy="19020"/>
          </a:xfrm>
          <a:prstGeom prst="rect">
            <a:avLst/>
          </a:prstGeom>
          <a:solidFill>
            <a:srgbClr val="1E2BFA"/>
          </a:solidFill>
          <a:ln/>
        </p:spPr>
      </p:sp>
      <p:sp>
        <p:nvSpPr>
          <p:cNvPr id="7" name="A_2_0_fade_101"/>
          <p:cNvSpPr/>
          <p:nvPr/>
        </p:nvSpPr>
        <p:spPr>
          <a:xfrm>
            <a:off x="609630" y="1975653"/>
            <a:ext cx="139720" cy="139720"/>
          </a:xfrm>
          <a:prstGeom prst="ellipse">
            <a:avLst/>
          </a:prstGeom>
          <a:solidFill>
            <a:srgbClr val="1E2BFA"/>
          </a:solidFill>
          <a:ln/>
        </p:spPr>
      </p:sp>
      <p:sp>
        <p:nvSpPr>
          <p:cNvPr id="8" name="A_2_0_fade_102"/>
          <p:cNvSpPr txBox="1"/>
          <p:nvPr/>
        </p:nvSpPr>
        <p:spPr>
          <a:xfrm>
            <a:off x="609630" y="2224918"/>
            <a:ext cx="965515" cy="219090"/>
          </a:xfrm>
          <a:prstGeom prst="rect">
            <a:avLst/>
          </a:prstGeom>
          <a:noFill/>
          <a:ln/>
        </p:spPr>
        <p:txBody>
          <a:bodyPr wrap="square" lIns="0" tIns="0" rIns="0" bIns="0" rtlCol="0" anchor="t"/>
          <a:lstStyle/>
          <a:p>
            <a:pPr algn="l" indent="0" marL="0">
              <a:lnSpc>
                <a:spcPts val="1725"/>
              </a:lnSpc>
              <a:buNone/>
            </a:pPr>
            <a:r>
              <a:rPr lang="en-US" sz="1500" b="1" spc="-30" kern="0" dirty="0">
                <a:solidFill>
                  <a:srgbClr val="1E2BFA"/>
                </a:solidFill>
                <a:latin typeface="Space Grotesk" pitchFamily="34" charset="0"/>
                <a:ea typeface="Space Grotesk" pitchFamily="34" charset="-122"/>
                <a:cs typeface="Space Grotesk" pitchFamily="34" charset="-120"/>
              </a:rPr>
              <a:t>Cuối 2024</a:t>
            </a:r>
            <a:endParaRPr lang="en-US" sz="1500" dirty="0"/>
          </a:p>
        </p:txBody>
      </p:sp>
      <p:sp>
        <p:nvSpPr>
          <p:cNvPr id="9" name="A_2_0_fade_103"/>
          <p:cNvSpPr txBox="1"/>
          <p:nvPr/>
        </p:nvSpPr>
        <p:spPr>
          <a:xfrm>
            <a:off x="609630" y="2495215"/>
            <a:ext cx="3223992" cy="635325"/>
          </a:xfrm>
          <a:prstGeom prst="rect">
            <a:avLst/>
          </a:prstGeom>
          <a:noFill/>
          <a:ln/>
        </p:spPr>
        <p:txBody>
          <a:bodyPr wrap="square" lIns="0" tIns="0" rIns="0" bIns="0" rtlCol="0" anchor="t"/>
          <a:lstStyle/>
          <a:p>
            <a:pPr algn="l" indent="0" marL="0">
              <a:lnSpc>
                <a:spcPts val="1668"/>
              </a:lnSpc>
              <a:buNone/>
            </a:pPr>
            <a:r>
              <a:rPr lang="en-US" sz="1150" b="1" dirty="0">
                <a:solidFill>
                  <a:srgbClr val="111111"/>
                </a:solidFill>
                <a:latin typeface="Inter" pitchFamily="34" charset="0"/>
                <a:ea typeface="Inter" pitchFamily="34" charset="-122"/>
                <a:cs typeface="Inter" pitchFamily="34" charset="-120"/>
              </a:rPr>
              <a:t>MCP</a:t>
            </a:r>
            <a:pPr algn="l" indent="0" marL="0">
              <a:lnSpc>
                <a:spcPts val="1668"/>
              </a:lnSpc>
              <a:buNone/>
            </a:pPr>
            <a:r>
              <a:rPr lang="en-US" sz="1150" dirty="0">
                <a:solidFill>
                  <a:srgbClr val="6B6B6B"/>
                </a:solidFill>
                <a:latin typeface="Inter" pitchFamily="34" charset="0"/>
                <a:ea typeface="Inter" pitchFamily="34" charset="-122"/>
                <a:cs typeface="Inter" pitchFamily="34" charset="-120"/>
              </a:rPr>
              <a:t> (Model Context Protocol) do Anthropic</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công bố; thành chuẩn chung để nối agent với</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tool và dữ liệu.</a:t>
            </a:r>
            <a:endParaRPr lang="en-US" sz="1150" dirty="0"/>
          </a:p>
        </p:txBody>
      </p:sp>
      <p:sp>
        <p:nvSpPr>
          <p:cNvPr id="10" name="A_3_0_fade_104"/>
          <p:cNvSpPr/>
          <p:nvPr/>
        </p:nvSpPr>
        <p:spPr>
          <a:xfrm>
            <a:off x="3987424" y="1975653"/>
            <a:ext cx="139720" cy="139720"/>
          </a:xfrm>
          <a:prstGeom prst="ellipse">
            <a:avLst/>
          </a:prstGeom>
          <a:solidFill>
            <a:srgbClr val="1E2BFA"/>
          </a:solidFill>
          <a:ln/>
        </p:spPr>
      </p:sp>
      <p:sp>
        <p:nvSpPr>
          <p:cNvPr id="11" name="A_3_0_fade_105"/>
          <p:cNvSpPr txBox="1"/>
          <p:nvPr/>
        </p:nvSpPr>
        <p:spPr>
          <a:xfrm>
            <a:off x="3987424" y="2224918"/>
            <a:ext cx="786841" cy="219090"/>
          </a:xfrm>
          <a:prstGeom prst="rect">
            <a:avLst/>
          </a:prstGeom>
          <a:noFill/>
          <a:ln/>
        </p:spPr>
        <p:txBody>
          <a:bodyPr wrap="square" lIns="0" tIns="0" rIns="0" bIns="0" rtlCol="0" anchor="t"/>
          <a:lstStyle/>
          <a:p>
            <a:pPr algn="l" indent="0" marL="0">
              <a:lnSpc>
                <a:spcPts val="1725"/>
              </a:lnSpc>
              <a:buNone/>
            </a:pPr>
            <a:r>
              <a:rPr lang="en-US" sz="1500" b="1" spc="-30" kern="0" dirty="0">
                <a:solidFill>
                  <a:srgbClr val="1E2BFA"/>
                </a:solidFill>
                <a:latin typeface="Space Grotesk" pitchFamily="34" charset="0"/>
                <a:ea typeface="Space Grotesk" pitchFamily="34" charset="-122"/>
                <a:cs typeface="Space Grotesk" pitchFamily="34" charset="-120"/>
              </a:rPr>
              <a:t>12/2025</a:t>
            </a:r>
            <a:endParaRPr lang="en-US" sz="1500" dirty="0"/>
          </a:p>
        </p:txBody>
      </p:sp>
      <p:sp>
        <p:nvSpPr>
          <p:cNvPr id="12" name="A_3_0_fade_106"/>
          <p:cNvSpPr txBox="1"/>
          <p:nvPr/>
        </p:nvSpPr>
        <p:spPr>
          <a:xfrm>
            <a:off x="3987424" y="2495215"/>
            <a:ext cx="4056370" cy="423550"/>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MCP,</a:t>
            </a:r>
            <a:pPr algn="l" indent="0" marL="0">
              <a:lnSpc>
                <a:spcPts val="1668"/>
              </a:lnSpc>
              <a:buNone/>
            </a:pPr>
            <a:r>
              <a:rPr lang="en-US" sz="1150" b="1" dirty="0">
                <a:solidFill>
                  <a:srgbClr val="111111"/>
                </a:solidFill>
                <a:latin typeface="Inter" pitchFamily="34" charset="0"/>
                <a:ea typeface="Inter" pitchFamily="34" charset="-122"/>
                <a:cs typeface="Inter" pitchFamily="34" charset="-120"/>
              </a:rPr>
              <a:t> AGENTS.md</a:t>
            </a:r>
            <a:pPr algn="l" indent="0" marL="0">
              <a:lnSpc>
                <a:spcPts val="1668"/>
              </a:lnSpc>
              <a:buNone/>
            </a:pPr>
            <a:r>
              <a:rPr lang="en-US" sz="1150" dirty="0">
                <a:solidFill>
                  <a:srgbClr val="6B6B6B"/>
                </a:solidFill>
                <a:latin typeface="Inter" pitchFamily="34" charset="0"/>
                <a:ea typeface="Inter" pitchFamily="34" charset="-122"/>
                <a:cs typeface="Inter" pitchFamily="34" charset="-120"/>
              </a:rPr>
              <a:t> (OpenAI) và</a:t>
            </a:r>
            <a:pPr algn="l" indent="0" marL="0">
              <a:lnSpc>
                <a:spcPts val="1668"/>
              </a:lnSpc>
              <a:buNone/>
            </a:pPr>
            <a:r>
              <a:rPr lang="en-US" sz="1150" b="1" dirty="0">
                <a:solidFill>
                  <a:srgbClr val="111111"/>
                </a:solidFill>
                <a:latin typeface="Inter" pitchFamily="34" charset="0"/>
                <a:ea typeface="Inter" pitchFamily="34" charset="-122"/>
                <a:cs typeface="Inter" pitchFamily="34" charset="-120"/>
              </a:rPr>
              <a:t> goose</a:t>
            </a:r>
            <a:pPr algn="l" indent="0" marL="0">
              <a:lnSpc>
                <a:spcPts val="1668"/>
              </a:lnSpc>
              <a:buNone/>
            </a:pPr>
            <a:r>
              <a:rPr lang="en-US" sz="1150" dirty="0">
                <a:solidFill>
                  <a:srgbClr val="6B6B6B"/>
                </a:solidFill>
                <a:latin typeface="Inter" pitchFamily="34" charset="0"/>
                <a:ea typeface="Inter" pitchFamily="34" charset="-122"/>
                <a:cs typeface="Inter" pitchFamily="34" charset="-120"/>
              </a:rPr>
              <a:t> (Block) chuyển về</a:t>
            </a:r>
            <a:endParaRPr lang="en-US" sz="1150" dirty="0"/>
          </a:p>
          <a:p>
            <a:pPr algn="l" indent="0" marL="0">
              <a:lnSpc>
                <a:spcPts val="1668"/>
              </a:lnSpc>
              <a:buNone/>
            </a:pPr>
            <a:r>
              <a:rPr lang="en-US" sz="1150" b="1" dirty="0">
                <a:solidFill>
                  <a:srgbClr val="111111"/>
                </a:solidFill>
                <a:latin typeface="Inter" pitchFamily="34" charset="0"/>
                <a:ea typeface="Inter" pitchFamily="34" charset="-122"/>
                <a:cs typeface="Inter" pitchFamily="34" charset="-120"/>
              </a:rPr>
              <a:t>Agentic AI Foundation</a:t>
            </a:r>
            <a:pPr algn="l" indent="0" marL="0">
              <a:lnSpc>
                <a:spcPts val="1668"/>
              </a:lnSpc>
              <a:buNone/>
            </a:pPr>
            <a:r>
              <a:rPr lang="en-US" sz="1150" dirty="0">
                <a:solidFill>
                  <a:srgbClr val="6B6B6B"/>
                </a:solidFill>
                <a:latin typeface="Inter" pitchFamily="34" charset="0"/>
                <a:ea typeface="Inter" pitchFamily="34" charset="-122"/>
                <a:cs typeface="Inter" pitchFamily="34" charset="-120"/>
              </a:rPr>
              <a:t> thuộc Linux Foundation.</a:t>
            </a:r>
            <a:endParaRPr lang="en-US" sz="1150" dirty="0"/>
          </a:p>
        </p:txBody>
      </p:sp>
      <p:sp>
        <p:nvSpPr>
          <p:cNvPr id="13" name="A_4_0_fade_107"/>
          <p:cNvSpPr/>
          <p:nvPr/>
        </p:nvSpPr>
        <p:spPr>
          <a:xfrm>
            <a:off x="8458474" y="1975653"/>
            <a:ext cx="139720" cy="139720"/>
          </a:xfrm>
          <a:prstGeom prst="ellipse">
            <a:avLst/>
          </a:prstGeom>
          <a:solidFill>
            <a:srgbClr val="1E2BFA"/>
          </a:solidFill>
          <a:ln/>
        </p:spPr>
      </p:sp>
      <p:sp>
        <p:nvSpPr>
          <p:cNvPr id="14" name="A_4_0_fade_108"/>
          <p:cNvSpPr txBox="1"/>
          <p:nvPr/>
        </p:nvSpPr>
        <p:spPr>
          <a:xfrm>
            <a:off x="8458474" y="2224918"/>
            <a:ext cx="786841" cy="219090"/>
          </a:xfrm>
          <a:prstGeom prst="rect">
            <a:avLst/>
          </a:prstGeom>
          <a:noFill/>
          <a:ln/>
        </p:spPr>
        <p:txBody>
          <a:bodyPr wrap="square" lIns="0" tIns="0" rIns="0" bIns="0" rtlCol="0" anchor="t"/>
          <a:lstStyle/>
          <a:p>
            <a:pPr algn="l" indent="0" marL="0">
              <a:lnSpc>
                <a:spcPts val="1725"/>
              </a:lnSpc>
              <a:buNone/>
            </a:pPr>
            <a:r>
              <a:rPr lang="en-US" sz="1500" b="1" spc="-30" kern="0" dirty="0">
                <a:solidFill>
                  <a:srgbClr val="1E2BFA"/>
                </a:solidFill>
                <a:latin typeface="Space Grotesk" pitchFamily="34" charset="0"/>
                <a:ea typeface="Space Grotesk" pitchFamily="34" charset="-122"/>
                <a:cs typeface="Space Grotesk" pitchFamily="34" charset="-120"/>
              </a:rPr>
              <a:t>12/2025</a:t>
            </a:r>
            <a:endParaRPr lang="en-US" sz="1500" dirty="0"/>
          </a:p>
        </p:txBody>
      </p:sp>
      <p:sp>
        <p:nvSpPr>
          <p:cNvPr id="15" name="A_4_0_fade_109"/>
          <p:cNvSpPr txBox="1"/>
          <p:nvPr/>
        </p:nvSpPr>
        <p:spPr>
          <a:xfrm>
            <a:off x="8458474" y="2495215"/>
            <a:ext cx="3298515" cy="423550"/>
          </a:xfrm>
          <a:prstGeom prst="rect">
            <a:avLst/>
          </a:prstGeom>
          <a:noFill/>
          <a:ln/>
        </p:spPr>
        <p:txBody>
          <a:bodyPr wrap="square" lIns="0" tIns="0" rIns="0" bIns="0" rtlCol="0" anchor="t"/>
          <a:lstStyle/>
          <a:p>
            <a:pPr algn="l" indent="0" marL="0">
              <a:lnSpc>
                <a:spcPts val="1668"/>
              </a:lnSpc>
              <a:buNone/>
            </a:pPr>
            <a:r>
              <a:rPr lang="en-US" sz="1150" b="1" dirty="0">
                <a:solidFill>
                  <a:srgbClr val="111111"/>
                </a:solidFill>
                <a:latin typeface="Inter" pitchFamily="34" charset="0"/>
                <a:ea typeface="Inter" pitchFamily="34" charset="-122"/>
                <a:cs typeface="Inter" pitchFamily="34" charset="-120"/>
              </a:rPr>
              <a:t>Agent Skills</a:t>
            </a:r>
            <a:pPr algn="l" indent="0" marL="0">
              <a:lnSpc>
                <a:spcPts val="1668"/>
              </a:lnSpc>
              <a:buNone/>
            </a:pPr>
            <a:r>
              <a:rPr lang="en-US" sz="1150" dirty="0">
                <a:solidFill>
                  <a:srgbClr val="6B6B6B"/>
                </a:solidFill>
                <a:latin typeface="Inter" pitchFamily="34" charset="0"/>
                <a:ea typeface="Inter" pitchFamily="34" charset="-122"/>
                <a:cs typeface="Inter" pitchFamily="34" charset="-120"/>
              </a:rPr>
              <a:t>, tức một thư mục chứa</a:t>
            </a:r>
            <a:pPr algn="l" indent="0" marL="0">
              <a:lnSpc>
                <a:spcPts val="1668"/>
              </a:lnSpc>
              <a:buNone/>
            </a:pPr>
            <a:r>
              <a:rPr lang="en-US" sz="1150" dirty="0">
                <a:solidFill>
                  <a:srgbClr val="111111"/>
                </a:solidFill>
                <a:latin typeface="Inter" pitchFamily="34" charset="0"/>
                <a:ea typeface="Inter" pitchFamily="34" charset="-122"/>
                <a:cs typeface="Inter" pitchFamily="34" charset="-120"/>
              </a:rPr>
              <a:t> SKILL.md</a:t>
            </a:r>
            <a:pPr algn="l" indent="0" marL="0">
              <a:lnSpc>
                <a:spcPts val="1668"/>
              </a:lnSpc>
              <a:buNone/>
            </a:pPr>
            <a:r>
              <a:rPr lang="en-US" sz="1150" dirty="0">
                <a:solidFill>
                  <a:srgbClr val="6B6B6B"/>
                </a:solidFill>
                <a:latin typeface="Inter" pitchFamily="34" charset="0"/>
                <a:ea typeface="Inter" pitchFamily="34" charset="-122"/>
                <a:cs typeface="Inter" pitchFamily="34" charset="-120"/>
              </a:rPr>
              <a:t>,</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được công bố thành chuẩn mở.</a:t>
            </a:r>
            <a:endParaRPr lang="en-US" sz="1150" dirty="0"/>
          </a:p>
        </p:txBody>
      </p:sp>
      <p:sp>
        <p:nvSpPr>
          <p:cNvPr id="16" name="A_5_1_fade_110"/>
          <p:cNvSpPr/>
          <p:nvPr/>
        </p:nvSpPr>
        <p:spPr>
          <a:xfrm>
            <a:off x="612008" y="3365724"/>
            <a:ext cx="5392765" cy="1188263"/>
          </a:xfrm>
          <a:prstGeom prst="roundRect">
            <a:avLst>
              <a:gd name="adj" fmla="val 7480"/>
            </a:avLst>
          </a:prstGeom>
          <a:solidFill>
            <a:srgbClr val="F4F2E8"/>
          </a:solidFill>
          <a:ln w="9525">
            <a:solidFill>
              <a:srgbClr val="C9CAEB"/>
            </a:solidFill>
            <a:prstDash val="solid"/>
          </a:ln>
        </p:spPr>
      </p:sp>
      <p:sp>
        <p:nvSpPr>
          <p:cNvPr id="17" name="A_5_1_fade_111"/>
          <p:cNvSpPr txBox="1"/>
          <p:nvPr/>
        </p:nvSpPr>
        <p:spPr>
          <a:xfrm>
            <a:off x="819120" y="3529401"/>
            <a:ext cx="2662824"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THÀNH VIÊN HẠNG CAO NHẤT CỦA AAIF</a:t>
            </a:r>
            <a:endParaRPr lang="en-US" sz="950" dirty="0"/>
          </a:p>
        </p:txBody>
      </p:sp>
      <p:sp>
        <p:nvSpPr>
          <p:cNvPr id="18" name="A_5_1_fade_112"/>
          <p:cNvSpPr/>
          <p:nvPr/>
        </p:nvSpPr>
        <p:spPr>
          <a:xfrm>
            <a:off x="819120" y="3780404"/>
            <a:ext cx="522854" cy="270480"/>
          </a:xfrm>
          <a:prstGeom prst="roundRect">
            <a:avLst>
              <a:gd name="adj" fmla="val 50000"/>
            </a:avLst>
          </a:prstGeom>
          <a:solidFill>
            <a:srgbClr val="E3E2E9"/>
          </a:solidFill>
          <a:ln/>
        </p:spPr>
      </p:sp>
      <p:sp>
        <p:nvSpPr>
          <p:cNvPr id="19" name="A_5_1_fade_113"/>
          <p:cNvSpPr txBox="1"/>
          <p:nvPr/>
        </p:nvSpPr>
        <p:spPr>
          <a:xfrm>
            <a:off x="933420" y="3823015"/>
            <a:ext cx="370515"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AWS</a:t>
            </a:r>
            <a:endParaRPr lang="en-US" sz="1100" dirty="0"/>
          </a:p>
        </p:txBody>
      </p:sp>
      <p:sp>
        <p:nvSpPr>
          <p:cNvPr id="20" name="A_5_1_fade_114"/>
          <p:cNvSpPr/>
          <p:nvPr/>
        </p:nvSpPr>
        <p:spPr>
          <a:xfrm>
            <a:off x="1405524" y="3780404"/>
            <a:ext cx="895929" cy="270480"/>
          </a:xfrm>
          <a:prstGeom prst="roundRect">
            <a:avLst>
              <a:gd name="adj" fmla="val 50000"/>
            </a:avLst>
          </a:prstGeom>
          <a:solidFill>
            <a:srgbClr val="E3E2E9"/>
          </a:solidFill>
          <a:ln/>
        </p:spPr>
      </p:sp>
      <p:sp>
        <p:nvSpPr>
          <p:cNvPr id="21" name="A_5_1_fade_115"/>
          <p:cNvSpPr txBox="1"/>
          <p:nvPr/>
        </p:nvSpPr>
        <p:spPr>
          <a:xfrm>
            <a:off x="1519824" y="3823015"/>
            <a:ext cx="743590"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Anthropic</a:t>
            </a:r>
            <a:endParaRPr lang="en-US" sz="1100" dirty="0"/>
          </a:p>
        </p:txBody>
      </p:sp>
      <p:sp>
        <p:nvSpPr>
          <p:cNvPr id="22" name="A_5_1_fade_116"/>
          <p:cNvSpPr/>
          <p:nvPr/>
        </p:nvSpPr>
        <p:spPr>
          <a:xfrm>
            <a:off x="2365004" y="3780404"/>
            <a:ext cx="602498" cy="270480"/>
          </a:xfrm>
          <a:prstGeom prst="roundRect">
            <a:avLst>
              <a:gd name="adj" fmla="val 50000"/>
            </a:avLst>
          </a:prstGeom>
          <a:solidFill>
            <a:srgbClr val="E3E2E9"/>
          </a:solidFill>
          <a:ln/>
        </p:spPr>
      </p:sp>
      <p:sp>
        <p:nvSpPr>
          <p:cNvPr id="23" name="A_5_1_fade_117"/>
          <p:cNvSpPr txBox="1"/>
          <p:nvPr/>
        </p:nvSpPr>
        <p:spPr>
          <a:xfrm>
            <a:off x="2479304" y="3823015"/>
            <a:ext cx="45006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Block</a:t>
            </a:r>
            <a:endParaRPr lang="en-US" sz="1100" dirty="0"/>
          </a:p>
        </p:txBody>
      </p:sp>
      <p:sp>
        <p:nvSpPr>
          <p:cNvPr id="24" name="A_5_1_fade_118"/>
          <p:cNvSpPr/>
          <p:nvPr/>
        </p:nvSpPr>
        <p:spPr>
          <a:xfrm>
            <a:off x="3030962" y="3780404"/>
            <a:ext cx="960394" cy="270480"/>
          </a:xfrm>
          <a:prstGeom prst="roundRect">
            <a:avLst>
              <a:gd name="adj" fmla="val 50000"/>
            </a:avLst>
          </a:prstGeom>
          <a:solidFill>
            <a:srgbClr val="E3E2E9"/>
          </a:solidFill>
          <a:ln/>
        </p:spPr>
      </p:sp>
      <p:sp>
        <p:nvSpPr>
          <p:cNvPr id="25" name="A_5_1_fade_119"/>
          <p:cNvSpPr txBox="1"/>
          <p:nvPr/>
        </p:nvSpPr>
        <p:spPr>
          <a:xfrm>
            <a:off x="3145262" y="3823015"/>
            <a:ext cx="808055"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Bloomberg</a:t>
            </a:r>
            <a:endParaRPr lang="en-US" sz="1100" dirty="0"/>
          </a:p>
        </p:txBody>
      </p:sp>
      <p:sp>
        <p:nvSpPr>
          <p:cNvPr id="26" name="A_5_1_fade_120"/>
          <p:cNvSpPr/>
          <p:nvPr/>
        </p:nvSpPr>
        <p:spPr>
          <a:xfrm>
            <a:off x="4054907" y="3780404"/>
            <a:ext cx="922447" cy="270480"/>
          </a:xfrm>
          <a:prstGeom prst="roundRect">
            <a:avLst>
              <a:gd name="adj" fmla="val 50000"/>
            </a:avLst>
          </a:prstGeom>
          <a:solidFill>
            <a:srgbClr val="E3E2E9"/>
          </a:solidFill>
          <a:ln/>
        </p:spPr>
      </p:sp>
      <p:sp>
        <p:nvSpPr>
          <p:cNvPr id="27" name="A_5_1_fade_121"/>
          <p:cNvSpPr txBox="1"/>
          <p:nvPr/>
        </p:nvSpPr>
        <p:spPr>
          <a:xfrm>
            <a:off x="4169207" y="3823015"/>
            <a:ext cx="770016"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Cloudflare</a:t>
            </a:r>
            <a:endParaRPr lang="en-US" sz="1100" dirty="0"/>
          </a:p>
        </p:txBody>
      </p:sp>
      <p:sp>
        <p:nvSpPr>
          <p:cNvPr id="28" name="A_5_1_fade_122"/>
          <p:cNvSpPr/>
          <p:nvPr/>
        </p:nvSpPr>
        <p:spPr>
          <a:xfrm>
            <a:off x="5040813" y="3780404"/>
            <a:ext cx="699516" cy="270480"/>
          </a:xfrm>
          <a:prstGeom prst="roundRect">
            <a:avLst>
              <a:gd name="adj" fmla="val 50000"/>
            </a:avLst>
          </a:prstGeom>
          <a:solidFill>
            <a:srgbClr val="E3E2E9"/>
          </a:solidFill>
          <a:ln/>
        </p:spPr>
      </p:sp>
      <p:sp>
        <p:nvSpPr>
          <p:cNvPr id="29" name="A_5_1_fade_123"/>
          <p:cNvSpPr txBox="1"/>
          <p:nvPr/>
        </p:nvSpPr>
        <p:spPr>
          <a:xfrm>
            <a:off x="5155113" y="3823015"/>
            <a:ext cx="547086"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Google</a:t>
            </a:r>
            <a:endParaRPr lang="en-US" sz="1100" dirty="0"/>
          </a:p>
        </p:txBody>
      </p:sp>
      <p:sp>
        <p:nvSpPr>
          <p:cNvPr id="30" name="A_5_1_fade_124"/>
          <p:cNvSpPr/>
          <p:nvPr/>
        </p:nvSpPr>
        <p:spPr>
          <a:xfrm>
            <a:off x="819120" y="4114434"/>
            <a:ext cx="886694" cy="270480"/>
          </a:xfrm>
          <a:prstGeom prst="roundRect">
            <a:avLst>
              <a:gd name="adj" fmla="val 50000"/>
            </a:avLst>
          </a:prstGeom>
          <a:solidFill>
            <a:srgbClr val="E3E2E9"/>
          </a:solidFill>
          <a:ln/>
        </p:spPr>
      </p:sp>
      <p:sp>
        <p:nvSpPr>
          <p:cNvPr id="31" name="A_5_1_fade_125"/>
          <p:cNvSpPr txBox="1"/>
          <p:nvPr/>
        </p:nvSpPr>
        <p:spPr>
          <a:xfrm>
            <a:off x="933420" y="4156954"/>
            <a:ext cx="734355"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Microsoft</a:t>
            </a:r>
            <a:endParaRPr lang="en-US" sz="1100" dirty="0"/>
          </a:p>
        </p:txBody>
      </p:sp>
      <p:sp>
        <p:nvSpPr>
          <p:cNvPr id="32" name="A_5_1_fade_126"/>
          <p:cNvSpPr/>
          <p:nvPr/>
        </p:nvSpPr>
        <p:spPr>
          <a:xfrm>
            <a:off x="1769364" y="4114434"/>
            <a:ext cx="703356" cy="270480"/>
          </a:xfrm>
          <a:prstGeom prst="roundRect">
            <a:avLst>
              <a:gd name="adj" fmla="val 50000"/>
            </a:avLst>
          </a:prstGeom>
          <a:solidFill>
            <a:srgbClr val="E3E2E9"/>
          </a:solidFill>
          <a:ln/>
        </p:spPr>
      </p:sp>
      <p:sp>
        <p:nvSpPr>
          <p:cNvPr id="33" name="A_5_1_fade_127"/>
          <p:cNvSpPr txBox="1"/>
          <p:nvPr/>
        </p:nvSpPr>
        <p:spPr>
          <a:xfrm>
            <a:off x="1883664" y="4156954"/>
            <a:ext cx="550926"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OpenAI</a:t>
            </a:r>
            <a:endParaRPr lang="en-US" sz="1100" dirty="0"/>
          </a:p>
        </p:txBody>
      </p:sp>
      <p:sp>
        <p:nvSpPr>
          <p:cNvPr id="34" name="A_6_1_fade_128"/>
          <p:cNvSpPr/>
          <p:nvPr/>
        </p:nvSpPr>
        <p:spPr>
          <a:xfrm>
            <a:off x="6187288" y="3365724"/>
            <a:ext cx="5392765" cy="1188263"/>
          </a:xfrm>
          <a:prstGeom prst="roundRect">
            <a:avLst>
              <a:gd name="adj" fmla="val 7480"/>
            </a:avLst>
          </a:prstGeom>
          <a:solidFill>
            <a:srgbClr val="F4F2E8"/>
          </a:solidFill>
          <a:ln w="9525">
            <a:solidFill>
              <a:srgbClr val="C9CAEB"/>
            </a:solidFill>
            <a:prstDash val="solid"/>
          </a:ln>
        </p:spPr>
      </p:sp>
      <p:sp>
        <p:nvSpPr>
          <p:cNvPr id="35" name="A_6_1_fade_129"/>
          <p:cNvSpPr txBox="1"/>
          <p:nvPr/>
        </p:nvSpPr>
        <p:spPr>
          <a:xfrm>
            <a:off x="6394491" y="3529401"/>
            <a:ext cx="2213854"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HARNESS HỖ TRỢ AGENT SKILLS</a:t>
            </a:r>
            <a:endParaRPr lang="en-US" sz="950" dirty="0"/>
          </a:p>
        </p:txBody>
      </p:sp>
      <p:sp>
        <p:nvSpPr>
          <p:cNvPr id="36" name="A_6_1_fade_130"/>
          <p:cNvSpPr/>
          <p:nvPr/>
        </p:nvSpPr>
        <p:spPr>
          <a:xfrm>
            <a:off x="6394491" y="3780404"/>
            <a:ext cx="1072317" cy="270480"/>
          </a:xfrm>
          <a:prstGeom prst="roundRect">
            <a:avLst>
              <a:gd name="adj" fmla="val 50000"/>
            </a:avLst>
          </a:prstGeom>
          <a:solidFill>
            <a:srgbClr val="E3E2E9"/>
          </a:solidFill>
          <a:ln/>
        </p:spPr>
      </p:sp>
      <p:sp>
        <p:nvSpPr>
          <p:cNvPr id="37" name="A_6_1_fade_131"/>
          <p:cNvSpPr txBox="1"/>
          <p:nvPr/>
        </p:nvSpPr>
        <p:spPr>
          <a:xfrm>
            <a:off x="6508791" y="3823015"/>
            <a:ext cx="91997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Claude Code</a:t>
            </a:r>
            <a:endParaRPr lang="en-US" sz="1100" dirty="0"/>
          </a:p>
        </p:txBody>
      </p:sp>
      <p:sp>
        <p:nvSpPr>
          <p:cNvPr id="38" name="A_6_1_fade_132"/>
          <p:cNvSpPr/>
          <p:nvPr/>
        </p:nvSpPr>
        <p:spPr>
          <a:xfrm>
            <a:off x="7530267" y="3780404"/>
            <a:ext cx="653796" cy="270480"/>
          </a:xfrm>
          <a:prstGeom prst="roundRect">
            <a:avLst>
              <a:gd name="adj" fmla="val 50000"/>
            </a:avLst>
          </a:prstGeom>
          <a:solidFill>
            <a:srgbClr val="E3E2E9"/>
          </a:solidFill>
          <a:ln/>
        </p:spPr>
      </p:sp>
      <p:sp>
        <p:nvSpPr>
          <p:cNvPr id="39" name="A_6_1_fade_133"/>
          <p:cNvSpPr txBox="1"/>
          <p:nvPr/>
        </p:nvSpPr>
        <p:spPr>
          <a:xfrm>
            <a:off x="7644567" y="3823015"/>
            <a:ext cx="501366"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Codex</a:t>
            </a:r>
            <a:endParaRPr lang="en-US" sz="1100" dirty="0"/>
          </a:p>
        </p:txBody>
      </p:sp>
      <p:sp>
        <p:nvSpPr>
          <p:cNvPr id="40" name="A_6_1_fade_134"/>
          <p:cNvSpPr/>
          <p:nvPr/>
        </p:nvSpPr>
        <p:spPr>
          <a:xfrm>
            <a:off x="8247522" y="3780404"/>
            <a:ext cx="916503" cy="270480"/>
          </a:xfrm>
          <a:prstGeom prst="roundRect">
            <a:avLst>
              <a:gd name="adj" fmla="val 50000"/>
            </a:avLst>
          </a:prstGeom>
          <a:solidFill>
            <a:srgbClr val="E3E2E9"/>
          </a:solidFill>
          <a:ln/>
        </p:spPr>
      </p:sp>
      <p:sp>
        <p:nvSpPr>
          <p:cNvPr id="41" name="A_6_1_fade_135"/>
          <p:cNvSpPr txBox="1"/>
          <p:nvPr/>
        </p:nvSpPr>
        <p:spPr>
          <a:xfrm>
            <a:off x="8361822" y="3823015"/>
            <a:ext cx="764073"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Gemini CLI</a:t>
            </a:r>
            <a:endParaRPr lang="en-US" sz="1100" dirty="0"/>
          </a:p>
        </p:txBody>
      </p:sp>
      <p:sp>
        <p:nvSpPr>
          <p:cNvPr id="42" name="A_6_1_fade_136"/>
          <p:cNvSpPr/>
          <p:nvPr/>
        </p:nvSpPr>
        <p:spPr>
          <a:xfrm>
            <a:off x="9227576" y="3780404"/>
            <a:ext cx="1207374" cy="270480"/>
          </a:xfrm>
          <a:prstGeom prst="roundRect">
            <a:avLst>
              <a:gd name="adj" fmla="val 50000"/>
            </a:avLst>
          </a:prstGeom>
          <a:solidFill>
            <a:srgbClr val="E3E2E9"/>
          </a:solidFill>
          <a:ln/>
        </p:spPr>
      </p:sp>
      <p:sp>
        <p:nvSpPr>
          <p:cNvPr id="43" name="A_6_1_fade_137"/>
          <p:cNvSpPr txBox="1"/>
          <p:nvPr/>
        </p:nvSpPr>
        <p:spPr>
          <a:xfrm>
            <a:off x="9341876" y="3823015"/>
            <a:ext cx="105713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GitHub Copilot</a:t>
            </a:r>
            <a:endParaRPr lang="en-US" sz="1100" dirty="0"/>
          </a:p>
        </p:txBody>
      </p:sp>
      <p:sp>
        <p:nvSpPr>
          <p:cNvPr id="44" name="A_6_1_fade_138"/>
          <p:cNvSpPr/>
          <p:nvPr/>
        </p:nvSpPr>
        <p:spPr>
          <a:xfrm>
            <a:off x="10498409" y="3780404"/>
            <a:ext cx="669981" cy="270480"/>
          </a:xfrm>
          <a:prstGeom prst="roundRect">
            <a:avLst>
              <a:gd name="adj" fmla="val 50000"/>
            </a:avLst>
          </a:prstGeom>
          <a:solidFill>
            <a:srgbClr val="E3E2E9"/>
          </a:solidFill>
          <a:ln/>
        </p:spPr>
      </p:sp>
      <p:sp>
        <p:nvSpPr>
          <p:cNvPr id="45" name="A_6_1_fade_139"/>
          <p:cNvSpPr txBox="1"/>
          <p:nvPr/>
        </p:nvSpPr>
        <p:spPr>
          <a:xfrm>
            <a:off x="10612709" y="3823015"/>
            <a:ext cx="517642"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Cursor</a:t>
            </a:r>
            <a:endParaRPr lang="en-US" sz="1100" dirty="0"/>
          </a:p>
        </p:txBody>
      </p:sp>
      <p:sp>
        <p:nvSpPr>
          <p:cNvPr id="46" name="A_6_1_fade_140"/>
          <p:cNvSpPr/>
          <p:nvPr/>
        </p:nvSpPr>
        <p:spPr>
          <a:xfrm>
            <a:off x="6394491" y="4114434"/>
            <a:ext cx="781446" cy="270480"/>
          </a:xfrm>
          <a:prstGeom prst="roundRect">
            <a:avLst>
              <a:gd name="adj" fmla="val 50000"/>
            </a:avLst>
          </a:prstGeom>
          <a:solidFill>
            <a:srgbClr val="E3E2E9"/>
          </a:solidFill>
          <a:ln/>
        </p:spPr>
      </p:sp>
      <p:sp>
        <p:nvSpPr>
          <p:cNvPr id="47" name="A_6_1_fade_141"/>
          <p:cNvSpPr txBox="1"/>
          <p:nvPr/>
        </p:nvSpPr>
        <p:spPr>
          <a:xfrm>
            <a:off x="6508791" y="4156954"/>
            <a:ext cx="629016"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VS Code</a:t>
            </a:r>
            <a:endParaRPr lang="en-US" sz="1100" dirty="0"/>
          </a:p>
        </p:txBody>
      </p:sp>
      <p:sp>
        <p:nvSpPr>
          <p:cNvPr id="48" name="A_6_1_fade_142"/>
          <p:cNvSpPr/>
          <p:nvPr/>
        </p:nvSpPr>
        <p:spPr>
          <a:xfrm>
            <a:off x="7239396" y="4114434"/>
            <a:ext cx="926470" cy="270480"/>
          </a:xfrm>
          <a:prstGeom prst="roundRect">
            <a:avLst>
              <a:gd name="adj" fmla="val 50000"/>
            </a:avLst>
          </a:prstGeom>
          <a:solidFill>
            <a:srgbClr val="E3E2E9"/>
          </a:solidFill>
          <a:ln/>
        </p:spPr>
      </p:sp>
      <p:sp>
        <p:nvSpPr>
          <p:cNvPr id="49" name="A_6_1_fade_143"/>
          <p:cNvSpPr txBox="1"/>
          <p:nvPr/>
        </p:nvSpPr>
        <p:spPr>
          <a:xfrm>
            <a:off x="7353696" y="4156954"/>
            <a:ext cx="774131"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OpenCode</a:t>
            </a:r>
            <a:endParaRPr lang="en-US" sz="1100" dirty="0"/>
          </a:p>
        </p:txBody>
      </p:sp>
      <p:sp>
        <p:nvSpPr>
          <p:cNvPr id="50" name="A_7_2_fade_144"/>
          <p:cNvSpPr/>
          <p:nvPr/>
        </p:nvSpPr>
        <p:spPr>
          <a:xfrm>
            <a:off x="609630" y="4734123"/>
            <a:ext cx="10972800" cy="801929"/>
          </a:xfrm>
          <a:prstGeom prst="roundRect">
            <a:avLst>
              <a:gd name="adj" fmla="val 11083"/>
            </a:avLst>
          </a:prstGeom>
          <a:solidFill>
            <a:srgbClr val="EBE9E9"/>
          </a:solidFill>
          <a:ln/>
        </p:spPr>
      </p:sp>
      <p:sp>
        <p:nvSpPr>
          <p:cNvPr id="51" name="A_7_2_fade_145"/>
          <p:cNvSpPr txBox="1"/>
          <p:nvPr/>
        </p:nvSpPr>
        <p:spPr>
          <a:xfrm>
            <a:off x="838230" y="4957328"/>
            <a:ext cx="548457"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HỆ QUẢ</a:t>
            </a:r>
            <a:endParaRPr lang="en-US" sz="950" dirty="0"/>
          </a:p>
        </p:txBody>
      </p:sp>
      <p:sp>
        <p:nvSpPr>
          <p:cNvPr id="52" name="A_7_2_fade_146"/>
          <p:cNvSpPr txBox="1"/>
          <p:nvPr/>
        </p:nvSpPr>
        <p:spPr>
          <a:xfrm>
            <a:off x="1917680" y="4886005"/>
            <a:ext cx="10165019" cy="497159"/>
          </a:xfrm>
          <a:prstGeom prst="rect">
            <a:avLst/>
          </a:prstGeom>
          <a:noFill/>
          <a:ln/>
        </p:spPr>
        <p:txBody>
          <a:bodyPr wrap="square" lIns="0" tIns="0" rIns="0" bIns="0" rtlCol="0" anchor="t"/>
          <a:lstStyle/>
          <a:p>
            <a:pPr algn="l" indent="0" marL="0">
              <a:lnSpc>
                <a:spcPts val="1957"/>
              </a:lnSpc>
              <a:buNone/>
            </a:pPr>
            <a:r>
              <a:rPr lang="en-US" sz="1450" spc="-14" kern="0" dirty="0">
                <a:solidFill>
                  <a:srgbClr val="111111"/>
                </a:solidFill>
                <a:latin typeface="Space Grotesk" pitchFamily="34" charset="0"/>
                <a:ea typeface="Space Grotesk" pitchFamily="34" charset="-122"/>
                <a:cs typeface="Space Grotesk" pitchFamily="34" charset="-120"/>
              </a:rPr>
              <a:t>Tài sản viết theo các chuẩn này gắn được vào nhiều harness. Muốn sở hữu phần tích hợp thì không còn phải</a:t>
            </a:r>
            <a:endParaRPr lang="en-US" sz="1450" dirty="0"/>
          </a:p>
          <a:p>
            <a:pPr algn="l" indent="0" marL="0">
              <a:lnSpc>
                <a:spcPts val="1957"/>
              </a:lnSpc>
              <a:buNone/>
            </a:pPr>
            <a:r>
              <a:rPr lang="en-US" sz="1450" spc="-14" kern="0" dirty="0">
                <a:solidFill>
                  <a:srgbClr val="111111"/>
                </a:solidFill>
                <a:latin typeface="Space Grotesk" pitchFamily="34" charset="0"/>
                <a:ea typeface="Space Grotesk" pitchFamily="34" charset="-122"/>
                <a:cs typeface="Space Grotesk" pitchFamily="34" charset="-120"/>
              </a:rPr>
              <a:t>sở hữu harness.</a:t>
            </a:r>
            <a:endParaRPr lang="en-US" sz="1450" dirty="0"/>
          </a:p>
        </p:txBody>
      </p:sp>
      <p:sp>
        <p:nvSpPr>
          <p:cNvPr id="53" name="S_147"/>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54" name="S_148"/>
          <p:cNvSpPr txBox="1"/>
          <p:nvPr/>
        </p:nvSpPr>
        <p:spPr>
          <a:xfrm>
            <a:off x="11158057" y="6517660"/>
            <a:ext cx="500543"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04 / 25</a:t>
            </a:r>
            <a:endParaRPr lang="en-US" sz="900" dirty="0"/>
          </a:p>
        </p:txBody>
      </p:sp>
      <p:sp>
        <p:nvSpPr>
          <p:cNvPr id="55" name="S_149"/>
          <p:cNvSpPr/>
          <p:nvPr/>
        </p:nvSpPr>
        <p:spPr>
          <a:xfrm>
            <a:off x="0" y="6838980"/>
            <a:ext cx="195069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7" fill="hold">
                      <p:stCondLst>
                        <p:cond delay="indefinite"/>
                        <p:cond evt="onBegin" delay="0">
                          <p:tn val="2"/>
                        </p:cond>
                      </p:stCondLst>
                      <p:childTnLst>
                        <p:par>
                          <p:cTn id="3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22" presetClass="entr" presetSubtype="8"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wipe(left)">
                                      <p:cBhvr>
                                        <p:cTn id="8" dur="700"/>
                                        <p:tgtEl>
                                          <p:spTgt spid="6"/>
                                        </p:tgtEl>
                                      </p:cBhvr>
                                    </p:animEffect>
                                  </p:childTnLst>
                                </p:cTn>
                              </p:par>
                              <p:par>
                                <p:cTn id="9" presetID="10" presetClass="entr" presetSubtype="0" fill="hold" grpId="0" nodeType="withEffect">
                                  <p:stCondLst>
                                    <p:cond delay="22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22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33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33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33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4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44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childTnLst>
                          </p:cTn>
                        </p:par>
                      </p:childTnLst>
                    </p:cTn>
                  </p:par>
                  <p:par>
                    <p:cTn id="141" fill="hold">
                      <p:stCondLst>
                        <p:cond delay="indefinite"/>
                      </p:stCondLst>
                      <p:childTnLst>
                        <p:par>
                          <p:cTn id="140"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11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11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11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11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11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11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11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11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11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11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par>
                                <p:cTn id="122" presetID="10" presetClass="entr" presetSubtype="0" fill="hold" grpId="0" nodeType="withEffect">
                                  <p:stCondLst>
                                    <p:cond delay="110"/>
                                  </p:stCondLst>
                                  <p:childTnLst>
                                    <p:set>
                                      <p:cBhvr>
                                        <p:cTn id="123" dur="1" fill="hold">
                                          <p:stCondLst>
                                            <p:cond delay="0"/>
                                          </p:stCondLst>
                                        </p:cTn>
                                        <p:tgtEl>
                                          <p:spTgt spid="44"/>
                                        </p:tgtEl>
                                        <p:attrNameLst>
                                          <p:attrName>style.visibility</p:attrName>
                                        </p:attrNameLst>
                                      </p:cBhvr>
                                      <p:to>
                                        <p:strVal val="visible"/>
                                      </p:to>
                                    </p:set>
                                    <p:animEffect transition="in" filter="fade">
                                      <p:cBhvr>
                                        <p:cTn id="124" dur="500"/>
                                        <p:tgtEl>
                                          <p:spTgt spid="44"/>
                                        </p:tgtEl>
                                      </p:cBhvr>
                                    </p:animEffect>
                                  </p:childTnLst>
                                </p:cTn>
                              </p:par>
                              <p:par>
                                <p:cTn id="125" presetID="10" presetClass="entr" presetSubtype="0" fill="hold" grpId="0" nodeType="withEffect">
                                  <p:stCondLst>
                                    <p:cond delay="110"/>
                                  </p:stCondLst>
                                  <p:childTnLst>
                                    <p:set>
                                      <p:cBhvr>
                                        <p:cTn id="126" dur="1" fill="hold">
                                          <p:stCondLst>
                                            <p:cond delay="0"/>
                                          </p:stCondLst>
                                        </p:cTn>
                                        <p:tgtEl>
                                          <p:spTgt spid="45"/>
                                        </p:tgtEl>
                                        <p:attrNameLst>
                                          <p:attrName>style.visibility</p:attrName>
                                        </p:attrNameLst>
                                      </p:cBhvr>
                                      <p:to>
                                        <p:strVal val="visible"/>
                                      </p:to>
                                    </p:set>
                                    <p:animEffect transition="in" filter="fade">
                                      <p:cBhvr>
                                        <p:cTn id="127" dur="500"/>
                                        <p:tgtEl>
                                          <p:spTgt spid="45"/>
                                        </p:tgtEl>
                                      </p:cBhvr>
                                    </p:animEffect>
                                  </p:childTnLst>
                                </p:cTn>
                              </p:par>
                              <p:par>
                                <p:cTn id="128" presetID="10" presetClass="entr" presetSubtype="0" fill="hold" grpId="0" nodeType="withEffect">
                                  <p:stCondLst>
                                    <p:cond delay="110"/>
                                  </p:stCondLst>
                                  <p:childTnLst>
                                    <p:set>
                                      <p:cBhvr>
                                        <p:cTn id="129" dur="1" fill="hold">
                                          <p:stCondLst>
                                            <p:cond delay="0"/>
                                          </p:stCondLst>
                                        </p:cTn>
                                        <p:tgtEl>
                                          <p:spTgt spid="46"/>
                                        </p:tgtEl>
                                        <p:attrNameLst>
                                          <p:attrName>style.visibility</p:attrName>
                                        </p:attrNameLst>
                                      </p:cBhvr>
                                      <p:to>
                                        <p:strVal val="visible"/>
                                      </p:to>
                                    </p:set>
                                    <p:animEffect transition="in" filter="fade">
                                      <p:cBhvr>
                                        <p:cTn id="130" dur="500"/>
                                        <p:tgtEl>
                                          <p:spTgt spid="46"/>
                                        </p:tgtEl>
                                      </p:cBhvr>
                                    </p:animEffect>
                                  </p:childTnLst>
                                </p:cTn>
                              </p:par>
                              <p:par>
                                <p:cTn id="131" presetID="10" presetClass="entr" presetSubtype="0" fill="hold" grpId="0" nodeType="withEffect">
                                  <p:stCondLst>
                                    <p:cond delay="110"/>
                                  </p:stCondLst>
                                  <p:childTnLst>
                                    <p:set>
                                      <p:cBhvr>
                                        <p:cTn id="132" dur="1" fill="hold">
                                          <p:stCondLst>
                                            <p:cond delay="0"/>
                                          </p:stCondLst>
                                        </p:cTn>
                                        <p:tgtEl>
                                          <p:spTgt spid="47"/>
                                        </p:tgtEl>
                                        <p:attrNameLst>
                                          <p:attrName>style.visibility</p:attrName>
                                        </p:attrNameLst>
                                      </p:cBhvr>
                                      <p:to>
                                        <p:strVal val="visible"/>
                                      </p:to>
                                    </p:set>
                                    <p:animEffect transition="in" filter="fade">
                                      <p:cBhvr>
                                        <p:cTn id="133" dur="500"/>
                                        <p:tgtEl>
                                          <p:spTgt spid="47"/>
                                        </p:tgtEl>
                                      </p:cBhvr>
                                    </p:animEffect>
                                  </p:childTnLst>
                                </p:cTn>
                              </p:par>
                              <p:par>
                                <p:cTn id="134" presetID="10" presetClass="entr" presetSubtype="0" fill="hold" grpId="0" nodeType="withEffect">
                                  <p:stCondLst>
                                    <p:cond delay="11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500"/>
                                        <p:tgtEl>
                                          <p:spTgt spid="48"/>
                                        </p:tgtEl>
                                      </p:cBhvr>
                                    </p:animEffect>
                                  </p:childTnLst>
                                </p:cTn>
                              </p:par>
                              <p:par>
                                <p:cTn id="137" presetID="10" presetClass="entr" presetSubtype="0" fill="hold" grpId="0" nodeType="withEffect">
                                  <p:stCondLst>
                                    <p:cond delay="110"/>
                                  </p:stCondLst>
                                  <p:childTnLst>
                                    <p:set>
                                      <p:cBhvr>
                                        <p:cTn id="138" dur="1" fill="hold">
                                          <p:stCondLst>
                                            <p:cond delay="0"/>
                                          </p:stCondLst>
                                        </p:cTn>
                                        <p:tgtEl>
                                          <p:spTgt spid="49"/>
                                        </p:tgtEl>
                                        <p:attrNameLst>
                                          <p:attrName>style.visibility</p:attrName>
                                        </p:attrNameLst>
                                      </p:cBhvr>
                                      <p:to>
                                        <p:strVal val="visible"/>
                                      </p:to>
                                    </p:set>
                                    <p:animEffect transition="in" filter="fade">
                                      <p:cBhvr>
                                        <p:cTn id="139" dur="500"/>
                                        <p:tgtEl>
                                          <p:spTgt spid="49"/>
                                        </p:tgtEl>
                                      </p:cBhvr>
                                    </p:animEffect>
                                  </p:childTnLst>
                                </p:cTn>
                              </p:par>
                            </p:childTnLst>
                          </p:cTn>
                        </p:par>
                      </p:childTnLst>
                    </p:cTn>
                  </p:par>
                  <p:par>
                    <p:cTn id="152" fill="hold">
                      <p:stCondLst>
                        <p:cond delay="indefinite"/>
                      </p:stCondLst>
                      <p:childTnLst>
                        <p:par>
                          <p:cTn id="151" fill="hold">
                            <p:stCondLst>
                              <p:cond delay="0"/>
                            </p:stCondLst>
                            <p:childTnLst>
                              <p:par>
                                <p:cTn id="142" presetID="10" presetClass="entr" presetSubtype="0" fill="hold" grpId="0" nodeType="clickEffect">
                                  <p:stCondLst>
                                    <p:cond delay="0"/>
                                  </p:stCondLst>
                                  <p:childTnLst>
                                    <p:set>
                                      <p:cBhvr>
                                        <p:cTn id="143" dur="1" fill="hold">
                                          <p:stCondLst>
                                            <p:cond delay="0"/>
                                          </p:stCondLst>
                                        </p:cTn>
                                        <p:tgtEl>
                                          <p:spTgt spid="50"/>
                                        </p:tgtEl>
                                        <p:attrNameLst>
                                          <p:attrName>style.visibility</p:attrName>
                                        </p:attrNameLst>
                                      </p:cBhvr>
                                      <p:to>
                                        <p:strVal val="visible"/>
                                      </p:to>
                                    </p:set>
                                    <p:animEffect transition="in" filter="fade">
                                      <p:cBhvr>
                                        <p:cTn id="144" dur="500"/>
                                        <p:tgtEl>
                                          <p:spTgt spid="50"/>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1"/>
                                        </p:tgtEl>
                                        <p:attrNameLst>
                                          <p:attrName>style.visibility</p:attrName>
                                        </p:attrNameLst>
                                      </p:cBhvr>
                                      <p:to>
                                        <p:strVal val="visible"/>
                                      </p:to>
                                    </p:set>
                                    <p:animEffect transition="in" filter="fade">
                                      <p:cBhvr>
                                        <p:cTn id="147" dur="500"/>
                                        <p:tgtEl>
                                          <p:spTgt spid="51"/>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2"/>
                                        </p:tgtEl>
                                        <p:attrNameLst>
                                          <p:attrName>style.visibility</p:attrName>
                                        </p:attrNameLst>
                                      </p:cBhvr>
                                      <p:to>
                                        <p:strVal val="visible"/>
                                      </p:to>
                                    </p:set>
                                    <p:animEffect transition="in" filter="fade">
                                      <p:cBhvr>
                                        <p:cTn id="150"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AE7"/>
        </a:solidFill>
      </p:bgPr>
    </p:bg>
    <p:spTree>
      <p:nvGrpSpPr>
        <p:cNvPr id="1" name=""/>
        <p:cNvGrpSpPr/>
        <p:nvPr/>
      </p:nvGrpSpPr>
      <p:grpSpPr>
        <a:xfrm>
          <a:off x="0" y="0"/>
          <a:ext cx="0" cy="0"/>
          <a:chOff x="0" y="0"/>
          <a:chExt cx="0" cy="0"/>
        </a:xfrm>
      </p:grpSpPr>
      <p:sp>
        <p:nvSpPr>
          <p:cNvPr id="2" name="S_150"/>
          <p:cNvSpPr txBox="1"/>
          <p:nvPr/>
        </p:nvSpPr>
        <p:spPr>
          <a:xfrm>
            <a:off x="609630" y="466070"/>
            <a:ext cx="2086844"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01 · BỐI CẢNH 2025–2026</a:t>
            </a:r>
            <a:endParaRPr lang="en-US" sz="1100" dirty="0"/>
          </a:p>
        </p:txBody>
      </p:sp>
      <p:sp>
        <p:nvSpPr>
          <p:cNvPr id="3" name="S_151"/>
          <p:cNvSpPr/>
          <p:nvPr/>
        </p:nvSpPr>
        <p:spPr>
          <a:xfrm>
            <a:off x="9052286" y="412760"/>
            <a:ext cx="2530053" cy="292059"/>
          </a:xfrm>
          <a:prstGeom prst="roundRect">
            <a:avLst>
              <a:gd name="adj" fmla="val 50000"/>
            </a:avLst>
          </a:prstGeom>
          <a:solidFill>
            <a:srgbClr val="EBE9E9"/>
          </a:solidFill>
          <a:ln/>
        </p:spPr>
      </p:sp>
      <p:sp>
        <p:nvSpPr>
          <p:cNvPr id="4" name="S_152"/>
          <p:cNvSpPr txBox="1"/>
          <p:nvPr/>
        </p:nvSpPr>
        <p:spPr>
          <a:xfrm>
            <a:off x="9217426" y="476220"/>
            <a:ext cx="2375886"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MIT NANDA · The GenAI Divide (2025)</a:t>
            </a:r>
            <a:endParaRPr lang="en-US" sz="1000" dirty="0"/>
          </a:p>
        </p:txBody>
      </p:sp>
      <p:sp>
        <p:nvSpPr>
          <p:cNvPr id="5" name="A_0_0_fade_153"/>
          <p:cNvSpPr txBox="1"/>
          <p:nvPr/>
        </p:nvSpPr>
        <p:spPr>
          <a:xfrm>
            <a:off x="609630" y="806592"/>
            <a:ext cx="10946465" cy="824972"/>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Doanh nghiệp vẫn khó ra kết quả, và nguyên nhân không nằm</a:t>
            </a:r>
            <a:endParaRPr lang="en-US" sz="2800" dirty="0"/>
          </a:p>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ở model</a:t>
            </a:r>
            <a:endParaRPr lang="en-US" sz="2800" dirty="0"/>
          </a:p>
        </p:txBody>
      </p:sp>
      <p:sp>
        <p:nvSpPr>
          <p:cNvPr id="6" name="A_1_0_fade_154"/>
          <p:cNvSpPr/>
          <p:nvPr/>
        </p:nvSpPr>
        <p:spPr>
          <a:xfrm>
            <a:off x="609630" y="2332543"/>
            <a:ext cx="3981480" cy="2566995"/>
          </a:xfrm>
          <a:prstGeom prst="roundRect">
            <a:avLst>
              <a:gd name="adj" fmla="val 3462"/>
            </a:avLst>
          </a:prstGeom>
          <a:solidFill>
            <a:srgbClr val="EBE9E9"/>
          </a:solidFill>
          <a:ln/>
        </p:spPr>
      </p:sp>
      <p:sp>
        <p:nvSpPr>
          <p:cNvPr id="7" name="A_1_0_fade_155"/>
          <p:cNvSpPr txBox="1"/>
          <p:nvPr/>
        </p:nvSpPr>
        <p:spPr>
          <a:xfrm>
            <a:off x="888980" y="2721894"/>
            <a:ext cx="2898922" cy="1173450"/>
          </a:xfrm>
          <a:prstGeom prst="rect">
            <a:avLst/>
          </a:prstGeom>
          <a:noFill/>
          <a:ln/>
        </p:spPr>
        <p:txBody>
          <a:bodyPr wrap="square" lIns="0" tIns="0" rIns="0" bIns="0" rtlCol="0" anchor="t"/>
          <a:lstStyle/>
          <a:p>
            <a:pPr algn="l" indent="0" marL="0">
              <a:lnSpc>
                <a:spcPts val="9240"/>
              </a:lnSpc>
              <a:buNone/>
            </a:pPr>
            <a:r>
              <a:rPr lang="en-US" sz="8400" b="1" spc="-168" kern="0" dirty="0">
                <a:solidFill>
                  <a:srgbClr val="1E2BFA"/>
                </a:solidFill>
                <a:latin typeface="Space Grotesk" pitchFamily="34" charset="0"/>
                <a:ea typeface="Space Grotesk" pitchFamily="34" charset="-122"/>
                <a:cs typeface="Space Grotesk" pitchFamily="34" charset="-120"/>
              </a:rPr>
              <a:t>~95%</a:t>
            </a:r>
            <a:endParaRPr lang="en-US" sz="8400" dirty="0"/>
          </a:p>
        </p:txBody>
      </p:sp>
      <p:sp>
        <p:nvSpPr>
          <p:cNvPr id="8" name="A_1_0_fade_156"/>
          <p:cNvSpPr txBox="1"/>
          <p:nvPr/>
        </p:nvSpPr>
        <p:spPr>
          <a:xfrm>
            <a:off x="888980" y="4012204"/>
            <a:ext cx="3312780" cy="495330"/>
          </a:xfrm>
          <a:prstGeom prst="rect">
            <a:avLst/>
          </a:prstGeom>
          <a:noFill/>
          <a:ln/>
        </p:spPr>
        <p:txBody>
          <a:bodyPr wrap="square" lIns="0" tIns="0" rIns="0" bIns="0" rtlCol="0" anchor="t"/>
          <a:lstStyle/>
          <a:p>
            <a:pPr algn="l" indent="0" marL="0">
              <a:lnSpc>
                <a:spcPts val="1950"/>
              </a:lnSpc>
              <a:buNone/>
            </a:pPr>
            <a:r>
              <a:rPr lang="en-US" sz="1300" dirty="0">
                <a:solidFill>
                  <a:srgbClr val="111111"/>
                </a:solidFill>
                <a:latin typeface="Inter" pitchFamily="34" charset="0"/>
                <a:ea typeface="Inter" pitchFamily="34" charset="-122"/>
                <a:cs typeface="Inter" pitchFamily="34" charset="-120"/>
              </a:rPr>
              <a:t>tổ chức trong mẫu chưa thấy lợi nhuận đo</a:t>
            </a:r>
            <a:endParaRPr lang="en-US" sz="1300" dirty="0"/>
          </a:p>
          <a:p>
            <a:pPr algn="l" indent="0" marL="0">
              <a:lnSpc>
                <a:spcPts val="1950"/>
              </a:lnSpc>
              <a:buNone/>
            </a:pPr>
            <a:r>
              <a:rPr lang="en-US" sz="1300" dirty="0">
                <a:solidFill>
                  <a:srgbClr val="111111"/>
                </a:solidFill>
                <a:latin typeface="Inter" pitchFamily="34" charset="0"/>
                <a:ea typeface="Inter" pitchFamily="34" charset="-122"/>
                <a:cs typeface="Inter" pitchFamily="34" charset="-120"/>
              </a:rPr>
              <a:t>được từ generative AI</a:t>
            </a:r>
            <a:endParaRPr lang="en-US" sz="1300" dirty="0"/>
          </a:p>
        </p:txBody>
      </p:sp>
      <p:sp>
        <p:nvSpPr>
          <p:cNvPr id="9" name="A_2_1_fade_157"/>
          <p:cNvSpPr txBox="1"/>
          <p:nvPr/>
        </p:nvSpPr>
        <p:spPr>
          <a:xfrm>
            <a:off x="4946630" y="2327148"/>
            <a:ext cx="1278331"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TỈ LỆ THÀNH CÔNG</a:t>
            </a:r>
            <a:endParaRPr lang="en-US" sz="950" dirty="0"/>
          </a:p>
        </p:txBody>
      </p:sp>
      <p:sp>
        <p:nvSpPr>
          <p:cNvPr id="10" name="A_3_1_fade_158"/>
          <p:cNvSpPr txBox="1"/>
          <p:nvPr/>
        </p:nvSpPr>
        <p:spPr>
          <a:xfrm>
            <a:off x="4946630" y="2708361"/>
            <a:ext cx="3526841"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Mua hoặc hợp tác với bên chuyên môn</a:t>
            </a:r>
            <a:endParaRPr lang="en-US" sz="1400" dirty="0"/>
          </a:p>
        </p:txBody>
      </p:sp>
      <p:sp>
        <p:nvSpPr>
          <p:cNvPr id="11" name="A_3_1_fade_159"/>
          <p:cNvSpPr txBox="1"/>
          <p:nvPr/>
        </p:nvSpPr>
        <p:spPr>
          <a:xfrm>
            <a:off x="10896722" y="2627071"/>
            <a:ext cx="761878" cy="321320"/>
          </a:xfrm>
          <a:prstGeom prst="rect">
            <a:avLst/>
          </a:prstGeom>
          <a:noFill/>
          <a:ln/>
        </p:spPr>
        <p:txBody>
          <a:bodyPr wrap="square" lIns="0" tIns="0" rIns="0" bIns="0" rtlCol="0" anchor="t"/>
          <a:lstStyle/>
          <a:p>
            <a:pPr algn="l" indent="0" marL="0">
              <a:lnSpc>
                <a:spcPts val="2530"/>
              </a:lnSpc>
              <a:buNone/>
            </a:pPr>
            <a:r>
              <a:rPr lang="en-US" sz="2200" b="1" spc="-44" kern="0" dirty="0">
                <a:solidFill>
                  <a:srgbClr val="1E2BFA"/>
                </a:solidFill>
                <a:latin typeface="Space Grotesk" pitchFamily="34" charset="0"/>
                <a:ea typeface="Space Grotesk" pitchFamily="34" charset="-122"/>
                <a:cs typeface="Space Grotesk" pitchFamily="34" charset="-120"/>
              </a:rPr>
              <a:t>~67%</a:t>
            </a:r>
            <a:endParaRPr lang="en-US" sz="2200" dirty="0"/>
          </a:p>
        </p:txBody>
      </p:sp>
      <p:sp>
        <p:nvSpPr>
          <p:cNvPr id="12" name="A_3_1_fade_160"/>
          <p:cNvSpPr/>
          <p:nvPr/>
        </p:nvSpPr>
        <p:spPr>
          <a:xfrm>
            <a:off x="4946630" y="3013771"/>
            <a:ext cx="6635709" cy="190470"/>
          </a:xfrm>
          <a:prstGeom prst="roundRect">
            <a:avLst>
              <a:gd name="adj" fmla="val 26692"/>
            </a:avLst>
          </a:prstGeom>
          <a:solidFill>
            <a:srgbClr val="EBE9E9"/>
          </a:solidFill>
          <a:ln/>
        </p:spPr>
      </p:sp>
      <p:sp>
        <p:nvSpPr>
          <p:cNvPr id="13" name="A_4_1_wipe_161"/>
          <p:cNvSpPr/>
          <p:nvPr/>
        </p:nvSpPr>
        <p:spPr>
          <a:xfrm>
            <a:off x="4946630" y="3013771"/>
            <a:ext cx="4445904" cy="190470"/>
          </a:xfrm>
          <a:prstGeom prst="roundRect">
            <a:avLst>
              <a:gd name="adj" fmla="val 26692"/>
            </a:avLst>
          </a:prstGeom>
          <a:solidFill>
            <a:srgbClr val="1E2BFA"/>
          </a:solidFill>
          <a:ln/>
        </p:spPr>
      </p:sp>
      <p:sp>
        <p:nvSpPr>
          <p:cNvPr id="14" name="A_5_1_fade_162"/>
          <p:cNvSpPr txBox="1"/>
          <p:nvPr/>
        </p:nvSpPr>
        <p:spPr>
          <a:xfrm>
            <a:off x="4946630" y="3366181"/>
            <a:ext cx="1215878"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Tự xây nội bộ</a:t>
            </a:r>
            <a:endParaRPr lang="en-US" sz="1400" dirty="0"/>
          </a:p>
        </p:txBody>
      </p:sp>
      <p:sp>
        <p:nvSpPr>
          <p:cNvPr id="15" name="A_5_1_fade_163"/>
          <p:cNvSpPr txBox="1"/>
          <p:nvPr/>
        </p:nvSpPr>
        <p:spPr>
          <a:xfrm>
            <a:off x="10303734" y="3343686"/>
            <a:ext cx="1380927" cy="248260"/>
          </a:xfrm>
          <a:prstGeom prst="rect">
            <a:avLst/>
          </a:prstGeom>
          <a:noFill/>
          <a:ln/>
        </p:spPr>
        <p:txBody>
          <a:bodyPr wrap="square" lIns="0" tIns="0" rIns="0" bIns="0" rtlCol="0" anchor="t"/>
          <a:lstStyle/>
          <a:p>
            <a:pPr algn="l" indent="0" marL="0">
              <a:lnSpc>
                <a:spcPts val="1955"/>
              </a:lnSpc>
              <a:buNone/>
            </a:pPr>
            <a:r>
              <a:rPr lang="en-US" sz="1700" b="1" spc="-34" kern="0" dirty="0">
                <a:solidFill>
                  <a:srgbClr val="1E2BFA"/>
                </a:solidFill>
                <a:latin typeface="Space Grotesk" pitchFamily="34" charset="0"/>
                <a:ea typeface="Space Grotesk" pitchFamily="34" charset="-122"/>
                <a:cs typeface="Space Grotesk" pitchFamily="34" charset="-120"/>
              </a:rPr>
              <a:t>≈ 1/3 mức đó</a:t>
            </a:r>
            <a:endParaRPr lang="en-US" sz="1700" dirty="0"/>
          </a:p>
        </p:txBody>
      </p:sp>
      <p:sp>
        <p:nvSpPr>
          <p:cNvPr id="16" name="A_5_1_fade_164"/>
          <p:cNvSpPr/>
          <p:nvPr/>
        </p:nvSpPr>
        <p:spPr>
          <a:xfrm>
            <a:off x="4946630" y="3655680"/>
            <a:ext cx="6635709" cy="190470"/>
          </a:xfrm>
          <a:prstGeom prst="roundRect">
            <a:avLst>
              <a:gd name="adj" fmla="val 26692"/>
            </a:avLst>
          </a:prstGeom>
          <a:solidFill>
            <a:srgbClr val="EBE9E9"/>
          </a:solidFill>
          <a:ln/>
        </p:spPr>
      </p:sp>
      <p:sp>
        <p:nvSpPr>
          <p:cNvPr id="17" name="A_6_1_wipe_165"/>
          <p:cNvSpPr/>
          <p:nvPr/>
        </p:nvSpPr>
        <p:spPr>
          <a:xfrm>
            <a:off x="4946630" y="3655680"/>
            <a:ext cx="1481694" cy="190470"/>
          </a:xfrm>
          <a:prstGeom prst="roundRect">
            <a:avLst>
              <a:gd name="adj" fmla="val 26692"/>
            </a:avLst>
          </a:prstGeom>
          <a:solidFill>
            <a:srgbClr val="1E2BFA"/>
          </a:solidFill>
          <a:ln/>
        </p:spPr>
      </p:sp>
      <p:sp>
        <p:nvSpPr>
          <p:cNvPr id="18" name="A_7_2_fade_166"/>
          <p:cNvSpPr txBox="1"/>
          <p:nvPr/>
        </p:nvSpPr>
        <p:spPr>
          <a:xfrm>
            <a:off x="4946630" y="4044025"/>
            <a:ext cx="2951683"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NGUYÊN NHÂN CHÍNH, THEO NHÓM TÁC GIẢ</a:t>
            </a:r>
            <a:endParaRPr lang="en-US" sz="950" dirty="0"/>
          </a:p>
        </p:txBody>
      </p:sp>
      <p:sp>
        <p:nvSpPr>
          <p:cNvPr id="19" name="A_8_2_fade_167"/>
          <p:cNvSpPr/>
          <p:nvPr/>
        </p:nvSpPr>
        <p:spPr>
          <a:xfrm>
            <a:off x="4946630" y="4295120"/>
            <a:ext cx="1177107" cy="270480"/>
          </a:xfrm>
          <a:prstGeom prst="roundRect">
            <a:avLst>
              <a:gd name="adj" fmla="val 50000"/>
            </a:avLst>
          </a:prstGeom>
          <a:solidFill>
            <a:srgbClr val="EBE9E9"/>
          </a:solidFill>
          <a:ln/>
        </p:spPr>
      </p:sp>
      <p:sp>
        <p:nvSpPr>
          <p:cNvPr id="20" name="A_8_2_fade_168"/>
          <p:cNvSpPr txBox="1"/>
          <p:nvPr/>
        </p:nvSpPr>
        <p:spPr>
          <a:xfrm>
            <a:off x="5060930" y="4337639"/>
            <a:ext cx="102476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workflow giòn</a:t>
            </a:r>
            <a:endParaRPr lang="en-US" sz="1100" dirty="0"/>
          </a:p>
        </p:txBody>
      </p:sp>
      <p:sp>
        <p:nvSpPr>
          <p:cNvPr id="21" name="A_8_2_fade_169"/>
          <p:cNvSpPr/>
          <p:nvPr/>
        </p:nvSpPr>
        <p:spPr>
          <a:xfrm>
            <a:off x="6187288" y="4295120"/>
            <a:ext cx="2637404" cy="270480"/>
          </a:xfrm>
          <a:prstGeom prst="roundRect">
            <a:avLst>
              <a:gd name="adj" fmla="val 50000"/>
            </a:avLst>
          </a:prstGeom>
          <a:solidFill>
            <a:srgbClr val="EBE9E9"/>
          </a:solidFill>
          <a:ln/>
        </p:spPr>
      </p:sp>
      <p:sp>
        <p:nvSpPr>
          <p:cNvPr id="22" name="A_8_2_fade_170"/>
          <p:cNvSpPr txBox="1"/>
          <p:nvPr/>
        </p:nvSpPr>
        <p:spPr>
          <a:xfrm>
            <a:off x="6301588" y="4337639"/>
            <a:ext cx="2601559"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agent thiếu khả năng học ngữ cảnh</a:t>
            </a:r>
            <a:endParaRPr lang="en-US" sz="1100" dirty="0"/>
          </a:p>
        </p:txBody>
      </p:sp>
      <p:sp>
        <p:nvSpPr>
          <p:cNvPr id="23" name="A_8_2_fade_171"/>
          <p:cNvSpPr/>
          <p:nvPr/>
        </p:nvSpPr>
        <p:spPr>
          <a:xfrm>
            <a:off x="4946630" y="4629059"/>
            <a:ext cx="2707904" cy="270480"/>
          </a:xfrm>
          <a:prstGeom prst="roundRect">
            <a:avLst>
              <a:gd name="adj" fmla="val 50000"/>
            </a:avLst>
          </a:prstGeom>
          <a:solidFill>
            <a:srgbClr val="EBE9E9"/>
          </a:solidFill>
          <a:ln/>
        </p:spPr>
      </p:sp>
      <p:sp>
        <p:nvSpPr>
          <p:cNvPr id="24" name="A_8_2_fade_172"/>
          <p:cNvSpPr txBox="1"/>
          <p:nvPr/>
        </p:nvSpPr>
        <p:spPr>
          <a:xfrm>
            <a:off x="5060930" y="4671578"/>
            <a:ext cx="267763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không khớp với công việc hằng ngày</a:t>
            </a:r>
            <a:endParaRPr lang="en-US" sz="1100" dirty="0"/>
          </a:p>
        </p:txBody>
      </p:sp>
      <p:sp>
        <p:nvSpPr>
          <p:cNvPr id="25" name="A_9_3_fade_173"/>
          <p:cNvSpPr/>
          <p:nvPr/>
        </p:nvSpPr>
        <p:spPr>
          <a:xfrm>
            <a:off x="612008" y="5227899"/>
            <a:ext cx="3777752" cy="251094"/>
          </a:xfrm>
          <a:prstGeom prst="roundRect">
            <a:avLst>
              <a:gd name="adj" fmla="val 50947"/>
            </a:avLst>
          </a:prstGeom>
          <a:ln w="9525">
            <a:solidFill>
              <a:srgbClr val="D0D1EB"/>
            </a:solidFill>
            <a:prstDash val="solid"/>
          </a:ln>
        </p:spPr>
      </p:sp>
      <p:sp>
        <p:nvSpPr>
          <p:cNvPr id="26" name="A_9_3_fade_174"/>
          <p:cNvSpPr txBox="1"/>
          <p:nvPr/>
        </p:nvSpPr>
        <p:spPr>
          <a:xfrm>
            <a:off x="720730" y="5265847"/>
            <a:ext cx="3845052" cy="173370"/>
          </a:xfrm>
          <a:prstGeom prst="rect">
            <a:avLst/>
          </a:prstGeom>
          <a:noFill/>
          <a:ln/>
        </p:spPr>
        <p:txBody>
          <a:bodyPr wrap="square" lIns="0" tIns="0" rIns="0" bIns="0" rtlCol="0" anchor="t"/>
          <a:lstStyle/>
          <a:p>
            <a:pPr algn="l" indent="0" marL="0">
              <a:lnSpc>
                <a:spcPts val="1365"/>
              </a:lnSpc>
              <a:buNone/>
            </a:pPr>
            <a:r>
              <a:rPr lang="en-US" sz="1050" dirty="0">
                <a:solidFill>
                  <a:srgbClr val="6B6B6B"/>
                </a:solidFill>
                <a:latin typeface="Space Grotesk" pitchFamily="34" charset="0"/>
                <a:ea typeface="Space Grotesk" pitchFamily="34" charset="-122"/>
                <a:cs typeface="Space Grotesk" pitchFamily="34" charset="-120"/>
              </a:rPr>
              <a:t>Báo cáo sơ bộ, mẫu không lớn: chỉ đọc như một tín hiệu</a:t>
            </a:r>
            <a:endParaRPr lang="en-US" sz="1050" dirty="0"/>
          </a:p>
        </p:txBody>
      </p:sp>
      <p:sp>
        <p:nvSpPr>
          <p:cNvPr id="27" name="A_10_3_fade_175"/>
          <p:cNvSpPr txBox="1"/>
          <p:nvPr/>
        </p:nvSpPr>
        <p:spPr>
          <a:xfrm>
            <a:off x="4946630" y="5110673"/>
            <a:ext cx="6997446" cy="476220"/>
          </a:xfrm>
          <a:prstGeom prst="rect">
            <a:avLst/>
          </a:prstGeom>
          <a:noFill/>
          <a:ln/>
        </p:spPr>
        <p:txBody>
          <a:bodyPr wrap="square" lIns="0" tIns="0" rIns="0" bIns="0" rtlCol="0" anchor="t"/>
          <a:lstStyle/>
          <a:p>
            <a:pPr algn="l" indent="0" marL="0">
              <a:lnSpc>
                <a:spcPts val="1875"/>
              </a:lnSpc>
              <a:buNone/>
            </a:pPr>
            <a:r>
              <a:rPr lang="en-US" sz="1250" dirty="0">
                <a:solidFill>
                  <a:srgbClr val="111111"/>
                </a:solidFill>
                <a:latin typeface="Inter" pitchFamily="34" charset="0"/>
                <a:ea typeface="Inter" pitchFamily="34" charset="-122"/>
                <a:cs typeface="Inter" pitchFamily="34" charset="-120"/>
              </a:rPr>
              <a:t>Tín hiệu đó trùng với quan sát thực tế: dự án AI thường chết ở dữ liệu và ở phần nối vào quy</a:t>
            </a:r>
            <a:endParaRPr lang="en-US" sz="1250" dirty="0"/>
          </a:p>
          <a:p>
            <a:pPr algn="l" indent="0" marL="0">
              <a:lnSpc>
                <a:spcPts val="1875"/>
              </a:lnSpc>
              <a:buNone/>
            </a:pPr>
            <a:r>
              <a:rPr lang="en-US" sz="1250" dirty="0">
                <a:solidFill>
                  <a:srgbClr val="111111"/>
                </a:solidFill>
                <a:latin typeface="Inter" pitchFamily="34" charset="0"/>
                <a:ea typeface="Inter" pitchFamily="34" charset="-122"/>
                <a:cs typeface="Inter" pitchFamily="34" charset="-120"/>
              </a:rPr>
              <a:t>trình, hiếm khi chết ở model.</a:t>
            </a:r>
            <a:endParaRPr lang="en-US" sz="1250" dirty="0"/>
          </a:p>
        </p:txBody>
      </p:sp>
      <p:sp>
        <p:nvSpPr>
          <p:cNvPr id="28" name="S_176"/>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29" name="S_177"/>
          <p:cNvSpPr txBox="1"/>
          <p:nvPr/>
        </p:nvSpPr>
        <p:spPr>
          <a:xfrm>
            <a:off x="11161624" y="6517660"/>
            <a:ext cx="496976"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05 / 25</a:t>
            </a:r>
            <a:endParaRPr lang="en-US" sz="900" dirty="0"/>
          </a:p>
        </p:txBody>
      </p:sp>
      <p:sp>
        <p:nvSpPr>
          <p:cNvPr id="30" name="S_178"/>
          <p:cNvSpPr/>
          <p:nvPr/>
        </p:nvSpPr>
        <p:spPr>
          <a:xfrm>
            <a:off x="0" y="6838980"/>
            <a:ext cx="243843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par>
                    <p:cTn id="45" fill="hold">
                      <p:stCondLst>
                        <p:cond delay="indefinite"/>
                      </p:stCondLst>
                      <p:childTnLst>
                        <p:par>
                          <p:cTn id="44"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11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11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par>
                                <p:cTn id="26" presetID="10" presetClass="entr" presetSubtype="0" fill="hold" grpId="0" nodeType="withEffect">
                                  <p:stCondLst>
                                    <p:cond delay="11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par>
                                <p:cTn id="29" presetID="22" presetClass="entr" presetSubtype="8" fill="hold" grpId="0" nodeType="withEffect">
                                  <p:stCondLst>
                                    <p:cond delay="220"/>
                                  </p:stCondLst>
                                  <p:childTnLst>
                                    <p:set>
                                      <p:cBhvr>
                                        <p:cTn id="30" dur="1" fill="hold">
                                          <p:stCondLst>
                                            <p:cond delay="0"/>
                                          </p:stCondLst>
                                        </p:cTn>
                                        <p:tgtEl>
                                          <p:spTgt spid="13"/>
                                        </p:tgtEl>
                                        <p:attrNameLst>
                                          <p:attrName>style.visibility</p:attrName>
                                        </p:attrNameLst>
                                      </p:cBhvr>
                                      <p:to>
                                        <p:strVal val="visible"/>
                                      </p:to>
                                    </p:set>
                                    <p:animEffect transition="in" filter="wipe(left)">
                                      <p:cBhvr>
                                        <p:cTn id="31" dur="700"/>
                                        <p:tgtEl>
                                          <p:spTgt spid="13"/>
                                        </p:tgtEl>
                                      </p:cBhvr>
                                    </p:animEffect>
                                  </p:childTnLst>
                                </p:cTn>
                              </p:par>
                              <p:par>
                                <p:cTn id="32" presetID="10" presetClass="entr" presetSubtype="0" fill="hold" grpId="0" nodeType="withEffect">
                                  <p:stCondLst>
                                    <p:cond delay="33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33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grpId="0" nodeType="withEffect">
                                  <p:stCondLst>
                                    <p:cond delay="33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22" presetClass="entr" presetSubtype="8" fill="hold" grpId="0" nodeType="withEffect">
                                  <p:stCondLst>
                                    <p:cond delay="44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700"/>
                                        <p:tgtEl>
                                          <p:spTgt spid="17"/>
                                        </p:tgtEl>
                                      </p:cBhvr>
                                    </p:animEffect>
                                  </p:childTnLst>
                                </p:cTn>
                              </p:par>
                            </p:childTnLst>
                          </p:cTn>
                        </p:par>
                      </p:childTnLst>
                    </p:cTn>
                  </p:par>
                  <p:par>
                    <p:cTn id="68" fill="hold">
                      <p:stCondLst>
                        <p:cond delay="indefinite"/>
                      </p:stCondLst>
                      <p:childTnLst>
                        <p:par>
                          <p:cTn id="67"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grpId="0" nodeType="withEffect">
                                  <p:stCondLst>
                                    <p:cond delay="11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500"/>
                                        <p:tgtEl>
                                          <p:spTgt spid="19"/>
                                        </p:tgtEl>
                                      </p:cBhvr>
                                    </p:animEffect>
                                  </p:childTnLst>
                                </p:cTn>
                              </p:par>
                              <p:par>
                                <p:cTn id="52" presetID="10" presetClass="entr" presetSubtype="0" fill="hold" grpId="0" nodeType="withEffect">
                                  <p:stCondLst>
                                    <p:cond delay="11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grpId="0" nodeType="withEffect">
                                  <p:stCondLst>
                                    <p:cond delay="11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500"/>
                                        <p:tgtEl>
                                          <p:spTgt spid="21"/>
                                        </p:tgtEl>
                                      </p:cBhvr>
                                    </p:animEffect>
                                  </p:childTnLst>
                                </p:cTn>
                              </p:par>
                              <p:par>
                                <p:cTn id="58" presetID="10" presetClass="entr" presetSubtype="0" fill="hold" grpId="0" nodeType="withEffect">
                                  <p:stCondLst>
                                    <p:cond delay="11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500"/>
                                        <p:tgtEl>
                                          <p:spTgt spid="22"/>
                                        </p:tgtEl>
                                      </p:cBhvr>
                                    </p:animEffect>
                                  </p:childTnLst>
                                </p:cTn>
                              </p:par>
                              <p:par>
                                <p:cTn id="61" presetID="10" presetClass="entr" presetSubtype="0" fill="hold" grpId="0" nodeType="withEffect">
                                  <p:stCondLst>
                                    <p:cond delay="11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11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childTnLst>
                          </p:cTn>
                        </p:par>
                      </p:childTnLst>
                    </p:cTn>
                  </p:par>
                  <p:par>
                    <p:cTn id="79" fill="hold">
                      <p:stCondLst>
                        <p:cond delay="indefinite"/>
                      </p:stCondLst>
                      <p:childTnLst>
                        <p:par>
                          <p:cTn id="7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500"/>
                                        <p:tgtEl>
                                          <p:spTgt spid="2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500"/>
                                        <p:tgtEl>
                                          <p:spTgt spid="26"/>
                                        </p:tgtEl>
                                      </p:cBhvr>
                                    </p:animEffect>
                                  </p:childTnLst>
                                </p:cTn>
                              </p:par>
                              <p:par>
                                <p:cTn id="75" presetID="10" presetClass="entr" presetSubtype="0" fill="hold" grpId="0" nodeType="withEffect">
                                  <p:stCondLst>
                                    <p:cond delay="11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AE7"/>
        </a:solidFill>
      </p:bgPr>
    </p:bg>
    <p:spTree>
      <p:nvGrpSpPr>
        <p:cNvPr id="1" name=""/>
        <p:cNvGrpSpPr/>
        <p:nvPr/>
      </p:nvGrpSpPr>
      <p:grpSpPr>
        <a:xfrm>
          <a:off x="0" y="0"/>
          <a:ext cx="0" cy="0"/>
          <a:chOff x="0" y="0"/>
          <a:chExt cx="0" cy="0"/>
        </a:xfrm>
      </p:grpSpPr>
      <p:sp>
        <p:nvSpPr>
          <p:cNvPr id="2" name="S_179"/>
          <p:cNvSpPr txBox="1"/>
          <p:nvPr/>
        </p:nvSpPr>
        <p:spPr>
          <a:xfrm>
            <a:off x="609630" y="466070"/>
            <a:ext cx="2086844"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01 · BỐI CẢNH 2025–2026</a:t>
            </a:r>
            <a:endParaRPr lang="en-US" sz="1100" dirty="0"/>
          </a:p>
        </p:txBody>
      </p:sp>
      <p:sp>
        <p:nvSpPr>
          <p:cNvPr id="3" name="S_180"/>
          <p:cNvSpPr/>
          <p:nvPr/>
        </p:nvSpPr>
        <p:spPr>
          <a:xfrm>
            <a:off x="10649468" y="412760"/>
            <a:ext cx="932962" cy="292059"/>
          </a:xfrm>
          <a:prstGeom prst="roundRect">
            <a:avLst>
              <a:gd name="adj" fmla="val 50000"/>
            </a:avLst>
          </a:prstGeom>
          <a:solidFill>
            <a:srgbClr val="EBE9E9"/>
          </a:solidFill>
          <a:ln/>
        </p:spPr>
      </p:sp>
      <p:sp>
        <p:nvSpPr>
          <p:cNvPr id="4" name="S_181"/>
          <p:cNvSpPr txBox="1"/>
          <p:nvPr/>
        </p:nvSpPr>
        <p:spPr>
          <a:xfrm>
            <a:off x="10814517" y="476220"/>
            <a:ext cx="678942"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Rủi ro mới</a:t>
            </a:r>
            <a:endParaRPr lang="en-US" sz="1000" dirty="0"/>
          </a:p>
        </p:txBody>
      </p:sp>
      <p:sp>
        <p:nvSpPr>
          <p:cNvPr id="5" name="A_0_0_fade_182"/>
          <p:cNvSpPr txBox="1"/>
          <p:nvPr/>
        </p:nvSpPr>
        <p:spPr>
          <a:xfrm>
            <a:off x="609630" y="806592"/>
            <a:ext cx="6675486"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Rủi ro mới: skill thành chuỗi cung ứng</a:t>
            </a:r>
            <a:endParaRPr lang="en-US" sz="2800" dirty="0"/>
          </a:p>
        </p:txBody>
      </p:sp>
      <p:sp>
        <p:nvSpPr>
          <p:cNvPr id="6" name="A_1_0_fade_183"/>
          <p:cNvSpPr txBox="1"/>
          <p:nvPr/>
        </p:nvSpPr>
        <p:spPr>
          <a:xfrm>
            <a:off x="609630" y="1309421"/>
            <a:ext cx="11209172" cy="514350"/>
          </a:xfrm>
          <a:prstGeom prst="rect">
            <a:avLst/>
          </a:prstGeom>
          <a:noFill/>
          <a:ln/>
        </p:spPr>
        <p:txBody>
          <a:bodyPr wrap="square" lIns="0" tIns="0" rIns="0" bIns="0" rtlCol="0" anchor="t"/>
          <a:lstStyle/>
          <a:p>
            <a:pPr algn="l" indent="0" marL="0">
              <a:lnSpc>
                <a:spcPts val="2025"/>
              </a:lnSpc>
              <a:buNone/>
            </a:pPr>
            <a:r>
              <a:rPr lang="en-US" sz="1350" dirty="0">
                <a:solidFill>
                  <a:srgbClr val="6B6B6B"/>
                </a:solidFill>
                <a:latin typeface="Inter" pitchFamily="34" charset="0"/>
                <a:ea typeface="Inter" pitchFamily="34" charset="-122"/>
                <a:cs typeface="Inter" pitchFamily="34" charset="-120"/>
              </a:rPr>
              <a:t>Khi skill thành chuẩn chung, nó cũng thành một đường tấn công. Các nghiên cứu năm 2026 đã chỉ ra cách tấn công qua skill, kể cả bằng</a:t>
            </a:r>
            <a:endParaRPr lang="en-US" sz="1350" dirty="0"/>
          </a:p>
          <a:p>
            <a:pPr algn="l" indent="0" marL="0">
              <a:lnSpc>
                <a:spcPts val="2025"/>
              </a:lnSpc>
              <a:buNone/>
            </a:pPr>
            <a:r>
              <a:rPr lang="en-US" sz="1350" dirty="0">
                <a:solidFill>
                  <a:srgbClr val="6B6B6B"/>
                </a:solidFill>
                <a:latin typeface="Inter" pitchFamily="34" charset="0"/>
                <a:ea typeface="Inter" pitchFamily="34" charset="-122"/>
                <a:cs typeface="Inter" pitchFamily="34" charset="-120"/>
              </a:rPr>
              <a:t>tổ hợp nhiều skill mà từng cái riêng lẻ đều qua được kiểm tra.</a:t>
            </a:r>
            <a:endParaRPr lang="en-US" sz="1350" dirty="0"/>
          </a:p>
        </p:txBody>
      </p:sp>
      <p:sp>
        <p:nvSpPr>
          <p:cNvPr id="7" name="A_2_0_fade_184"/>
          <p:cNvSpPr/>
          <p:nvPr/>
        </p:nvSpPr>
        <p:spPr>
          <a:xfrm>
            <a:off x="612008" y="3033156"/>
            <a:ext cx="2283623" cy="1139434"/>
          </a:xfrm>
          <a:prstGeom prst="roundRect">
            <a:avLst>
              <a:gd name="adj" fmla="val 7800"/>
            </a:avLst>
          </a:prstGeom>
          <a:solidFill>
            <a:srgbClr val="F4F2E8"/>
          </a:solidFill>
          <a:ln w="9525">
            <a:solidFill>
              <a:srgbClr val="C9CAEB"/>
            </a:solidFill>
            <a:prstDash val="solid"/>
          </a:ln>
        </p:spPr>
      </p:sp>
      <p:sp>
        <p:nvSpPr>
          <p:cNvPr id="8" name="A_2_0_fade_185"/>
          <p:cNvSpPr txBox="1"/>
          <p:nvPr/>
        </p:nvSpPr>
        <p:spPr>
          <a:xfrm>
            <a:off x="1411285" y="3222163"/>
            <a:ext cx="684886" cy="156820"/>
          </a:xfrm>
          <a:prstGeom prst="rect">
            <a:avLst/>
          </a:prstGeom>
          <a:noFill/>
          <a:ln/>
        </p:spPr>
        <p:txBody>
          <a:bodyPr wrap="square" lIns="0" tIns="0" rIns="0" bIns="0" rtlCol="0" anchor="t"/>
          <a:lstStyle/>
          <a:p>
            <a:pPr algn="ctr" indent="0" marL="0">
              <a:lnSpc>
                <a:spcPts val="1235"/>
              </a:lnSpc>
              <a:buNone/>
            </a:pPr>
            <a:r>
              <a:rPr lang="en-US" sz="950" b="1" spc="76" kern="0" dirty="0">
                <a:solidFill>
                  <a:srgbClr val="6B6B6B"/>
                </a:solidFill>
                <a:latin typeface="Space Grotesk" pitchFamily="34" charset="0"/>
                <a:ea typeface="Space Grotesk" pitchFamily="34" charset="-122"/>
                <a:cs typeface="Space Grotesk" pitchFamily="34" charset="-120"/>
              </a:rPr>
              <a:t>SKILL.MD</a:t>
            </a:r>
            <a:endParaRPr lang="en-US" sz="950" dirty="0"/>
          </a:p>
        </p:txBody>
      </p:sp>
      <p:sp>
        <p:nvSpPr>
          <p:cNvPr id="9" name="A_2_0_fade_186"/>
          <p:cNvSpPr txBox="1"/>
          <p:nvPr/>
        </p:nvSpPr>
        <p:spPr>
          <a:xfrm>
            <a:off x="1418417" y="3443082"/>
            <a:ext cx="670621" cy="269839"/>
          </a:xfrm>
          <a:prstGeom prst="rect">
            <a:avLst/>
          </a:prstGeom>
          <a:noFill/>
          <a:ln/>
        </p:spPr>
        <p:txBody>
          <a:bodyPr wrap="square" lIns="0" tIns="0" rIns="0" bIns="0" rtlCol="0" anchor="t"/>
          <a:lstStyle/>
          <a:p>
            <a:pPr algn="ctr" indent="0" marL="0">
              <a:lnSpc>
                <a:spcPts val="2125"/>
              </a:lnSpc>
              <a:buNone/>
            </a:pPr>
            <a:r>
              <a:rPr lang="en-US" sz="1700" b="1" spc="-17" kern="0" dirty="0">
                <a:solidFill>
                  <a:srgbClr val="111111"/>
                </a:solidFill>
                <a:latin typeface="Space Grotesk" pitchFamily="34" charset="0"/>
                <a:ea typeface="Space Grotesk" pitchFamily="34" charset="-122"/>
                <a:cs typeface="Space Grotesk" pitchFamily="34" charset="-120"/>
              </a:rPr>
              <a:t>Skill A</a:t>
            </a:r>
            <a:endParaRPr lang="en-US" sz="1700" dirty="0"/>
          </a:p>
        </p:txBody>
      </p:sp>
      <p:sp>
        <p:nvSpPr>
          <p:cNvPr id="10" name="A_2_0_fade_187"/>
          <p:cNvSpPr txBox="1"/>
          <p:nvPr/>
        </p:nvSpPr>
        <p:spPr>
          <a:xfrm>
            <a:off x="1190000" y="3794577"/>
            <a:ext cx="1127455" cy="182880"/>
          </a:xfrm>
          <a:prstGeom prst="rect">
            <a:avLst/>
          </a:prstGeom>
          <a:noFill/>
          <a:ln/>
        </p:spPr>
        <p:txBody>
          <a:bodyPr wrap="square" lIns="0" tIns="0" rIns="0" bIns="0" rtlCol="0" anchor="t"/>
          <a:lstStyle/>
          <a:p>
            <a:pPr algn="ctr" indent="0" marL="0">
              <a:lnSpc>
                <a:spcPts val="1440"/>
              </a:lnSpc>
              <a:buNone/>
            </a:pPr>
            <a:r>
              <a:rPr lang="en-US" sz="1200" b="1" dirty="0">
                <a:solidFill>
                  <a:srgbClr val="059669"/>
                </a:solidFill>
                <a:latin typeface="Inter" pitchFamily="34" charset="0"/>
                <a:ea typeface="Inter" pitchFamily="34" charset="-122"/>
                <a:cs typeface="Inter" pitchFamily="34" charset="-120"/>
              </a:rPr>
              <a:t>✓ qua kiểm tra</a:t>
            </a:r>
            <a:endParaRPr lang="en-US" sz="1200" dirty="0"/>
          </a:p>
        </p:txBody>
      </p:sp>
      <p:sp>
        <p:nvSpPr>
          <p:cNvPr id="11" name="A_3_0_fade_188"/>
          <p:cNvSpPr txBox="1"/>
          <p:nvPr/>
        </p:nvSpPr>
        <p:spPr>
          <a:xfrm>
            <a:off x="3037637" y="3467496"/>
            <a:ext cx="213695" cy="259050"/>
          </a:xfrm>
          <a:prstGeom prst="rect">
            <a:avLst/>
          </a:prstGeom>
          <a:noFill/>
          <a:ln/>
        </p:spPr>
        <p:txBody>
          <a:bodyPr wrap="square" lIns="0" tIns="0" rIns="0" bIns="0" rtlCol="0" anchor="t"/>
          <a:lstStyle/>
          <a:p>
            <a:pPr algn="l"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12" name="A_4_0_fade_189"/>
          <p:cNvSpPr/>
          <p:nvPr/>
        </p:nvSpPr>
        <p:spPr>
          <a:xfrm>
            <a:off x="3317260" y="3033156"/>
            <a:ext cx="2283714" cy="1139434"/>
          </a:xfrm>
          <a:prstGeom prst="roundRect">
            <a:avLst>
              <a:gd name="adj" fmla="val 7800"/>
            </a:avLst>
          </a:prstGeom>
          <a:solidFill>
            <a:srgbClr val="F4F2E8"/>
          </a:solidFill>
          <a:ln w="9525">
            <a:solidFill>
              <a:srgbClr val="C9CAEB"/>
            </a:solidFill>
            <a:prstDash val="solid"/>
          </a:ln>
        </p:spPr>
      </p:sp>
      <p:sp>
        <p:nvSpPr>
          <p:cNvPr id="13" name="A_4_0_fade_190"/>
          <p:cNvSpPr txBox="1"/>
          <p:nvPr/>
        </p:nvSpPr>
        <p:spPr>
          <a:xfrm>
            <a:off x="4116720" y="3222163"/>
            <a:ext cx="684886" cy="156820"/>
          </a:xfrm>
          <a:prstGeom prst="rect">
            <a:avLst/>
          </a:prstGeom>
          <a:noFill/>
          <a:ln/>
        </p:spPr>
        <p:txBody>
          <a:bodyPr wrap="square" lIns="0" tIns="0" rIns="0" bIns="0" rtlCol="0" anchor="t"/>
          <a:lstStyle/>
          <a:p>
            <a:pPr algn="ctr" indent="0" marL="0">
              <a:lnSpc>
                <a:spcPts val="1235"/>
              </a:lnSpc>
              <a:buNone/>
            </a:pPr>
            <a:r>
              <a:rPr lang="en-US" sz="950" b="1" spc="76" kern="0" dirty="0">
                <a:solidFill>
                  <a:srgbClr val="6B6B6B"/>
                </a:solidFill>
                <a:latin typeface="Space Grotesk" pitchFamily="34" charset="0"/>
                <a:ea typeface="Space Grotesk" pitchFamily="34" charset="-122"/>
                <a:cs typeface="Space Grotesk" pitchFamily="34" charset="-120"/>
              </a:rPr>
              <a:t>SKILL.MD</a:t>
            </a:r>
            <a:endParaRPr lang="en-US" sz="950" dirty="0"/>
          </a:p>
        </p:txBody>
      </p:sp>
      <p:sp>
        <p:nvSpPr>
          <p:cNvPr id="14" name="A_4_0_fade_191"/>
          <p:cNvSpPr txBox="1"/>
          <p:nvPr/>
        </p:nvSpPr>
        <p:spPr>
          <a:xfrm>
            <a:off x="4119189" y="3443082"/>
            <a:ext cx="679856" cy="269839"/>
          </a:xfrm>
          <a:prstGeom prst="rect">
            <a:avLst/>
          </a:prstGeom>
          <a:noFill/>
          <a:ln/>
        </p:spPr>
        <p:txBody>
          <a:bodyPr wrap="square" lIns="0" tIns="0" rIns="0" bIns="0" rtlCol="0" anchor="t"/>
          <a:lstStyle/>
          <a:p>
            <a:pPr algn="ctr" indent="0" marL="0">
              <a:lnSpc>
                <a:spcPts val="2125"/>
              </a:lnSpc>
              <a:buNone/>
            </a:pPr>
            <a:r>
              <a:rPr lang="en-US" sz="1700" b="1" spc="-17" kern="0" dirty="0">
                <a:solidFill>
                  <a:srgbClr val="111111"/>
                </a:solidFill>
                <a:latin typeface="Space Grotesk" pitchFamily="34" charset="0"/>
                <a:ea typeface="Space Grotesk" pitchFamily="34" charset="-122"/>
                <a:cs typeface="Space Grotesk" pitchFamily="34" charset="-120"/>
              </a:rPr>
              <a:t>Skill B</a:t>
            </a:r>
            <a:endParaRPr lang="en-US" sz="1700" dirty="0"/>
          </a:p>
        </p:txBody>
      </p:sp>
      <p:sp>
        <p:nvSpPr>
          <p:cNvPr id="15" name="A_4_0_fade_192"/>
          <p:cNvSpPr txBox="1"/>
          <p:nvPr/>
        </p:nvSpPr>
        <p:spPr>
          <a:xfrm>
            <a:off x="3895344" y="3794577"/>
            <a:ext cx="1127455" cy="182880"/>
          </a:xfrm>
          <a:prstGeom prst="rect">
            <a:avLst/>
          </a:prstGeom>
          <a:noFill/>
          <a:ln/>
        </p:spPr>
        <p:txBody>
          <a:bodyPr wrap="square" lIns="0" tIns="0" rIns="0" bIns="0" rtlCol="0" anchor="t"/>
          <a:lstStyle/>
          <a:p>
            <a:pPr algn="ctr" indent="0" marL="0">
              <a:lnSpc>
                <a:spcPts val="1440"/>
              </a:lnSpc>
              <a:buNone/>
            </a:pPr>
            <a:r>
              <a:rPr lang="en-US" sz="1200" b="1" dirty="0">
                <a:solidFill>
                  <a:srgbClr val="059669"/>
                </a:solidFill>
                <a:latin typeface="Inter" pitchFamily="34" charset="0"/>
                <a:ea typeface="Inter" pitchFamily="34" charset="-122"/>
                <a:cs typeface="Inter" pitchFamily="34" charset="-120"/>
              </a:rPr>
              <a:t>✓ qua kiểm tra</a:t>
            </a:r>
            <a:endParaRPr lang="en-US" sz="1200" dirty="0"/>
          </a:p>
        </p:txBody>
      </p:sp>
      <p:sp>
        <p:nvSpPr>
          <p:cNvPr id="16" name="A_5_0_fade_193"/>
          <p:cNvSpPr txBox="1"/>
          <p:nvPr/>
        </p:nvSpPr>
        <p:spPr>
          <a:xfrm>
            <a:off x="5743072" y="3467496"/>
            <a:ext cx="213695" cy="259050"/>
          </a:xfrm>
          <a:prstGeom prst="rect">
            <a:avLst/>
          </a:prstGeom>
          <a:noFill/>
          <a:ln/>
        </p:spPr>
        <p:txBody>
          <a:bodyPr wrap="square" lIns="0" tIns="0" rIns="0" bIns="0" rtlCol="0" anchor="t"/>
          <a:lstStyle/>
          <a:p>
            <a:pPr algn="l"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17" name="A_6_0_fade_194"/>
          <p:cNvSpPr/>
          <p:nvPr/>
        </p:nvSpPr>
        <p:spPr>
          <a:xfrm>
            <a:off x="6022696" y="3033156"/>
            <a:ext cx="2283623" cy="1139434"/>
          </a:xfrm>
          <a:prstGeom prst="roundRect">
            <a:avLst>
              <a:gd name="adj" fmla="val 7800"/>
            </a:avLst>
          </a:prstGeom>
          <a:solidFill>
            <a:srgbClr val="F4F2E8"/>
          </a:solidFill>
          <a:ln w="9525">
            <a:solidFill>
              <a:srgbClr val="C9CAEB"/>
            </a:solidFill>
            <a:prstDash val="solid"/>
          </a:ln>
        </p:spPr>
      </p:sp>
      <p:sp>
        <p:nvSpPr>
          <p:cNvPr id="18" name="A_6_0_fade_195"/>
          <p:cNvSpPr txBox="1"/>
          <p:nvPr/>
        </p:nvSpPr>
        <p:spPr>
          <a:xfrm>
            <a:off x="6821973" y="3222163"/>
            <a:ext cx="684886" cy="156820"/>
          </a:xfrm>
          <a:prstGeom prst="rect">
            <a:avLst/>
          </a:prstGeom>
          <a:noFill/>
          <a:ln/>
        </p:spPr>
        <p:txBody>
          <a:bodyPr wrap="square" lIns="0" tIns="0" rIns="0" bIns="0" rtlCol="0" anchor="t"/>
          <a:lstStyle/>
          <a:p>
            <a:pPr algn="ctr" indent="0" marL="0">
              <a:lnSpc>
                <a:spcPts val="1235"/>
              </a:lnSpc>
              <a:buNone/>
            </a:pPr>
            <a:r>
              <a:rPr lang="en-US" sz="950" b="1" spc="76" kern="0" dirty="0">
                <a:solidFill>
                  <a:srgbClr val="6B6B6B"/>
                </a:solidFill>
                <a:latin typeface="Space Grotesk" pitchFamily="34" charset="0"/>
                <a:ea typeface="Space Grotesk" pitchFamily="34" charset="-122"/>
                <a:cs typeface="Space Grotesk" pitchFamily="34" charset="-120"/>
              </a:rPr>
              <a:t>SKILL.MD</a:t>
            </a:r>
            <a:endParaRPr lang="en-US" sz="950" dirty="0"/>
          </a:p>
        </p:txBody>
      </p:sp>
      <p:sp>
        <p:nvSpPr>
          <p:cNvPr id="19" name="A_6_0_fade_196"/>
          <p:cNvSpPr txBox="1"/>
          <p:nvPr/>
        </p:nvSpPr>
        <p:spPr>
          <a:xfrm>
            <a:off x="6826728" y="3443082"/>
            <a:ext cx="675467" cy="269839"/>
          </a:xfrm>
          <a:prstGeom prst="rect">
            <a:avLst/>
          </a:prstGeom>
          <a:noFill/>
          <a:ln/>
        </p:spPr>
        <p:txBody>
          <a:bodyPr wrap="square" lIns="0" tIns="0" rIns="0" bIns="0" rtlCol="0" anchor="t"/>
          <a:lstStyle/>
          <a:p>
            <a:pPr algn="ctr" indent="0" marL="0">
              <a:lnSpc>
                <a:spcPts val="2125"/>
              </a:lnSpc>
              <a:buNone/>
            </a:pPr>
            <a:r>
              <a:rPr lang="en-US" sz="1700" b="1" spc="-17" kern="0" dirty="0">
                <a:solidFill>
                  <a:srgbClr val="111111"/>
                </a:solidFill>
                <a:latin typeface="Space Grotesk" pitchFamily="34" charset="0"/>
                <a:ea typeface="Space Grotesk" pitchFamily="34" charset="-122"/>
                <a:cs typeface="Space Grotesk" pitchFamily="34" charset="-120"/>
              </a:rPr>
              <a:t>Skill C</a:t>
            </a:r>
            <a:endParaRPr lang="en-US" sz="1700" dirty="0"/>
          </a:p>
        </p:txBody>
      </p:sp>
      <p:sp>
        <p:nvSpPr>
          <p:cNvPr id="20" name="A_6_0_fade_197"/>
          <p:cNvSpPr txBox="1"/>
          <p:nvPr/>
        </p:nvSpPr>
        <p:spPr>
          <a:xfrm>
            <a:off x="6600779" y="3794577"/>
            <a:ext cx="1127455" cy="182880"/>
          </a:xfrm>
          <a:prstGeom prst="rect">
            <a:avLst/>
          </a:prstGeom>
          <a:noFill/>
          <a:ln/>
        </p:spPr>
        <p:txBody>
          <a:bodyPr wrap="square" lIns="0" tIns="0" rIns="0" bIns="0" rtlCol="0" anchor="t"/>
          <a:lstStyle/>
          <a:p>
            <a:pPr algn="ctr" indent="0" marL="0">
              <a:lnSpc>
                <a:spcPts val="1440"/>
              </a:lnSpc>
              <a:buNone/>
            </a:pPr>
            <a:r>
              <a:rPr lang="en-US" sz="1200" b="1" dirty="0">
                <a:solidFill>
                  <a:srgbClr val="059669"/>
                </a:solidFill>
                <a:latin typeface="Inter" pitchFamily="34" charset="0"/>
                <a:ea typeface="Inter" pitchFamily="34" charset="-122"/>
                <a:cs typeface="Inter" pitchFamily="34" charset="-120"/>
              </a:rPr>
              <a:t>✓ qua kiểm tra</a:t>
            </a:r>
            <a:endParaRPr lang="en-US" sz="1200" dirty="0"/>
          </a:p>
        </p:txBody>
      </p:sp>
      <p:sp>
        <p:nvSpPr>
          <p:cNvPr id="21" name="A_7_1_fade_198"/>
          <p:cNvSpPr txBox="1"/>
          <p:nvPr/>
        </p:nvSpPr>
        <p:spPr>
          <a:xfrm>
            <a:off x="8448416" y="3467496"/>
            <a:ext cx="213695" cy="259050"/>
          </a:xfrm>
          <a:prstGeom prst="rect">
            <a:avLst/>
          </a:prstGeom>
          <a:noFill/>
          <a:ln/>
        </p:spPr>
        <p:txBody>
          <a:bodyPr wrap="square" lIns="0" tIns="0" rIns="0" bIns="0" rtlCol="0" anchor="t"/>
          <a:lstStyle/>
          <a:p>
            <a:pPr algn="l"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22" name="A_8_1_fade_199"/>
          <p:cNvSpPr/>
          <p:nvPr/>
        </p:nvSpPr>
        <p:spPr>
          <a:xfrm>
            <a:off x="8727948" y="3033156"/>
            <a:ext cx="2852014" cy="1139434"/>
          </a:xfrm>
          <a:prstGeom prst="roundRect">
            <a:avLst>
              <a:gd name="adj" fmla="val 7800"/>
            </a:avLst>
          </a:prstGeom>
          <a:solidFill>
            <a:srgbClr val="FBEFDD"/>
          </a:solidFill>
          <a:ln w="9525">
            <a:solidFill>
              <a:srgbClr val="ED958B"/>
            </a:solidFill>
            <a:prstDash val="solid"/>
          </a:ln>
        </p:spPr>
      </p:sp>
      <p:sp>
        <p:nvSpPr>
          <p:cNvPr id="23" name="A_8_1_fade_200"/>
          <p:cNvSpPr txBox="1"/>
          <p:nvPr/>
        </p:nvSpPr>
        <p:spPr>
          <a:xfrm>
            <a:off x="9879726" y="3222163"/>
            <a:ext cx="548549" cy="156820"/>
          </a:xfrm>
          <a:prstGeom prst="rect">
            <a:avLst/>
          </a:prstGeom>
          <a:noFill/>
          <a:ln/>
        </p:spPr>
        <p:txBody>
          <a:bodyPr wrap="square" lIns="0" tIns="0" rIns="0" bIns="0" rtlCol="0" anchor="t"/>
          <a:lstStyle/>
          <a:p>
            <a:pPr algn="ctr" indent="0" marL="0">
              <a:lnSpc>
                <a:spcPts val="1235"/>
              </a:lnSpc>
              <a:buNone/>
            </a:pPr>
            <a:r>
              <a:rPr lang="en-US" sz="950" b="1" spc="76" kern="0" dirty="0">
                <a:solidFill>
                  <a:srgbClr val="DC2626"/>
                </a:solidFill>
                <a:latin typeface="Space Grotesk" pitchFamily="34" charset="0"/>
                <a:ea typeface="Space Grotesk" pitchFamily="34" charset="-122"/>
                <a:cs typeface="Space Grotesk" pitchFamily="34" charset="-120"/>
              </a:rPr>
              <a:t>TỔ HỢP</a:t>
            </a:r>
            <a:endParaRPr lang="en-US" sz="950" dirty="0"/>
          </a:p>
        </p:txBody>
      </p:sp>
      <p:sp>
        <p:nvSpPr>
          <p:cNvPr id="24" name="A_8_1_fade_201"/>
          <p:cNvSpPr txBox="1"/>
          <p:nvPr/>
        </p:nvSpPr>
        <p:spPr>
          <a:xfrm>
            <a:off x="9312798" y="3443082"/>
            <a:ext cx="1682496" cy="269839"/>
          </a:xfrm>
          <a:prstGeom prst="rect">
            <a:avLst/>
          </a:prstGeom>
          <a:noFill/>
          <a:ln/>
        </p:spPr>
        <p:txBody>
          <a:bodyPr wrap="square" lIns="0" tIns="0" rIns="0" bIns="0" rtlCol="0" anchor="t"/>
          <a:lstStyle/>
          <a:p>
            <a:pPr algn="ctr" indent="0" marL="0">
              <a:lnSpc>
                <a:spcPts val="2125"/>
              </a:lnSpc>
              <a:buNone/>
            </a:pPr>
            <a:r>
              <a:rPr lang="en-US" sz="1700" b="1" spc="-17" kern="0" dirty="0">
                <a:solidFill>
                  <a:srgbClr val="111111"/>
                </a:solidFill>
                <a:latin typeface="Space Grotesk" pitchFamily="34" charset="0"/>
                <a:ea typeface="Space Grotesk" pitchFamily="34" charset="-122"/>
                <a:cs typeface="Space Grotesk" pitchFamily="34" charset="-120"/>
              </a:rPr>
              <a:t>Chuỗi tấn công</a:t>
            </a:r>
            <a:endParaRPr lang="en-US" sz="1700" dirty="0"/>
          </a:p>
        </p:txBody>
      </p:sp>
      <p:sp>
        <p:nvSpPr>
          <p:cNvPr id="25" name="A_8_1_fade_202"/>
          <p:cNvSpPr txBox="1"/>
          <p:nvPr/>
        </p:nvSpPr>
        <p:spPr>
          <a:xfrm>
            <a:off x="9170426" y="3794577"/>
            <a:ext cx="1967057" cy="182880"/>
          </a:xfrm>
          <a:prstGeom prst="rect">
            <a:avLst/>
          </a:prstGeom>
          <a:noFill/>
          <a:ln/>
        </p:spPr>
        <p:txBody>
          <a:bodyPr wrap="square" lIns="0" tIns="0" rIns="0" bIns="0" rtlCol="0" anchor="t"/>
          <a:lstStyle/>
          <a:p>
            <a:pPr algn="ctr" indent="0" marL="0">
              <a:lnSpc>
                <a:spcPts val="1440"/>
              </a:lnSpc>
              <a:buNone/>
            </a:pPr>
            <a:r>
              <a:rPr lang="en-US" sz="1200" b="1" dirty="0">
                <a:solidFill>
                  <a:srgbClr val="DC2626"/>
                </a:solidFill>
                <a:latin typeface="Inter" pitchFamily="34" charset="0"/>
                <a:ea typeface="Inter" pitchFamily="34" charset="-122"/>
                <a:cs typeface="Inter" pitchFamily="34" charset="-120"/>
              </a:rPr>
              <a:t>✗ lọt qua kiểm tra riêng lẻ</a:t>
            </a:r>
            <a:endParaRPr lang="en-US" sz="1200" dirty="0"/>
          </a:p>
        </p:txBody>
      </p:sp>
      <p:sp>
        <p:nvSpPr>
          <p:cNvPr id="26" name="A_9_2_fade_203"/>
          <p:cNvSpPr/>
          <p:nvPr/>
        </p:nvSpPr>
        <p:spPr>
          <a:xfrm>
            <a:off x="609630" y="4454317"/>
            <a:ext cx="10972800" cy="629839"/>
          </a:xfrm>
          <a:prstGeom prst="roundRect">
            <a:avLst>
              <a:gd name="adj" fmla="val 14111"/>
            </a:avLst>
          </a:prstGeom>
          <a:solidFill>
            <a:srgbClr val="EBE9E9"/>
          </a:solidFill>
          <a:ln/>
        </p:spPr>
      </p:sp>
      <p:sp>
        <p:nvSpPr>
          <p:cNvPr id="27" name="A_9_2_fade_204"/>
          <p:cNvSpPr txBox="1"/>
          <p:nvPr/>
        </p:nvSpPr>
        <p:spPr>
          <a:xfrm>
            <a:off x="838230" y="4628327"/>
            <a:ext cx="3935395" cy="274320"/>
          </a:xfrm>
          <a:prstGeom prst="rect">
            <a:avLst/>
          </a:prstGeom>
          <a:noFill/>
          <a:ln/>
        </p:spPr>
        <p:txBody>
          <a:bodyPr wrap="square" lIns="0" tIns="0" rIns="0" bIns="0" rtlCol="0" anchor="t"/>
          <a:lstStyle/>
          <a:p>
            <a:pPr algn="l" indent="0" marL="0">
              <a:lnSpc>
                <a:spcPts val="2160"/>
              </a:lnSpc>
              <a:buNone/>
            </a:pPr>
            <a:r>
              <a:rPr lang="en-US" sz="1600" spc="-16" kern="0" dirty="0">
                <a:solidFill>
                  <a:srgbClr val="111111"/>
                </a:solidFill>
                <a:latin typeface="Space Grotesk" pitchFamily="34" charset="0"/>
                <a:ea typeface="Space Grotesk" pitchFamily="34" charset="-122"/>
                <a:cs typeface="Space Grotesk" pitchFamily="34" charset="-120"/>
              </a:rPr>
              <a:t>Vì vậy kit cần được quản trị như code.</a:t>
            </a:r>
            <a:endParaRPr lang="en-US" sz="1600" dirty="0"/>
          </a:p>
        </p:txBody>
      </p:sp>
      <p:sp>
        <p:nvSpPr>
          <p:cNvPr id="28" name="A_9_2_fade_205"/>
          <p:cNvSpPr/>
          <p:nvPr/>
        </p:nvSpPr>
        <p:spPr>
          <a:xfrm>
            <a:off x="7920807" y="4633996"/>
            <a:ext cx="645932" cy="270480"/>
          </a:xfrm>
          <a:prstGeom prst="roundRect">
            <a:avLst>
              <a:gd name="adj" fmla="val 50000"/>
            </a:avLst>
          </a:prstGeom>
          <a:solidFill>
            <a:srgbClr val="DBDAEA"/>
          </a:solidFill>
          <a:ln/>
        </p:spPr>
      </p:sp>
      <p:sp>
        <p:nvSpPr>
          <p:cNvPr id="29" name="A_9_2_fade_206"/>
          <p:cNvSpPr txBox="1"/>
          <p:nvPr/>
        </p:nvSpPr>
        <p:spPr>
          <a:xfrm>
            <a:off x="8035107" y="4676516"/>
            <a:ext cx="493502"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owner</a:t>
            </a:r>
            <a:endParaRPr lang="en-US" sz="1100" dirty="0"/>
          </a:p>
        </p:txBody>
      </p:sp>
      <p:sp>
        <p:nvSpPr>
          <p:cNvPr id="30" name="A_9_2_fade_207"/>
          <p:cNvSpPr/>
          <p:nvPr/>
        </p:nvSpPr>
        <p:spPr>
          <a:xfrm>
            <a:off x="8630290" y="4633996"/>
            <a:ext cx="662574" cy="270480"/>
          </a:xfrm>
          <a:prstGeom prst="roundRect">
            <a:avLst>
              <a:gd name="adj" fmla="val 50000"/>
            </a:avLst>
          </a:prstGeom>
          <a:solidFill>
            <a:srgbClr val="DBDAEA"/>
          </a:solidFill>
          <a:ln/>
        </p:spPr>
      </p:sp>
      <p:sp>
        <p:nvSpPr>
          <p:cNvPr id="31" name="A_9_2_fade_208"/>
          <p:cNvSpPr txBox="1"/>
          <p:nvPr/>
        </p:nvSpPr>
        <p:spPr>
          <a:xfrm>
            <a:off x="8744590" y="4676516"/>
            <a:ext cx="510144"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review</a:t>
            </a:r>
            <a:endParaRPr lang="en-US" sz="1100" dirty="0"/>
          </a:p>
        </p:txBody>
      </p:sp>
      <p:sp>
        <p:nvSpPr>
          <p:cNvPr id="32" name="A_9_2_fade_209"/>
          <p:cNvSpPr/>
          <p:nvPr/>
        </p:nvSpPr>
        <p:spPr>
          <a:xfrm>
            <a:off x="9356324" y="4633996"/>
            <a:ext cx="717164" cy="270480"/>
          </a:xfrm>
          <a:prstGeom prst="roundRect">
            <a:avLst>
              <a:gd name="adj" fmla="val 50000"/>
            </a:avLst>
          </a:prstGeom>
          <a:solidFill>
            <a:srgbClr val="DBDAEA"/>
          </a:solidFill>
          <a:ln/>
        </p:spPr>
      </p:sp>
      <p:sp>
        <p:nvSpPr>
          <p:cNvPr id="33" name="A_9_2_fade_210"/>
          <p:cNvSpPr txBox="1"/>
          <p:nvPr/>
        </p:nvSpPr>
        <p:spPr>
          <a:xfrm>
            <a:off x="9470624" y="4676516"/>
            <a:ext cx="564733"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version</a:t>
            </a:r>
            <a:endParaRPr lang="en-US" sz="1100" dirty="0"/>
          </a:p>
        </p:txBody>
      </p:sp>
      <p:sp>
        <p:nvSpPr>
          <p:cNvPr id="34" name="A_9_2_fade_211"/>
          <p:cNvSpPr/>
          <p:nvPr/>
        </p:nvSpPr>
        <p:spPr>
          <a:xfrm>
            <a:off x="10136947" y="4633996"/>
            <a:ext cx="1216792" cy="270480"/>
          </a:xfrm>
          <a:prstGeom prst="roundRect">
            <a:avLst>
              <a:gd name="adj" fmla="val 50000"/>
            </a:avLst>
          </a:prstGeom>
          <a:solidFill>
            <a:srgbClr val="DBDAEA"/>
          </a:solidFill>
          <a:ln/>
        </p:spPr>
      </p:sp>
      <p:sp>
        <p:nvSpPr>
          <p:cNvPr id="35" name="A_9_2_fade_212"/>
          <p:cNvSpPr txBox="1"/>
          <p:nvPr/>
        </p:nvSpPr>
        <p:spPr>
          <a:xfrm>
            <a:off x="10251247" y="4676516"/>
            <a:ext cx="106728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registry nội bộ</a:t>
            </a:r>
            <a:endParaRPr lang="en-US" sz="1100" dirty="0"/>
          </a:p>
        </p:txBody>
      </p:sp>
      <p:sp>
        <p:nvSpPr>
          <p:cNvPr id="36" name="S_213"/>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37" name="S_214"/>
          <p:cNvSpPr txBox="1"/>
          <p:nvPr/>
        </p:nvSpPr>
        <p:spPr>
          <a:xfrm>
            <a:off x="11159703" y="6517660"/>
            <a:ext cx="498897"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06 / 25</a:t>
            </a:r>
            <a:endParaRPr lang="en-US" sz="900" dirty="0"/>
          </a:p>
        </p:txBody>
      </p:sp>
      <p:sp>
        <p:nvSpPr>
          <p:cNvPr id="38" name="S_215"/>
          <p:cNvSpPr/>
          <p:nvPr/>
        </p:nvSpPr>
        <p:spPr>
          <a:xfrm>
            <a:off x="0" y="6838980"/>
            <a:ext cx="292608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52" fill="hold">
                      <p:stCondLst>
                        <p:cond delay="indefinite"/>
                        <p:cond evt="onBegin" delay="0">
                          <p:tn val="2"/>
                        </p:cond>
                      </p:stCondLst>
                      <p:childTnLst>
                        <p:par>
                          <p:cTn id="5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22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22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33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44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4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44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55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66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66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66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66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childTnLst>
                          </p:cTn>
                        </p:par>
                      </p:childTnLst>
                    </p:cTn>
                  </p:par>
                  <p:par>
                    <p:cTn id="69" fill="hold">
                      <p:stCondLst>
                        <p:cond delay="indefinite"/>
                      </p:stCondLst>
                      <p:childTnLst>
                        <p:par>
                          <p:cTn id="68"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11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11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11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11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childTnLst>
                          </p:cTn>
                        </p:par>
                      </p:childTnLst>
                    </p:cTn>
                  </p:par>
                  <p:par>
                    <p:cTn id="101" fill="hold">
                      <p:stCondLst>
                        <p:cond delay="indefinite"/>
                      </p:stCondLst>
                      <p:childTnLst>
                        <p:par>
                          <p:cTn id="100"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50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500"/>
                                        <p:tgtEl>
                                          <p:spTgt spid="3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DFAE7"/>
        </a:solidFill>
      </p:bgPr>
    </p:bg>
    <p:spTree>
      <p:nvGrpSpPr>
        <p:cNvPr id="1" name=""/>
        <p:cNvGrpSpPr/>
        <p:nvPr/>
      </p:nvGrpSpPr>
      <p:grpSpPr>
        <a:xfrm>
          <a:off x="0" y="0"/>
          <a:ext cx="0" cy="0"/>
          <a:chOff x="0" y="0"/>
          <a:chExt cx="0" cy="0"/>
        </a:xfrm>
      </p:grpSpPr>
      <p:sp>
        <p:nvSpPr>
          <p:cNvPr id="2" name="S_216"/>
          <p:cNvSpPr txBox="1"/>
          <p:nvPr/>
        </p:nvSpPr>
        <p:spPr>
          <a:xfrm>
            <a:off x="609630" y="466070"/>
            <a:ext cx="2341961"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02 · BA KHÁI NIỆM · HARNESS</a:t>
            </a:r>
            <a:endParaRPr lang="en-US" sz="1100" dirty="0"/>
          </a:p>
        </p:txBody>
      </p:sp>
      <p:sp>
        <p:nvSpPr>
          <p:cNvPr id="3" name="S_217"/>
          <p:cNvSpPr/>
          <p:nvPr/>
        </p:nvSpPr>
        <p:spPr>
          <a:xfrm>
            <a:off x="10239817" y="412760"/>
            <a:ext cx="1342614" cy="292059"/>
          </a:xfrm>
          <a:prstGeom prst="roundRect">
            <a:avLst>
              <a:gd name="adj" fmla="val 50000"/>
            </a:avLst>
          </a:prstGeom>
          <a:solidFill>
            <a:srgbClr val="EBE9E9"/>
          </a:solidFill>
          <a:ln/>
        </p:spPr>
      </p:sp>
      <p:sp>
        <p:nvSpPr>
          <p:cNvPr id="4" name="S_218"/>
          <p:cNvSpPr txBox="1"/>
          <p:nvPr/>
        </p:nvSpPr>
        <p:spPr>
          <a:xfrm>
            <a:off x="10404866" y="476220"/>
            <a:ext cx="1093440"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Khung phân tích</a:t>
            </a:r>
            <a:endParaRPr lang="en-US" sz="1000" dirty="0"/>
          </a:p>
        </p:txBody>
      </p:sp>
      <p:sp>
        <p:nvSpPr>
          <p:cNvPr id="5" name="A_0_0_fade_219"/>
          <p:cNvSpPr txBox="1"/>
          <p:nvPr/>
        </p:nvSpPr>
        <p:spPr>
          <a:xfrm>
            <a:off x="609630" y="806592"/>
            <a:ext cx="6983364"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Một agent làm việc thật gồm năm phần</a:t>
            </a:r>
            <a:endParaRPr lang="en-US" sz="2800" dirty="0"/>
          </a:p>
        </p:txBody>
      </p:sp>
      <p:sp>
        <p:nvSpPr>
          <p:cNvPr id="6" name="A_1_0_fade_220"/>
          <p:cNvSpPr txBox="1"/>
          <p:nvPr/>
        </p:nvSpPr>
        <p:spPr>
          <a:xfrm>
            <a:off x="609630" y="1309421"/>
            <a:ext cx="10671231" cy="476220"/>
          </a:xfrm>
          <a:prstGeom prst="rect">
            <a:avLst/>
          </a:prstGeom>
          <a:noFill/>
          <a:ln/>
        </p:spPr>
        <p:txBody>
          <a:bodyPr wrap="square" lIns="0" tIns="0" rIns="0" bIns="0" rtlCol="0" anchor="t"/>
          <a:lstStyle/>
          <a:p>
            <a:pPr algn="l" indent="0" marL="0">
              <a:lnSpc>
                <a:spcPts val="1875"/>
              </a:lnSpc>
              <a:buNone/>
            </a:pPr>
            <a:r>
              <a:rPr lang="en-US" sz="1250" dirty="0">
                <a:solidFill>
                  <a:srgbClr val="6B6B6B"/>
                </a:solidFill>
                <a:latin typeface="Inter" pitchFamily="34" charset="0"/>
                <a:ea typeface="Inter" pitchFamily="34" charset="-122"/>
                <a:cs typeface="Inter" pitchFamily="34" charset="-120"/>
              </a:rPr>
              <a:t>Harness bao quanh LLM để nó thành agent: agent loop gọi tool, session và context, chỉ dẫn và skill, MCP client, permission, hook, sandbox,</a:t>
            </a:r>
            <a:endParaRPr lang="en-US" sz="1250" dirty="0"/>
          </a:p>
          <a:p>
            <a:pPr algn="l" indent="0" marL="0">
              <a:lnSpc>
                <a:spcPts val="1875"/>
              </a:lnSpc>
              <a:buNone/>
            </a:pPr>
            <a:r>
              <a:rPr lang="en-US" sz="1250" dirty="0">
                <a:solidFill>
                  <a:srgbClr val="6B6B6B"/>
                </a:solidFill>
                <a:latin typeface="Inter" pitchFamily="34" charset="0"/>
                <a:ea typeface="Inter" pitchFamily="34" charset="-122"/>
                <a:cs typeface="Inter" pitchFamily="34" charset="-120"/>
              </a:rPr>
              <a:t>transcript. LLM chỉ sinh văn bản; harness biến văn bản đó thành hành động.</a:t>
            </a:r>
            <a:endParaRPr lang="en-US" sz="1250" dirty="0"/>
          </a:p>
        </p:txBody>
      </p:sp>
      <p:sp>
        <p:nvSpPr>
          <p:cNvPr id="7" name="S_221"/>
          <p:cNvSpPr/>
          <p:nvPr/>
        </p:nvSpPr>
        <p:spPr>
          <a:xfrm>
            <a:off x="612008" y="2406518"/>
            <a:ext cx="6441674" cy="3276478"/>
          </a:xfrm>
          <a:prstGeom prst="roundRect">
            <a:avLst>
              <a:gd name="adj" fmla="val 2713"/>
            </a:avLst>
          </a:prstGeom>
          <a:solidFill>
            <a:srgbClr val="F4F2E8"/>
          </a:solidFill>
          <a:ln w="9525">
            <a:solidFill>
              <a:srgbClr val="C9CAEB"/>
            </a:solidFill>
            <a:prstDash val="solid"/>
          </a:ln>
        </p:spPr>
      </p:sp>
      <p:sp>
        <p:nvSpPr>
          <p:cNvPr id="8" name="A_2_0_fade_222"/>
          <p:cNvSpPr/>
          <p:nvPr/>
        </p:nvSpPr>
        <p:spPr>
          <a:xfrm>
            <a:off x="615940" y="2410541"/>
            <a:ext cx="6433718" cy="364388"/>
          </a:xfrm>
          <a:prstGeom prst="roundRect">
            <a:avLst>
              <a:gd name="adj" fmla="val 21782"/>
            </a:avLst>
          </a:prstGeom>
          <a:solidFill>
            <a:srgbClr val="E3E2E9"/>
          </a:solidFill>
          <a:ln/>
        </p:spPr>
      </p:sp>
      <p:sp>
        <p:nvSpPr>
          <p:cNvPr id="9" name="A_2_0_fade_223"/>
          <p:cNvSpPr/>
          <p:nvPr/>
        </p:nvSpPr>
        <p:spPr>
          <a:xfrm>
            <a:off x="615940" y="2592690"/>
            <a:ext cx="6433718" cy="182240"/>
          </a:xfrm>
          <a:prstGeom prst="rect">
            <a:avLst/>
          </a:prstGeom>
          <a:solidFill>
            <a:srgbClr val="E3E2E9"/>
          </a:solidFill>
          <a:ln/>
        </p:spPr>
      </p:sp>
      <p:sp>
        <p:nvSpPr>
          <p:cNvPr id="10" name="A_2_0_fade_224"/>
          <p:cNvSpPr txBox="1"/>
          <p:nvPr/>
        </p:nvSpPr>
        <p:spPr>
          <a:xfrm>
            <a:off x="781080" y="2517160"/>
            <a:ext cx="405536"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PHẦN</a:t>
            </a:r>
            <a:endParaRPr lang="en-US" sz="900" dirty="0"/>
          </a:p>
        </p:txBody>
      </p:sp>
      <p:sp>
        <p:nvSpPr>
          <p:cNvPr id="11" name="A_2_0_fade_225"/>
          <p:cNvSpPr txBox="1"/>
          <p:nvPr/>
        </p:nvSpPr>
        <p:spPr>
          <a:xfrm>
            <a:off x="2114550" y="2517160"/>
            <a:ext cx="389352"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LÀ GÌ</a:t>
            </a:r>
            <a:endParaRPr lang="en-US" sz="900" dirty="0"/>
          </a:p>
        </p:txBody>
      </p:sp>
      <p:sp>
        <p:nvSpPr>
          <p:cNvPr id="12" name="A_2_0_fade_226"/>
          <p:cNvSpPr txBox="1"/>
          <p:nvPr/>
        </p:nvSpPr>
        <p:spPr>
          <a:xfrm>
            <a:off x="5627309" y="2517160"/>
            <a:ext cx="403616"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AI CÓ</a:t>
            </a:r>
            <a:endParaRPr lang="en-US" sz="900" dirty="0"/>
          </a:p>
        </p:txBody>
      </p:sp>
      <p:sp>
        <p:nvSpPr>
          <p:cNvPr id="13" name="A_3_0_fade_227"/>
          <p:cNvSpPr/>
          <p:nvPr/>
        </p:nvSpPr>
        <p:spPr>
          <a:xfrm>
            <a:off x="615940" y="2774930"/>
            <a:ext cx="6433718" cy="6309"/>
          </a:xfrm>
          <a:prstGeom prst="rect">
            <a:avLst/>
          </a:prstGeom>
          <a:solidFill>
            <a:srgbClr val="C9CAEB"/>
          </a:solidFill>
          <a:ln/>
        </p:spPr>
      </p:sp>
      <p:sp>
        <p:nvSpPr>
          <p:cNvPr id="14" name="A_3_0_fade_228"/>
          <p:cNvSpPr txBox="1"/>
          <p:nvPr/>
        </p:nvSpPr>
        <p:spPr>
          <a:xfrm>
            <a:off x="781080" y="2873411"/>
            <a:ext cx="387980"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LLM</a:t>
            </a:r>
            <a:endParaRPr lang="en-US" sz="1250" dirty="0"/>
          </a:p>
        </p:txBody>
      </p:sp>
      <p:sp>
        <p:nvSpPr>
          <p:cNvPr id="15" name="A_3_0_fade_229"/>
          <p:cNvSpPr txBox="1"/>
          <p:nvPr/>
        </p:nvSpPr>
        <p:spPr>
          <a:xfrm>
            <a:off x="2114550" y="2874599"/>
            <a:ext cx="3215762"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Model sinh câu trả lời và quyết định gọi tool</a:t>
            </a:r>
            <a:endParaRPr lang="en-US" sz="1200" dirty="0"/>
          </a:p>
        </p:txBody>
      </p:sp>
      <p:sp>
        <p:nvSpPr>
          <p:cNvPr id="16" name="A_3_0_fade_230"/>
          <p:cNvSpPr txBox="1"/>
          <p:nvPr/>
        </p:nvSpPr>
        <p:spPr>
          <a:xfrm>
            <a:off x="5627309" y="2874599"/>
            <a:ext cx="569488"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Vendor</a:t>
            </a:r>
            <a:endParaRPr lang="en-US" sz="1200" dirty="0"/>
          </a:p>
        </p:txBody>
      </p:sp>
      <p:sp>
        <p:nvSpPr>
          <p:cNvPr id="17" name="A_4_0_fade_231"/>
          <p:cNvSpPr/>
          <p:nvPr/>
        </p:nvSpPr>
        <p:spPr>
          <a:xfrm>
            <a:off x="615940" y="3185130"/>
            <a:ext cx="6433718" cy="6309"/>
          </a:xfrm>
          <a:prstGeom prst="rect">
            <a:avLst/>
          </a:prstGeom>
          <a:solidFill>
            <a:srgbClr val="C9CAEB"/>
          </a:solidFill>
          <a:ln/>
        </p:spPr>
      </p:sp>
      <p:sp>
        <p:nvSpPr>
          <p:cNvPr id="18" name="A_4_0_fade_232"/>
          <p:cNvSpPr txBox="1"/>
          <p:nvPr/>
        </p:nvSpPr>
        <p:spPr>
          <a:xfrm>
            <a:off x="781080" y="3283519"/>
            <a:ext cx="690555"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Harness</a:t>
            </a:r>
            <a:endParaRPr lang="en-US" sz="1250" dirty="0"/>
          </a:p>
        </p:txBody>
      </p:sp>
      <p:sp>
        <p:nvSpPr>
          <p:cNvPr id="19" name="A_4_0_fade_233"/>
          <p:cNvSpPr txBox="1"/>
          <p:nvPr/>
        </p:nvSpPr>
        <p:spPr>
          <a:xfrm>
            <a:off x="2114550" y="3284799"/>
            <a:ext cx="2750424" cy="42675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Agent loop, tool, session, permission,</a:t>
            </a:r>
            <a:endParaRPr lang="en-US" sz="1200" dirty="0"/>
          </a:p>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transcript</a:t>
            </a:r>
            <a:endParaRPr lang="en-US" sz="1200" dirty="0"/>
          </a:p>
        </p:txBody>
      </p:sp>
      <p:sp>
        <p:nvSpPr>
          <p:cNvPr id="20" name="A_4_0_fade_234"/>
          <p:cNvSpPr txBox="1"/>
          <p:nvPr/>
        </p:nvSpPr>
        <p:spPr>
          <a:xfrm>
            <a:off x="5627309" y="3284799"/>
            <a:ext cx="985906" cy="42675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Vendor, open</a:t>
            </a:r>
            <a:endParaRPr lang="en-US" sz="1200" dirty="0"/>
          </a:p>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source</a:t>
            </a:r>
            <a:endParaRPr lang="en-US" sz="1200" dirty="0"/>
          </a:p>
        </p:txBody>
      </p:sp>
      <p:sp>
        <p:nvSpPr>
          <p:cNvPr id="21" name="A_5_0_fade_235"/>
          <p:cNvSpPr/>
          <p:nvPr/>
        </p:nvSpPr>
        <p:spPr>
          <a:xfrm>
            <a:off x="615940" y="3808567"/>
            <a:ext cx="6433718" cy="6309"/>
          </a:xfrm>
          <a:prstGeom prst="rect">
            <a:avLst/>
          </a:prstGeom>
          <a:solidFill>
            <a:srgbClr val="C9CAEB"/>
          </a:solidFill>
          <a:ln/>
        </p:spPr>
      </p:sp>
      <p:sp>
        <p:nvSpPr>
          <p:cNvPr id="22" name="A_5_0_fade_236"/>
          <p:cNvSpPr txBox="1"/>
          <p:nvPr/>
        </p:nvSpPr>
        <p:spPr>
          <a:xfrm>
            <a:off x="781080" y="3907048"/>
            <a:ext cx="288950"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Kit</a:t>
            </a:r>
            <a:endParaRPr lang="en-US" sz="1250" dirty="0"/>
          </a:p>
        </p:txBody>
      </p:sp>
      <p:sp>
        <p:nvSpPr>
          <p:cNvPr id="23" name="A_5_0_fade_237"/>
          <p:cNvSpPr txBox="1"/>
          <p:nvPr/>
        </p:nvSpPr>
        <p:spPr>
          <a:xfrm>
            <a:off x="2114550" y="3908328"/>
            <a:ext cx="3390778" cy="42675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Skill, workflow, template, checklist, connector,</a:t>
            </a:r>
            <a:endParaRPr lang="en-US" sz="1200" dirty="0"/>
          </a:p>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guardrail của tổ chức</a:t>
            </a:r>
            <a:endParaRPr lang="en-US" sz="1200" dirty="0"/>
          </a:p>
        </p:txBody>
      </p:sp>
      <p:sp>
        <p:nvSpPr>
          <p:cNvPr id="24" name="A_5_0_fade_238"/>
          <p:cNvSpPr txBox="1"/>
          <p:nvPr/>
        </p:nvSpPr>
        <p:spPr>
          <a:xfrm>
            <a:off x="5627309" y="3908328"/>
            <a:ext cx="887059" cy="213330"/>
          </a:xfrm>
          <a:prstGeom prst="rect">
            <a:avLst/>
          </a:prstGeom>
          <a:noFill/>
          <a:ln/>
        </p:spPr>
        <p:txBody>
          <a:bodyPr wrap="square" lIns="0" tIns="0" rIns="0" bIns="0" rtlCol="0" anchor="t"/>
          <a:lstStyle/>
          <a:p>
            <a:pPr algn="l" indent="0" marL="0">
              <a:lnSpc>
                <a:spcPts val="1680"/>
              </a:lnSpc>
              <a:buNone/>
            </a:pPr>
            <a:r>
              <a:rPr lang="en-US" sz="1200" b="1" dirty="0">
                <a:solidFill>
                  <a:srgbClr val="1E2BFA"/>
                </a:solidFill>
                <a:latin typeface="Inter" pitchFamily="34" charset="0"/>
                <a:ea typeface="Inter" pitchFamily="34" charset="-122"/>
                <a:cs typeface="Inter" pitchFamily="34" charset="-120"/>
              </a:rPr>
              <a:t>Chỉ tổ chức</a:t>
            </a:r>
            <a:endParaRPr lang="en-US" sz="1200" dirty="0"/>
          </a:p>
        </p:txBody>
      </p:sp>
      <p:sp>
        <p:nvSpPr>
          <p:cNvPr id="25" name="A_6_0_fade_239"/>
          <p:cNvSpPr/>
          <p:nvPr/>
        </p:nvSpPr>
        <p:spPr>
          <a:xfrm>
            <a:off x="615940" y="4432097"/>
            <a:ext cx="6433718" cy="6309"/>
          </a:xfrm>
          <a:prstGeom prst="rect">
            <a:avLst/>
          </a:prstGeom>
          <a:solidFill>
            <a:srgbClr val="C9CAEB"/>
          </a:solidFill>
          <a:ln/>
        </p:spPr>
      </p:sp>
      <p:sp>
        <p:nvSpPr>
          <p:cNvPr id="26" name="A_6_0_fade_240"/>
          <p:cNvSpPr txBox="1"/>
          <p:nvPr/>
        </p:nvSpPr>
        <p:spPr>
          <a:xfrm>
            <a:off x="781080" y="4530486"/>
            <a:ext cx="995782"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Data source</a:t>
            </a:r>
            <a:endParaRPr lang="en-US" sz="1250" dirty="0"/>
          </a:p>
        </p:txBody>
      </p:sp>
      <p:sp>
        <p:nvSpPr>
          <p:cNvPr id="27" name="A_6_0_fade_241"/>
          <p:cNvSpPr txBox="1"/>
          <p:nvPr/>
        </p:nvSpPr>
        <p:spPr>
          <a:xfrm>
            <a:off x="2114550" y="4531766"/>
            <a:ext cx="3335548" cy="42675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Tài liệu, code, dữ liệu dự án đã chuẩn hoá, có</a:t>
            </a:r>
            <a:endParaRPr lang="en-US" sz="1200" dirty="0"/>
          </a:p>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phân quyền</a:t>
            </a:r>
            <a:endParaRPr lang="en-US" sz="1200" dirty="0"/>
          </a:p>
        </p:txBody>
      </p:sp>
      <p:sp>
        <p:nvSpPr>
          <p:cNvPr id="28" name="A_6_0_fade_242"/>
          <p:cNvSpPr txBox="1"/>
          <p:nvPr/>
        </p:nvSpPr>
        <p:spPr>
          <a:xfrm>
            <a:off x="5627309" y="4531766"/>
            <a:ext cx="887059" cy="213330"/>
          </a:xfrm>
          <a:prstGeom prst="rect">
            <a:avLst/>
          </a:prstGeom>
          <a:noFill/>
          <a:ln/>
        </p:spPr>
        <p:txBody>
          <a:bodyPr wrap="square" lIns="0" tIns="0" rIns="0" bIns="0" rtlCol="0" anchor="t"/>
          <a:lstStyle/>
          <a:p>
            <a:pPr algn="l" indent="0" marL="0">
              <a:lnSpc>
                <a:spcPts val="1680"/>
              </a:lnSpc>
              <a:buNone/>
            </a:pPr>
            <a:r>
              <a:rPr lang="en-US" sz="1200" b="1" dirty="0">
                <a:solidFill>
                  <a:srgbClr val="1E2BFA"/>
                </a:solidFill>
                <a:latin typeface="Inter" pitchFamily="34" charset="0"/>
                <a:ea typeface="Inter" pitchFamily="34" charset="-122"/>
                <a:cs typeface="Inter" pitchFamily="34" charset="-120"/>
              </a:rPr>
              <a:t>Chỉ tổ chức</a:t>
            </a:r>
            <a:endParaRPr lang="en-US" sz="1200" dirty="0"/>
          </a:p>
        </p:txBody>
      </p:sp>
      <p:sp>
        <p:nvSpPr>
          <p:cNvPr id="29" name="A_7_0_fade_243"/>
          <p:cNvSpPr/>
          <p:nvPr/>
        </p:nvSpPr>
        <p:spPr>
          <a:xfrm>
            <a:off x="615940" y="5055626"/>
            <a:ext cx="6433718" cy="6309"/>
          </a:xfrm>
          <a:prstGeom prst="rect">
            <a:avLst/>
          </a:prstGeom>
          <a:solidFill>
            <a:srgbClr val="C9CAEB"/>
          </a:solidFill>
          <a:ln/>
        </p:spPr>
      </p:sp>
      <p:sp>
        <p:nvSpPr>
          <p:cNvPr id="30" name="A_7_0_fade_244"/>
          <p:cNvSpPr txBox="1"/>
          <p:nvPr/>
        </p:nvSpPr>
        <p:spPr>
          <a:xfrm>
            <a:off x="781080" y="5154016"/>
            <a:ext cx="1170249"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Infrastructure</a:t>
            </a:r>
            <a:endParaRPr lang="en-US" sz="1250" dirty="0"/>
          </a:p>
        </p:txBody>
      </p:sp>
      <p:sp>
        <p:nvSpPr>
          <p:cNvPr id="31" name="A_7_0_fade_245"/>
          <p:cNvSpPr txBox="1"/>
          <p:nvPr/>
        </p:nvSpPr>
        <p:spPr>
          <a:xfrm>
            <a:off x="2114550" y="5155296"/>
            <a:ext cx="2022287"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Nơi chạy, LLM gateway, log</a:t>
            </a:r>
            <a:endParaRPr lang="en-US" sz="1200" dirty="0"/>
          </a:p>
        </p:txBody>
      </p:sp>
      <p:sp>
        <p:nvSpPr>
          <p:cNvPr id="32" name="A_7_0_fade_246"/>
          <p:cNvSpPr txBox="1"/>
          <p:nvPr/>
        </p:nvSpPr>
        <p:spPr>
          <a:xfrm>
            <a:off x="5627309" y="5155296"/>
            <a:ext cx="1203442" cy="42675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Cloud có sẵn, tổ</a:t>
            </a:r>
            <a:endParaRPr lang="en-US" sz="1200" dirty="0"/>
          </a:p>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chức cấu hình</a:t>
            </a:r>
            <a:endParaRPr lang="en-US" sz="1200" dirty="0"/>
          </a:p>
        </p:txBody>
      </p:sp>
      <p:sp>
        <p:nvSpPr>
          <p:cNvPr id="33" name="A_8_1_fade_247"/>
          <p:cNvSpPr/>
          <p:nvPr/>
        </p:nvSpPr>
        <p:spPr>
          <a:xfrm>
            <a:off x="7287036" y="2406518"/>
            <a:ext cx="4292925" cy="3276478"/>
          </a:xfrm>
          <a:prstGeom prst="roundRect">
            <a:avLst>
              <a:gd name="adj" fmla="val 2713"/>
            </a:avLst>
          </a:prstGeom>
          <a:solidFill>
            <a:srgbClr val="F4F2E8"/>
          </a:solidFill>
          <a:ln w="9525">
            <a:solidFill>
              <a:srgbClr val="C9CAEB"/>
            </a:solidFill>
            <a:prstDash val="solid"/>
          </a:ln>
        </p:spPr>
      </p:sp>
      <p:sp>
        <p:nvSpPr>
          <p:cNvPr id="34" name="A_8_1_fade_248"/>
          <p:cNvSpPr txBox="1"/>
          <p:nvPr/>
        </p:nvSpPr>
        <p:spPr>
          <a:xfrm>
            <a:off x="7506858" y="3075127"/>
            <a:ext cx="1587124"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CÁCH SO SÁNH DỄ NHỚ</a:t>
            </a:r>
            <a:endParaRPr lang="en-US" sz="950" dirty="0"/>
          </a:p>
        </p:txBody>
      </p:sp>
      <p:sp>
        <p:nvSpPr>
          <p:cNvPr id="35" name="A_8_1_fade_249"/>
          <p:cNvSpPr txBox="1"/>
          <p:nvPr/>
        </p:nvSpPr>
        <p:spPr>
          <a:xfrm>
            <a:off x="7506858" y="3348441"/>
            <a:ext cx="419984"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LLM</a:t>
            </a:r>
            <a:endParaRPr lang="en-US" sz="1400" dirty="0"/>
          </a:p>
        </p:txBody>
      </p:sp>
      <p:sp>
        <p:nvSpPr>
          <p:cNvPr id="36" name="A_8_1_fade_250"/>
          <p:cNvSpPr txBox="1"/>
          <p:nvPr/>
        </p:nvSpPr>
        <p:spPr>
          <a:xfrm>
            <a:off x="8261421" y="3363712"/>
            <a:ext cx="183063" cy="198150"/>
          </a:xfrm>
          <a:prstGeom prst="rect">
            <a:avLst/>
          </a:prstGeom>
          <a:noFill/>
          <a:ln/>
        </p:spPr>
        <p:txBody>
          <a:bodyPr wrap="square" lIns="0" tIns="0" rIns="0" bIns="0" rtlCol="0" anchor="t"/>
          <a:lstStyle/>
          <a:p>
            <a:pPr algn="ctr" indent="0" marL="0">
              <a:lnSpc>
                <a:spcPts val="1560"/>
              </a:lnSpc>
              <a:buNone/>
            </a:pPr>
            <a:r>
              <a:rPr lang="en-US" sz="1300" dirty="0">
                <a:solidFill>
                  <a:srgbClr val="1E2BFA"/>
                </a:solidFill>
                <a:latin typeface="Inter" pitchFamily="34" charset="0"/>
                <a:ea typeface="Inter" pitchFamily="34" charset="-122"/>
                <a:cs typeface="Inter" pitchFamily="34" charset="-120"/>
              </a:rPr>
              <a:t>≈</a:t>
            </a:r>
            <a:endParaRPr lang="en-US" sz="1300" dirty="0"/>
          </a:p>
        </p:txBody>
      </p:sp>
      <p:sp>
        <p:nvSpPr>
          <p:cNvPr id="37" name="A_8_1_fade_251"/>
          <p:cNvSpPr txBox="1"/>
          <p:nvPr/>
        </p:nvSpPr>
        <p:spPr>
          <a:xfrm>
            <a:off x="8492764" y="3346887"/>
            <a:ext cx="404348" cy="238110"/>
          </a:xfrm>
          <a:prstGeom prst="rect">
            <a:avLst/>
          </a:prstGeom>
          <a:noFill/>
          <a:ln/>
        </p:spPr>
        <p:txBody>
          <a:bodyPr wrap="square" lIns="0" tIns="0" rIns="0" bIns="0" rtlCol="0" anchor="t"/>
          <a:lstStyle/>
          <a:p>
            <a:pPr algn="l" indent="0" marL="0">
              <a:lnSpc>
                <a:spcPts val="1875"/>
              </a:lnSpc>
              <a:buNone/>
            </a:pPr>
            <a:r>
              <a:rPr lang="en-US" sz="1250" dirty="0">
                <a:solidFill>
                  <a:srgbClr val="111111"/>
                </a:solidFill>
                <a:latin typeface="Inter" pitchFamily="34" charset="0"/>
                <a:ea typeface="Inter" pitchFamily="34" charset="-122"/>
                <a:cs typeface="Inter" pitchFamily="34" charset="-120"/>
              </a:rPr>
              <a:t>CPU</a:t>
            </a:r>
            <a:endParaRPr lang="en-US" sz="1250" dirty="0"/>
          </a:p>
        </p:txBody>
      </p:sp>
      <p:sp>
        <p:nvSpPr>
          <p:cNvPr id="38" name="A_8_1_fade_252"/>
          <p:cNvSpPr txBox="1"/>
          <p:nvPr/>
        </p:nvSpPr>
        <p:spPr>
          <a:xfrm>
            <a:off x="7506858" y="3675431"/>
            <a:ext cx="751911"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Harness</a:t>
            </a:r>
            <a:endParaRPr lang="en-US" sz="1400" dirty="0"/>
          </a:p>
        </p:txBody>
      </p:sp>
      <p:sp>
        <p:nvSpPr>
          <p:cNvPr id="39" name="A_8_1_fade_253"/>
          <p:cNvSpPr txBox="1"/>
          <p:nvPr/>
        </p:nvSpPr>
        <p:spPr>
          <a:xfrm>
            <a:off x="8261421" y="3690701"/>
            <a:ext cx="183063" cy="198150"/>
          </a:xfrm>
          <a:prstGeom prst="rect">
            <a:avLst/>
          </a:prstGeom>
          <a:noFill/>
          <a:ln/>
        </p:spPr>
        <p:txBody>
          <a:bodyPr wrap="square" lIns="0" tIns="0" rIns="0" bIns="0" rtlCol="0" anchor="t"/>
          <a:lstStyle/>
          <a:p>
            <a:pPr algn="ctr" indent="0" marL="0">
              <a:lnSpc>
                <a:spcPts val="1560"/>
              </a:lnSpc>
              <a:buNone/>
            </a:pPr>
            <a:r>
              <a:rPr lang="en-US" sz="1300" dirty="0">
                <a:solidFill>
                  <a:srgbClr val="1E2BFA"/>
                </a:solidFill>
                <a:latin typeface="Inter" pitchFamily="34" charset="0"/>
                <a:ea typeface="Inter" pitchFamily="34" charset="-122"/>
                <a:cs typeface="Inter" pitchFamily="34" charset="-120"/>
              </a:rPr>
              <a:t>≈</a:t>
            </a:r>
            <a:endParaRPr lang="en-US" sz="1300" dirty="0"/>
          </a:p>
        </p:txBody>
      </p:sp>
      <p:sp>
        <p:nvSpPr>
          <p:cNvPr id="40" name="A_8_1_fade_254"/>
          <p:cNvSpPr txBox="1"/>
          <p:nvPr/>
        </p:nvSpPr>
        <p:spPr>
          <a:xfrm>
            <a:off x="8492764" y="3673876"/>
            <a:ext cx="1001085" cy="238110"/>
          </a:xfrm>
          <a:prstGeom prst="rect">
            <a:avLst/>
          </a:prstGeom>
          <a:noFill/>
          <a:ln/>
        </p:spPr>
        <p:txBody>
          <a:bodyPr wrap="square" lIns="0" tIns="0" rIns="0" bIns="0" rtlCol="0" anchor="t"/>
          <a:lstStyle/>
          <a:p>
            <a:pPr algn="l" indent="0" marL="0">
              <a:lnSpc>
                <a:spcPts val="1875"/>
              </a:lnSpc>
              <a:buNone/>
            </a:pPr>
            <a:r>
              <a:rPr lang="en-US" sz="1250" dirty="0">
                <a:solidFill>
                  <a:srgbClr val="111111"/>
                </a:solidFill>
                <a:latin typeface="Inter" pitchFamily="34" charset="0"/>
                <a:ea typeface="Inter" pitchFamily="34" charset="-122"/>
                <a:cs typeface="Inter" pitchFamily="34" charset="-120"/>
              </a:rPr>
              <a:t>hệ điều hành</a:t>
            </a:r>
            <a:endParaRPr lang="en-US" sz="1250" dirty="0"/>
          </a:p>
        </p:txBody>
      </p:sp>
      <p:sp>
        <p:nvSpPr>
          <p:cNvPr id="41" name="A_8_1_fade_255"/>
          <p:cNvSpPr txBox="1"/>
          <p:nvPr/>
        </p:nvSpPr>
        <p:spPr>
          <a:xfrm>
            <a:off x="7506858" y="4002512"/>
            <a:ext cx="782635"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Kit, data</a:t>
            </a:r>
            <a:endParaRPr lang="en-US" sz="1400" dirty="0"/>
          </a:p>
        </p:txBody>
      </p:sp>
      <p:sp>
        <p:nvSpPr>
          <p:cNvPr id="42" name="A_8_1_fade_256"/>
          <p:cNvSpPr txBox="1"/>
          <p:nvPr/>
        </p:nvSpPr>
        <p:spPr>
          <a:xfrm>
            <a:off x="8261421" y="4017691"/>
            <a:ext cx="183063" cy="198150"/>
          </a:xfrm>
          <a:prstGeom prst="rect">
            <a:avLst/>
          </a:prstGeom>
          <a:noFill/>
          <a:ln/>
        </p:spPr>
        <p:txBody>
          <a:bodyPr wrap="square" lIns="0" tIns="0" rIns="0" bIns="0" rtlCol="0" anchor="t"/>
          <a:lstStyle/>
          <a:p>
            <a:pPr algn="ctr" indent="0" marL="0">
              <a:lnSpc>
                <a:spcPts val="1560"/>
              </a:lnSpc>
              <a:buNone/>
            </a:pPr>
            <a:r>
              <a:rPr lang="en-US" sz="1300" dirty="0">
                <a:solidFill>
                  <a:srgbClr val="1E2BFA"/>
                </a:solidFill>
                <a:latin typeface="Inter" pitchFamily="34" charset="0"/>
                <a:ea typeface="Inter" pitchFamily="34" charset="-122"/>
                <a:cs typeface="Inter" pitchFamily="34" charset="-120"/>
              </a:rPr>
              <a:t>≈</a:t>
            </a:r>
            <a:endParaRPr lang="en-US" sz="1300" dirty="0"/>
          </a:p>
        </p:txBody>
      </p:sp>
      <p:sp>
        <p:nvSpPr>
          <p:cNvPr id="43" name="A_8_1_fade_257"/>
          <p:cNvSpPr txBox="1"/>
          <p:nvPr/>
        </p:nvSpPr>
        <p:spPr>
          <a:xfrm>
            <a:off x="8492764" y="4000866"/>
            <a:ext cx="2329983" cy="238110"/>
          </a:xfrm>
          <a:prstGeom prst="rect">
            <a:avLst/>
          </a:prstGeom>
          <a:noFill/>
          <a:ln/>
        </p:spPr>
        <p:txBody>
          <a:bodyPr wrap="square" lIns="0" tIns="0" rIns="0" bIns="0" rtlCol="0" anchor="t"/>
          <a:lstStyle/>
          <a:p>
            <a:pPr algn="l" indent="0" marL="0">
              <a:lnSpc>
                <a:spcPts val="1875"/>
              </a:lnSpc>
              <a:buNone/>
            </a:pPr>
            <a:r>
              <a:rPr lang="en-US" sz="1250" dirty="0">
                <a:solidFill>
                  <a:srgbClr val="111111"/>
                </a:solidFill>
                <a:latin typeface="Inter" pitchFamily="34" charset="0"/>
                <a:ea typeface="Inter" pitchFamily="34" charset="-122"/>
                <a:cs typeface="Inter" pitchFamily="34" charset="-120"/>
              </a:rPr>
              <a:t>ứng dụng và dữ liệu nghiệp vụ</a:t>
            </a:r>
            <a:endParaRPr lang="en-US" sz="1250" dirty="0"/>
          </a:p>
        </p:txBody>
      </p:sp>
      <p:sp>
        <p:nvSpPr>
          <p:cNvPr id="44" name="A_8_1_fade_258"/>
          <p:cNvSpPr/>
          <p:nvPr/>
        </p:nvSpPr>
        <p:spPr>
          <a:xfrm>
            <a:off x="7506858" y="4396161"/>
            <a:ext cx="3853190" cy="9510"/>
          </a:xfrm>
          <a:prstGeom prst="rect">
            <a:avLst/>
          </a:prstGeom>
          <a:solidFill>
            <a:srgbClr val="C9CAEB"/>
          </a:solidFill>
          <a:ln/>
        </p:spPr>
      </p:sp>
      <p:sp>
        <p:nvSpPr>
          <p:cNvPr id="45" name="A_8_1_fade_259"/>
          <p:cNvSpPr txBox="1"/>
          <p:nvPr/>
        </p:nvSpPr>
        <p:spPr>
          <a:xfrm>
            <a:off x="7506858" y="4527926"/>
            <a:ext cx="4015679" cy="476220"/>
          </a:xfrm>
          <a:prstGeom prst="rect">
            <a:avLst/>
          </a:prstGeom>
          <a:noFill/>
          <a:ln/>
        </p:spPr>
        <p:txBody>
          <a:bodyPr wrap="square" lIns="0" tIns="0" rIns="0" bIns="0" rtlCol="0" anchor="t"/>
          <a:lstStyle/>
          <a:p>
            <a:pPr algn="l" indent="0" marL="0">
              <a:lnSpc>
                <a:spcPts val="1875"/>
              </a:lnSpc>
              <a:buNone/>
            </a:pPr>
            <a:r>
              <a:rPr lang="en-US" sz="1250" dirty="0">
                <a:solidFill>
                  <a:srgbClr val="6B6B6B"/>
                </a:solidFill>
                <a:latin typeface="Inter" pitchFamily="34" charset="0"/>
                <a:ea typeface="Inter" pitchFamily="34" charset="-122"/>
                <a:cs typeface="Inter" pitchFamily="34" charset="-120"/>
              </a:rPr>
              <a:t>Không doanh nghiệp nào tự viết hệ điều hành chỉ để</a:t>
            </a:r>
            <a:endParaRPr lang="en-US" sz="1250" dirty="0"/>
          </a:p>
          <a:p>
            <a:pPr algn="l" indent="0" marL="0">
              <a:lnSpc>
                <a:spcPts val="1875"/>
              </a:lnSpc>
              <a:buNone/>
            </a:pPr>
            <a:r>
              <a:rPr lang="en-US" sz="1250" dirty="0">
                <a:solidFill>
                  <a:srgbClr val="6B6B6B"/>
                </a:solidFill>
                <a:latin typeface="Inter" pitchFamily="34" charset="0"/>
                <a:ea typeface="Inter" pitchFamily="34" charset="-122"/>
                <a:cs typeface="Inter" pitchFamily="34" charset="-120"/>
              </a:rPr>
              <a:t>chạy phần mềm kế toán của mình.</a:t>
            </a:r>
            <a:endParaRPr lang="en-US" sz="1250" dirty="0"/>
          </a:p>
        </p:txBody>
      </p:sp>
      <p:sp>
        <p:nvSpPr>
          <p:cNvPr id="46" name="S_260"/>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47" name="S_261"/>
          <p:cNvSpPr txBox="1"/>
          <p:nvPr/>
        </p:nvSpPr>
        <p:spPr>
          <a:xfrm>
            <a:off x="11168390" y="6517660"/>
            <a:ext cx="49021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07 / 25</a:t>
            </a:r>
            <a:endParaRPr lang="en-US" sz="900" dirty="0"/>
          </a:p>
        </p:txBody>
      </p:sp>
      <p:sp>
        <p:nvSpPr>
          <p:cNvPr id="48" name="S_262"/>
          <p:cNvSpPr/>
          <p:nvPr/>
        </p:nvSpPr>
        <p:spPr>
          <a:xfrm>
            <a:off x="0" y="6838980"/>
            <a:ext cx="341373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85" fill="hold">
                      <p:stCondLst>
                        <p:cond delay="indefinite"/>
                        <p:cond evt="onBegin" delay="0">
                          <p:tn val="2"/>
                        </p:cond>
                      </p:stCondLst>
                      <p:childTnLst>
                        <p:par>
                          <p:cTn id="84"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22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22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33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33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33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44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44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44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grpId="0" nodeType="withEffect">
                                  <p:stCondLst>
                                    <p:cond delay="44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grpId="0" nodeType="withEffect">
                                  <p:stCondLst>
                                    <p:cond delay="5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grpId="0" nodeType="withEffect">
                                  <p:stCondLst>
                                    <p:cond delay="55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par>
                                <p:cTn id="54" presetID="10" presetClass="entr" presetSubtype="0" fill="hold" grpId="0" nodeType="withEffect">
                                  <p:stCondLst>
                                    <p:cond delay="55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grpId="0" nodeType="withEffect">
                                  <p:stCondLst>
                                    <p:cond delay="55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grpId="0" nodeType="withEffect">
                                  <p:stCondLst>
                                    <p:cond delay="66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grpId="0" nodeType="withEffect">
                                  <p:stCondLst>
                                    <p:cond delay="66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par>
                                <p:cTn id="66" presetID="10" presetClass="entr" presetSubtype="0" fill="hold" grpId="0" nodeType="withEffect">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par>
                                <p:cTn id="69" presetID="10" presetClass="entr" presetSubtype="0" fill="hold" grpId="0" nodeType="withEffect">
                                  <p:stCondLst>
                                    <p:cond delay="66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500"/>
                                        <p:tgtEl>
                                          <p:spTgt spid="28"/>
                                        </p:tgtEl>
                                      </p:cBhvr>
                                    </p:animEffect>
                                  </p:childTnLst>
                                </p:cTn>
                              </p:par>
                              <p:par>
                                <p:cTn id="72" presetID="10" presetClass="entr" presetSubtype="0" fill="hold" grpId="0" nodeType="withEffect">
                                  <p:stCondLst>
                                    <p:cond delay="77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00"/>
                                        <p:tgtEl>
                                          <p:spTgt spid="29"/>
                                        </p:tgtEl>
                                      </p:cBhvr>
                                    </p:animEffect>
                                  </p:childTnLst>
                                </p:cTn>
                              </p:par>
                              <p:par>
                                <p:cTn id="75" presetID="10" presetClass="entr" presetSubtype="0" fill="hold" grpId="0" nodeType="withEffect">
                                  <p:stCondLst>
                                    <p:cond delay="77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500"/>
                                        <p:tgtEl>
                                          <p:spTgt spid="30"/>
                                        </p:tgtEl>
                                      </p:cBhvr>
                                    </p:animEffect>
                                  </p:childTnLst>
                                </p:cTn>
                              </p:par>
                              <p:par>
                                <p:cTn id="78" presetID="10" presetClass="entr" presetSubtype="0" fill="hold" grpId="0" nodeType="withEffect">
                                  <p:stCondLst>
                                    <p:cond delay="77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500"/>
                                        <p:tgtEl>
                                          <p:spTgt spid="31"/>
                                        </p:tgtEl>
                                      </p:cBhvr>
                                    </p:animEffect>
                                  </p:childTnLst>
                                </p:cTn>
                              </p:par>
                              <p:par>
                                <p:cTn id="81" presetID="10" presetClass="entr" presetSubtype="0" fill="hold" grpId="0" nodeType="withEffect">
                                  <p:stCondLst>
                                    <p:cond delay="77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500"/>
                                        <p:tgtEl>
                                          <p:spTgt spid="32"/>
                                        </p:tgtEl>
                                      </p:cBhvr>
                                    </p:animEffect>
                                  </p:childTnLst>
                                </p:cTn>
                              </p:par>
                            </p:childTnLst>
                          </p:cTn>
                        </p:par>
                      </p:childTnLst>
                    </p:cTn>
                  </p:par>
                  <p:par>
                    <p:cTn id="126" fill="hold">
                      <p:stCondLst>
                        <p:cond delay="indefinite"/>
                      </p:stCondLst>
                      <p:childTnLst>
                        <p:par>
                          <p:cTn id="12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500"/>
                                        <p:tgtEl>
                                          <p:spTgt spid="33"/>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500"/>
                                        <p:tgtEl>
                                          <p:spTgt spid="3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fade">
                                      <p:cBhvr>
                                        <p:cTn id="97" dur="500"/>
                                        <p:tgtEl>
                                          <p:spTgt spid="3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500"/>
                                        <p:tgtEl>
                                          <p:spTgt spid="37"/>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5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0"/>
                                        </p:tgtEl>
                                        <p:attrNameLst>
                                          <p:attrName>style.visibility</p:attrName>
                                        </p:attrNameLst>
                                      </p:cBhvr>
                                      <p:to>
                                        <p:strVal val="visible"/>
                                      </p:to>
                                    </p:set>
                                    <p:animEffect transition="in" filter="fade">
                                      <p:cBhvr>
                                        <p:cTn id="109" dur="500"/>
                                        <p:tgtEl>
                                          <p:spTgt spid="40"/>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fade">
                                      <p:cBhvr>
                                        <p:cTn id="112" dur="500"/>
                                        <p:tgtEl>
                                          <p:spTgt spid="41"/>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5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500"/>
                                        <p:tgtEl>
                                          <p:spTgt spid="4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5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AE7"/>
        </a:solidFill>
      </p:bgPr>
    </p:bg>
    <p:spTree>
      <p:nvGrpSpPr>
        <p:cNvPr id="1" name=""/>
        <p:cNvGrpSpPr/>
        <p:nvPr/>
      </p:nvGrpSpPr>
      <p:grpSpPr>
        <a:xfrm>
          <a:off x="0" y="0"/>
          <a:ext cx="0" cy="0"/>
          <a:chOff x="0" y="0"/>
          <a:chExt cx="0" cy="0"/>
        </a:xfrm>
      </p:grpSpPr>
      <p:sp>
        <p:nvSpPr>
          <p:cNvPr id="2" name="S_263"/>
          <p:cNvSpPr txBox="1"/>
          <p:nvPr/>
        </p:nvSpPr>
        <p:spPr>
          <a:xfrm>
            <a:off x="609630" y="466070"/>
            <a:ext cx="3101096"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02 · BA KHÁI NIỆM · HARNESS CÁ NHÂN</a:t>
            </a:r>
            <a:endParaRPr lang="en-US" sz="1100" dirty="0"/>
          </a:p>
        </p:txBody>
      </p:sp>
      <p:sp>
        <p:nvSpPr>
          <p:cNvPr id="3" name="S_264"/>
          <p:cNvSpPr/>
          <p:nvPr/>
        </p:nvSpPr>
        <p:spPr>
          <a:xfrm>
            <a:off x="8443752" y="412760"/>
            <a:ext cx="3138678" cy="292059"/>
          </a:xfrm>
          <a:prstGeom prst="roundRect">
            <a:avLst>
              <a:gd name="adj" fmla="val 50000"/>
            </a:avLst>
          </a:prstGeom>
          <a:solidFill>
            <a:srgbClr val="EBE9E9"/>
          </a:solidFill>
          <a:ln/>
        </p:spPr>
      </p:sp>
      <p:sp>
        <p:nvSpPr>
          <p:cNvPr id="4" name="S_265"/>
          <p:cNvSpPr txBox="1"/>
          <p:nvPr/>
        </p:nvSpPr>
        <p:spPr>
          <a:xfrm>
            <a:off x="8608802" y="476220"/>
            <a:ext cx="3033156"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Claude Code · Kiro · Cursor · Copilot · Codex CLI</a:t>
            </a:r>
            <a:endParaRPr lang="en-US" sz="1000" dirty="0"/>
          </a:p>
        </p:txBody>
      </p:sp>
      <p:sp>
        <p:nvSpPr>
          <p:cNvPr id="5" name="A_0_0_fade_266"/>
          <p:cNvSpPr txBox="1"/>
          <p:nvPr/>
        </p:nvSpPr>
        <p:spPr>
          <a:xfrm>
            <a:off x="609630" y="806592"/>
            <a:ext cx="11089203"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Harness cá nhân: năng lực tốt nhất, nhưng mỗi người một kiểu</a:t>
            </a:r>
            <a:endParaRPr lang="en-US" sz="2800" dirty="0"/>
          </a:p>
        </p:txBody>
      </p:sp>
      <p:sp>
        <p:nvSpPr>
          <p:cNvPr id="6" name="A_1_0_fade_267"/>
          <p:cNvSpPr txBox="1"/>
          <p:nvPr/>
        </p:nvSpPr>
        <p:spPr>
          <a:xfrm>
            <a:off x="609630" y="1309421"/>
            <a:ext cx="8424824" cy="257221"/>
          </a:xfrm>
          <a:prstGeom prst="rect">
            <a:avLst/>
          </a:prstGeom>
          <a:noFill/>
          <a:ln/>
        </p:spPr>
        <p:txBody>
          <a:bodyPr wrap="square" lIns="0" tIns="0" rIns="0" bIns="0" rtlCol="0" anchor="t"/>
          <a:lstStyle/>
          <a:p>
            <a:pPr algn="l" indent="0" marL="0">
              <a:lnSpc>
                <a:spcPts val="2025"/>
              </a:lnSpc>
              <a:buNone/>
            </a:pPr>
            <a:r>
              <a:rPr lang="en-US" sz="1350" dirty="0">
                <a:solidFill>
                  <a:srgbClr val="6B6B6B"/>
                </a:solidFill>
                <a:latin typeface="Inter" pitchFamily="34" charset="0"/>
                <a:ea typeface="Inter" pitchFamily="34" charset="-122"/>
                <a:cs typeface="Inter" pitchFamily="34" charset="-120"/>
              </a:rPr>
              <a:t>Mỗi người chạy harness trên máy mình, trong IDE hoặc terminal: ra lệnh, xem kết quả, sửa rồi chạy tiếp.</a:t>
            </a:r>
            <a:endParaRPr lang="en-US" sz="1350" dirty="0"/>
          </a:p>
        </p:txBody>
      </p:sp>
      <p:sp>
        <p:nvSpPr>
          <p:cNvPr id="7" name="A_2_0_fade_268"/>
          <p:cNvSpPr/>
          <p:nvPr/>
        </p:nvSpPr>
        <p:spPr>
          <a:xfrm>
            <a:off x="612008" y="2331263"/>
            <a:ext cx="5123566" cy="2141159"/>
          </a:xfrm>
          <a:prstGeom prst="roundRect">
            <a:avLst>
              <a:gd name="adj" fmla="val 4151"/>
            </a:avLst>
          </a:prstGeom>
          <a:solidFill>
            <a:srgbClr val="F4F2E8"/>
          </a:solidFill>
          <a:ln w="9525">
            <a:solidFill>
              <a:srgbClr val="C9CAEB"/>
            </a:solidFill>
            <a:prstDash val="solid"/>
          </a:ln>
        </p:spPr>
      </p:sp>
      <p:sp>
        <p:nvSpPr>
          <p:cNvPr id="8" name="A_2_0_fade_269"/>
          <p:cNvSpPr txBox="1"/>
          <p:nvPr/>
        </p:nvSpPr>
        <p:spPr>
          <a:xfrm>
            <a:off x="857250" y="2532979"/>
            <a:ext cx="820400"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ĐIỂM MẠNH</a:t>
            </a:r>
            <a:endParaRPr lang="en-US" sz="950" dirty="0"/>
          </a:p>
        </p:txBody>
      </p:sp>
      <p:sp>
        <p:nvSpPr>
          <p:cNvPr id="9" name="A_2_0_fade_270"/>
          <p:cNvSpPr txBox="1"/>
          <p:nvPr/>
        </p:nvSpPr>
        <p:spPr>
          <a:xfrm>
            <a:off x="857250" y="2808671"/>
            <a:ext cx="213970" cy="230154"/>
          </a:xfrm>
          <a:prstGeom prst="rect">
            <a:avLst/>
          </a:prstGeom>
          <a:noFill/>
          <a:ln/>
        </p:spPr>
        <p:txBody>
          <a:bodyPr wrap="square" lIns="0" tIns="0" rIns="0" bIns="0" rtlCol="0" anchor="t"/>
          <a:lstStyle/>
          <a:p>
            <a:pPr algn="l" indent="0" marL="0">
              <a:lnSpc>
                <a:spcPts val="1813"/>
              </a:lnSpc>
              <a:buNone/>
            </a:pPr>
            <a:r>
              <a:rPr lang="en-US" sz="1250" b="1" dirty="0">
                <a:solidFill>
                  <a:srgbClr val="059669"/>
                </a:solidFill>
                <a:latin typeface="Inter" pitchFamily="34" charset="0"/>
                <a:ea typeface="Inter" pitchFamily="34" charset="-122"/>
                <a:cs typeface="Inter" pitchFamily="34" charset="-120"/>
              </a:rPr>
              <a:t>✓</a:t>
            </a:r>
            <a:endParaRPr lang="en-US" sz="1250" dirty="0"/>
          </a:p>
        </p:txBody>
      </p:sp>
      <p:sp>
        <p:nvSpPr>
          <p:cNvPr id="10" name="A_2_0_fade_271"/>
          <p:cNvSpPr txBox="1"/>
          <p:nvPr/>
        </p:nvSpPr>
        <p:spPr>
          <a:xfrm>
            <a:off x="1073140" y="2808671"/>
            <a:ext cx="2109521" cy="230154"/>
          </a:xfrm>
          <a:prstGeom prst="rect">
            <a:avLst/>
          </a:prstGeom>
          <a:noFill/>
          <a:ln/>
        </p:spPr>
        <p:txBody>
          <a:bodyPr wrap="square" lIns="0" tIns="0" rIns="0" bIns="0" rtlCol="0" anchor="t"/>
          <a:lstStyle/>
          <a:p>
            <a:pPr algn="l" indent="0" marL="0">
              <a:lnSpc>
                <a:spcPts val="1813"/>
              </a:lnSpc>
              <a:buNone/>
            </a:pPr>
            <a:r>
              <a:rPr lang="en-US" sz="1250" dirty="0">
                <a:solidFill>
                  <a:srgbClr val="6B6B6B"/>
                </a:solidFill>
                <a:latin typeface="Inter" pitchFamily="34" charset="0"/>
                <a:ea typeface="Inter" pitchFamily="34" charset="-122"/>
                <a:cs typeface="Inter" pitchFamily="34" charset="-120"/>
              </a:rPr>
              <a:t>Năng lực tốt nhất thị trường</a:t>
            </a:r>
            <a:endParaRPr lang="en-US" sz="1250" dirty="0"/>
          </a:p>
        </p:txBody>
      </p:sp>
      <p:sp>
        <p:nvSpPr>
          <p:cNvPr id="11" name="A_2_0_fade_272"/>
          <p:cNvSpPr txBox="1"/>
          <p:nvPr/>
        </p:nvSpPr>
        <p:spPr>
          <a:xfrm>
            <a:off x="857250" y="3115086"/>
            <a:ext cx="213970" cy="230154"/>
          </a:xfrm>
          <a:prstGeom prst="rect">
            <a:avLst/>
          </a:prstGeom>
          <a:noFill/>
          <a:ln/>
        </p:spPr>
        <p:txBody>
          <a:bodyPr wrap="square" lIns="0" tIns="0" rIns="0" bIns="0" rtlCol="0" anchor="t"/>
          <a:lstStyle/>
          <a:p>
            <a:pPr algn="l" indent="0" marL="0">
              <a:lnSpc>
                <a:spcPts val="1813"/>
              </a:lnSpc>
              <a:buNone/>
            </a:pPr>
            <a:r>
              <a:rPr lang="en-US" sz="1250" b="1" dirty="0">
                <a:solidFill>
                  <a:srgbClr val="059669"/>
                </a:solidFill>
                <a:latin typeface="Inter" pitchFamily="34" charset="0"/>
                <a:ea typeface="Inter" pitchFamily="34" charset="-122"/>
                <a:cs typeface="Inter" pitchFamily="34" charset="-120"/>
              </a:rPr>
              <a:t>✓</a:t>
            </a:r>
            <a:endParaRPr lang="en-US" sz="1250" dirty="0"/>
          </a:p>
        </p:txBody>
      </p:sp>
      <p:sp>
        <p:nvSpPr>
          <p:cNvPr id="12" name="A_2_0_fade_273"/>
          <p:cNvSpPr txBox="1"/>
          <p:nvPr/>
        </p:nvSpPr>
        <p:spPr>
          <a:xfrm>
            <a:off x="1073140" y="3115086"/>
            <a:ext cx="1224016" cy="230154"/>
          </a:xfrm>
          <a:prstGeom prst="rect">
            <a:avLst/>
          </a:prstGeom>
          <a:noFill/>
          <a:ln/>
        </p:spPr>
        <p:txBody>
          <a:bodyPr wrap="square" lIns="0" tIns="0" rIns="0" bIns="0" rtlCol="0" anchor="t"/>
          <a:lstStyle/>
          <a:p>
            <a:pPr algn="l" indent="0" marL="0">
              <a:lnSpc>
                <a:spcPts val="1813"/>
              </a:lnSpc>
              <a:buNone/>
            </a:pPr>
            <a:r>
              <a:rPr lang="en-US" sz="1250" dirty="0">
                <a:solidFill>
                  <a:srgbClr val="6B6B6B"/>
                </a:solidFill>
                <a:latin typeface="Inter" pitchFamily="34" charset="0"/>
                <a:ea typeface="Inter" pitchFamily="34" charset="-122"/>
                <a:cs typeface="Inter" pitchFamily="34" charset="-120"/>
              </a:rPr>
              <a:t>Cập nhật nhanh</a:t>
            </a:r>
            <a:endParaRPr lang="en-US" sz="1250" dirty="0"/>
          </a:p>
        </p:txBody>
      </p:sp>
      <p:sp>
        <p:nvSpPr>
          <p:cNvPr id="13" name="A_2_0_fade_274"/>
          <p:cNvSpPr txBox="1"/>
          <p:nvPr/>
        </p:nvSpPr>
        <p:spPr>
          <a:xfrm>
            <a:off x="857250" y="3421502"/>
            <a:ext cx="213970" cy="230154"/>
          </a:xfrm>
          <a:prstGeom prst="rect">
            <a:avLst/>
          </a:prstGeom>
          <a:noFill/>
          <a:ln/>
        </p:spPr>
        <p:txBody>
          <a:bodyPr wrap="square" lIns="0" tIns="0" rIns="0" bIns="0" rtlCol="0" anchor="t"/>
          <a:lstStyle/>
          <a:p>
            <a:pPr algn="l" indent="0" marL="0">
              <a:lnSpc>
                <a:spcPts val="1813"/>
              </a:lnSpc>
              <a:buNone/>
            </a:pPr>
            <a:r>
              <a:rPr lang="en-US" sz="1250" b="1" dirty="0">
                <a:solidFill>
                  <a:srgbClr val="059669"/>
                </a:solidFill>
                <a:latin typeface="Inter" pitchFamily="34" charset="0"/>
                <a:ea typeface="Inter" pitchFamily="34" charset="-122"/>
                <a:cs typeface="Inter" pitchFamily="34" charset="-120"/>
              </a:rPr>
              <a:t>✓</a:t>
            </a:r>
            <a:endParaRPr lang="en-US" sz="1250" dirty="0"/>
          </a:p>
        </p:txBody>
      </p:sp>
      <p:sp>
        <p:nvSpPr>
          <p:cNvPr id="14" name="A_2_0_fade_275"/>
          <p:cNvSpPr txBox="1"/>
          <p:nvPr/>
        </p:nvSpPr>
        <p:spPr>
          <a:xfrm>
            <a:off x="1073140" y="3421502"/>
            <a:ext cx="1537929" cy="230154"/>
          </a:xfrm>
          <a:prstGeom prst="rect">
            <a:avLst/>
          </a:prstGeom>
          <a:noFill/>
          <a:ln/>
        </p:spPr>
        <p:txBody>
          <a:bodyPr wrap="square" lIns="0" tIns="0" rIns="0" bIns="0" rtlCol="0" anchor="t"/>
          <a:lstStyle/>
          <a:p>
            <a:pPr algn="l" indent="0" marL="0">
              <a:lnSpc>
                <a:spcPts val="1813"/>
              </a:lnSpc>
              <a:buNone/>
            </a:pPr>
            <a:r>
              <a:rPr lang="en-US" sz="1250" dirty="0">
                <a:solidFill>
                  <a:srgbClr val="6B6B6B"/>
                </a:solidFill>
                <a:latin typeface="Inter" pitchFamily="34" charset="0"/>
                <a:ea typeface="Inter" pitchFamily="34" charset="-122"/>
                <a:cs typeface="Inter" pitchFamily="34" charset="-120"/>
              </a:rPr>
              <a:t>Kỹ sư đã quen dùng</a:t>
            </a:r>
            <a:endParaRPr lang="en-US" sz="1250" dirty="0"/>
          </a:p>
        </p:txBody>
      </p:sp>
      <p:sp>
        <p:nvSpPr>
          <p:cNvPr id="15" name="A_2_0_fade_276"/>
          <p:cNvSpPr txBox="1"/>
          <p:nvPr/>
        </p:nvSpPr>
        <p:spPr>
          <a:xfrm>
            <a:off x="857250" y="3727826"/>
            <a:ext cx="213970" cy="230154"/>
          </a:xfrm>
          <a:prstGeom prst="rect">
            <a:avLst/>
          </a:prstGeom>
          <a:noFill/>
          <a:ln/>
        </p:spPr>
        <p:txBody>
          <a:bodyPr wrap="square" lIns="0" tIns="0" rIns="0" bIns="0" rtlCol="0" anchor="t"/>
          <a:lstStyle/>
          <a:p>
            <a:pPr algn="l" indent="0" marL="0">
              <a:lnSpc>
                <a:spcPts val="1813"/>
              </a:lnSpc>
              <a:buNone/>
            </a:pPr>
            <a:r>
              <a:rPr lang="en-US" sz="1250" b="1" dirty="0">
                <a:solidFill>
                  <a:srgbClr val="059669"/>
                </a:solidFill>
                <a:latin typeface="Inter" pitchFamily="34" charset="0"/>
                <a:ea typeface="Inter" pitchFamily="34" charset="-122"/>
                <a:cs typeface="Inter" pitchFamily="34" charset="-120"/>
              </a:rPr>
              <a:t>✓</a:t>
            </a:r>
            <a:endParaRPr lang="en-US" sz="1250" dirty="0"/>
          </a:p>
        </p:txBody>
      </p:sp>
      <p:sp>
        <p:nvSpPr>
          <p:cNvPr id="16" name="A_2_0_fade_277"/>
          <p:cNvSpPr txBox="1"/>
          <p:nvPr/>
        </p:nvSpPr>
        <p:spPr>
          <a:xfrm>
            <a:off x="1073140" y="3727826"/>
            <a:ext cx="3164556" cy="230154"/>
          </a:xfrm>
          <a:prstGeom prst="rect">
            <a:avLst/>
          </a:prstGeom>
          <a:noFill/>
          <a:ln/>
        </p:spPr>
        <p:txBody>
          <a:bodyPr wrap="square" lIns="0" tIns="0" rIns="0" bIns="0" rtlCol="0" anchor="t"/>
          <a:lstStyle/>
          <a:p>
            <a:pPr algn="l" indent="0" marL="0">
              <a:lnSpc>
                <a:spcPts val="1813"/>
              </a:lnSpc>
              <a:buNone/>
            </a:pPr>
            <a:r>
              <a:rPr lang="en-US" sz="1250" dirty="0">
                <a:solidFill>
                  <a:srgbClr val="6B6B6B"/>
                </a:solidFill>
                <a:latin typeface="Inter" pitchFamily="34" charset="0"/>
                <a:ea typeface="Inter" pitchFamily="34" charset="-122"/>
                <a:cs typeface="Inter" pitchFamily="34" charset="-120"/>
              </a:rPr>
              <a:t>Agent chỉ có đúng quyền của người dùng</a:t>
            </a:r>
            <a:endParaRPr lang="en-US" sz="1250" dirty="0"/>
          </a:p>
        </p:txBody>
      </p:sp>
      <p:sp>
        <p:nvSpPr>
          <p:cNvPr id="17" name="A_3_0_fade_278"/>
          <p:cNvSpPr/>
          <p:nvPr/>
        </p:nvSpPr>
        <p:spPr>
          <a:xfrm>
            <a:off x="5943509" y="2331263"/>
            <a:ext cx="5636544" cy="2141159"/>
          </a:xfrm>
          <a:prstGeom prst="roundRect">
            <a:avLst>
              <a:gd name="adj" fmla="val 4151"/>
            </a:avLst>
          </a:prstGeom>
          <a:solidFill>
            <a:srgbClr val="F4F2E8"/>
          </a:solidFill>
          <a:ln w="9525">
            <a:solidFill>
              <a:srgbClr val="C9CAEB"/>
            </a:solidFill>
            <a:prstDash val="solid"/>
          </a:ln>
        </p:spPr>
      </p:sp>
      <p:sp>
        <p:nvSpPr>
          <p:cNvPr id="18" name="A_3_0_fade_279"/>
          <p:cNvSpPr txBox="1"/>
          <p:nvPr/>
        </p:nvSpPr>
        <p:spPr>
          <a:xfrm>
            <a:off x="6188751" y="2532979"/>
            <a:ext cx="1163208"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ĐIỂM HAY BỊ CHÊ</a:t>
            </a:r>
            <a:endParaRPr lang="en-US" sz="950" dirty="0"/>
          </a:p>
        </p:txBody>
      </p:sp>
      <p:sp>
        <p:nvSpPr>
          <p:cNvPr id="19" name="A_3_0_fade_280"/>
          <p:cNvSpPr txBox="1"/>
          <p:nvPr/>
        </p:nvSpPr>
        <p:spPr>
          <a:xfrm>
            <a:off x="6188751" y="2808671"/>
            <a:ext cx="155539" cy="230154"/>
          </a:xfrm>
          <a:prstGeom prst="rect">
            <a:avLst/>
          </a:prstGeom>
          <a:noFill/>
          <a:ln/>
        </p:spPr>
        <p:txBody>
          <a:bodyPr wrap="square" lIns="0" tIns="0" rIns="0" bIns="0" rtlCol="0" anchor="t"/>
          <a:lstStyle/>
          <a:p>
            <a:pPr algn="l" indent="0" marL="0">
              <a:lnSpc>
                <a:spcPts val="1813"/>
              </a:lnSpc>
              <a:buNone/>
            </a:pPr>
            <a:r>
              <a:rPr lang="en-US" sz="1250" b="1" dirty="0">
                <a:solidFill>
                  <a:srgbClr val="1E2BFA"/>
                </a:solidFill>
                <a:latin typeface="Inter" pitchFamily="34" charset="0"/>
                <a:ea typeface="Inter" pitchFamily="34" charset="-122"/>
                <a:cs typeface="Inter" pitchFamily="34" charset="-120"/>
              </a:rPr>
              <a:t>–</a:t>
            </a:r>
            <a:endParaRPr lang="en-US" sz="1250" dirty="0"/>
          </a:p>
        </p:txBody>
      </p:sp>
      <p:sp>
        <p:nvSpPr>
          <p:cNvPr id="20" name="A_3_0_fade_281"/>
          <p:cNvSpPr txBox="1"/>
          <p:nvPr/>
        </p:nvSpPr>
        <p:spPr>
          <a:xfrm>
            <a:off x="6404640" y="2808671"/>
            <a:ext cx="3864712" cy="230154"/>
          </a:xfrm>
          <a:prstGeom prst="rect">
            <a:avLst/>
          </a:prstGeom>
          <a:noFill/>
          <a:ln/>
        </p:spPr>
        <p:txBody>
          <a:bodyPr wrap="square" lIns="0" tIns="0" rIns="0" bIns="0" rtlCol="0" anchor="t"/>
          <a:lstStyle/>
          <a:p>
            <a:pPr algn="l" indent="0" marL="0">
              <a:lnSpc>
                <a:spcPts val="1813"/>
              </a:lnSpc>
              <a:buNone/>
            </a:pPr>
            <a:r>
              <a:rPr lang="en-US" sz="1250" dirty="0">
                <a:solidFill>
                  <a:srgbClr val="6B6B6B"/>
                </a:solidFill>
                <a:latin typeface="Inter" pitchFamily="34" charset="0"/>
                <a:ea typeface="Inter" pitchFamily="34" charset="-122"/>
                <a:cs typeface="Inter" pitchFamily="34" charset="-120"/>
              </a:rPr>
              <a:t>Kết quả phụ thuộc kỹ năng prompt của từng người</a:t>
            </a:r>
            <a:endParaRPr lang="en-US" sz="1250" dirty="0"/>
          </a:p>
        </p:txBody>
      </p:sp>
      <p:sp>
        <p:nvSpPr>
          <p:cNvPr id="21" name="A_3_0_fade_282"/>
          <p:cNvSpPr txBox="1"/>
          <p:nvPr/>
        </p:nvSpPr>
        <p:spPr>
          <a:xfrm>
            <a:off x="6188751" y="3115086"/>
            <a:ext cx="155539" cy="230154"/>
          </a:xfrm>
          <a:prstGeom prst="rect">
            <a:avLst/>
          </a:prstGeom>
          <a:noFill/>
          <a:ln/>
        </p:spPr>
        <p:txBody>
          <a:bodyPr wrap="square" lIns="0" tIns="0" rIns="0" bIns="0" rtlCol="0" anchor="t"/>
          <a:lstStyle/>
          <a:p>
            <a:pPr algn="l" indent="0" marL="0">
              <a:lnSpc>
                <a:spcPts val="1813"/>
              </a:lnSpc>
              <a:buNone/>
            </a:pPr>
            <a:r>
              <a:rPr lang="en-US" sz="1250" b="1" dirty="0">
                <a:solidFill>
                  <a:srgbClr val="1E2BFA"/>
                </a:solidFill>
                <a:latin typeface="Inter" pitchFamily="34" charset="0"/>
                <a:ea typeface="Inter" pitchFamily="34" charset="-122"/>
                <a:cs typeface="Inter" pitchFamily="34" charset="-120"/>
              </a:rPr>
              <a:t>–</a:t>
            </a:r>
            <a:endParaRPr lang="en-US" sz="1250" dirty="0"/>
          </a:p>
        </p:txBody>
      </p:sp>
      <p:sp>
        <p:nvSpPr>
          <p:cNvPr id="22" name="A_3_0_fade_283"/>
          <p:cNvSpPr txBox="1"/>
          <p:nvPr/>
        </p:nvSpPr>
        <p:spPr>
          <a:xfrm>
            <a:off x="6404640" y="3115086"/>
            <a:ext cx="1802374" cy="230154"/>
          </a:xfrm>
          <a:prstGeom prst="rect">
            <a:avLst/>
          </a:prstGeom>
          <a:noFill/>
          <a:ln/>
        </p:spPr>
        <p:txBody>
          <a:bodyPr wrap="square" lIns="0" tIns="0" rIns="0" bIns="0" rtlCol="0" anchor="t"/>
          <a:lstStyle/>
          <a:p>
            <a:pPr algn="l" indent="0" marL="0">
              <a:lnSpc>
                <a:spcPts val="1813"/>
              </a:lnSpc>
              <a:buNone/>
            </a:pPr>
            <a:r>
              <a:rPr lang="en-US" sz="1250" dirty="0">
                <a:solidFill>
                  <a:srgbClr val="6B6B6B"/>
                </a:solidFill>
                <a:latin typeface="Inter" pitchFamily="34" charset="0"/>
                <a:ea typeface="Inter" pitchFamily="34" charset="-122"/>
                <a:cs typeface="Inter" pitchFamily="34" charset="-120"/>
              </a:rPr>
              <a:t>Mỗi người một cấu hình</a:t>
            </a:r>
            <a:endParaRPr lang="en-US" sz="1250" dirty="0"/>
          </a:p>
        </p:txBody>
      </p:sp>
      <p:sp>
        <p:nvSpPr>
          <p:cNvPr id="23" name="A_3_0_fade_284"/>
          <p:cNvSpPr txBox="1"/>
          <p:nvPr/>
        </p:nvSpPr>
        <p:spPr>
          <a:xfrm>
            <a:off x="6188751" y="3421502"/>
            <a:ext cx="155539" cy="230154"/>
          </a:xfrm>
          <a:prstGeom prst="rect">
            <a:avLst/>
          </a:prstGeom>
          <a:noFill/>
          <a:ln/>
        </p:spPr>
        <p:txBody>
          <a:bodyPr wrap="square" lIns="0" tIns="0" rIns="0" bIns="0" rtlCol="0" anchor="t"/>
          <a:lstStyle/>
          <a:p>
            <a:pPr algn="l" indent="0" marL="0">
              <a:lnSpc>
                <a:spcPts val="1813"/>
              </a:lnSpc>
              <a:buNone/>
            </a:pPr>
            <a:r>
              <a:rPr lang="en-US" sz="1250" b="1" dirty="0">
                <a:solidFill>
                  <a:srgbClr val="1E2BFA"/>
                </a:solidFill>
                <a:latin typeface="Inter" pitchFamily="34" charset="0"/>
                <a:ea typeface="Inter" pitchFamily="34" charset="-122"/>
                <a:cs typeface="Inter" pitchFamily="34" charset="-120"/>
              </a:rPr>
              <a:t>–</a:t>
            </a:r>
            <a:endParaRPr lang="en-US" sz="1250" dirty="0"/>
          </a:p>
        </p:txBody>
      </p:sp>
      <p:sp>
        <p:nvSpPr>
          <p:cNvPr id="24" name="A_3_0_fade_285"/>
          <p:cNvSpPr txBox="1"/>
          <p:nvPr/>
        </p:nvSpPr>
        <p:spPr>
          <a:xfrm>
            <a:off x="6404640" y="3421502"/>
            <a:ext cx="2046702" cy="230154"/>
          </a:xfrm>
          <a:prstGeom prst="rect">
            <a:avLst/>
          </a:prstGeom>
          <a:noFill/>
          <a:ln/>
        </p:spPr>
        <p:txBody>
          <a:bodyPr wrap="square" lIns="0" tIns="0" rIns="0" bIns="0" rtlCol="0" anchor="t"/>
          <a:lstStyle/>
          <a:p>
            <a:pPr algn="l" indent="0" marL="0">
              <a:lnSpc>
                <a:spcPts val="1813"/>
              </a:lnSpc>
              <a:buNone/>
            </a:pPr>
            <a:r>
              <a:rPr lang="en-US" sz="1250" dirty="0">
                <a:solidFill>
                  <a:srgbClr val="6B6B6B"/>
                </a:solidFill>
                <a:latin typeface="Inter" pitchFamily="34" charset="0"/>
                <a:ea typeface="Inter" pitchFamily="34" charset="-122"/>
                <a:cs typeface="Inter" pitchFamily="34" charset="-120"/>
              </a:rPr>
              <a:t>Log nằm trên máy cá nhân</a:t>
            </a:r>
            <a:endParaRPr lang="en-US" sz="1250" dirty="0"/>
          </a:p>
        </p:txBody>
      </p:sp>
      <p:sp>
        <p:nvSpPr>
          <p:cNvPr id="25" name="A_3_0_fade_286"/>
          <p:cNvSpPr txBox="1"/>
          <p:nvPr/>
        </p:nvSpPr>
        <p:spPr>
          <a:xfrm>
            <a:off x="6188751" y="3727826"/>
            <a:ext cx="155539" cy="230154"/>
          </a:xfrm>
          <a:prstGeom prst="rect">
            <a:avLst/>
          </a:prstGeom>
          <a:noFill/>
          <a:ln/>
        </p:spPr>
        <p:txBody>
          <a:bodyPr wrap="square" lIns="0" tIns="0" rIns="0" bIns="0" rtlCol="0" anchor="t"/>
          <a:lstStyle/>
          <a:p>
            <a:pPr algn="l" indent="0" marL="0">
              <a:lnSpc>
                <a:spcPts val="1813"/>
              </a:lnSpc>
              <a:buNone/>
            </a:pPr>
            <a:r>
              <a:rPr lang="en-US" sz="1250" b="1" dirty="0">
                <a:solidFill>
                  <a:srgbClr val="1E2BFA"/>
                </a:solidFill>
                <a:latin typeface="Inter" pitchFamily="34" charset="0"/>
                <a:ea typeface="Inter" pitchFamily="34" charset="-122"/>
                <a:cs typeface="Inter" pitchFamily="34" charset="-120"/>
              </a:rPr>
              <a:t>–</a:t>
            </a:r>
            <a:endParaRPr lang="en-US" sz="1250" dirty="0"/>
          </a:p>
        </p:txBody>
      </p:sp>
      <p:sp>
        <p:nvSpPr>
          <p:cNvPr id="26" name="A_3_0_fade_287"/>
          <p:cNvSpPr txBox="1"/>
          <p:nvPr/>
        </p:nvSpPr>
        <p:spPr>
          <a:xfrm>
            <a:off x="6404640" y="3727826"/>
            <a:ext cx="1974738" cy="230154"/>
          </a:xfrm>
          <a:prstGeom prst="rect">
            <a:avLst/>
          </a:prstGeom>
          <a:noFill/>
          <a:ln/>
        </p:spPr>
        <p:txBody>
          <a:bodyPr wrap="square" lIns="0" tIns="0" rIns="0" bIns="0" rtlCol="0" anchor="t"/>
          <a:lstStyle/>
          <a:p>
            <a:pPr algn="l" indent="0" marL="0">
              <a:lnSpc>
                <a:spcPts val="1813"/>
              </a:lnSpc>
              <a:buNone/>
            </a:pPr>
            <a:r>
              <a:rPr lang="en-US" sz="1250" dirty="0">
                <a:solidFill>
                  <a:srgbClr val="6B6B6B"/>
                </a:solidFill>
                <a:latin typeface="Inter" pitchFamily="34" charset="0"/>
                <a:ea typeface="Inter" pitchFamily="34" charset="-122"/>
                <a:cs typeface="Inter" pitchFamily="34" charset="-120"/>
              </a:rPr>
              <a:t>Khó nhìn chi phí tập trung</a:t>
            </a:r>
            <a:endParaRPr lang="en-US" sz="1250" dirty="0"/>
          </a:p>
        </p:txBody>
      </p:sp>
      <p:sp>
        <p:nvSpPr>
          <p:cNvPr id="27" name="A_3_0_fade_288"/>
          <p:cNvSpPr txBox="1"/>
          <p:nvPr/>
        </p:nvSpPr>
        <p:spPr>
          <a:xfrm>
            <a:off x="6188751" y="4034241"/>
            <a:ext cx="155539" cy="230154"/>
          </a:xfrm>
          <a:prstGeom prst="rect">
            <a:avLst/>
          </a:prstGeom>
          <a:noFill/>
          <a:ln/>
        </p:spPr>
        <p:txBody>
          <a:bodyPr wrap="square" lIns="0" tIns="0" rIns="0" bIns="0" rtlCol="0" anchor="t"/>
          <a:lstStyle/>
          <a:p>
            <a:pPr algn="l" indent="0" marL="0">
              <a:lnSpc>
                <a:spcPts val="1813"/>
              </a:lnSpc>
              <a:buNone/>
            </a:pPr>
            <a:r>
              <a:rPr lang="en-US" sz="1250" b="1" dirty="0">
                <a:solidFill>
                  <a:srgbClr val="1E2BFA"/>
                </a:solidFill>
                <a:latin typeface="Inter" pitchFamily="34" charset="0"/>
                <a:ea typeface="Inter" pitchFamily="34" charset="-122"/>
                <a:cs typeface="Inter" pitchFamily="34" charset="-120"/>
              </a:rPr>
              <a:t>–</a:t>
            </a:r>
            <a:endParaRPr lang="en-US" sz="1250" dirty="0"/>
          </a:p>
        </p:txBody>
      </p:sp>
      <p:sp>
        <p:nvSpPr>
          <p:cNvPr id="28" name="A_3_0_fade_289"/>
          <p:cNvSpPr txBox="1"/>
          <p:nvPr/>
        </p:nvSpPr>
        <p:spPr>
          <a:xfrm>
            <a:off x="6404640" y="4034241"/>
            <a:ext cx="3403488" cy="230154"/>
          </a:xfrm>
          <a:prstGeom prst="rect">
            <a:avLst/>
          </a:prstGeom>
          <a:noFill/>
          <a:ln/>
        </p:spPr>
        <p:txBody>
          <a:bodyPr wrap="square" lIns="0" tIns="0" rIns="0" bIns="0" rtlCol="0" anchor="t"/>
          <a:lstStyle/>
          <a:p>
            <a:pPr algn="l" indent="0" marL="0">
              <a:lnSpc>
                <a:spcPts val="1813"/>
              </a:lnSpc>
              <a:buNone/>
            </a:pPr>
            <a:r>
              <a:rPr lang="en-US" sz="1250" dirty="0">
                <a:solidFill>
                  <a:srgbClr val="6B6B6B"/>
                </a:solidFill>
                <a:latin typeface="Inter" pitchFamily="34" charset="0"/>
                <a:ea typeface="Inter" pitchFamily="34" charset="-122"/>
                <a:cs typeface="Inter" pitchFamily="34" charset="-120"/>
              </a:rPr>
              <a:t>Việc nào người cũng phải dẫn dắt từng bước</a:t>
            </a:r>
            <a:endParaRPr lang="en-US" sz="1250" dirty="0"/>
          </a:p>
        </p:txBody>
      </p:sp>
      <p:sp>
        <p:nvSpPr>
          <p:cNvPr id="29" name="A_4_1_fade_290"/>
          <p:cNvSpPr/>
          <p:nvPr/>
        </p:nvSpPr>
        <p:spPr>
          <a:xfrm>
            <a:off x="609630" y="4677979"/>
            <a:ext cx="10972800" cy="850941"/>
          </a:xfrm>
          <a:prstGeom prst="roundRect">
            <a:avLst>
              <a:gd name="adj" fmla="val 10445"/>
            </a:avLst>
          </a:prstGeom>
          <a:solidFill>
            <a:srgbClr val="EBE9E9"/>
          </a:solidFill>
          <a:ln/>
        </p:spPr>
      </p:sp>
      <p:sp>
        <p:nvSpPr>
          <p:cNvPr id="30" name="A_4_1_fade_291"/>
          <p:cNvSpPr txBox="1"/>
          <p:nvPr/>
        </p:nvSpPr>
        <p:spPr>
          <a:xfrm>
            <a:off x="838230" y="4855738"/>
            <a:ext cx="11226637" cy="495330"/>
          </a:xfrm>
          <a:prstGeom prst="rect">
            <a:avLst/>
          </a:prstGeom>
          <a:noFill/>
          <a:ln/>
        </p:spPr>
        <p:txBody>
          <a:bodyPr wrap="square" lIns="0" tIns="0" rIns="0" bIns="0" rtlCol="0" anchor="t"/>
          <a:lstStyle/>
          <a:p>
            <a:pPr algn="l" indent="0" marL="0">
              <a:lnSpc>
                <a:spcPts val="1950"/>
              </a:lnSpc>
              <a:buNone/>
            </a:pPr>
            <a:r>
              <a:rPr lang="en-US" sz="1300" dirty="0">
                <a:solidFill>
                  <a:srgbClr val="111111"/>
                </a:solidFill>
                <a:latin typeface="Inter" pitchFamily="34" charset="0"/>
                <a:ea typeface="Inter" pitchFamily="34" charset="-122"/>
                <a:cs typeface="Inter" pitchFamily="34" charset="-120"/>
              </a:rPr>
              <a:t>Phần lớn các điểm yếu đến từ việc</a:t>
            </a:r>
            <a:pPr algn="l" indent="0" marL="0">
              <a:lnSpc>
                <a:spcPts val="1950"/>
              </a:lnSpc>
              <a:buNone/>
            </a:pPr>
            <a:r>
              <a:rPr lang="en-US" sz="1300" b="1" dirty="0">
                <a:solidFill>
                  <a:srgbClr val="111111"/>
                </a:solidFill>
                <a:latin typeface="Inter" pitchFamily="34" charset="0"/>
                <a:ea typeface="Inter" pitchFamily="34" charset="-122"/>
                <a:cs typeface="Inter" pitchFamily="34" charset="-120"/>
              </a:rPr>
              <a:t> thiếu kit, data source và governance dùng chung</a:t>
            </a:r>
            <a:pPr algn="l" indent="0" marL="0">
              <a:lnSpc>
                <a:spcPts val="1950"/>
              </a:lnSpc>
              <a:buNone/>
            </a:pPr>
            <a:r>
              <a:rPr lang="en-US" sz="1300" dirty="0">
                <a:solidFill>
                  <a:srgbClr val="111111"/>
                </a:solidFill>
                <a:latin typeface="Inter" pitchFamily="34" charset="0"/>
                <a:ea typeface="Inter" pitchFamily="34" charset="-122"/>
                <a:cs typeface="Inter" pitchFamily="34" charset="-120"/>
              </a:rPr>
              <a:t>, không đến từ bản thân harness. Được cấp kit chuẩn và</a:t>
            </a:r>
            <a:endParaRPr lang="en-US" sz="1300" dirty="0"/>
          </a:p>
          <a:p>
            <a:pPr algn="l" indent="0" marL="0">
              <a:lnSpc>
                <a:spcPts val="1950"/>
              </a:lnSpc>
              <a:buNone/>
            </a:pPr>
            <a:r>
              <a:rPr lang="en-US" sz="1300" dirty="0">
                <a:solidFill>
                  <a:srgbClr val="111111"/>
                </a:solidFill>
                <a:latin typeface="Inter" pitchFamily="34" charset="0"/>
                <a:ea typeface="Inter" pitchFamily="34" charset="-122"/>
                <a:cs typeface="Inter" pitchFamily="34" charset="-120"/>
              </a:rPr>
              <a:t>chạy headless trên server, harness vẫn là harness đó.</a:t>
            </a:r>
            <a:endParaRPr lang="en-US" sz="1300" dirty="0"/>
          </a:p>
        </p:txBody>
      </p:sp>
      <p:sp>
        <p:nvSpPr>
          <p:cNvPr id="31" name="S_292"/>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32" name="S_293"/>
          <p:cNvSpPr txBox="1"/>
          <p:nvPr/>
        </p:nvSpPr>
        <p:spPr>
          <a:xfrm>
            <a:off x="11160252" y="6517660"/>
            <a:ext cx="498348"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08 / 25</a:t>
            </a:r>
            <a:endParaRPr lang="en-US" sz="900" dirty="0"/>
          </a:p>
        </p:txBody>
      </p:sp>
      <p:sp>
        <p:nvSpPr>
          <p:cNvPr id="33" name="S_294"/>
          <p:cNvSpPr/>
          <p:nvPr/>
        </p:nvSpPr>
        <p:spPr>
          <a:xfrm>
            <a:off x="0" y="6838980"/>
            <a:ext cx="390147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76" fill="hold">
                      <p:stCondLst>
                        <p:cond delay="indefinite"/>
                        <p:cond evt="onBegin" delay="0">
                          <p:tn val="2"/>
                        </p:cond>
                      </p:stCondLst>
                      <p:childTnLst>
                        <p:par>
                          <p:cTn id="7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22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22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22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22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22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22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22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33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33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33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33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33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33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33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33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33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grpId="0" nodeType="withEffect">
                                  <p:stCondLst>
                                    <p:cond delay="33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par>
                                <p:cTn id="69" presetID="10" presetClass="entr" presetSubtype="0" fill="hold" grpId="0" nodeType="withEffect">
                                  <p:stCondLst>
                                    <p:cond delay="33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33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childTnLst>
                          </p:cTn>
                        </p:par>
                      </p:childTnLst>
                    </p:cTn>
                  </p:par>
                  <p:par>
                    <p:cTn id="84" fill="hold">
                      <p:stCondLst>
                        <p:cond delay="indefinite"/>
                      </p:stCondLst>
                      <p:childTnLst>
                        <p:par>
                          <p:cTn id="83" fill="hold">
                            <p:stCondLst>
                              <p:cond delay="0"/>
                            </p:stCondLst>
                            <p:childTnLst>
                              <p:par>
                                <p:cTn id="77" presetID="10" presetClass="entr" presetSubtype="0" fill="hold" grpId="0" nodeType="click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AE7"/>
        </a:solidFill>
      </p:bgPr>
    </p:bg>
    <p:spTree>
      <p:nvGrpSpPr>
        <p:cNvPr id="1" name=""/>
        <p:cNvGrpSpPr/>
        <p:nvPr/>
      </p:nvGrpSpPr>
      <p:grpSpPr>
        <a:xfrm>
          <a:off x="0" y="0"/>
          <a:ext cx="0" cy="0"/>
          <a:chOff x="0" y="0"/>
          <a:chExt cx="0" cy="0"/>
        </a:xfrm>
      </p:grpSpPr>
      <p:sp>
        <p:nvSpPr>
          <p:cNvPr id="2" name="S_295"/>
          <p:cNvSpPr txBox="1"/>
          <p:nvPr/>
        </p:nvSpPr>
        <p:spPr>
          <a:xfrm>
            <a:off x="609630" y="466070"/>
            <a:ext cx="3392333"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02 · BA KHÁI NIỆM · PLATFORM TẬP TRUNG</a:t>
            </a:r>
            <a:endParaRPr lang="en-US" sz="1100" dirty="0"/>
          </a:p>
        </p:txBody>
      </p:sp>
      <p:sp>
        <p:nvSpPr>
          <p:cNvPr id="3" name="S_296"/>
          <p:cNvSpPr/>
          <p:nvPr/>
        </p:nvSpPr>
        <p:spPr>
          <a:xfrm>
            <a:off x="10087478" y="412760"/>
            <a:ext cx="1494953" cy="292059"/>
          </a:xfrm>
          <a:prstGeom prst="roundRect">
            <a:avLst>
              <a:gd name="adj" fmla="val 50000"/>
            </a:avLst>
          </a:prstGeom>
          <a:solidFill>
            <a:srgbClr val="EBE9E9"/>
          </a:solidFill>
          <a:ln/>
        </p:spPr>
      </p:sp>
      <p:sp>
        <p:nvSpPr>
          <p:cNvPr id="4" name="S_297"/>
          <p:cNvSpPr txBox="1"/>
          <p:nvPr/>
        </p:nvSpPr>
        <p:spPr>
          <a:xfrm>
            <a:off x="10252527" y="476220"/>
            <a:ext cx="1257940"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5 phần · 3 bản chất</a:t>
            </a:r>
            <a:endParaRPr lang="en-US" sz="1000" dirty="0"/>
          </a:p>
        </p:txBody>
      </p:sp>
      <p:sp>
        <p:nvSpPr>
          <p:cNvPr id="5" name="A_0_0_fade_298"/>
          <p:cNvSpPr txBox="1"/>
          <p:nvPr/>
        </p:nvSpPr>
        <p:spPr>
          <a:xfrm>
            <a:off x="609630" y="806592"/>
            <a:ext cx="11119470"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Platform tập trung gộp những thứ khác bản chất vào một khối</a:t>
            </a:r>
            <a:endParaRPr lang="en-US" sz="2800" dirty="0"/>
          </a:p>
        </p:txBody>
      </p:sp>
      <p:sp>
        <p:nvSpPr>
          <p:cNvPr id="6" name="A_1_0_fade_299"/>
          <p:cNvSpPr txBox="1"/>
          <p:nvPr/>
        </p:nvSpPr>
        <p:spPr>
          <a:xfrm>
            <a:off x="609630" y="1309421"/>
            <a:ext cx="10166848" cy="257221"/>
          </a:xfrm>
          <a:prstGeom prst="rect">
            <a:avLst/>
          </a:prstGeom>
          <a:noFill/>
          <a:ln/>
        </p:spPr>
        <p:txBody>
          <a:bodyPr wrap="square" lIns="0" tIns="0" rIns="0" bIns="0" rtlCol="0" anchor="t"/>
          <a:lstStyle/>
          <a:p>
            <a:pPr algn="l" indent="0" marL="0">
              <a:lnSpc>
                <a:spcPts val="2025"/>
              </a:lnSpc>
              <a:buNone/>
            </a:pPr>
            <a:r>
              <a:rPr lang="en-US" sz="1350" dirty="0">
                <a:solidFill>
                  <a:srgbClr val="6B6B6B"/>
                </a:solidFill>
                <a:latin typeface="Inter" pitchFamily="34" charset="0"/>
                <a:ea typeface="Inter" pitchFamily="34" charset="-122"/>
                <a:cs typeface="Inter" pitchFamily="34" charset="-120"/>
              </a:rPr>
              <a:t>Động cơ đều chính đáng: muốn kết quả đồng đều, muốn kiểm soát, muốn tự động hoá cao hơn mức một người ngồi prompt.</a:t>
            </a:r>
            <a:endParaRPr lang="en-US" sz="1350" dirty="0"/>
          </a:p>
        </p:txBody>
      </p:sp>
      <p:sp>
        <p:nvSpPr>
          <p:cNvPr id="7" name="A_2_0_fade_300"/>
          <p:cNvSpPr txBox="1"/>
          <p:nvPr/>
        </p:nvSpPr>
        <p:spPr>
          <a:xfrm>
            <a:off x="609630" y="2176912"/>
            <a:ext cx="1918411"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BẢN THIẾT KẾ THƯỜNG GỒM</a:t>
            </a:r>
            <a:endParaRPr lang="en-US" sz="950" dirty="0"/>
          </a:p>
        </p:txBody>
      </p:sp>
      <p:sp>
        <p:nvSpPr>
          <p:cNvPr id="8" name="A_3_0_fade_301"/>
          <p:cNvSpPr/>
          <p:nvPr/>
        </p:nvSpPr>
        <p:spPr>
          <a:xfrm>
            <a:off x="612008" y="2417674"/>
            <a:ext cx="5354635" cy="620055"/>
          </a:xfrm>
          <a:prstGeom prst="roundRect">
            <a:avLst>
              <a:gd name="adj" fmla="val 14334"/>
            </a:avLst>
          </a:prstGeom>
          <a:solidFill>
            <a:srgbClr val="F4F2E8"/>
          </a:solidFill>
          <a:ln w="9525">
            <a:solidFill>
              <a:srgbClr val="C9CAEB"/>
            </a:solidFill>
            <a:prstDash val="solid"/>
          </a:ln>
        </p:spPr>
      </p:sp>
      <p:sp>
        <p:nvSpPr>
          <p:cNvPr id="9" name="A_3_0_fade_302"/>
          <p:cNvSpPr txBox="1"/>
          <p:nvPr/>
        </p:nvSpPr>
        <p:spPr>
          <a:xfrm>
            <a:off x="768370" y="2520726"/>
            <a:ext cx="164043" cy="233721"/>
          </a:xfrm>
          <a:prstGeom prst="rect">
            <a:avLst/>
          </a:prstGeom>
          <a:noFill/>
          <a:ln/>
        </p:spPr>
        <p:txBody>
          <a:bodyPr wrap="square" lIns="0" tIns="0" rIns="0" bIns="0" rtlCol="0" anchor="t"/>
          <a:lstStyle/>
          <a:p>
            <a:pPr algn="l" indent="0" marL="0">
              <a:lnSpc>
                <a:spcPts val="1840"/>
              </a:lnSpc>
              <a:buNone/>
            </a:pPr>
            <a:r>
              <a:rPr lang="en-US" sz="1600" b="1" spc="-32" kern="0" dirty="0">
                <a:solidFill>
                  <a:srgbClr val="1E2BFA"/>
                </a:solidFill>
                <a:latin typeface="Space Grotesk" pitchFamily="34" charset="0"/>
                <a:ea typeface="Space Grotesk" pitchFamily="34" charset="-122"/>
                <a:cs typeface="Space Grotesk" pitchFamily="34" charset="-120"/>
              </a:rPr>
              <a:t>1</a:t>
            </a:r>
            <a:endParaRPr lang="en-US" sz="1600" dirty="0"/>
          </a:p>
        </p:txBody>
      </p:sp>
      <p:sp>
        <p:nvSpPr>
          <p:cNvPr id="10" name="A_3_0_fade_303"/>
          <p:cNvSpPr txBox="1"/>
          <p:nvPr/>
        </p:nvSpPr>
        <p:spPr>
          <a:xfrm>
            <a:off x="1174730" y="2521641"/>
            <a:ext cx="2763225" cy="206380"/>
          </a:xfrm>
          <a:prstGeom prst="rect">
            <a:avLst/>
          </a:prstGeom>
          <a:noFill/>
          <a:ln/>
        </p:spPr>
        <p:txBody>
          <a:bodyPr wrap="square" lIns="0" tIns="0" rIns="0" bIns="0" rtlCol="0" anchor="t"/>
          <a:lstStyle/>
          <a:p>
            <a:pPr algn="l" indent="0" marL="0">
              <a:lnSpc>
                <a:spcPts val="1625"/>
              </a:lnSpc>
              <a:buNone/>
            </a:pPr>
            <a:r>
              <a:rPr lang="en-US" sz="1300" b="1" spc="-13" kern="0" dirty="0">
                <a:solidFill>
                  <a:srgbClr val="111111"/>
                </a:solidFill>
                <a:latin typeface="Space Grotesk" pitchFamily="34" charset="0"/>
                <a:ea typeface="Space Grotesk" pitchFamily="34" charset="-122"/>
                <a:cs typeface="Space Grotesk" pitchFamily="34" charset="-120"/>
              </a:rPr>
              <a:t>Knowledge base, context engine</a:t>
            </a:r>
            <a:endParaRPr lang="en-US" sz="1300" dirty="0"/>
          </a:p>
        </p:txBody>
      </p:sp>
      <p:sp>
        <p:nvSpPr>
          <p:cNvPr id="11" name="A_3_0_fade_304"/>
          <p:cNvSpPr txBox="1"/>
          <p:nvPr/>
        </p:nvSpPr>
        <p:spPr>
          <a:xfrm>
            <a:off x="1174730" y="2723540"/>
            <a:ext cx="3067172" cy="20254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Index tài liệu và code, RAG, vector DB, RBAC</a:t>
            </a:r>
            <a:endParaRPr lang="en-US" sz="1100" dirty="0"/>
          </a:p>
        </p:txBody>
      </p:sp>
      <p:sp>
        <p:nvSpPr>
          <p:cNvPr id="12" name="A_4_0_fade_305"/>
          <p:cNvSpPr/>
          <p:nvPr/>
        </p:nvSpPr>
        <p:spPr>
          <a:xfrm>
            <a:off x="612008" y="3118653"/>
            <a:ext cx="5354635" cy="620055"/>
          </a:xfrm>
          <a:prstGeom prst="roundRect">
            <a:avLst>
              <a:gd name="adj" fmla="val 14334"/>
            </a:avLst>
          </a:prstGeom>
          <a:solidFill>
            <a:srgbClr val="F4F2E8"/>
          </a:solidFill>
          <a:ln w="9525">
            <a:solidFill>
              <a:srgbClr val="C9CAEB"/>
            </a:solidFill>
            <a:prstDash val="solid"/>
          </a:ln>
        </p:spPr>
      </p:sp>
      <p:sp>
        <p:nvSpPr>
          <p:cNvPr id="13" name="A_4_0_fade_306"/>
          <p:cNvSpPr txBox="1"/>
          <p:nvPr/>
        </p:nvSpPr>
        <p:spPr>
          <a:xfrm>
            <a:off x="768370" y="3221706"/>
            <a:ext cx="192847" cy="233721"/>
          </a:xfrm>
          <a:prstGeom prst="rect">
            <a:avLst/>
          </a:prstGeom>
          <a:noFill/>
          <a:ln/>
        </p:spPr>
        <p:txBody>
          <a:bodyPr wrap="square" lIns="0" tIns="0" rIns="0" bIns="0" rtlCol="0" anchor="t"/>
          <a:lstStyle/>
          <a:p>
            <a:pPr algn="l" indent="0" marL="0">
              <a:lnSpc>
                <a:spcPts val="1840"/>
              </a:lnSpc>
              <a:buNone/>
            </a:pPr>
            <a:r>
              <a:rPr lang="en-US" sz="1600" b="1" spc="-32" kern="0" dirty="0">
                <a:solidFill>
                  <a:srgbClr val="1E2BFA"/>
                </a:solidFill>
                <a:latin typeface="Space Grotesk" pitchFamily="34" charset="0"/>
                <a:ea typeface="Space Grotesk" pitchFamily="34" charset="-122"/>
                <a:cs typeface="Space Grotesk" pitchFamily="34" charset="-120"/>
              </a:rPr>
              <a:t>2</a:t>
            </a:r>
            <a:endParaRPr lang="en-US" sz="1600" dirty="0"/>
          </a:p>
        </p:txBody>
      </p:sp>
      <p:sp>
        <p:nvSpPr>
          <p:cNvPr id="14" name="A_4_0_fade_307"/>
          <p:cNvSpPr txBox="1"/>
          <p:nvPr/>
        </p:nvSpPr>
        <p:spPr>
          <a:xfrm>
            <a:off x="1174730" y="3222620"/>
            <a:ext cx="2205350" cy="206380"/>
          </a:xfrm>
          <a:prstGeom prst="rect">
            <a:avLst/>
          </a:prstGeom>
          <a:noFill/>
          <a:ln/>
        </p:spPr>
        <p:txBody>
          <a:bodyPr wrap="square" lIns="0" tIns="0" rIns="0" bIns="0" rtlCol="0" anchor="t"/>
          <a:lstStyle/>
          <a:p>
            <a:pPr algn="l" indent="0" marL="0">
              <a:lnSpc>
                <a:spcPts val="1625"/>
              </a:lnSpc>
              <a:buNone/>
            </a:pPr>
            <a:r>
              <a:rPr lang="en-US" sz="1300" b="1" spc="-13" kern="0" dirty="0">
                <a:solidFill>
                  <a:srgbClr val="111111"/>
                </a:solidFill>
                <a:latin typeface="Space Grotesk" pitchFamily="34" charset="0"/>
                <a:ea typeface="Space Grotesk" pitchFamily="34" charset="-122"/>
                <a:cs typeface="Space Grotesk" pitchFamily="34" charset="-120"/>
              </a:rPr>
              <a:t>Multi-agent orchestration</a:t>
            </a:r>
            <a:endParaRPr lang="en-US" sz="1300" dirty="0"/>
          </a:p>
        </p:txBody>
      </p:sp>
      <p:sp>
        <p:nvSpPr>
          <p:cNvPr id="15" name="A_4_0_fade_308"/>
          <p:cNvSpPr txBox="1"/>
          <p:nvPr/>
        </p:nvSpPr>
        <p:spPr>
          <a:xfrm>
            <a:off x="1174730" y="3424519"/>
            <a:ext cx="3211190" cy="20254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Chuỗi agent chuyên trách từng khâu công việc</a:t>
            </a:r>
            <a:endParaRPr lang="en-US" sz="1100" dirty="0"/>
          </a:p>
        </p:txBody>
      </p:sp>
      <p:sp>
        <p:nvSpPr>
          <p:cNvPr id="16" name="A_5_0_fade_309"/>
          <p:cNvSpPr/>
          <p:nvPr/>
        </p:nvSpPr>
        <p:spPr>
          <a:xfrm>
            <a:off x="612008" y="3819632"/>
            <a:ext cx="5354635" cy="620055"/>
          </a:xfrm>
          <a:prstGeom prst="roundRect">
            <a:avLst>
              <a:gd name="adj" fmla="val 14334"/>
            </a:avLst>
          </a:prstGeom>
          <a:solidFill>
            <a:srgbClr val="F4F2E8"/>
          </a:solidFill>
          <a:ln w="9525">
            <a:solidFill>
              <a:srgbClr val="C9CAEB"/>
            </a:solidFill>
            <a:prstDash val="solid"/>
          </a:ln>
        </p:spPr>
      </p:sp>
      <p:sp>
        <p:nvSpPr>
          <p:cNvPr id="17" name="A_5_0_fade_310"/>
          <p:cNvSpPr txBox="1"/>
          <p:nvPr/>
        </p:nvSpPr>
        <p:spPr>
          <a:xfrm>
            <a:off x="768370" y="3922685"/>
            <a:ext cx="195773" cy="233721"/>
          </a:xfrm>
          <a:prstGeom prst="rect">
            <a:avLst/>
          </a:prstGeom>
          <a:noFill/>
          <a:ln/>
        </p:spPr>
        <p:txBody>
          <a:bodyPr wrap="square" lIns="0" tIns="0" rIns="0" bIns="0" rtlCol="0" anchor="t"/>
          <a:lstStyle/>
          <a:p>
            <a:pPr algn="l" indent="0" marL="0">
              <a:lnSpc>
                <a:spcPts val="1840"/>
              </a:lnSpc>
              <a:buNone/>
            </a:pPr>
            <a:r>
              <a:rPr lang="en-US" sz="1600" b="1" spc="-32" kern="0" dirty="0">
                <a:solidFill>
                  <a:srgbClr val="1E2BFA"/>
                </a:solidFill>
                <a:latin typeface="Space Grotesk" pitchFamily="34" charset="0"/>
                <a:ea typeface="Space Grotesk" pitchFamily="34" charset="-122"/>
                <a:cs typeface="Space Grotesk" pitchFamily="34" charset="-120"/>
              </a:rPr>
              <a:t>3</a:t>
            </a:r>
            <a:endParaRPr lang="en-US" sz="1600" dirty="0"/>
          </a:p>
        </p:txBody>
      </p:sp>
      <p:sp>
        <p:nvSpPr>
          <p:cNvPr id="18" name="A_5_0_fade_311"/>
          <p:cNvSpPr txBox="1"/>
          <p:nvPr/>
        </p:nvSpPr>
        <p:spPr>
          <a:xfrm>
            <a:off x="1174730" y="3923599"/>
            <a:ext cx="947318" cy="206380"/>
          </a:xfrm>
          <a:prstGeom prst="rect">
            <a:avLst/>
          </a:prstGeom>
          <a:noFill/>
          <a:ln/>
        </p:spPr>
        <p:txBody>
          <a:bodyPr wrap="square" lIns="0" tIns="0" rIns="0" bIns="0" rtlCol="0" anchor="t"/>
          <a:lstStyle/>
          <a:p>
            <a:pPr algn="l" indent="0" marL="0">
              <a:lnSpc>
                <a:spcPts val="1625"/>
              </a:lnSpc>
              <a:buNone/>
            </a:pPr>
            <a:r>
              <a:rPr lang="en-US" sz="1300" b="1" spc="-13" kern="0" dirty="0">
                <a:solidFill>
                  <a:srgbClr val="111111"/>
                </a:solidFill>
                <a:latin typeface="Space Grotesk" pitchFamily="34" charset="0"/>
                <a:ea typeface="Space Grotesk" pitchFamily="34" charset="-122"/>
                <a:cs typeface="Space Grotesk" pitchFamily="34" charset="-120"/>
              </a:rPr>
              <a:t>Integration</a:t>
            </a:r>
            <a:endParaRPr lang="en-US" sz="1300" dirty="0"/>
          </a:p>
        </p:txBody>
      </p:sp>
      <p:sp>
        <p:nvSpPr>
          <p:cNvPr id="19" name="A_5_0_fade_312"/>
          <p:cNvSpPr txBox="1"/>
          <p:nvPr/>
        </p:nvSpPr>
        <p:spPr>
          <a:xfrm>
            <a:off x="1174730" y="4125498"/>
            <a:ext cx="3342132" cy="20254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Issue tracker, wiki, source control, hệ thống khác</a:t>
            </a:r>
            <a:endParaRPr lang="en-US" sz="1100" dirty="0"/>
          </a:p>
        </p:txBody>
      </p:sp>
      <p:sp>
        <p:nvSpPr>
          <p:cNvPr id="20" name="A_6_0_fade_313"/>
          <p:cNvSpPr/>
          <p:nvPr/>
        </p:nvSpPr>
        <p:spPr>
          <a:xfrm>
            <a:off x="612008" y="4520611"/>
            <a:ext cx="5354635" cy="620055"/>
          </a:xfrm>
          <a:prstGeom prst="roundRect">
            <a:avLst>
              <a:gd name="adj" fmla="val 14334"/>
            </a:avLst>
          </a:prstGeom>
          <a:solidFill>
            <a:srgbClr val="F4F2E8"/>
          </a:solidFill>
          <a:ln w="9525">
            <a:solidFill>
              <a:srgbClr val="C9CAEB"/>
            </a:solidFill>
            <a:prstDash val="solid"/>
          </a:ln>
        </p:spPr>
      </p:sp>
      <p:sp>
        <p:nvSpPr>
          <p:cNvPr id="21" name="A_6_0_fade_314"/>
          <p:cNvSpPr txBox="1"/>
          <p:nvPr/>
        </p:nvSpPr>
        <p:spPr>
          <a:xfrm>
            <a:off x="768370" y="4623664"/>
            <a:ext cx="201442" cy="233721"/>
          </a:xfrm>
          <a:prstGeom prst="rect">
            <a:avLst/>
          </a:prstGeom>
          <a:noFill/>
          <a:ln/>
        </p:spPr>
        <p:txBody>
          <a:bodyPr wrap="square" lIns="0" tIns="0" rIns="0" bIns="0" rtlCol="0" anchor="t"/>
          <a:lstStyle/>
          <a:p>
            <a:pPr algn="l" indent="0" marL="0">
              <a:lnSpc>
                <a:spcPts val="1840"/>
              </a:lnSpc>
              <a:buNone/>
            </a:pPr>
            <a:r>
              <a:rPr lang="en-US" sz="1600" b="1" spc="-32" kern="0" dirty="0">
                <a:solidFill>
                  <a:srgbClr val="1E2BFA"/>
                </a:solidFill>
                <a:latin typeface="Space Grotesk" pitchFamily="34" charset="0"/>
                <a:ea typeface="Space Grotesk" pitchFamily="34" charset="-122"/>
                <a:cs typeface="Space Grotesk" pitchFamily="34" charset="-120"/>
              </a:rPr>
              <a:t>4</a:t>
            </a:r>
            <a:endParaRPr lang="en-US" sz="1600" dirty="0"/>
          </a:p>
        </p:txBody>
      </p:sp>
      <p:sp>
        <p:nvSpPr>
          <p:cNvPr id="22" name="A_6_0_fade_315"/>
          <p:cNvSpPr txBox="1"/>
          <p:nvPr/>
        </p:nvSpPr>
        <p:spPr>
          <a:xfrm>
            <a:off x="1174730" y="4624578"/>
            <a:ext cx="1007303" cy="206380"/>
          </a:xfrm>
          <a:prstGeom prst="rect">
            <a:avLst/>
          </a:prstGeom>
          <a:noFill/>
          <a:ln/>
        </p:spPr>
        <p:txBody>
          <a:bodyPr wrap="square" lIns="0" tIns="0" rIns="0" bIns="0" rtlCol="0" anchor="t"/>
          <a:lstStyle/>
          <a:p>
            <a:pPr algn="l" indent="0" marL="0">
              <a:lnSpc>
                <a:spcPts val="1625"/>
              </a:lnSpc>
              <a:buNone/>
            </a:pPr>
            <a:r>
              <a:rPr lang="en-US" sz="1300" b="1" spc="-13" kern="0" dirty="0">
                <a:solidFill>
                  <a:srgbClr val="111111"/>
                </a:solidFill>
                <a:latin typeface="Space Grotesk" pitchFamily="34" charset="0"/>
                <a:ea typeface="Space Grotesk" pitchFamily="34" charset="-122"/>
                <a:cs typeface="Space Grotesk" pitchFamily="34" charset="-120"/>
              </a:rPr>
              <a:t>Governance</a:t>
            </a:r>
            <a:endParaRPr lang="en-US" sz="1300" dirty="0"/>
          </a:p>
        </p:txBody>
      </p:sp>
      <p:sp>
        <p:nvSpPr>
          <p:cNvPr id="23" name="A_6_0_fade_316"/>
          <p:cNvSpPr txBox="1"/>
          <p:nvPr/>
        </p:nvSpPr>
        <p:spPr>
          <a:xfrm>
            <a:off x="1174730" y="4826478"/>
            <a:ext cx="3150565" cy="20254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RBAC, audit trail, cost dashboard, human gate</a:t>
            </a:r>
            <a:endParaRPr lang="en-US" sz="1100" dirty="0"/>
          </a:p>
        </p:txBody>
      </p:sp>
      <p:sp>
        <p:nvSpPr>
          <p:cNvPr id="24" name="A_7_0_fade_317"/>
          <p:cNvSpPr/>
          <p:nvPr/>
        </p:nvSpPr>
        <p:spPr>
          <a:xfrm>
            <a:off x="612008" y="5221590"/>
            <a:ext cx="5354635" cy="444764"/>
          </a:xfrm>
          <a:prstGeom prst="roundRect">
            <a:avLst>
              <a:gd name="adj" fmla="val 19984"/>
            </a:avLst>
          </a:prstGeom>
          <a:solidFill>
            <a:srgbClr val="F4F2E8"/>
          </a:solidFill>
          <a:ln w="9525">
            <a:solidFill>
              <a:srgbClr val="C9CAEB"/>
            </a:solidFill>
            <a:prstDash val="solid"/>
          </a:ln>
        </p:spPr>
      </p:sp>
      <p:sp>
        <p:nvSpPr>
          <p:cNvPr id="25" name="A_7_0_fade_318"/>
          <p:cNvSpPr txBox="1"/>
          <p:nvPr/>
        </p:nvSpPr>
        <p:spPr>
          <a:xfrm>
            <a:off x="768370" y="5324643"/>
            <a:ext cx="194036" cy="233721"/>
          </a:xfrm>
          <a:prstGeom prst="rect">
            <a:avLst/>
          </a:prstGeom>
          <a:noFill/>
          <a:ln/>
        </p:spPr>
        <p:txBody>
          <a:bodyPr wrap="square" lIns="0" tIns="0" rIns="0" bIns="0" rtlCol="0" anchor="t"/>
          <a:lstStyle/>
          <a:p>
            <a:pPr algn="l" indent="0" marL="0">
              <a:lnSpc>
                <a:spcPts val="1840"/>
              </a:lnSpc>
              <a:buNone/>
            </a:pPr>
            <a:r>
              <a:rPr lang="en-US" sz="1600" b="1" spc="-32" kern="0" dirty="0">
                <a:solidFill>
                  <a:srgbClr val="1E2BFA"/>
                </a:solidFill>
                <a:latin typeface="Space Grotesk" pitchFamily="34" charset="0"/>
                <a:ea typeface="Space Grotesk" pitchFamily="34" charset="-122"/>
                <a:cs typeface="Space Grotesk" pitchFamily="34" charset="-120"/>
              </a:rPr>
              <a:t>5</a:t>
            </a:r>
            <a:endParaRPr lang="en-US" sz="1600" dirty="0"/>
          </a:p>
        </p:txBody>
      </p:sp>
      <p:sp>
        <p:nvSpPr>
          <p:cNvPr id="26" name="A_7_0_fade_319"/>
          <p:cNvSpPr txBox="1"/>
          <p:nvPr/>
        </p:nvSpPr>
        <p:spPr>
          <a:xfrm>
            <a:off x="1174730" y="5325557"/>
            <a:ext cx="2098091" cy="206380"/>
          </a:xfrm>
          <a:prstGeom prst="rect">
            <a:avLst/>
          </a:prstGeom>
          <a:noFill/>
          <a:ln/>
        </p:spPr>
        <p:txBody>
          <a:bodyPr wrap="square" lIns="0" tIns="0" rIns="0" bIns="0" rtlCol="0" anchor="t"/>
          <a:lstStyle/>
          <a:p>
            <a:pPr algn="l" indent="0" marL="0">
              <a:lnSpc>
                <a:spcPts val="1625"/>
              </a:lnSpc>
              <a:buNone/>
            </a:pPr>
            <a:r>
              <a:rPr lang="en-US" sz="1300" b="1" spc="-13" kern="0" dirty="0">
                <a:solidFill>
                  <a:srgbClr val="111111"/>
                </a:solidFill>
                <a:latin typeface="Space Grotesk" pitchFamily="34" charset="0"/>
                <a:ea typeface="Space Grotesk" pitchFamily="34" charset="-122"/>
                <a:cs typeface="Space Grotesk" pitchFamily="34" charset="-120"/>
              </a:rPr>
              <a:t>Chat UI hoặc portal riêng</a:t>
            </a:r>
            <a:endParaRPr lang="en-US" sz="1300" dirty="0"/>
          </a:p>
        </p:txBody>
      </p:sp>
      <p:sp>
        <p:nvSpPr>
          <p:cNvPr id="27" name="A_8_1_fade_320"/>
          <p:cNvSpPr/>
          <p:nvPr/>
        </p:nvSpPr>
        <p:spPr>
          <a:xfrm>
            <a:off x="6225418" y="2419685"/>
            <a:ext cx="5354635" cy="1005108"/>
          </a:xfrm>
          <a:prstGeom prst="roundRect">
            <a:avLst>
              <a:gd name="adj" fmla="val 8843"/>
            </a:avLst>
          </a:prstGeom>
          <a:solidFill>
            <a:srgbClr val="F4F2E8"/>
          </a:solidFill>
          <a:ln w="9525">
            <a:solidFill>
              <a:srgbClr val="C9CAEB"/>
            </a:solidFill>
            <a:prstDash val="solid"/>
          </a:ln>
        </p:spPr>
      </p:sp>
      <p:sp>
        <p:nvSpPr>
          <p:cNvPr id="28" name="A_8_1_fade_321"/>
          <p:cNvSpPr txBox="1"/>
          <p:nvPr/>
        </p:nvSpPr>
        <p:spPr>
          <a:xfrm>
            <a:off x="6419820" y="2570653"/>
            <a:ext cx="2015612"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059669"/>
                </a:solidFill>
                <a:latin typeface="Space Grotesk" pitchFamily="34" charset="0"/>
                <a:ea typeface="Space Grotesk" pitchFamily="34" charset="-122"/>
                <a:cs typeface="Space Grotesk" pitchFamily="34" charset="-120"/>
              </a:rPr>
              <a:t>TÀI SẢN CHỈ TỔ CHỨC MỚI CÓ</a:t>
            </a:r>
            <a:endParaRPr lang="en-US" sz="950" dirty="0"/>
          </a:p>
        </p:txBody>
      </p:sp>
      <p:sp>
        <p:nvSpPr>
          <p:cNvPr id="29" name="A_8_1_fade_322"/>
          <p:cNvSpPr txBox="1"/>
          <p:nvPr/>
        </p:nvSpPr>
        <p:spPr>
          <a:xfrm>
            <a:off x="6419820" y="2793126"/>
            <a:ext cx="1005474"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Phần 1 và 3</a:t>
            </a:r>
            <a:endParaRPr lang="en-US" sz="1400" dirty="0"/>
          </a:p>
        </p:txBody>
      </p:sp>
      <p:sp>
        <p:nvSpPr>
          <p:cNvPr id="30" name="A_8_1_fade_323"/>
          <p:cNvSpPr txBox="1"/>
          <p:nvPr/>
        </p:nvSpPr>
        <p:spPr>
          <a:xfrm>
            <a:off x="6419820" y="3052359"/>
            <a:ext cx="2032437" cy="21177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Knowledge base, integration</a:t>
            </a:r>
            <a:endParaRPr lang="en-US" sz="1150" dirty="0"/>
          </a:p>
        </p:txBody>
      </p:sp>
      <p:sp>
        <p:nvSpPr>
          <p:cNvPr id="31" name="A_9_2_fade_324"/>
          <p:cNvSpPr/>
          <p:nvPr/>
        </p:nvSpPr>
        <p:spPr>
          <a:xfrm>
            <a:off x="6225418" y="3543757"/>
            <a:ext cx="5354635" cy="1005108"/>
          </a:xfrm>
          <a:prstGeom prst="roundRect">
            <a:avLst>
              <a:gd name="adj" fmla="val 8843"/>
            </a:avLst>
          </a:prstGeom>
          <a:solidFill>
            <a:srgbClr val="F4F2E8"/>
          </a:solidFill>
          <a:ln w="9525">
            <a:solidFill>
              <a:srgbClr val="C9CAEB"/>
            </a:solidFill>
            <a:prstDash val="solid"/>
          </a:ln>
        </p:spPr>
      </p:sp>
      <p:sp>
        <p:nvSpPr>
          <p:cNvPr id="32" name="A_9_2_fade_325"/>
          <p:cNvSpPr txBox="1"/>
          <p:nvPr/>
        </p:nvSpPr>
        <p:spPr>
          <a:xfrm>
            <a:off x="6419820" y="3694725"/>
            <a:ext cx="2611161"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PHẦN LỚN MUA HOẶC CẤU HÌNH ĐƯỢC</a:t>
            </a:r>
            <a:endParaRPr lang="en-US" sz="950" dirty="0"/>
          </a:p>
        </p:txBody>
      </p:sp>
      <p:sp>
        <p:nvSpPr>
          <p:cNvPr id="33" name="A_9_2_fade_326"/>
          <p:cNvSpPr txBox="1"/>
          <p:nvPr/>
        </p:nvSpPr>
        <p:spPr>
          <a:xfrm>
            <a:off x="6419820" y="3917290"/>
            <a:ext cx="652150"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Phần 4</a:t>
            </a:r>
            <a:endParaRPr lang="en-US" sz="1400" dirty="0"/>
          </a:p>
        </p:txBody>
      </p:sp>
      <p:sp>
        <p:nvSpPr>
          <p:cNvPr id="34" name="A_9_2_fade_327"/>
          <p:cNvSpPr txBox="1"/>
          <p:nvPr/>
        </p:nvSpPr>
        <p:spPr>
          <a:xfrm>
            <a:off x="6419820" y="4176522"/>
            <a:ext cx="881207" cy="21177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Governance</a:t>
            </a:r>
            <a:endParaRPr lang="en-US" sz="1150" dirty="0"/>
          </a:p>
        </p:txBody>
      </p:sp>
      <p:sp>
        <p:nvSpPr>
          <p:cNvPr id="35" name="A_10_3_fade_328"/>
          <p:cNvSpPr/>
          <p:nvPr/>
        </p:nvSpPr>
        <p:spPr>
          <a:xfrm>
            <a:off x="6225418" y="4667921"/>
            <a:ext cx="5354635" cy="1005108"/>
          </a:xfrm>
          <a:prstGeom prst="roundRect">
            <a:avLst>
              <a:gd name="adj" fmla="val 8843"/>
            </a:avLst>
          </a:prstGeom>
          <a:solidFill>
            <a:srgbClr val="DCDBEA"/>
          </a:solidFill>
          <a:ln w="9525">
            <a:solidFill>
              <a:srgbClr val="1E2BFA"/>
            </a:solidFill>
            <a:prstDash val="solid"/>
          </a:ln>
        </p:spPr>
      </p:sp>
      <p:sp>
        <p:nvSpPr>
          <p:cNvPr id="36" name="A_10_3_fade_329"/>
          <p:cNvSpPr txBox="1"/>
          <p:nvPr/>
        </p:nvSpPr>
        <p:spPr>
          <a:xfrm>
            <a:off x="6419820" y="4818888"/>
            <a:ext cx="1933956"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CHÍNH LÀ VIẾT LẠI HARNESS</a:t>
            </a:r>
            <a:endParaRPr lang="en-US" sz="950" dirty="0"/>
          </a:p>
        </p:txBody>
      </p:sp>
      <p:sp>
        <p:nvSpPr>
          <p:cNvPr id="37" name="A_10_3_fade_330"/>
          <p:cNvSpPr txBox="1"/>
          <p:nvPr/>
        </p:nvSpPr>
        <p:spPr>
          <a:xfrm>
            <a:off x="6419820" y="5041362"/>
            <a:ext cx="1031443"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Phần 2 và 5</a:t>
            </a:r>
            <a:endParaRPr lang="en-US" sz="1400" dirty="0"/>
          </a:p>
        </p:txBody>
      </p:sp>
      <p:sp>
        <p:nvSpPr>
          <p:cNvPr id="38" name="A_10_3_fade_331"/>
          <p:cNvSpPr txBox="1"/>
          <p:nvPr/>
        </p:nvSpPr>
        <p:spPr>
          <a:xfrm>
            <a:off x="6419820" y="5300685"/>
            <a:ext cx="1560972" cy="211775"/>
          </a:xfrm>
          <a:prstGeom prst="rect">
            <a:avLst/>
          </a:prstGeom>
          <a:noFill/>
          <a:ln/>
        </p:spPr>
        <p:txBody>
          <a:bodyPr wrap="square" lIns="0" tIns="0" rIns="0" bIns="0" rtlCol="0" anchor="t"/>
          <a:lstStyle/>
          <a:p>
            <a:pPr algn="l" indent="0" marL="0">
              <a:lnSpc>
                <a:spcPts val="1668"/>
              </a:lnSpc>
              <a:buNone/>
            </a:pPr>
            <a:r>
              <a:rPr lang="en-US" sz="1150" dirty="0">
                <a:solidFill>
                  <a:srgbClr val="111111"/>
                </a:solidFill>
                <a:latin typeface="Inter" pitchFamily="34" charset="0"/>
                <a:ea typeface="Inter" pitchFamily="34" charset="-122"/>
                <a:cs typeface="Inter" pitchFamily="34" charset="-120"/>
              </a:rPr>
              <a:t>Orchestration, chat UI</a:t>
            </a:r>
            <a:endParaRPr lang="en-US" sz="1150" dirty="0"/>
          </a:p>
        </p:txBody>
      </p:sp>
      <p:sp>
        <p:nvSpPr>
          <p:cNvPr id="39" name="S_332"/>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40" name="S_333"/>
          <p:cNvSpPr txBox="1"/>
          <p:nvPr/>
        </p:nvSpPr>
        <p:spPr>
          <a:xfrm>
            <a:off x="11159703" y="6517660"/>
            <a:ext cx="498897"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09 / 25</a:t>
            </a:r>
            <a:endParaRPr lang="en-US" sz="900" dirty="0"/>
          </a:p>
        </p:txBody>
      </p:sp>
      <p:sp>
        <p:nvSpPr>
          <p:cNvPr id="41" name="S_334"/>
          <p:cNvSpPr/>
          <p:nvPr/>
        </p:nvSpPr>
        <p:spPr>
          <a:xfrm>
            <a:off x="0" y="6838980"/>
            <a:ext cx="438912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70" fill="hold">
                      <p:stCondLst>
                        <p:cond delay="indefinite"/>
                        <p:cond evt="onBegin" delay="0">
                          <p:tn val="2"/>
                        </p:cond>
                      </p:stCondLst>
                      <p:childTnLst>
                        <p:par>
                          <p:cTn id="6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22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33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33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33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33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44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44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44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55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55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55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55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66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66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66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66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77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77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grpId="0" nodeType="withEffect">
                                  <p:stCondLst>
                                    <p:cond delay="77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childTnLst>
                          </p:cTn>
                        </p:par>
                      </p:childTnLst>
                    </p:cTn>
                  </p:par>
                  <p:par>
                    <p:cTn id="84" fill="hold">
                      <p:stCondLst>
                        <p:cond delay="indefinite"/>
                      </p:stCondLst>
                      <p:childTnLst>
                        <p:par>
                          <p:cTn id="83"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childTnLst>
                          </p:cTn>
                        </p:par>
                      </p:childTnLst>
                    </p:cTn>
                  </p:par>
                  <p:par>
                    <p:cTn id="98" fill="hold">
                      <p:stCondLst>
                        <p:cond delay="indefinite"/>
                      </p:stCondLst>
                      <p:childTnLst>
                        <p:par>
                          <p:cTn id="97"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50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500"/>
                                        <p:tgtEl>
                                          <p:spTgt spid="34"/>
                                        </p:tgtEl>
                                      </p:cBhvr>
                                    </p:animEffect>
                                  </p:childTnLst>
                                </p:cTn>
                              </p:par>
                            </p:childTnLst>
                          </p:cTn>
                        </p:par>
                      </p:childTnLst>
                    </p:cTn>
                  </p:par>
                  <p:par>
                    <p:cTn id="112" fill="hold">
                      <p:stCondLst>
                        <p:cond delay="indefinite"/>
                      </p:stCondLst>
                      <p:childTnLst>
                        <p:par>
                          <p:cTn id="111"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500"/>
                                        <p:tgtEl>
                                          <p:spTgt spid="3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fade">
                                      <p:cBhvr>
                                        <p:cTn id="107" dur="500"/>
                                        <p:tgtEl>
                                          <p:spTgt spid="3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AE7"/>
        </a:solidFill>
      </p:bgPr>
    </p:bg>
    <p:spTree>
      <p:nvGrpSpPr>
        <p:cNvPr id="1" name=""/>
        <p:cNvGrpSpPr/>
        <p:nvPr/>
      </p:nvGrpSpPr>
      <p:grpSpPr>
        <a:xfrm>
          <a:off x="0" y="0"/>
          <a:ext cx="0" cy="0"/>
          <a:chOff x="0" y="0"/>
          <a:chExt cx="0" cy="0"/>
        </a:xfrm>
      </p:grpSpPr>
      <p:sp>
        <p:nvSpPr>
          <p:cNvPr id="2" name="S_335"/>
          <p:cNvSpPr txBox="1"/>
          <p:nvPr/>
        </p:nvSpPr>
        <p:spPr>
          <a:xfrm>
            <a:off x="609630" y="466070"/>
            <a:ext cx="2908798"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02 · BA KHÁI NIỆM · SO SÁNH NHANH</a:t>
            </a:r>
            <a:endParaRPr lang="en-US" sz="1100" dirty="0"/>
          </a:p>
        </p:txBody>
      </p:sp>
      <p:sp>
        <p:nvSpPr>
          <p:cNvPr id="3" name="S_336"/>
          <p:cNvSpPr/>
          <p:nvPr/>
        </p:nvSpPr>
        <p:spPr>
          <a:xfrm>
            <a:off x="9933950" y="412760"/>
            <a:ext cx="1648389" cy="292059"/>
          </a:xfrm>
          <a:prstGeom prst="roundRect">
            <a:avLst>
              <a:gd name="adj" fmla="val 50000"/>
            </a:avLst>
          </a:prstGeom>
          <a:solidFill>
            <a:srgbClr val="EBE9E9"/>
          </a:solidFill>
          <a:ln/>
        </p:spPr>
      </p:sp>
      <p:sp>
        <p:nvSpPr>
          <p:cNvPr id="4" name="S_337"/>
          <p:cNvSpPr txBox="1"/>
          <p:nvPr/>
        </p:nvSpPr>
        <p:spPr>
          <a:xfrm>
            <a:off x="10099091" y="476220"/>
            <a:ext cx="1423721"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3 cách làm · 8 tiêu chí</a:t>
            </a:r>
            <a:endParaRPr lang="en-US" sz="1000" dirty="0"/>
          </a:p>
        </p:txBody>
      </p:sp>
      <p:sp>
        <p:nvSpPr>
          <p:cNvPr id="5" name="A_0_0_fade_338"/>
          <p:cNvSpPr txBox="1"/>
          <p:nvPr/>
        </p:nvSpPr>
        <p:spPr>
          <a:xfrm>
            <a:off x="609630" y="806592"/>
            <a:ext cx="10642610" cy="824972"/>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So sánh nhanh: đề xuất giữ năng lực của vendor và sự đồng</a:t>
            </a:r>
            <a:endParaRPr lang="en-US" sz="2800" dirty="0"/>
          </a:p>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đều của platform</a:t>
            </a:r>
            <a:endParaRPr lang="en-US" sz="2800" dirty="0"/>
          </a:p>
        </p:txBody>
      </p:sp>
      <p:sp>
        <p:nvSpPr>
          <p:cNvPr id="6" name="S_339"/>
          <p:cNvSpPr/>
          <p:nvPr/>
        </p:nvSpPr>
        <p:spPr>
          <a:xfrm>
            <a:off x="612008" y="1901861"/>
            <a:ext cx="10968045" cy="4107851"/>
          </a:xfrm>
          <a:prstGeom prst="roundRect">
            <a:avLst>
              <a:gd name="adj" fmla="val 2164"/>
            </a:avLst>
          </a:prstGeom>
          <a:solidFill>
            <a:srgbClr val="F4F2E8"/>
          </a:solidFill>
          <a:ln w="9525">
            <a:solidFill>
              <a:srgbClr val="C9CAEB"/>
            </a:solidFill>
            <a:prstDash val="solid"/>
          </a:ln>
        </p:spPr>
      </p:sp>
      <p:sp>
        <p:nvSpPr>
          <p:cNvPr id="7" name="A_1_0_fade_340"/>
          <p:cNvSpPr/>
          <p:nvPr/>
        </p:nvSpPr>
        <p:spPr>
          <a:xfrm>
            <a:off x="615940" y="1905792"/>
            <a:ext cx="10960090" cy="406999"/>
          </a:xfrm>
          <a:prstGeom prst="roundRect">
            <a:avLst>
              <a:gd name="adj" fmla="val 19501"/>
            </a:avLst>
          </a:prstGeom>
          <a:solidFill>
            <a:srgbClr val="E3E2E9"/>
          </a:solidFill>
          <a:ln/>
        </p:spPr>
      </p:sp>
      <p:sp>
        <p:nvSpPr>
          <p:cNvPr id="8" name="A_1_0_fade_341"/>
          <p:cNvSpPr/>
          <p:nvPr/>
        </p:nvSpPr>
        <p:spPr>
          <a:xfrm>
            <a:off x="615940" y="2109246"/>
            <a:ext cx="10960090" cy="203454"/>
          </a:xfrm>
          <a:prstGeom prst="rect">
            <a:avLst/>
          </a:prstGeom>
          <a:solidFill>
            <a:srgbClr val="E3E2E9"/>
          </a:solidFill>
          <a:ln/>
        </p:spPr>
      </p:sp>
      <p:sp>
        <p:nvSpPr>
          <p:cNvPr id="9" name="A_1_0_fade_342"/>
          <p:cNvSpPr txBox="1"/>
          <p:nvPr/>
        </p:nvSpPr>
        <p:spPr>
          <a:xfrm>
            <a:off x="781080" y="2012503"/>
            <a:ext cx="593720"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TIÊU CHÍ</a:t>
            </a:r>
            <a:endParaRPr lang="en-US" sz="900" dirty="0"/>
          </a:p>
        </p:txBody>
      </p:sp>
      <p:sp>
        <p:nvSpPr>
          <p:cNvPr id="10" name="A_1_0_fade_343"/>
          <p:cNvSpPr txBox="1"/>
          <p:nvPr/>
        </p:nvSpPr>
        <p:spPr>
          <a:xfrm>
            <a:off x="2622591" y="2012503"/>
            <a:ext cx="2017898"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HARNESS CÁ NHÂN, KHÔNG KIT</a:t>
            </a:r>
            <a:endParaRPr lang="en-US" sz="900" dirty="0"/>
          </a:p>
        </p:txBody>
      </p:sp>
      <p:sp>
        <p:nvSpPr>
          <p:cNvPr id="11" name="A_1_0_fade_344"/>
          <p:cNvSpPr txBox="1"/>
          <p:nvPr/>
        </p:nvSpPr>
        <p:spPr>
          <a:xfrm>
            <a:off x="5545104" y="2012503"/>
            <a:ext cx="1937614"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PLATFORM, HARNESS TỰ VIẾT</a:t>
            </a:r>
            <a:endParaRPr lang="en-US" sz="900" dirty="0"/>
          </a:p>
        </p:txBody>
      </p:sp>
      <p:sp>
        <p:nvSpPr>
          <p:cNvPr id="12" name="A_1_0_fade_345"/>
          <p:cNvSpPr/>
          <p:nvPr/>
        </p:nvSpPr>
        <p:spPr>
          <a:xfrm>
            <a:off x="8467710" y="2013783"/>
            <a:ext cx="647670" cy="191110"/>
          </a:xfrm>
          <a:prstGeom prst="roundRect">
            <a:avLst>
              <a:gd name="adj" fmla="val 50000"/>
            </a:avLst>
          </a:prstGeom>
          <a:solidFill>
            <a:srgbClr val="1E2BFA"/>
          </a:solidFill>
          <a:ln/>
        </p:spPr>
      </p:sp>
      <p:sp>
        <p:nvSpPr>
          <p:cNvPr id="13" name="A_1_0_fade_346"/>
          <p:cNvSpPr txBox="1"/>
          <p:nvPr/>
        </p:nvSpPr>
        <p:spPr>
          <a:xfrm>
            <a:off x="8556589" y="2038838"/>
            <a:ext cx="546080" cy="140360"/>
          </a:xfrm>
          <a:prstGeom prst="rect">
            <a:avLst/>
          </a:prstGeom>
          <a:noFill/>
          <a:ln/>
        </p:spPr>
        <p:txBody>
          <a:bodyPr wrap="square" lIns="0" tIns="0" rIns="0" bIns="0" rtlCol="0" anchor="t"/>
          <a:lstStyle/>
          <a:p>
            <a:pPr algn="l" indent="0" marL="0">
              <a:lnSpc>
                <a:spcPts val="1105"/>
              </a:lnSpc>
              <a:buNone/>
            </a:pPr>
            <a:r>
              <a:rPr lang="en-US" sz="850" b="1" spc="51" kern="0" dirty="0">
                <a:solidFill>
                  <a:srgbClr val="FDFAE7"/>
                </a:solidFill>
                <a:latin typeface="Space Grotesk" pitchFamily="34" charset="0"/>
                <a:ea typeface="Space Grotesk" pitchFamily="34" charset="-122"/>
                <a:cs typeface="Space Grotesk" pitchFamily="34" charset="-120"/>
              </a:rPr>
              <a:t>ĐỀ XUẤT</a:t>
            </a:r>
            <a:endParaRPr lang="en-US" sz="850" dirty="0"/>
          </a:p>
        </p:txBody>
      </p:sp>
      <p:sp>
        <p:nvSpPr>
          <p:cNvPr id="14" name="A_2_0_fade_347"/>
          <p:cNvSpPr/>
          <p:nvPr/>
        </p:nvSpPr>
        <p:spPr>
          <a:xfrm>
            <a:off x="615940" y="2312792"/>
            <a:ext cx="10960090" cy="6309"/>
          </a:xfrm>
          <a:prstGeom prst="rect">
            <a:avLst/>
          </a:prstGeom>
          <a:solidFill>
            <a:srgbClr val="C9CAEB"/>
          </a:solidFill>
          <a:ln/>
        </p:spPr>
      </p:sp>
      <p:sp>
        <p:nvSpPr>
          <p:cNvPr id="15" name="A_2_0_fade_348"/>
          <p:cNvSpPr txBox="1"/>
          <p:nvPr/>
        </p:nvSpPr>
        <p:spPr>
          <a:xfrm>
            <a:off x="781080" y="2411181"/>
            <a:ext cx="1260043"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Năng lực agent</a:t>
            </a:r>
            <a:endParaRPr lang="en-US" sz="1250" dirty="0"/>
          </a:p>
        </p:txBody>
      </p:sp>
      <p:sp>
        <p:nvSpPr>
          <p:cNvPr id="16" name="A_2_0_fade_349"/>
          <p:cNvSpPr txBox="1"/>
          <p:nvPr/>
        </p:nvSpPr>
        <p:spPr>
          <a:xfrm>
            <a:off x="2622591" y="2412462"/>
            <a:ext cx="1580358"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Tốt nhất, theo vendor</a:t>
            </a:r>
            <a:endParaRPr lang="en-US" sz="1200" dirty="0"/>
          </a:p>
        </p:txBody>
      </p:sp>
      <p:sp>
        <p:nvSpPr>
          <p:cNvPr id="17" name="A_2_0_fade_350"/>
          <p:cNvSpPr txBox="1"/>
          <p:nvPr/>
        </p:nvSpPr>
        <p:spPr>
          <a:xfrm>
            <a:off x="5545104" y="2412462"/>
            <a:ext cx="1391717"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Tự viết, luôn đi sau</a:t>
            </a:r>
            <a:endParaRPr lang="en-US" sz="1200" dirty="0"/>
          </a:p>
        </p:txBody>
      </p:sp>
      <p:sp>
        <p:nvSpPr>
          <p:cNvPr id="18" name="A_2_0_fade_351"/>
          <p:cNvSpPr txBox="1"/>
          <p:nvPr/>
        </p:nvSpPr>
        <p:spPr>
          <a:xfrm>
            <a:off x="8467710" y="2412462"/>
            <a:ext cx="1580358" cy="213330"/>
          </a:xfrm>
          <a:prstGeom prst="rect">
            <a:avLst/>
          </a:prstGeom>
          <a:noFill/>
          <a:ln/>
        </p:spPr>
        <p:txBody>
          <a:bodyPr wrap="square" lIns="0" tIns="0" rIns="0" bIns="0" rtlCol="0" anchor="t"/>
          <a:lstStyle/>
          <a:p>
            <a:pPr algn="l" indent="0" marL="0">
              <a:lnSpc>
                <a:spcPts val="1680"/>
              </a:lnSpc>
              <a:buNone/>
            </a:pPr>
            <a:r>
              <a:rPr lang="en-US" sz="1200" dirty="0">
                <a:solidFill>
                  <a:srgbClr val="111111"/>
                </a:solidFill>
                <a:latin typeface="Inter" pitchFamily="34" charset="0"/>
                <a:ea typeface="Inter" pitchFamily="34" charset="-122"/>
                <a:cs typeface="Inter" pitchFamily="34" charset="-120"/>
              </a:rPr>
              <a:t>Tốt nhất, theo vendor</a:t>
            </a:r>
            <a:endParaRPr lang="en-US" sz="1200" dirty="0"/>
          </a:p>
        </p:txBody>
      </p:sp>
      <p:sp>
        <p:nvSpPr>
          <p:cNvPr id="19" name="A_3_0_fade_352"/>
          <p:cNvSpPr/>
          <p:nvPr/>
        </p:nvSpPr>
        <p:spPr>
          <a:xfrm>
            <a:off x="615940" y="2722992"/>
            <a:ext cx="10960090" cy="6309"/>
          </a:xfrm>
          <a:prstGeom prst="rect">
            <a:avLst/>
          </a:prstGeom>
          <a:solidFill>
            <a:srgbClr val="C9CAEB"/>
          </a:solidFill>
          <a:ln/>
        </p:spPr>
      </p:sp>
      <p:sp>
        <p:nvSpPr>
          <p:cNvPr id="20" name="A_3_0_fade_353"/>
          <p:cNvSpPr txBox="1"/>
          <p:nvPr/>
        </p:nvSpPr>
        <p:spPr>
          <a:xfrm>
            <a:off x="781080" y="2821381"/>
            <a:ext cx="1468709"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Kết quả đồng đều</a:t>
            </a:r>
            <a:endParaRPr lang="en-US" sz="1250" dirty="0"/>
          </a:p>
        </p:txBody>
      </p:sp>
      <p:sp>
        <p:nvSpPr>
          <p:cNvPr id="21" name="A_3_0_fade_354"/>
          <p:cNvSpPr txBox="1"/>
          <p:nvPr/>
        </p:nvSpPr>
        <p:spPr>
          <a:xfrm>
            <a:off x="2622591" y="2822661"/>
            <a:ext cx="1212129"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Phụ thuộc người</a:t>
            </a:r>
            <a:endParaRPr lang="en-US" sz="1200" dirty="0"/>
          </a:p>
        </p:txBody>
      </p:sp>
      <p:sp>
        <p:nvSpPr>
          <p:cNvPr id="22" name="A_3_0_fade_355"/>
          <p:cNvSpPr txBox="1"/>
          <p:nvPr/>
        </p:nvSpPr>
        <p:spPr>
          <a:xfrm>
            <a:off x="5545104" y="2822661"/>
            <a:ext cx="750905"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Đồng đều</a:t>
            </a:r>
            <a:endParaRPr lang="en-US" sz="1200" dirty="0"/>
          </a:p>
        </p:txBody>
      </p:sp>
      <p:sp>
        <p:nvSpPr>
          <p:cNvPr id="23" name="A_3_0_fade_356"/>
          <p:cNvSpPr txBox="1"/>
          <p:nvPr/>
        </p:nvSpPr>
        <p:spPr>
          <a:xfrm>
            <a:off x="8467710" y="2822661"/>
            <a:ext cx="1272205" cy="213330"/>
          </a:xfrm>
          <a:prstGeom prst="rect">
            <a:avLst/>
          </a:prstGeom>
          <a:noFill/>
          <a:ln/>
        </p:spPr>
        <p:txBody>
          <a:bodyPr wrap="square" lIns="0" tIns="0" rIns="0" bIns="0" rtlCol="0" anchor="t"/>
          <a:lstStyle/>
          <a:p>
            <a:pPr algn="l" indent="0" marL="0">
              <a:lnSpc>
                <a:spcPts val="1680"/>
              </a:lnSpc>
              <a:buNone/>
            </a:pPr>
            <a:r>
              <a:rPr lang="en-US" sz="1200" dirty="0">
                <a:solidFill>
                  <a:srgbClr val="111111"/>
                </a:solidFill>
                <a:latin typeface="Inter" pitchFamily="34" charset="0"/>
                <a:ea typeface="Inter" pitchFamily="34" charset="-122"/>
                <a:cs typeface="Inter" pitchFamily="34" charset="-120"/>
              </a:rPr>
              <a:t>Đồng đều nhờ kit</a:t>
            </a:r>
            <a:endParaRPr lang="en-US" sz="1200" dirty="0"/>
          </a:p>
        </p:txBody>
      </p:sp>
      <p:sp>
        <p:nvSpPr>
          <p:cNvPr id="24" name="A_4_0_fade_357"/>
          <p:cNvSpPr/>
          <p:nvPr/>
        </p:nvSpPr>
        <p:spPr>
          <a:xfrm>
            <a:off x="615940" y="3133100"/>
            <a:ext cx="10960090" cy="6309"/>
          </a:xfrm>
          <a:prstGeom prst="rect">
            <a:avLst/>
          </a:prstGeom>
          <a:solidFill>
            <a:srgbClr val="C9CAEB"/>
          </a:solidFill>
          <a:ln/>
        </p:spPr>
      </p:sp>
      <p:sp>
        <p:nvSpPr>
          <p:cNvPr id="25" name="A_4_0_fade_358"/>
          <p:cNvSpPr txBox="1"/>
          <p:nvPr/>
        </p:nvSpPr>
        <p:spPr>
          <a:xfrm>
            <a:off x="781080" y="3231581"/>
            <a:ext cx="1253094"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Dữ liệu tổ chức</a:t>
            </a:r>
            <a:endParaRPr lang="en-US" sz="1250" dirty="0"/>
          </a:p>
        </p:txBody>
      </p:sp>
      <p:sp>
        <p:nvSpPr>
          <p:cNvPr id="26" name="A_4_0_fade_359"/>
          <p:cNvSpPr txBox="1"/>
          <p:nvPr/>
        </p:nvSpPr>
        <p:spPr>
          <a:xfrm>
            <a:off x="2622591" y="3232861"/>
            <a:ext cx="1200790"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Mỗi người tự tìm</a:t>
            </a:r>
            <a:endParaRPr lang="en-US" sz="1200" dirty="0"/>
          </a:p>
        </p:txBody>
      </p:sp>
      <p:sp>
        <p:nvSpPr>
          <p:cNvPr id="27" name="A_4_0_fade_360"/>
          <p:cNvSpPr txBox="1"/>
          <p:nvPr/>
        </p:nvSpPr>
        <p:spPr>
          <a:xfrm>
            <a:off x="5545104" y="3232861"/>
            <a:ext cx="731977"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Tập trung</a:t>
            </a:r>
            <a:endParaRPr lang="en-US" sz="1200" dirty="0"/>
          </a:p>
        </p:txBody>
      </p:sp>
      <p:sp>
        <p:nvSpPr>
          <p:cNvPr id="28" name="A_4_0_fade_361"/>
          <p:cNvSpPr txBox="1"/>
          <p:nvPr/>
        </p:nvSpPr>
        <p:spPr>
          <a:xfrm>
            <a:off x="8467710" y="3232861"/>
            <a:ext cx="2520726" cy="213330"/>
          </a:xfrm>
          <a:prstGeom prst="rect">
            <a:avLst/>
          </a:prstGeom>
          <a:noFill/>
          <a:ln/>
        </p:spPr>
        <p:txBody>
          <a:bodyPr wrap="square" lIns="0" tIns="0" rIns="0" bIns="0" rtlCol="0" anchor="t"/>
          <a:lstStyle/>
          <a:p>
            <a:pPr algn="l" indent="0" marL="0">
              <a:lnSpc>
                <a:spcPts val="1680"/>
              </a:lnSpc>
              <a:buNone/>
            </a:pPr>
            <a:r>
              <a:rPr lang="en-US" sz="1200" dirty="0">
                <a:solidFill>
                  <a:srgbClr val="111111"/>
                </a:solidFill>
                <a:latin typeface="Inter" pitchFamily="34" charset="0"/>
                <a:ea typeface="Inter" pitchFamily="34" charset="-122"/>
                <a:cs typeface="Inter" pitchFamily="34" charset="-120"/>
              </a:rPr>
              <a:t>Tập trung, truy cập qua connector</a:t>
            </a:r>
            <a:endParaRPr lang="en-US" sz="1200" dirty="0"/>
          </a:p>
        </p:txBody>
      </p:sp>
      <p:sp>
        <p:nvSpPr>
          <p:cNvPr id="29" name="A_5_0_fade_362"/>
          <p:cNvSpPr/>
          <p:nvPr/>
        </p:nvSpPr>
        <p:spPr>
          <a:xfrm>
            <a:off x="615940" y="3543300"/>
            <a:ext cx="10960090" cy="6309"/>
          </a:xfrm>
          <a:prstGeom prst="rect">
            <a:avLst/>
          </a:prstGeom>
          <a:solidFill>
            <a:srgbClr val="C9CAEB"/>
          </a:solidFill>
          <a:ln/>
        </p:spPr>
      </p:sp>
      <p:sp>
        <p:nvSpPr>
          <p:cNvPr id="30" name="A_5_0_fade_363"/>
          <p:cNvSpPr txBox="1"/>
          <p:nvPr/>
        </p:nvSpPr>
        <p:spPr>
          <a:xfrm>
            <a:off x="781080" y="3641689"/>
            <a:ext cx="987369"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Governance</a:t>
            </a:r>
            <a:endParaRPr lang="en-US" sz="1250" dirty="0"/>
          </a:p>
        </p:txBody>
      </p:sp>
      <p:sp>
        <p:nvSpPr>
          <p:cNvPr id="31" name="A_5_0_fade_364"/>
          <p:cNvSpPr txBox="1"/>
          <p:nvPr/>
        </p:nvSpPr>
        <p:spPr>
          <a:xfrm>
            <a:off x="2622591" y="3642970"/>
            <a:ext cx="548000"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Rời rạc</a:t>
            </a:r>
            <a:endParaRPr lang="en-US" sz="1200" dirty="0"/>
          </a:p>
        </p:txBody>
      </p:sp>
      <p:sp>
        <p:nvSpPr>
          <p:cNvPr id="32" name="A_5_0_fade_365"/>
          <p:cNvSpPr txBox="1"/>
          <p:nvPr/>
        </p:nvSpPr>
        <p:spPr>
          <a:xfrm>
            <a:off x="5545104" y="3642970"/>
            <a:ext cx="731977"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Tập trung</a:t>
            </a:r>
            <a:endParaRPr lang="en-US" sz="1200" dirty="0"/>
          </a:p>
        </p:txBody>
      </p:sp>
      <p:sp>
        <p:nvSpPr>
          <p:cNvPr id="33" name="A_5_0_fade_366"/>
          <p:cNvSpPr txBox="1"/>
          <p:nvPr/>
        </p:nvSpPr>
        <p:spPr>
          <a:xfrm>
            <a:off x="8467710" y="3642970"/>
            <a:ext cx="2213945" cy="213330"/>
          </a:xfrm>
          <a:prstGeom prst="rect">
            <a:avLst/>
          </a:prstGeom>
          <a:noFill/>
          <a:ln/>
        </p:spPr>
        <p:txBody>
          <a:bodyPr wrap="square" lIns="0" tIns="0" rIns="0" bIns="0" rtlCol="0" anchor="t"/>
          <a:lstStyle/>
          <a:p>
            <a:pPr algn="l" indent="0" marL="0">
              <a:lnSpc>
                <a:spcPts val="1680"/>
              </a:lnSpc>
              <a:buNone/>
            </a:pPr>
            <a:r>
              <a:rPr lang="en-US" sz="1200" dirty="0">
                <a:solidFill>
                  <a:srgbClr val="111111"/>
                </a:solidFill>
                <a:latin typeface="Inter" pitchFamily="34" charset="0"/>
                <a:ea typeface="Inter" pitchFamily="34" charset="-122"/>
                <a:cs typeface="Inter" pitchFamily="34" charset="-120"/>
              </a:rPr>
              <a:t>Tập trung ở gateway và policy</a:t>
            </a:r>
            <a:endParaRPr lang="en-US" sz="1200" dirty="0"/>
          </a:p>
        </p:txBody>
      </p:sp>
      <p:sp>
        <p:nvSpPr>
          <p:cNvPr id="34" name="A_6_0_fade_367"/>
          <p:cNvSpPr/>
          <p:nvPr/>
        </p:nvSpPr>
        <p:spPr>
          <a:xfrm>
            <a:off x="615940" y="3953500"/>
            <a:ext cx="10960090" cy="6309"/>
          </a:xfrm>
          <a:prstGeom prst="rect">
            <a:avLst/>
          </a:prstGeom>
          <a:solidFill>
            <a:srgbClr val="C9CAEB"/>
          </a:solidFill>
          <a:ln/>
        </p:spPr>
      </p:sp>
      <p:sp>
        <p:nvSpPr>
          <p:cNvPr id="35" name="A_6_0_fade_368"/>
          <p:cNvSpPr txBox="1"/>
          <p:nvPr/>
        </p:nvSpPr>
        <p:spPr>
          <a:xfrm>
            <a:off x="781080" y="4051889"/>
            <a:ext cx="1464869"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Tự động hoá end-to-end</a:t>
            </a:r>
            <a:endParaRPr lang="en-US" sz="1250" dirty="0"/>
          </a:p>
        </p:txBody>
      </p:sp>
      <p:sp>
        <p:nvSpPr>
          <p:cNvPr id="36" name="A_6_0_fade_369"/>
          <p:cNvSpPr txBox="1"/>
          <p:nvPr/>
        </p:nvSpPr>
        <p:spPr>
          <a:xfrm>
            <a:off x="2622591" y="4053169"/>
            <a:ext cx="2219340"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Không, khi chỉ dùng tương tác</a:t>
            </a:r>
            <a:endParaRPr lang="en-US" sz="1200" dirty="0"/>
          </a:p>
        </p:txBody>
      </p:sp>
      <p:sp>
        <p:nvSpPr>
          <p:cNvPr id="37" name="A_6_0_fade_370"/>
          <p:cNvSpPr txBox="1"/>
          <p:nvPr/>
        </p:nvSpPr>
        <p:spPr>
          <a:xfrm>
            <a:off x="5545104" y="4053169"/>
            <a:ext cx="273954"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Có</a:t>
            </a:r>
            <a:endParaRPr lang="en-US" sz="1200" dirty="0"/>
          </a:p>
        </p:txBody>
      </p:sp>
      <p:sp>
        <p:nvSpPr>
          <p:cNvPr id="38" name="A_6_0_fade_371"/>
          <p:cNvSpPr txBox="1"/>
          <p:nvPr/>
        </p:nvSpPr>
        <p:spPr>
          <a:xfrm>
            <a:off x="8467710" y="4053169"/>
            <a:ext cx="3021269" cy="213330"/>
          </a:xfrm>
          <a:prstGeom prst="rect">
            <a:avLst/>
          </a:prstGeom>
          <a:noFill/>
          <a:ln/>
        </p:spPr>
        <p:txBody>
          <a:bodyPr wrap="square" lIns="0" tIns="0" rIns="0" bIns="0" rtlCol="0" anchor="t"/>
          <a:lstStyle/>
          <a:p>
            <a:pPr algn="l" indent="0" marL="0">
              <a:lnSpc>
                <a:spcPts val="1680"/>
              </a:lnSpc>
              <a:buNone/>
            </a:pPr>
            <a:r>
              <a:rPr lang="en-US" sz="1200" dirty="0">
                <a:solidFill>
                  <a:srgbClr val="111111"/>
                </a:solidFill>
                <a:latin typeface="Inter" pitchFamily="34" charset="0"/>
                <a:ea typeface="Inter" pitchFamily="34" charset="-122"/>
                <a:cs typeface="Inter" pitchFamily="34" charset="-120"/>
              </a:rPr>
              <a:t>Có: chạy headless, dừng ở approval gate</a:t>
            </a:r>
            <a:endParaRPr lang="en-US" sz="1200" dirty="0"/>
          </a:p>
        </p:txBody>
      </p:sp>
      <p:sp>
        <p:nvSpPr>
          <p:cNvPr id="39" name="A_7_0_fade_372"/>
          <p:cNvSpPr/>
          <p:nvPr/>
        </p:nvSpPr>
        <p:spPr>
          <a:xfrm>
            <a:off x="615940" y="4569440"/>
            <a:ext cx="10960090" cy="6309"/>
          </a:xfrm>
          <a:prstGeom prst="rect">
            <a:avLst/>
          </a:prstGeom>
          <a:solidFill>
            <a:srgbClr val="C9CAEB"/>
          </a:solidFill>
          <a:ln/>
        </p:spPr>
      </p:sp>
      <p:sp>
        <p:nvSpPr>
          <p:cNvPr id="40" name="A_7_0_fade_373"/>
          <p:cNvSpPr txBox="1"/>
          <p:nvPr/>
        </p:nvSpPr>
        <p:spPr>
          <a:xfrm>
            <a:off x="781080" y="4667829"/>
            <a:ext cx="918698"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Chi phí xây</a:t>
            </a:r>
            <a:endParaRPr lang="en-US" sz="1250" dirty="0"/>
          </a:p>
        </p:txBody>
      </p:sp>
      <p:sp>
        <p:nvSpPr>
          <p:cNvPr id="41" name="A_7_0_fade_374"/>
          <p:cNvSpPr txBox="1"/>
          <p:nvPr/>
        </p:nvSpPr>
        <p:spPr>
          <a:xfrm>
            <a:off x="2622591" y="4669109"/>
            <a:ext cx="1139800"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Gần như không</a:t>
            </a:r>
            <a:endParaRPr lang="en-US" sz="1200" dirty="0"/>
          </a:p>
        </p:txBody>
      </p:sp>
      <p:sp>
        <p:nvSpPr>
          <p:cNvPr id="42" name="A_7_0_fade_375"/>
          <p:cNvSpPr txBox="1"/>
          <p:nvPr/>
        </p:nvSpPr>
        <p:spPr>
          <a:xfrm>
            <a:off x="5545104" y="4669109"/>
            <a:ext cx="1096914"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Cao và kéo dài</a:t>
            </a:r>
            <a:endParaRPr lang="en-US" sz="1200" dirty="0"/>
          </a:p>
        </p:txBody>
      </p:sp>
      <p:sp>
        <p:nvSpPr>
          <p:cNvPr id="43" name="A_7_0_fade_376"/>
          <p:cNvSpPr txBox="1"/>
          <p:nvPr/>
        </p:nvSpPr>
        <p:spPr>
          <a:xfrm>
            <a:off x="8467710" y="4669109"/>
            <a:ext cx="2753624" cy="213330"/>
          </a:xfrm>
          <a:prstGeom prst="rect">
            <a:avLst/>
          </a:prstGeom>
          <a:noFill/>
          <a:ln/>
        </p:spPr>
        <p:txBody>
          <a:bodyPr wrap="square" lIns="0" tIns="0" rIns="0" bIns="0" rtlCol="0" anchor="t"/>
          <a:lstStyle/>
          <a:p>
            <a:pPr algn="l" indent="0" marL="0">
              <a:lnSpc>
                <a:spcPts val="1680"/>
              </a:lnSpc>
              <a:buNone/>
            </a:pPr>
            <a:r>
              <a:rPr lang="en-US" sz="1200" dirty="0">
                <a:solidFill>
                  <a:srgbClr val="111111"/>
                </a:solidFill>
                <a:latin typeface="Inter" pitchFamily="34" charset="0"/>
                <a:ea typeface="Inter" pitchFamily="34" charset="-122"/>
                <a:cs typeface="Inter" pitchFamily="34" charset="-120"/>
              </a:rPr>
              <a:t>Vừa phải, dồn vào phần tạo khác biệt</a:t>
            </a:r>
            <a:endParaRPr lang="en-US" sz="1200" dirty="0"/>
          </a:p>
        </p:txBody>
      </p:sp>
      <p:sp>
        <p:nvSpPr>
          <p:cNvPr id="44" name="A_8_0_fade_377"/>
          <p:cNvSpPr/>
          <p:nvPr/>
        </p:nvSpPr>
        <p:spPr>
          <a:xfrm>
            <a:off x="615940" y="4979548"/>
            <a:ext cx="10960090" cy="6309"/>
          </a:xfrm>
          <a:prstGeom prst="rect">
            <a:avLst/>
          </a:prstGeom>
          <a:solidFill>
            <a:srgbClr val="C9CAEB"/>
          </a:solidFill>
          <a:ln/>
        </p:spPr>
      </p:sp>
      <p:sp>
        <p:nvSpPr>
          <p:cNvPr id="45" name="A_8_0_fade_378"/>
          <p:cNvSpPr txBox="1"/>
          <p:nvPr/>
        </p:nvSpPr>
        <p:spPr>
          <a:xfrm>
            <a:off x="781080" y="5078029"/>
            <a:ext cx="1085941" cy="41907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Khi vendor ra</a:t>
            </a:r>
            <a:endParaRPr lang="en-US" sz="1250" dirty="0"/>
          </a:p>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feature mới</a:t>
            </a:r>
            <a:endParaRPr lang="en-US" sz="1250" dirty="0"/>
          </a:p>
        </p:txBody>
      </p:sp>
      <p:sp>
        <p:nvSpPr>
          <p:cNvPr id="46" name="A_8_0_fade_379"/>
          <p:cNvSpPr txBox="1"/>
          <p:nvPr/>
        </p:nvSpPr>
        <p:spPr>
          <a:xfrm>
            <a:off x="2622591" y="5079309"/>
            <a:ext cx="650047"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Có ngay</a:t>
            </a:r>
            <a:endParaRPr lang="en-US" sz="1200" dirty="0"/>
          </a:p>
        </p:txBody>
      </p:sp>
      <p:sp>
        <p:nvSpPr>
          <p:cNvPr id="47" name="A_8_0_fade_380"/>
          <p:cNvSpPr txBox="1"/>
          <p:nvPr/>
        </p:nvSpPr>
        <p:spPr>
          <a:xfrm>
            <a:off x="5545104" y="5079309"/>
            <a:ext cx="1030712"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Phải tự làm lại</a:t>
            </a:r>
            <a:endParaRPr lang="en-US" sz="1200" dirty="0"/>
          </a:p>
        </p:txBody>
      </p:sp>
      <p:sp>
        <p:nvSpPr>
          <p:cNvPr id="48" name="A_8_0_fade_381"/>
          <p:cNvSpPr txBox="1"/>
          <p:nvPr/>
        </p:nvSpPr>
        <p:spPr>
          <a:xfrm>
            <a:off x="8467710" y="5079309"/>
            <a:ext cx="650047" cy="213330"/>
          </a:xfrm>
          <a:prstGeom prst="rect">
            <a:avLst/>
          </a:prstGeom>
          <a:noFill/>
          <a:ln/>
        </p:spPr>
        <p:txBody>
          <a:bodyPr wrap="square" lIns="0" tIns="0" rIns="0" bIns="0" rtlCol="0" anchor="t"/>
          <a:lstStyle/>
          <a:p>
            <a:pPr algn="l" indent="0" marL="0">
              <a:lnSpc>
                <a:spcPts val="1680"/>
              </a:lnSpc>
              <a:buNone/>
            </a:pPr>
            <a:r>
              <a:rPr lang="en-US" sz="1200" dirty="0">
                <a:solidFill>
                  <a:srgbClr val="111111"/>
                </a:solidFill>
                <a:latin typeface="Inter" pitchFamily="34" charset="0"/>
                <a:ea typeface="Inter" pitchFamily="34" charset="-122"/>
                <a:cs typeface="Inter" pitchFamily="34" charset="-120"/>
              </a:rPr>
              <a:t>Có ngay</a:t>
            </a:r>
            <a:endParaRPr lang="en-US" sz="1200" dirty="0"/>
          </a:p>
        </p:txBody>
      </p:sp>
      <p:sp>
        <p:nvSpPr>
          <p:cNvPr id="49" name="A_9_0_fade_382"/>
          <p:cNvSpPr/>
          <p:nvPr/>
        </p:nvSpPr>
        <p:spPr>
          <a:xfrm>
            <a:off x="615940" y="5595579"/>
            <a:ext cx="10960090" cy="6309"/>
          </a:xfrm>
          <a:prstGeom prst="rect">
            <a:avLst/>
          </a:prstGeom>
          <a:solidFill>
            <a:srgbClr val="C9CAEB"/>
          </a:solidFill>
          <a:ln/>
        </p:spPr>
      </p:sp>
      <p:sp>
        <p:nvSpPr>
          <p:cNvPr id="50" name="A_9_0_fade_383"/>
          <p:cNvSpPr txBox="1"/>
          <p:nvPr/>
        </p:nvSpPr>
        <p:spPr>
          <a:xfrm>
            <a:off x="781080" y="5693969"/>
            <a:ext cx="1188171"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Phụ thuộc vào</a:t>
            </a:r>
            <a:endParaRPr lang="en-US" sz="1250" dirty="0"/>
          </a:p>
        </p:txBody>
      </p:sp>
      <p:sp>
        <p:nvSpPr>
          <p:cNvPr id="51" name="A_9_0_fade_384"/>
          <p:cNvSpPr txBox="1"/>
          <p:nvPr/>
        </p:nvSpPr>
        <p:spPr>
          <a:xfrm>
            <a:off x="2622591" y="5695249"/>
            <a:ext cx="569488"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Vendor</a:t>
            </a:r>
            <a:endParaRPr lang="en-US" sz="1200" dirty="0"/>
          </a:p>
        </p:txBody>
      </p:sp>
      <p:sp>
        <p:nvSpPr>
          <p:cNvPr id="52" name="A_9_0_fade_385"/>
          <p:cNvSpPr txBox="1"/>
          <p:nvPr/>
        </p:nvSpPr>
        <p:spPr>
          <a:xfrm>
            <a:off x="5545104" y="5695249"/>
            <a:ext cx="1644640"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Chính hệ thống tự viết</a:t>
            </a:r>
            <a:endParaRPr lang="en-US" sz="1200" dirty="0"/>
          </a:p>
        </p:txBody>
      </p:sp>
      <p:sp>
        <p:nvSpPr>
          <p:cNvPr id="53" name="A_9_0_fade_386"/>
          <p:cNvSpPr txBox="1"/>
          <p:nvPr/>
        </p:nvSpPr>
        <p:spPr>
          <a:xfrm>
            <a:off x="8467710" y="5695249"/>
            <a:ext cx="2127443" cy="213330"/>
          </a:xfrm>
          <a:prstGeom prst="rect">
            <a:avLst/>
          </a:prstGeom>
          <a:noFill/>
          <a:ln/>
        </p:spPr>
        <p:txBody>
          <a:bodyPr wrap="square" lIns="0" tIns="0" rIns="0" bIns="0" rtlCol="0" anchor="t"/>
          <a:lstStyle/>
          <a:p>
            <a:pPr algn="l" indent="0" marL="0">
              <a:lnSpc>
                <a:spcPts val="1680"/>
              </a:lnSpc>
              <a:buNone/>
            </a:pPr>
            <a:r>
              <a:rPr lang="en-US" sz="1200" dirty="0">
                <a:solidFill>
                  <a:srgbClr val="111111"/>
                </a:solidFill>
                <a:latin typeface="Inter" pitchFamily="34" charset="0"/>
                <a:ea typeface="Inter" pitchFamily="34" charset="-122"/>
                <a:cs typeface="Inter" pitchFamily="34" charset="-120"/>
              </a:rPr>
              <a:t>Chuẩn mở; đổi harness được</a:t>
            </a:r>
            <a:endParaRPr lang="en-US" sz="1200" dirty="0"/>
          </a:p>
        </p:txBody>
      </p:sp>
      <p:sp>
        <p:nvSpPr>
          <p:cNvPr id="54" name="S_387"/>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55" name="S_388"/>
          <p:cNvSpPr txBox="1"/>
          <p:nvPr/>
        </p:nvSpPr>
        <p:spPr>
          <a:xfrm>
            <a:off x="11180369" y="6517660"/>
            <a:ext cx="478231"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10 / 25</a:t>
            </a:r>
            <a:endParaRPr lang="en-US" sz="900" dirty="0"/>
          </a:p>
        </p:txBody>
      </p:sp>
      <p:sp>
        <p:nvSpPr>
          <p:cNvPr id="56" name="S_389"/>
          <p:cNvSpPr/>
          <p:nvPr/>
        </p:nvSpPr>
        <p:spPr>
          <a:xfrm>
            <a:off x="0" y="6838980"/>
            <a:ext cx="487677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48" fill="hold">
                      <p:stCondLst>
                        <p:cond delay="indefinite"/>
                        <p:cond evt="onBegin" delay="0">
                          <p:tn val="2"/>
                        </p:cond>
                      </p:stCondLst>
                      <p:childTnLst>
                        <p:par>
                          <p:cTn id="14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0" presetClass="entr" presetSubtype="0" fill="hold" grpId="0" nodeType="withEffect">
                                  <p:stCondLst>
                                    <p:cond delay="11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11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11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11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10" presetClass="entr" presetSubtype="0" fill="hold" grpId="0" nodeType="withEffect">
                                  <p:stCondLst>
                                    <p:cond delay="22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22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22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22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22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33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grpId="0" nodeType="withEffect">
                                  <p:stCondLst>
                                    <p:cond delay="33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grpId="0" nodeType="withEffect">
                                  <p:stCondLst>
                                    <p:cond delay="33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grpId="0" nodeType="withEffect">
                                  <p:stCondLst>
                                    <p:cond delay="33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par>
                                <p:cTn id="54" presetID="10" presetClass="entr" presetSubtype="0" fill="hold" grpId="0" nodeType="withEffect">
                                  <p:stCondLst>
                                    <p:cond delay="33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grpId="0" nodeType="withEffect">
                                  <p:stCondLst>
                                    <p:cond delay="44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grpId="0" nodeType="withEffect">
                                  <p:stCondLst>
                                    <p:cond delay="44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grpId="0" nodeType="withEffect">
                                  <p:stCondLst>
                                    <p:cond delay="44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par>
                                <p:cTn id="66" presetID="10" presetClass="entr" presetSubtype="0" fill="hold" grpId="0" nodeType="withEffect">
                                  <p:stCondLst>
                                    <p:cond delay="44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par>
                                <p:cTn id="69" presetID="10" presetClass="entr" presetSubtype="0" fill="hold" grpId="0" nodeType="withEffect">
                                  <p:stCondLst>
                                    <p:cond delay="44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500"/>
                                        <p:tgtEl>
                                          <p:spTgt spid="28"/>
                                        </p:tgtEl>
                                      </p:cBhvr>
                                    </p:animEffect>
                                  </p:childTnLst>
                                </p:cTn>
                              </p:par>
                              <p:par>
                                <p:cTn id="72" presetID="10" presetClass="entr" presetSubtype="0" fill="hold" grpId="0" nodeType="withEffect">
                                  <p:stCondLst>
                                    <p:cond delay="55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00"/>
                                        <p:tgtEl>
                                          <p:spTgt spid="29"/>
                                        </p:tgtEl>
                                      </p:cBhvr>
                                    </p:animEffect>
                                  </p:childTnLst>
                                </p:cTn>
                              </p:par>
                              <p:par>
                                <p:cTn id="75" presetID="10" presetClass="entr" presetSubtype="0" fill="hold" grpId="0" nodeType="withEffect">
                                  <p:stCondLst>
                                    <p:cond delay="55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500"/>
                                        <p:tgtEl>
                                          <p:spTgt spid="30"/>
                                        </p:tgtEl>
                                      </p:cBhvr>
                                    </p:animEffect>
                                  </p:childTnLst>
                                </p:cTn>
                              </p:par>
                              <p:par>
                                <p:cTn id="78" presetID="10" presetClass="entr" presetSubtype="0" fill="hold" grpId="0" nodeType="withEffect">
                                  <p:stCondLst>
                                    <p:cond delay="55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500"/>
                                        <p:tgtEl>
                                          <p:spTgt spid="31"/>
                                        </p:tgtEl>
                                      </p:cBhvr>
                                    </p:animEffect>
                                  </p:childTnLst>
                                </p:cTn>
                              </p:par>
                              <p:par>
                                <p:cTn id="81" presetID="10" presetClass="entr" presetSubtype="0" fill="hold" grpId="0" nodeType="withEffect">
                                  <p:stCondLst>
                                    <p:cond delay="55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500"/>
                                        <p:tgtEl>
                                          <p:spTgt spid="32"/>
                                        </p:tgtEl>
                                      </p:cBhvr>
                                    </p:animEffect>
                                  </p:childTnLst>
                                </p:cTn>
                              </p:par>
                              <p:par>
                                <p:cTn id="84" presetID="10" presetClass="entr" presetSubtype="0" fill="hold" grpId="0" nodeType="withEffect">
                                  <p:stCondLst>
                                    <p:cond delay="55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500"/>
                                        <p:tgtEl>
                                          <p:spTgt spid="33"/>
                                        </p:tgtEl>
                                      </p:cBhvr>
                                    </p:animEffect>
                                  </p:childTnLst>
                                </p:cTn>
                              </p:par>
                              <p:par>
                                <p:cTn id="87" presetID="10" presetClass="entr" presetSubtype="0" fill="hold" grpId="0" nodeType="withEffect">
                                  <p:stCondLst>
                                    <p:cond delay="660"/>
                                  </p:stCondLst>
                                  <p:childTnLst>
                                    <p:set>
                                      <p:cBhvr>
                                        <p:cTn id="88" dur="1" fill="hold">
                                          <p:stCondLst>
                                            <p:cond delay="0"/>
                                          </p:stCondLst>
                                        </p:cTn>
                                        <p:tgtEl>
                                          <p:spTgt spid="34"/>
                                        </p:tgtEl>
                                        <p:attrNameLst>
                                          <p:attrName>style.visibility</p:attrName>
                                        </p:attrNameLst>
                                      </p:cBhvr>
                                      <p:to>
                                        <p:strVal val="visible"/>
                                      </p:to>
                                    </p:set>
                                    <p:animEffect transition="in" filter="fade">
                                      <p:cBhvr>
                                        <p:cTn id="89" dur="500"/>
                                        <p:tgtEl>
                                          <p:spTgt spid="34"/>
                                        </p:tgtEl>
                                      </p:cBhvr>
                                    </p:animEffect>
                                  </p:childTnLst>
                                </p:cTn>
                              </p:par>
                              <p:par>
                                <p:cTn id="90" presetID="10" presetClass="entr" presetSubtype="0" fill="hold" grpId="0" nodeType="withEffect">
                                  <p:stCondLst>
                                    <p:cond delay="66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500"/>
                                        <p:tgtEl>
                                          <p:spTgt spid="35"/>
                                        </p:tgtEl>
                                      </p:cBhvr>
                                    </p:animEffect>
                                  </p:childTnLst>
                                </p:cTn>
                              </p:par>
                              <p:par>
                                <p:cTn id="93" presetID="10" presetClass="entr" presetSubtype="0" fill="hold" grpId="0" nodeType="withEffect">
                                  <p:stCondLst>
                                    <p:cond delay="66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500"/>
                                        <p:tgtEl>
                                          <p:spTgt spid="36"/>
                                        </p:tgtEl>
                                      </p:cBhvr>
                                    </p:animEffect>
                                  </p:childTnLst>
                                </p:cTn>
                              </p:par>
                              <p:par>
                                <p:cTn id="96" presetID="10" presetClass="entr" presetSubtype="0" fill="hold" grpId="0" nodeType="withEffect">
                                  <p:stCondLst>
                                    <p:cond delay="660"/>
                                  </p:stCondLst>
                                  <p:childTnLst>
                                    <p:set>
                                      <p:cBhvr>
                                        <p:cTn id="97" dur="1" fill="hold">
                                          <p:stCondLst>
                                            <p:cond delay="0"/>
                                          </p:stCondLst>
                                        </p:cTn>
                                        <p:tgtEl>
                                          <p:spTgt spid="37"/>
                                        </p:tgtEl>
                                        <p:attrNameLst>
                                          <p:attrName>style.visibility</p:attrName>
                                        </p:attrNameLst>
                                      </p:cBhvr>
                                      <p:to>
                                        <p:strVal val="visible"/>
                                      </p:to>
                                    </p:set>
                                    <p:animEffect transition="in" filter="fade">
                                      <p:cBhvr>
                                        <p:cTn id="98" dur="500"/>
                                        <p:tgtEl>
                                          <p:spTgt spid="37"/>
                                        </p:tgtEl>
                                      </p:cBhvr>
                                    </p:animEffect>
                                  </p:childTnLst>
                                </p:cTn>
                              </p:par>
                              <p:par>
                                <p:cTn id="99" presetID="10" presetClass="entr" presetSubtype="0" fill="hold" grpId="0" nodeType="withEffect">
                                  <p:stCondLst>
                                    <p:cond delay="66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500"/>
                                        <p:tgtEl>
                                          <p:spTgt spid="38"/>
                                        </p:tgtEl>
                                      </p:cBhvr>
                                    </p:animEffect>
                                  </p:childTnLst>
                                </p:cTn>
                              </p:par>
                              <p:par>
                                <p:cTn id="102" presetID="10" presetClass="entr" presetSubtype="0" fill="hold" grpId="0" nodeType="withEffect">
                                  <p:stCondLst>
                                    <p:cond delay="77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4" dur="500"/>
                                        <p:tgtEl>
                                          <p:spTgt spid="39"/>
                                        </p:tgtEl>
                                      </p:cBhvr>
                                    </p:animEffect>
                                  </p:childTnLst>
                                </p:cTn>
                              </p:par>
                              <p:par>
                                <p:cTn id="105" presetID="10" presetClass="entr" presetSubtype="0" fill="hold" grpId="0" nodeType="withEffect">
                                  <p:stCondLst>
                                    <p:cond delay="770"/>
                                  </p:stCondLst>
                                  <p:childTnLst>
                                    <p:set>
                                      <p:cBhvr>
                                        <p:cTn id="106" dur="1" fill="hold">
                                          <p:stCondLst>
                                            <p:cond delay="0"/>
                                          </p:stCondLst>
                                        </p:cTn>
                                        <p:tgtEl>
                                          <p:spTgt spid="40"/>
                                        </p:tgtEl>
                                        <p:attrNameLst>
                                          <p:attrName>style.visibility</p:attrName>
                                        </p:attrNameLst>
                                      </p:cBhvr>
                                      <p:to>
                                        <p:strVal val="visible"/>
                                      </p:to>
                                    </p:set>
                                    <p:animEffect transition="in" filter="fade">
                                      <p:cBhvr>
                                        <p:cTn id="107" dur="500"/>
                                        <p:tgtEl>
                                          <p:spTgt spid="40"/>
                                        </p:tgtEl>
                                      </p:cBhvr>
                                    </p:animEffect>
                                  </p:childTnLst>
                                </p:cTn>
                              </p:par>
                              <p:par>
                                <p:cTn id="108" presetID="10" presetClass="entr" presetSubtype="0" fill="hold" grpId="0" nodeType="withEffect">
                                  <p:stCondLst>
                                    <p:cond delay="770"/>
                                  </p:stCondLst>
                                  <p:childTnLst>
                                    <p:set>
                                      <p:cBhvr>
                                        <p:cTn id="109" dur="1" fill="hold">
                                          <p:stCondLst>
                                            <p:cond delay="0"/>
                                          </p:stCondLst>
                                        </p:cTn>
                                        <p:tgtEl>
                                          <p:spTgt spid="41"/>
                                        </p:tgtEl>
                                        <p:attrNameLst>
                                          <p:attrName>style.visibility</p:attrName>
                                        </p:attrNameLst>
                                      </p:cBhvr>
                                      <p:to>
                                        <p:strVal val="visible"/>
                                      </p:to>
                                    </p:set>
                                    <p:animEffect transition="in" filter="fade">
                                      <p:cBhvr>
                                        <p:cTn id="110" dur="500"/>
                                        <p:tgtEl>
                                          <p:spTgt spid="41"/>
                                        </p:tgtEl>
                                      </p:cBhvr>
                                    </p:animEffect>
                                  </p:childTnLst>
                                </p:cTn>
                              </p:par>
                              <p:par>
                                <p:cTn id="111" presetID="10" presetClass="entr" presetSubtype="0" fill="hold" grpId="0" nodeType="withEffect">
                                  <p:stCondLst>
                                    <p:cond delay="770"/>
                                  </p:stCondLst>
                                  <p:childTnLst>
                                    <p:set>
                                      <p:cBhvr>
                                        <p:cTn id="112" dur="1" fill="hold">
                                          <p:stCondLst>
                                            <p:cond delay="0"/>
                                          </p:stCondLst>
                                        </p:cTn>
                                        <p:tgtEl>
                                          <p:spTgt spid="42"/>
                                        </p:tgtEl>
                                        <p:attrNameLst>
                                          <p:attrName>style.visibility</p:attrName>
                                        </p:attrNameLst>
                                      </p:cBhvr>
                                      <p:to>
                                        <p:strVal val="visible"/>
                                      </p:to>
                                    </p:set>
                                    <p:animEffect transition="in" filter="fade">
                                      <p:cBhvr>
                                        <p:cTn id="113" dur="500"/>
                                        <p:tgtEl>
                                          <p:spTgt spid="42"/>
                                        </p:tgtEl>
                                      </p:cBhvr>
                                    </p:animEffect>
                                  </p:childTnLst>
                                </p:cTn>
                              </p:par>
                              <p:par>
                                <p:cTn id="114" presetID="10" presetClass="entr" presetSubtype="0" fill="hold" grpId="0" nodeType="withEffect">
                                  <p:stCondLst>
                                    <p:cond delay="770"/>
                                  </p:stCondLst>
                                  <p:childTnLst>
                                    <p:set>
                                      <p:cBhvr>
                                        <p:cTn id="115" dur="1" fill="hold">
                                          <p:stCondLst>
                                            <p:cond delay="0"/>
                                          </p:stCondLst>
                                        </p:cTn>
                                        <p:tgtEl>
                                          <p:spTgt spid="43"/>
                                        </p:tgtEl>
                                        <p:attrNameLst>
                                          <p:attrName>style.visibility</p:attrName>
                                        </p:attrNameLst>
                                      </p:cBhvr>
                                      <p:to>
                                        <p:strVal val="visible"/>
                                      </p:to>
                                    </p:set>
                                    <p:animEffect transition="in" filter="fade">
                                      <p:cBhvr>
                                        <p:cTn id="116" dur="500"/>
                                        <p:tgtEl>
                                          <p:spTgt spid="43"/>
                                        </p:tgtEl>
                                      </p:cBhvr>
                                    </p:animEffect>
                                  </p:childTnLst>
                                </p:cTn>
                              </p:par>
                              <p:par>
                                <p:cTn id="117" presetID="10" presetClass="entr" presetSubtype="0" fill="hold" grpId="0" nodeType="withEffect">
                                  <p:stCondLst>
                                    <p:cond delay="88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500"/>
                                        <p:tgtEl>
                                          <p:spTgt spid="44"/>
                                        </p:tgtEl>
                                      </p:cBhvr>
                                    </p:animEffect>
                                  </p:childTnLst>
                                </p:cTn>
                              </p:par>
                              <p:par>
                                <p:cTn id="120" presetID="10" presetClass="entr" presetSubtype="0" fill="hold" grpId="0" nodeType="withEffect">
                                  <p:stCondLst>
                                    <p:cond delay="880"/>
                                  </p:stCondLst>
                                  <p:childTnLst>
                                    <p:set>
                                      <p:cBhvr>
                                        <p:cTn id="121" dur="1" fill="hold">
                                          <p:stCondLst>
                                            <p:cond delay="0"/>
                                          </p:stCondLst>
                                        </p:cTn>
                                        <p:tgtEl>
                                          <p:spTgt spid="45"/>
                                        </p:tgtEl>
                                        <p:attrNameLst>
                                          <p:attrName>style.visibility</p:attrName>
                                        </p:attrNameLst>
                                      </p:cBhvr>
                                      <p:to>
                                        <p:strVal val="visible"/>
                                      </p:to>
                                    </p:set>
                                    <p:animEffect transition="in" filter="fade">
                                      <p:cBhvr>
                                        <p:cTn id="122" dur="500"/>
                                        <p:tgtEl>
                                          <p:spTgt spid="45"/>
                                        </p:tgtEl>
                                      </p:cBhvr>
                                    </p:animEffect>
                                  </p:childTnLst>
                                </p:cTn>
                              </p:par>
                              <p:par>
                                <p:cTn id="123" presetID="10" presetClass="entr" presetSubtype="0" fill="hold" grpId="0" nodeType="withEffect">
                                  <p:stCondLst>
                                    <p:cond delay="880"/>
                                  </p:stCondLst>
                                  <p:childTnLst>
                                    <p:set>
                                      <p:cBhvr>
                                        <p:cTn id="124" dur="1" fill="hold">
                                          <p:stCondLst>
                                            <p:cond delay="0"/>
                                          </p:stCondLst>
                                        </p:cTn>
                                        <p:tgtEl>
                                          <p:spTgt spid="46"/>
                                        </p:tgtEl>
                                        <p:attrNameLst>
                                          <p:attrName>style.visibility</p:attrName>
                                        </p:attrNameLst>
                                      </p:cBhvr>
                                      <p:to>
                                        <p:strVal val="visible"/>
                                      </p:to>
                                    </p:set>
                                    <p:animEffect transition="in" filter="fade">
                                      <p:cBhvr>
                                        <p:cTn id="125" dur="500"/>
                                        <p:tgtEl>
                                          <p:spTgt spid="46"/>
                                        </p:tgtEl>
                                      </p:cBhvr>
                                    </p:animEffect>
                                  </p:childTnLst>
                                </p:cTn>
                              </p:par>
                              <p:par>
                                <p:cTn id="126" presetID="10" presetClass="entr" presetSubtype="0" fill="hold" grpId="0" nodeType="withEffect">
                                  <p:stCondLst>
                                    <p:cond delay="880"/>
                                  </p:stCondLst>
                                  <p:childTnLst>
                                    <p:set>
                                      <p:cBhvr>
                                        <p:cTn id="127" dur="1" fill="hold">
                                          <p:stCondLst>
                                            <p:cond delay="0"/>
                                          </p:stCondLst>
                                        </p:cTn>
                                        <p:tgtEl>
                                          <p:spTgt spid="47"/>
                                        </p:tgtEl>
                                        <p:attrNameLst>
                                          <p:attrName>style.visibility</p:attrName>
                                        </p:attrNameLst>
                                      </p:cBhvr>
                                      <p:to>
                                        <p:strVal val="visible"/>
                                      </p:to>
                                    </p:set>
                                    <p:animEffect transition="in" filter="fade">
                                      <p:cBhvr>
                                        <p:cTn id="128" dur="500"/>
                                        <p:tgtEl>
                                          <p:spTgt spid="47"/>
                                        </p:tgtEl>
                                      </p:cBhvr>
                                    </p:animEffect>
                                  </p:childTnLst>
                                </p:cTn>
                              </p:par>
                              <p:par>
                                <p:cTn id="129" presetID="10" presetClass="entr" presetSubtype="0" fill="hold" grpId="0" nodeType="withEffect">
                                  <p:stCondLst>
                                    <p:cond delay="880"/>
                                  </p:stCondLst>
                                  <p:childTnLst>
                                    <p:set>
                                      <p:cBhvr>
                                        <p:cTn id="130" dur="1" fill="hold">
                                          <p:stCondLst>
                                            <p:cond delay="0"/>
                                          </p:stCondLst>
                                        </p:cTn>
                                        <p:tgtEl>
                                          <p:spTgt spid="48"/>
                                        </p:tgtEl>
                                        <p:attrNameLst>
                                          <p:attrName>style.visibility</p:attrName>
                                        </p:attrNameLst>
                                      </p:cBhvr>
                                      <p:to>
                                        <p:strVal val="visible"/>
                                      </p:to>
                                    </p:set>
                                    <p:animEffect transition="in" filter="fade">
                                      <p:cBhvr>
                                        <p:cTn id="131" dur="500"/>
                                        <p:tgtEl>
                                          <p:spTgt spid="48"/>
                                        </p:tgtEl>
                                      </p:cBhvr>
                                    </p:animEffect>
                                  </p:childTnLst>
                                </p:cTn>
                              </p:par>
                              <p:par>
                                <p:cTn id="132" presetID="10" presetClass="entr" presetSubtype="0" fill="hold" grpId="0" nodeType="withEffect">
                                  <p:stCondLst>
                                    <p:cond delay="990"/>
                                  </p:stCondLst>
                                  <p:childTnLst>
                                    <p:set>
                                      <p:cBhvr>
                                        <p:cTn id="133" dur="1" fill="hold">
                                          <p:stCondLst>
                                            <p:cond delay="0"/>
                                          </p:stCondLst>
                                        </p:cTn>
                                        <p:tgtEl>
                                          <p:spTgt spid="49"/>
                                        </p:tgtEl>
                                        <p:attrNameLst>
                                          <p:attrName>style.visibility</p:attrName>
                                        </p:attrNameLst>
                                      </p:cBhvr>
                                      <p:to>
                                        <p:strVal val="visible"/>
                                      </p:to>
                                    </p:set>
                                    <p:animEffect transition="in" filter="fade">
                                      <p:cBhvr>
                                        <p:cTn id="134" dur="500"/>
                                        <p:tgtEl>
                                          <p:spTgt spid="49"/>
                                        </p:tgtEl>
                                      </p:cBhvr>
                                    </p:animEffect>
                                  </p:childTnLst>
                                </p:cTn>
                              </p:par>
                              <p:par>
                                <p:cTn id="135" presetID="10" presetClass="entr" presetSubtype="0" fill="hold" grpId="0" nodeType="withEffect">
                                  <p:stCondLst>
                                    <p:cond delay="990"/>
                                  </p:stCondLst>
                                  <p:childTnLst>
                                    <p:set>
                                      <p:cBhvr>
                                        <p:cTn id="136" dur="1" fill="hold">
                                          <p:stCondLst>
                                            <p:cond delay="0"/>
                                          </p:stCondLst>
                                        </p:cTn>
                                        <p:tgtEl>
                                          <p:spTgt spid="50"/>
                                        </p:tgtEl>
                                        <p:attrNameLst>
                                          <p:attrName>style.visibility</p:attrName>
                                        </p:attrNameLst>
                                      </p:cBhvr>
                                      <p:to>
                                        <p:strVal val="visible"/>
                                      </p:to>
                                    </p:set>
                                    <p:animEffect transition="in" filter="fade">
                                      <p:cBhvr>
                                        <p:cTn id="137" dur="500"/>
                                        <p:tgtEl>
                                          <p:spTgt spid="50"/>
                                        </p:tgtEl>
                                      </p:cBhvr>
                                    </p:animEffect>
                                  </p:childTnLst>
                                </p:cTn>
                              </p:par>
                              <p:par>
                                <p:cTn id="138" presetID="10" presetClass="entr" presetSubtype="0" fill="hold" grpId="0" nodeType="withEffect">
                                  <p:stCondLst>
                                    <p:cond delay="990"/>
                                  </p:stCondLst>
                                  <p:childTnLst>
                                    <p:set>
                                      <p:cBhvr>
                                        <p:cTn id="139" dur="1" fill="hold">
                                          <p:stCondLst>
                                            <p:cond delay="0"/>
                                          </p:stCondLst>
                                        </p:cTn>
                                        <p:tgtEl>
                                          <p:spTgt spid="51"/>
                                        </p:tgtEl>
                                        <p:attrNameLst>
                                          <p:attrName>style.visibility</p:attrName>
                                        </p:attrNameLst>
                                      </p:cBhvr>
                                      <p:to>
                                        <p:strVal val="visible"/>
                                      </p:to>
                                    </p:set>
                                    <p:animEffect transition="in" filter="fade">
                                      <p:cBhvr>
                                        <p:cTn id="140" dur="500"/>
                                        <p:tgtEl>
                                          <p:spTgt spid="51"/>
                                        </p:tgtEl>
                                      </p:cBhvr>
                                    </p:animEffect>
                                  </p:childTnLst>
                                </p:cTn>
                              </p:par>
                              <p:par>
                                <p:cTn id="141" presetID="10" presetClass="entr" presetSubtype="0" fill="hold" grpId="0" nodeType="withEffect">
                                  <p:stCondLst>
                                    <p:cond delay="990"/>
                                  </p:stCondLst>
                                  <p:childTnLst>
                                    <p:set>
                                      <p:cBhvr>
                                        <p:cTn id="142" dur="1" fill="hold">
                                          <p:stCondLst>
                                            <p:cond delay="0"/>
                                          </p:stCondLst>
                                        </p:cTn>
                                        <p:tgtEl>
                                          <p:spTgt spid="52"/>
                                        </p:tgtEl>
                                        <p:attrNameLst>
                                          <p:attrName>style.visibility</p:attrName>
                                        </p:attrNameLst>
                                      </p:cBhvr>
                                      <p:to>
                                        <p:strVal val="visible"/>
                                      </p:to>
                                    </p:set>
                                    <p:animEffect transition="in" filter="fade">
                                      <p:cBhvr>
                                        <p:cTn id="143" dur="500"/>
                                        <p:tgtEl>
                                          <p:spTgt spid="52"/>
                                        </p:tgtEl>
                                      </p:cBhvr>
                                    </p:animEffect>
                                  </p:childTnLst>
                                </p:cTn>
                              </p:par>
                              <p:par>
                                <p:cTn id="144" presetID="10" presetClass="entr" presetSubtype="0" fill="hold" grpId="0" nodeType="withEffect">
                                  <p:stCondLst>
                                    <p:cond delay="990"/>
                                  </p:stCondLst>
                                  <p:childTnLst>
                                    <p:set>
                                      <p:cBhvr>
                                        <p:cTn id="145" dur="1" fill="hold">
                                          <p:stCondLst>
                                            <p:cond delay="0"/>
                                          </p:stCondLst>
                                        </p:cTn>
                                        <p:tgtEl>
                                          <p:spTgt spid="53"/>
                                        </p:tgtEl>
                                        <p:attrNameLst>
                                          <p:attrName>style.visibility</p:attrName>
                                        </p:attrNameLst>
                                      </p:cBhvr>
                                      <p:to>
                                        <p:strVal val="visible"/>
                                      </p:to>
                                    </p:set>
                                    <p:animEffect transition="in" filter="fade">
                                      <p:cBhvr>
                                        <p:cTn id="146"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DFAE7"/>
        </a:solidFill>
      </p:bgPr>
    </p:bg>
    <p:spTree>
      <p:nvGrpSpPr>
        <p:cNvPr id="1" name=""/>
        <p:cNvGrpSpPr/>
        <p:nvPr/>
      </p:nvGrpSpPr>
      <p:grpSpPr>
        <a:xfrm>
          <a:off x="0" y="0"/>
          <a:ext cx="0" cy="0"/>
          <a:chOff x="0" y="0"/>
          <a:chExt cx="0" cy="0"/>
        </a:xfrm>
      </p:grpSpPr>
      <p:sp>
        <p:nvSpPr>
          <p:cNvPr id="2" name="S_390"/>
          <p:cNvSpPr txBox="1"/>
          <p:nvPr/>
        </p:nvSpPr>
        <p:spPr>
          <a:xfrm>
            <a:off x="609630" y="466070"/>
            <a:ext cx="1035924"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03 · ĐỀ XUẤT</a:t>
            </a:r>
            <a:endParaRPr lang="en-US" sz="1100" dirty="0"/>
          </a:p>
        </p:txBody>
      </p:sp>
      <p:sp>
        <p:nvSpPr>
          <p:cNvPr id="3" name="S_391"/>
          <p:cNvSpPr/>
          <p:nvPr/>
        </p:nvSpPr>
        <p:spPr>
          <a:xfrm>
            <a:off x="10838292" y="412760"/>
            <a:ext cx="744139" cy="292059"/>
          </a:xfrm>
          <a:prstGeom prst="roundRect">
            <a:avLst>
              <a:gd name="adj" fmla="val 50000"/>
            </a:avLst>
          </a:prstGeom>
          <a:solidFill>
            <a:srgbClr val="EBE9E9"/>
          </a:solidFill>
          <a:ln/>
        </p:spPr>
      </p:sp>
      <p:sp>
        <p:nvSpPr>
          <p:cNvPr id="4" name="S_392"/>
          <p:cNvSpPr txBox="1"/>
          <p:nvPr/>
        </p:nvSpPr>
        <p:spPr>
          <a:xfrm>
            <a:off x="11003341" y="476220"/>
            <a:ext cx="490118"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5 layer</a:t>
            </a:r>
            <a:endParaRPr lang="en-US" sz="1000" dirty="0"/>
          </a:p>
        </p:txBody>
      </p:sp>
      <p:sp>
        <p:nvSpPr>
          <p:cNvPr id="5" name="A_0_0_fade_393"/>
          <p:cNvSpPr txBox="1"/>
          <p:nvPr/>
        </p:nvSpPr>
        <p:spPr>
          <a:xfrm>
            <a:off x="609630" y="806592"/>
            <a:ext cx="8499439"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Xây phần bên ngoài không có; mua phần còn lại</a:t>
            </a:r>
            <a:endParaRPr lang="en-US" sz="2800" dirty="0"/>
          </a:p>
        </p:txBody>
      </p:sp>
      <p:sp>
        <p:nvSpPr>
          <p:cNvPr id="6" name="A_1_0_fade_394"/>
          <p:cNvSpPr/>
          <p:nvPr/>
        </p:nvSpPr>
        <p:spPr>
          <a:xfrm>
            <a:off x="609630" y="1718249"/>
            <a:ext cx="10972800" cy="844540"/>
          </a:xfrm>
          <a:prstGeom prst="roundRect">
            <a:avLst>
              <a:gd name="adj" fmla="val 10524"/>
            </a:avLst>
          </a:prstGeom>
          <a:solidFill>
            <a:srgbClr val="EBE9E9"/>
          </a:solidFill>
          <a:ln/>
        </p:spPr>
      </p:sp>
      <p:sp>
        <p:nvSpPr>
          <p:cNvPr id="7" name="A_1_0_fade_395"/>
          <p:cNvSpPr txBox="1"/>
          <p:nvPr/>
        </p:nvSpPr>
        <p:spPr>
          <a:xfrm>
            <a:off x="838230" y="1878635"/>
            <a:ext cx="11282782" cy="514350"/>
          </a:xfrm>
          <a:prstGeom prst="rect">
            <a:avLst/>
          </a:prstGeom>
          <a:noFill/>
          <a:ln/>
        </p:spPr>
        <p:txBody>
          <a:bodyPr wrap="square" lIns="0" tIns="0" rIns="0" bIns="0" rtlCol="0" anchor="t"/>
          <a:lstStyle/>
          <a:p>
            <a:pPr algn="l" indent="0" marL="0">
              <a:lnSpc>
                <a:spcPts val="2025"/>
              </a:lnSpc>
              <a:buNone/>
            </a:pPr>
            <a:r>
              <a:rPr lang="en-US" sz="1500" spc="-15" kern="0" dirty="0">
                <a:solidFill>
                  <a:srgbClr val="111111"/>
                </a:solidFill>
                <a:latin typeface="Space Grotesk" pitchFamily="34" charset="0"/>
                <a:ea typeface="Space Grotesk" pitchFamily="34" charset="-122"/>
                <a:cs typeface="Space Grotesk" pitchFamily="34" charset="-120"/>
              </a:rPr>
              <a:t>Tập trung và chuẩn hoá thứ bên ngoài không có:</a:t>
            </a:r>
            <a:pPr algn="l" indent="0" marL="0">
              <a:lnSpc>
                <a:spcPts val="2025"/>
              </a:lnSpc>
              <a:buNone/>
            </a:pPr>
            <a:r>
              <a:rPr lang="en-US" sz="1500" spc="-15" kern="0" dirty="0">
                <a:solidFill>
                  <a:srgbClr val="1E2BFA"/>
                </a:solidFill>
                <a:latin typeface="Space Grotesk" pitchFamily="34" charset="0"/>
                <a:ea typeface="Space Grotesk" pitchFamily="34" charset="-122"/>
                <a:cs typeface="Space Grotesk" pitchFamily="34" charset="-120"/>
              </a:rPr>
              <a:t> dữ liệu và quy trình</a:t>
            </a:r>
            <a:pPr algn="l" indent="0" marL="0">
              <a:lnSpc>
                <a:spcPts val="2025"/>
              </a:lnSpc>
              <a:buNone/>
            </a:pPr>
            <a:r>
              <a:rPr lang="en-US" sz="1500" spc="-15" kern="0" dirty="0">
                <a:solidFill>
                  <a:srgbClr val="111111"/>
                </a:solidFill>
                <a:latin typeface="Space Grotesk" pitchFamily="34" charset="0"/>
                <a:ea typeface="Space Grotesk" pitchFamily="34" charset="-122"/>
                <a:cs typeface="Space Grotesk" pitchFamily="34" charset="-120"/>
              </a:rPr>
              <a:t>. Nối chúng tới mọi harness qua connector theo</a:t>
            </a:r>
            <a:endParaRPr lang="en-US" sz="1500" dirty="0"/>
          </a:p>
          <a:p>
            <a:pPr algn="l" indent="0" marL="0">
              <a:lnSpc>
                <a:spcPts val="2025"/>
              </a:lnSpc>
              <a:buNone/>
            </a:pPr>
            <a:r>
              <a:rPr lang="en-US" sz="1500" spc="-15" kern="0" dirty="0">
                <a:solidFill>
                  <a:srgbClr val="111111"/>
                </a:solidFill>
                <a:latin typeface="Space Grotesk" pitchFamily="34" charset="0"/>
                <a:ea typeface="Space Grotesk" pitchFamily="34" charset="-122"/>
                <a:cs typeface="Space Grotesk" pitchFamily="34" charset="-120"/>
              </a:rPr>
              <a:t>chuẩn mở. Harness và LLM thì mua, hoặc dùng bản open source.</a:t>
            </a:r>
            <a:endParaRPr lang="en-US" sz="1500" dirty="0"/>
          </a:p>
        </p:txBody>
      </p:sp>
      <p:sp>
        <p:nvSpPr>
          <p:cNvPr id="8" name="S_396"/>
          <p:cNvSpPr/>
          <p:nvPr/>
        </p:nvSpPr>
        <p:spPr>
          <a:xfrm>
            <a:off x="612008" y="2730307"/>
            <a:ext cx="10968045" cy="3048061"/>
          </a:xfrm>
          <a:prstGeom prst="roundRect">
            <a:avLst>
              <a:gd name="adj" fmla="val 2916"/>
            </a:avLst>
          </a:prstGeom>
          <a:solidFill>
            <a:srgbClr val="F4F2E8"/>
          </a:solidFill>
          <a:ln w="9525">
            <a:solidFill>
              <a:srgbClr val="C9CAEB"/>
            </a:solidFill>
            <a:prstDash val="solid"/>
          </a:ln>
        </p:spPr>
      </p:sp>
      <p:sp>
        <p:nvSpPr>
          <p:cNvPr id="9" name="A_2_0_fade_397"/>
          <p:cNvSpPr/>
          <p:nvPr/>
        </p:nvSpPr>
        <p:spPr>
          <a:xfrm>
            <a:off x="615940" y="2734239"/>
            <a:ext cx="10960090" cy="364388"/>
          </a:xfrm>
          <a:prstGeom prst="roundRect">
            <a:avLst>
              <a:gd name="adj" fmla="val 21782"/>
            </a:avLst>
          </a:prstGeom>
          <a:solidFill>
            <a:srgbClr val="E3E2E9"/>
          </a:solidFill>
          <a:ln/>
        </p:spPr>
      </p:sp>
      <p:sp>
        <p:nvSpPr>
          <p:cNvPr id="10" name="A_2_0_fade_398"/>
          <p:cNvSpPr/>
          <p:nvPr/>
        </p:nvSpPr>
        <p:spPr>
          <a:xfrm>
            <a:off x="615940" y="2916479"/>
            <a:ext cx="10960090" cy="182240"/>
          </a:xfrm>
          <a:prstGeom prst="rect">
            <a:avLst/>
          </a:prstGeom>
          <a:solidFill>
            <a:srgbClr val="E3E2E9"/>
          </a:solidFill>
          <a:ln/>
        </p:spPr>
      </p:sp>
      <p:sp>
        <p:nvSpPr>
          <p:cNvPr id="11" name="A_2_0_fade_399"/>
          <p:cNvSpPr txBox="1"/>
          <p:nvPr/>
        </p:nvSpPr>
        <p:spPr>
          <a:xfrm>
            <a:off x="781080" y="2840949"/>
            <a:ext cx="454731"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LAYER</a:t>
            </a:r>
            <a:endParaRPr lang="en-US" sz="900" dirty="0"/>
          </a:p>
        </p:txBody>
      </p:sp>
      <p:sp>
        <p:nvSpPr>
          <p:cNvPr id="12" name="A_2_0_fade_400"/>
          <p:cNvSpPr txBox="1"/>
          <p:nvPr/>
        </p:nvSpPr>
        <p:spPr>
          <a:xfrm>
            <a:off x="2686050" y="2840949"/>
            <a:ext cx="666232"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NỘI DUNG</a:t>
            </a:r>
            <a:endParaRPr lang="en-US" sz="900" dirty="0"/>
          </a:p>
        </p:txBody>
      </p:sp>
      <p:sp>
        <p:nvSpPr>
          <p:cNvPr id="13" name="A_2_0_fade_401"/>
          <p:cNvSpPr txBox="1"/>
          <p:nvPr/>
        </p:nvSpPr>
        <p:spPr>
          <a:xfrm>
            <a:off x="8185160" y="2840949"/>
            <a:ext cx="1077163"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TỔ CHỨC LÀM GÌ</a:t>
            </a:r>
            <a:endParaRPr lang="en-US" sz="900" dirty="0"/>
          </a:p>
        </p:txBody>
      </p:sp>
      <p:sp>
        <p:nvSpPr>
          <p:cNvPr id="14" name="A_3_0_fade_402"/>
          <p:cNvSpPr/>
          <p:nvPr/>
        </p:nvSpPr>
        <p:spPr>
          <a:xfrm>
            <a:off x="615940" y="3098719"/>
            <a:ext cx="10960090" cy="6309"/>
          </a:xfrm>
          <a:prstGeom prst="rect">
            <a:avLst/>
          </a:prstGeom>
          <a:solidFill>
            <a:srgbClr val="C9CAEB"/>
          </a:solidFill>
          <a:ln/>
        </p:spPr>
      </p:sp>
      <p:sp>
        <p:nvSpPr>
          <p:cNvPr id="15" name="A_3_0_fade_403"/>
          <p:cNvSpPr txBox="1"/>
          <p:nvPr/>
        </p:nvSpPr>
        <p:spPr>
          <a:xfrm>
            <a:off x="781080" y="3197108"/>
            <a:ext cx="1087222"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Harness, LLM</a:t>
            </a:r>
            <a:endParaRPr lang="en-US" sz="1250" dirty="0"/>
          </a:p>
        </p:txBody>
      </p:sp>
      <p:sp>
        <p:nvSpPr>
          <p:cNvPr id="16" name="A_3_0_fade_404"/>
          <p:cNvSpPr txBox="1"/>
          <p:nvPr/>
        </p:nvSpPr>
        <p:spPr>
          <a:xfrm>
            <a:off x="2686050" y="3198388"/>
            <a:ext cx="4968118"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Claude Code, Codex, Kiro, Copilot, OpenCode…; model của vendor</a:t>
            </a:r>
            <a:endParaRPr lang="en-US" sz="1200" dirty="0"/>
          </a:p>
        </p:txBody>
      </p:sp>
      <p:sp>
        <p:nvSpPr>
          <p:cNvPr id="17" name="A_3_0_fade_405"/>
          <p:cNvSpPr txBox="1"/>
          <p:nvPr/>
        </p:nvSpPr>
        <p:spPr>
          <a:xfrm>
            <a:off x="8185160" y="3198388"/>
            <a:ext cx="3081345" cy="42675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Mua và cấu hình; cho phép dùng hơn một</a:t>
            </a:r>
            <a:endParaRPr lang="en-US" sz="1200" dirty="0"/>
          </a:p>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harness</a:t>
            </a:r>
            <a:endParaRPr lang="en-US" sz="1200" dirty="0"/>
          </a:p>
        </p:txBody>
      </p:sp>
      <p:sp>
        <p:nvSpPr>
          <p:cNvPr id="18" name="A_4_0_fade_406"/>
          <p:cNvSpPr/>
          <p:nvPr/>
        </p:nvSpPr>
        <p:spPr>
          <a:xfrm>
            <a:off x="615940" y="3722157"/>
            <a:ext cx="10960090" cy="6309"/>
          </a:xfrm>
          <a:prstGeom prst="rect">
            <a:avLst/>
          </a:prstGeom>
          <a:solidFill>
            <a:srgbClr val="C9CAEB"/>
          </a:solidFill>
          <a:ln/>
        </p:spPr>
      </p:sp>
      <p:sp>
        <p:nvSpPr>
          <p:cNvPr id="19" name="A_4_0_fade_407"/>
          <p:cNvSpPr txBox="1"/>
          <p:nvPr/>
        </p:nvSpPr>
        <p:spPr>
          <a:xfrm>
            <a:off x="781080" y="3820638"/>
            <a:ext cx="883310"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Connector</a:t>
            </a:r>
            <a:endParaRPr lang="en-US" sz="1250" dirty="0"/>
          </a:p>
        </p:txBody>
      </p:sp>
      <p:sp>
        <p:nvSpPr>
          <p:cNvPr id="20" name="A_4_0_fade_408"/>
          <p:cNvSpPr txBox="1"/>
          <p:nvPr/>
        </p:nvSpPr>
        <p:spPr>
          <a:xfrm>
            <a:off x="2686050" y="3821918"/>
            <a:ext cx="3008650"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CLI, MCP server,</a:t>
            </a:r>
            <a:pPr algn="l" indent="0" marL="0">
              <a:lnSpc>
                <a:spcPts val="1680"/>
              </a:lnSpc>
              <a:buNone/>
            </a:pPr>
            <a:r>
              <a:rPr lang="en-US" sz="1200" dirty="0">
                <a:solidFill>
                  <a:srgbClr val="111111"/>
                </a:solidFill>
                <a:latin typeface="Inter" pitchFamily="34" charset="0"/>
                <a:ea typeface="Inter" pitchFamily="34" charset="-122"/>
                <a:cs typeface="Inter" pitchFamily="34" charset="-120"/>
              </a:rPr>
              <a:t> SKILL.md</a:t>
            </a:r>
            <a:pPr algn="l" indent="0" marL="0">
              <a:lnSpc>
                <a:spcPts val="1680"/>
              </a:lnSpc>
              <a:buNone/>
            </a:pPr>
            <a:r>
              <a:rPr lang="en-US" sz="1200" dirty="0">
                <a:solidFill>
                  <a:srgbClr val="6B6B6B"/>
                </a:solidFill>
                <a:latin typeface="Inter" pitchFamily="34" charset="0"/>
                <a:ea typeface="Inter" pitchFamily="34" charset="-122"/>
                <a:cs typeface="Inter" pitchFamily="34" charset="-120"/>
              </a:rPr>
              <a:t>,</a:t>
            </a:r>
            <a:pPr algn="l" indent="0" marL="0">
              <a:lnSpc>
                <a:spcPts val="1680"/>
              </a:lnSpc>
              <a:buNone/>
            </a:pPr>
            <a:r>
              <a:rPr lang="en-US" sz="1200" dirty="0">
                <a:solidFill>
                  <a:srgbClr val="111111"/>
                </a:solidFill>
                <a:latin typeface="Inter" pitchFamily="34" charset="0"/>
                <a:ea typeface="Inter" pitchFamily="34" charset="-122"/>
                <a:cs typeface="Inter" pitchFamily="34" charset="-120"/>
              </a:rPr>
              <a:t> AGENTS.md</a:t>
            </a:r>
            <a:endParaRPr lang="en-US" sz="1200" dirty="0"/>
          </a:p>
        </p:txBody>
      </p:sp>
      <p:sp>
        <p:nvSpPr>
          <p:cNvPr id="21" name="A_4_0_fade_409"/>
          <p:cNvSpPr txBox="1"/>
          <p:nvPr/>
        </p:nvSpPr>
        <p:spPr>
          <a:xfrm>
            <a:off x="8185160" y="3821918"/>
            <a:ext cx="1481419" cy="213330"/>
          </a:xfrm>
          <a:prstGeom prst="rect">
            <a:avLst/>
          </a:prstGeom>
          <a:noFill/>
          <a:ln/>
        </p:spPr>
        <p:txBody>
          <a:bodyPr wrap="square" lIns="0" tIns="0" rIns="0" bIns="0" rtlCol="0" anchor="t"/>
          <a:lstStyle/>
          <a:p>
            <a:pPr algn="l" indent="0" marL="0">
              <a:lnSpc>
                <a:spcPts val="1680"/>
              </a:lnSpc>
              <a:buNone/>
            </a:pPr>
            <a:r>
              <a:rPr lang="en-US" sz="1200" b="1" dirty="0">
                <a:solidFill>
                  <a:srgbClr val="1E2BFA"/>
                </a:solidFill>
                <a:latin typeface="Inter" pitchFamily="34" charset="0"/>
                <a:ea typeface="Inter" pitchFamily="34" charset="-122"/>
                <a:cs typeface="Inter" pitchFamily="34" charset="-120"/>
              </a:rPr>
              <a:t>Xây</a:t>
            </a:r>
            <a:pPr algn="l" indent="0" marL="0">
              <a:lnSpc>
                <a:spcPts val="1680"/>
              </a:lnSpc>
              <a:buNone/>
            </a:pPr>
            <a:r>
              <a:rPr lang="en-US" sz="1200" dirty="0">
                <a:solidFill>
                  <a:srgbClr val="6B6B6B"/>
                </a:solidFill>
                <a:latin typeface="Inter" pitchFamily="34" charset="0"/>
                <a:ea typeface="Inter" pitchFamily="34" charset="-122"/>
                <a:cs typeface="Inter" pitchFamily="34" charset="-120"/>
              </a:rPr>
              <a:t>, theo chuẩn mở</a:t>
            </a:r>
            <a:endParaRPr lang="en-US" sz="1200" dirty="0"/>
          </a:p>
        </p:txBody>
      </p:sp>
      <p:sp>
        <p:nvSpPr>
          <p:cNvPr id="22" name="A_5_0_fade_410"/>
          <p:cNvSpPr/>
          <p:nvPr/>
        </p:nvSpPr>
        <p:spPr>
          <a:xfrm>
            <a:off x="615940" y="4132356"/>
            <a:ext cx="10960090" cy="6309"/>
          </a:xfrm>
          <a:prstGeom prst="rect">
            <a:avLst/>
          </a:prstGeom>
          <a:solidFill>
            <a:srgbClr val="C9CAEB"/>
          </a:solidFill>
          <a:ln/>
        </p:spPr>
      </p:sp>
      <p:sp>
        <p:nvSpPr>
          <p:cNvPr id="23" name="A_5_0_fade_411"/>
          <p:cNvSpPr txBox="1"/>
          <p:nvPr/>
        </p:nvSpPr>
        <p:spPr>
          <a:xfrm>
            <a:off x="781080" y="4230746"/>
            <a:ext cx="1372606"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Kit (quy trình AI-ready)</a:t>
            </a:r>
            <a:endParaRPr lang="en-US" sz="1250" dirty="0"/>
          </a:p>
        </p:txBody>
      </p:sp>
      <p:sp>
        <p:nvSpPr>
          <p:cNvPr id="24" name="A_5_0_fade_412"/>
          <p:cNvSpPr txBox="1"/>
          <p:nvPr/>
        </p:nvSpPr>
        <p:spPr>
          <a:xfrm>
            <a:off x="2686050" y="4232026"/>
            <a:ext cx="3253344"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Skill, workflow, template, checklist, guardrail</a:t>
            </a:r>
            <a:endParaRPr lang="en-US" sz="1200" dirty="0"/>
          </a:p>
        </p:txBody>
      </p:sp>
      <p:sp>
        <p:nvSpPr>
          <p:cNvPr id="25" name="A_5_0_fade_413"/>
          <p:cNvSpPr txBox="1"/>
          <p:nvPr/>
        </p:nvSpPr>
        <p:spPr>
          <a:xfrm>
            <a:off x="8185160" y="4232026"/>
            <a:ext cx="1819016" cy="213330"/>
          </a:xfrm>
          <a:prstGeom prst="rect">
            <a:avLst/>
          </a:prstGeom>
          <a:noFill/>
          <a:ln/>
        </p:spPr>
        <p:txBody>
          <a:bodyPr wrap="square" lIns="0" tIns="0" rIns="0" bIns="0" rtlCol="0" anchor="t"/>
          <a:lstStyle/>
          <a:p>
            <a:pPr algn="l" indent="0" marL="0">
              <a:lnSpc>
                <a:spcPts val="1680"/>
              </a:lnSpc>
              <a:buNone/>
            </a:pPr>
            <a:r>
              <a:rPr lang="en-US" sz="1200" b="1" dirty="0">
                <a:solidFill>
                  <a:srgbClr val="1E2BFA"/>
                </a:solidFill>
                <a:latin typeface="Inter" pitchFamily="34" charset="0"/>
                <a:ea typeface="Inter" pitchFamily="34" charset="-122"/>
                <a:cs typeface="Inter" pitchFamily="34" charset="-120"/>
              </a:rPr>
              <a:t>Xây</a:t>
            </a:r>
            <a:pPr algn="l" indent="0" marL="0">
              <a:lnSpc>
                <a:spcPts val="1680"/>
              </a:lnSpc>
              <a:buNone/>
            </a:pPr>
            <a:r>
              <a:rPr lang="en-US" sz="1200" dirty="0">
                <a:solidFill>
                  <a:srgbClr val="6B6B6B"/>
                </a:solidFill>
                <a:latin typeface="Inter" pitchFamily="34" charset="0"/>
                <a:ea typeface="Inter" pitchFamily="34" charset="-122"/>
                <a:cs typeface="Inter" pitchFamily="34" charset="-120"/>
              </a:rPr>
              <a:t>, tập trung, có owner</a:t>
            </a:r>
            <a:endParaRPr lang="en-US" sz="1200" dirty="0"/>
          </a:p>
        </p:txBody>
      </p:sp>
      <p:sp>
        <p:nvSpPr>
          <p:cNvPr id="26" name="A_6_0_fade_414"/>
          <p:cNvSpPr/>
          <p:nvPr/>
        </p:nvSpPr>
        <p:spPr>
          <a:xfrm>
            <a:off x="615940" y="4748296"/>
            <a:ext cx="10960090" cy="6309"/>
          </a:xfrm>
          <a:prstGeom prst="rect">
            <a:avLst/>
          </a:prstGeom>
          <a:solidFill>
            <a:srgbClr val="C9CAEB"/>
          </a:solidFill>
          <a:ln/>
        </p:spPr>
      </p:sp>
      <p:sp>
        <p:nvSpPr>
          <p:cNvPr id="27" name="A_6_0_fade_415"/>
          <p:cNvSpPr txBox="1"/>
          <p:nvPr/>
        </p:nvSpPr>
        <p:spPr>
          <a:xfrm>
            <a:off x="781080" y="4846777"/>
            <a:ext cx="1262604"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Data source AI-ready</a:t>
            </a:r>
            <a:endParaRPr lang="en-US" sz="1250" dirty="0"/>
          </a:p>
        </p:txBody>
      </p:sp>
      <p:sp>
        <p:nvSpPr>
          <p:cNvPr id="28" name="A_6_0_fade_416"/>
          <p:cNvSpPr txBox="1"/>
          <p:nvPr/>
        </p:nvSpPr>
        <p:spPr>
          <a:xfrm>
            <a:off x="2686050" y="4847966"/>
            <a:ext cx="4535058"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Document index, code graph, dữ liệu dự án, định nghĩa chỉ số</a:t>
            </a:r>
            <a:endParaRPr lang="en-US" sz="1200" dirty="0"/>
          </a:p>
        </p:txBody>
      </p:sp>
      <p:sp>
        <p:nvSpPr>
          <p:cNvPr id="29" name="A_6_0_fade_417"/>
          <p:cNvSpPr txBox="1"/>
          <p:nvPr/>
        </p:nvSpPr>
        <p:spPr>
          <a:xfrm>
            <a:off x="8185160" y="4847966"/>
            <a:ext cx="1793047" cy="213330"/>
          </a:xfrm>
          <a:prstGeom prst="rect">
            <a:avLst/>
          </a:prstGeom>
          <a:noFill/>
          <a:ln/>
        </p:spPr>
        <p:txBody>
          <a:bodyPr wrap="square" lIns="0" tIns="0" rIns="0" bIns="0" rtlCol="0" anchor="t"/>
          <a:lstStyle/>
          <a:p>
            <a:pPr algn="l" indent="0" marL="0">
              <a:lnSpc>
                <a:spcPts val="1680"/>
              </a:lnSpc>
              <a:buNone/>
            </a:pPr>
            <a:r>
              <a:rPr lang="en-US" sz="1200" b="1" dirty="0">
                <a:solidFill>
                  <a:srgbClr val="1E2BFA"/>
                </a:solidFill>
                <a:latin typeface="Inter" pitchFamily="34" charset="0"/>
                <a:ea typeface="Inter" pitchFamily="34" charset="-122"/>
                <a:cs typeface="Inter" pitchFamily="34" charset="-120"/>
              </a:rPr>
              <a:t>Xây</a:t>
            </a:r>
            <a:pPr algn="l" indent="0" marL="0">
              <a:lnSpc>
                <a:spcPts val="1680"/>
              </a:lnSpc>
              <a:buNone/>
            </a:pPr>
            <a:r>
              <a:rPr lang="en-US" sz="1200" dirty="0">
                <a:solidFill>
                  <a:srgbClr val="6B6B6B"/>
                </a:solidFill>
                <a:latin typeface="Inter" pitchFamily="34" charset="0"/>
                <a:ea typeface="Inter" pitchFamily="34" charset="-122"/>
                <a:cs typeface="Inter" pitchFamily="34" charset="-120"/>
              </a:rPr>
              <a:t>, tập trung, có RBAC</a:t>
            </a:r>
            <a:endParaRPr lang="en-US" sz="1200" dirty="0"/>
          </a:p>
        </p:txBody>
      </p:sp>
      <p:sp>
        <p:nvSpPr>
          <p:cNvPr id="30" name="A_7_0_fade_418"/>
          <p:cNvSpPr/>
          <p:nvPr/>
        </p:nvSpPr>
        <p:spPr>
          <a:xfrm>
            <a:off x="615940" y="5364236"/>
            <a:ext cx="10960090" cy="6309"/>
          </a:xfrm>
          <a:prstGeom prst="rect">
            <a:avLst/>
          </a:prstGeom>
          <a:solidFill>
            <a:srgbClr val="C9CAEB"/>
          </a:solidFill>
          <a:ln/>
        </p:spPr>
      </p:sp>
      <p:sp>
        <p:nvSpPr>
          <p:cNvPr id="31" name="A_7_0_fade_419"/>
          <p:cNvSpPr txBox="1"/>
          <p:nvPr/>
        </p:nvSpPr>
        <p:spPr>
          <a:xfrm>
            <a:off x="781080" y="5462717"/>
            <a:ext cx="987369"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Governance</a:t>
            </a:r>
            <a:endParaRPr lang="en-US" sz="1250" dirty="0"/>
          </a:p>
        </p:txBody>
      </p:sp>
      <p:sp>
        <p:nvSpPr>
          <p:cNvPr id="32" name="A_7_0_fade_420"/>
          <p:cNvSpPr txBox="1"/>
          <p:nvPr/>
        </p:nvSpPr>
        <p:spPr>
          <a:xfrm>
            <a:off x="2686050" y="5463997"/>
            <a:ext cx="3240908"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LLM gateway, telemetry, policy, human gate</a:t>
            </a:r>
            <a:endParaRPr lang="en-US" sz="1200" dirty="0"/>
          </a:p>
        </p:txBody>
      </p:sp>
      <p:sp>
        <p:nvSpPr>
          <p:cNvPr id="33" name="A_7_0_fade_421"/>
          <p:cNvSpPr txBox="1"/>
          <p:nvPr/>
        </p:nvSpPr>
        <p:spPr>
          <a:xfrm>
            <a:off x="8185160" y="5463997"/>
            <a:ext cx="3104754"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Mua hoặc cấu hình; chỉ tự làm phần mỏng</a:t>
            </a:r>
            <a:endParaRPr lang="en-US" sz="1200" dirty="0"/>
          </a:p>
        </p:txBody>
      </p:sp>
      <p:sp>
        <p:nvSpPr>
          <p:cNvPr id="34" name="S_422"/>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35" name="S_423"/>
          <p:cNvSpPr txBox="1"/>
          <p:nvPr/>
        </p:nvSpPr>
        <p:spPr>
          <a:xfrm>
            <a:off x="11204235" y="6517660"/>
            <a:ext cx="454365"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11 / 25</a:t>
            </a:r>
            <a:endParaRPr lang="en-US" sz="900" dirty="0"/>
          </a:p>
        </p:txBody>
      </p:sp>
      <p:sp>
        <p:nvSpPr>
          <p:cNvPr id="36" name="S_424"/>
          <p:cNvSpPr/>
          <p:nvPr/>
        </p:nvSpPr>
        <p:spPr>
          <a:xfrm>
            <a:off x="0" y="6838980"/>
            <a:ext cx="536451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88" fill="hold">
                      <p:stCondLst>
                        <p:cond delay="indefinite"/>
                        <p:cond evt="onBegin" delay="0">
                          <p:tn val="2"/>
                        </p:cond>
                      </p:stCondLst>
                      <p:childTnLst>
                        <p:par>
                          <p:cTn id="8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22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22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33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33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33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44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44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grpId="0" nodeType="withEffect">
                                  <p:stCondLst>
                                    <p:cond delay="44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grpId="0" nodeType="withEffect">
                                  <p:stCondLst>
                                    <p:cond delay="44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grpId="0" nodeType="withEffect">
                                  <p:stCondLst>
                                    <p:cond delay="55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par>
                                <p:cTn id="54" presetID="10" presetClass="entr" presetSubtype="0" fill="hold" grpId="0" nodeType="withEffect">
                                  <p:stCondLst>
                                    <p:cond delay="55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grpId="0" nodeType="withEffect">
                                  <p:stCondLst>
                                    <p:cond delay="55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grpId="0" nodeType="withEffect">
                                  <p:stCondLst>
                                    <p:cond delay="550"/>
                                  </p:stCondLst>
                                  <p:childTnLst>
                                    <p:set>
                                      <p:cBhvr>
                                        <p:cTn id="61" dur="1" fill="hold">
                                          <p:stCondLst>
                                            <p:cond delay="0"/>
                                          </p:stCondLst>
                                        </p:cTn>
                                        <p:tgtEl>
                                          <p:spTgt spid="25"/>
                                        </p:tgtEl>
                                        <p:attrNameLst>
                                          <p:attrName>style.visibility</p:attrName>
                                        </p:attrNameLst>
                                      </p:cBhvr>
                                      <p:to>
                                        <p:strVal val="visible"/>
                                      </p:to>
                                    </p:set>
                                    <p:animEffect transition="in" filter="fade">
                                      <p:cBhvr>
                                        <p:cTn id="62" dur="500"/>
                                        <p:tgtEl>
                                          <p:spTgt spid="25"/>
                                        </p:tgtEl>
                                      </p:cBhvr>
                                    </p:animEffect>
                                  </p:childTnLst>
                                </p:cTn>
                              </p:par>
                              <p:par>
                                <p:cTn id="63" presetID="10" presetClass="entr" presetSubtype="0" fill="hold" grpId="0" nodeType="withEffect">
                                  <p:stCondLst>
                                    <p:cond delay="66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500"/>
                                        <p:tgtEl>
                                          <p:spTgt spid="26"/>
                                        </p:tgtEl>
                                      </p:cBhvr>
                                    </p:animEffect>
                                  </p:childTnLst>
                                </p:cTn>
                              </p:par>
                              <p:par>
                                <p:cTn id="66" presetID="10" presetClass="entr" presetSubtype="0" fill="hold" grpId="0" nodeType="withEffect">
                                  <p:stCondLst>
                                    <p:cond delay="66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500"/>
                                        <p:tgtEl>
                                          <p:spTgt spid="27"/>
                                        </p:tgtEl>
                                      </p:cBhvr>
                                    </p:animEffect>
                                  </p:childTnLst>
                                </p:cTn>
                              </p:par>
                              <p:par>
                                <p:cTn id="69" presetID="10" presetClass="entr" presetSubtype="0" fill="hold" grpId="0" nodeType="withEffect">
                                  <p:stCondLst>
                                    <p:cond delay="66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500"/>
                                        <p:tgtEl>
                                          <p:spTgt spid="28"/>
                                        </p:tgtEl>
                                      </p:cBhvr>
                                    </p:animEffect>
                                  </p:childTnLst>
                                </p:cTn>
                              </p:par>
                              <p:par>
                                <p:cTn id="72" presetID="10" presetClass="entr" presetSubtype="0" fill="hold" grpId="0" nodeType="withEffect">
                                  <p:stCondLst>
                                    <p:cond delay="66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00"/>
                                        <p:tgtEl>
                                          <p:spTgt spid="29"/>
                                        </p:tgtEl>
                                      </p:cBhvr>
                                    </p:animEffect>
                                  </p:childTnLst>
                                </p:cTn>
                              </p:par>
                              <p:par>
                                <p:cTn id="75" presetID="10" presetClass="entr" presetSubtype="0" fill="hold" grpId="0" nodeType="withEffect">
                                  <p:stCondLst>
                                    <p:cond delay="77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500"/>
                                        <p:tgtEl>
                                          <p:spTgt spid="30"/>
                                        </p:tgtEl>
                                      </p:cBhvr>
                                    </p:animEffect>
                                  </p:childTnLst>
                                </p:cTn>
                              </p:par>
                              <p:par>
                                <p:cTn id="78" presetID="10" presetClass="entr" presetSubtype="0" fill="hold" grpId="0" nodeType="withEffect">
                                  <p:stCondLst>
                                    <p:cond delay="77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500"/>
                                        <p:tgtEl>
                                          <p:spTgt spid="31"/>
                                        </p:tgtEl>
                                      </p:cBhvr>
                                    </p:animEffect>
                                  </p:childTnLst>
                                </p:cTn>
                              </p:par>
                              <p:par>
                                <p:cTn id="81" presetID="10" presetClass="entr" presetSubtype="0" fill="hold" grpId="0" nodeType="withEffect">
                                  <p:stCondLst>
                                    <p:cond delay="77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500"/>
                                        <p:tgtEl>
                                          <p:spTgt spid="32"/>
                                        </p:tgtEl>
                                      </p:cBhvr>
                                    </p:animEffect>
                                  </p:childTnLst>
                                </p:cTn>
                              </p:par>
                              <p:par>
                                <p:cTn id="84" presetID="10" presetClass="entr" presetSubtype="0" fill="hold" grpId="0" nodeType="withEffect">
                                  <p:stCondLst>
                                    <p:cond delay="770"/>
                                  </p:stCondLst>
                                  <p:childTnLst>
                                    <p:set>
                                      <p:cBhvr>
                                        <p:cTn id="85" dur="1" fill="hold">
                                          <p:stCondLst>
                                            <p:cond delay="0"/>
                                          </p:stCondLst>
                                        </p:cTn>
                                        <p:tgtEl>
                                          <p:spTgt spid="33"/>
                                        </p:tgtEl>
                                        <p:attrNameLst>
                                          <p:attrName>style.visibility</p:attrName>
                                        </p:attrNameLst>
                                      </p:cBhvr>
                                      <p:to>
                                        <p:strVal val="visible"/>
                                      </p:to>
                                    </p:set>
                                    <p:animEffect transition="in" filter="fade">
                                      <p:cBhvr>
                                        <p:cTn id="86"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DFAE7"/>
        </a:solidFill>
      </p:bgPr>
    </p:bg>
    <p:spTree>
      <p:nvGrpSpPr>
        <p:cNvPr id="1" name=""/>
        <p:cNvGrpSpPr/>
        <p:nvPr/>
      </p:nvGrpSpPr>
      <p:grpSpPr>
        <a:xfrm>
          <a:off x="0" y="0"/>
          <a:ext cx="0" cy="0"/>
          <a:chOff x="0" y="0"/>
          <a:chExt cx="0" cy="0"/>
        </a:xfrm>
      </p:grpSpPr>
      <p:sp>
        <p:nvSpPr>
          <p:cNvPr id="2" name="S_425"/>
          <p:cNvSpPr txBox="1"/>
          <p:nvPr/>
        </p:nvSpPr>
        <p:spPr>
          <a:xfrm>
            <a:off x="609630" y="466070"/>
            <a:ext cx="1939077"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03 · ĐỀ XUẤT · VIỆC 1 / 5</a:t>
            </a:r>
            <a:endParaRPr lang="en-US" sz="1100" dirty="0"/>
          </a:p>
        </p:txBody>
      </p:sp>
      <p:sp>
        <p:nvSpPr>
          <p:cNvPr id="3" name="S_426"/>
          <p:cNvSpPr/>
          <p:nvPr/>
        </p:nvSpPr>
        <p:spPr>
          <a:xfrm>
            <a:off x="9964308" y="412760"/>
            <a:ext cx="1618031" cy="292059"/>
          </a:xfrm>
          <a:prstGeom prst="roundRect">
            <a:avLst>
              <a:gd name="adj" fmla="val 50000"/>
            </a:avLst>
          </a:prstGeom>
          <a:solidFill>
            <a:srgbClr val="EBE9E9"/>
          </a:solidFill>
          <a:ln/>
        </p:spPr>
      </p:sp>
      <p:sp>
        <p:nvSpPr>
          <p:cNvPr id="4" name="S_427"/>
          <p:cNvSpPr txBox="1"/>
          <p:nvPr/>
        </p:nvSpPr>
        <p:spPr>
          <a:xfrm>
            <a:off x="10129449" y="476220"/>
            <a:ext cx="1390894"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Data source AI-ready</a:t>
            </a:r>
            <a:endParaRPr lang="en-US" sz="1000" dirty="0"/>
          </a:p>
        </p:txBody>
      </p:sp>
      <p:sp>
        <p:nvSpPr>
          <p:cNvPr id="5" name="A_0_0_fade_428"/>
          <p:cNvSpPr txBox="1"/>
          <p:nvPr/>
        </p:nvSpPr>
        <p:spPr>
          <a:xfrm>
            <a:off x="609630" y="806592"/>
            <a:ext cx="8175193"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Chuẩn hoá dữ liệu thành data source AI-ready</a:t>
            </a:r>
            <a:endParaRPr lang="en-US" sz="2800" dirty="0"/>
          </a:p>
        </p:txBody>
      </p:sp>
      <p:sp>
        <p:nvSpPr>
          <p:cNvPr id="6" name="A_1_0_fade_429"/>
          <p:cNvSpPr/>
          <p:nvPr/>
        </p:nvSpPr>
        <p:spPr>
          <a:xfrm>
            <a:off x="612008" y="2285909"/>
            <a:ext cx="4646249" cy="2120676"/>
          </a:xfrm>
          <a:prstGeom prst="roundRect">
            <a:avLst>
              <a:gd name="adj" fmla="val 4191"/>
            </a:avLst>
          </a:prstGeom>
          <a:solidFill>
            <a:srgbClr val="F4F2E8"/>
          </a:solidFill>
          <a:ln w="9525">
            <a:solidFill>
              <a:srgbClr val="C9CAEB"/>
            </a:solidFill>
            <a:prstDash val="solid"/>
          </a:ln>
        </p:spPr>
      </p:sp>
      <p:sp>
        <p:nvSpPr>
          <p:cNvPr id="7" name="A_1_0_fade_430"/>
          <p:cNvSpPr txBox="1"/>
          <p:nvPr/>
        </p:nvSpPr>
        <p:spPr>
          <a:xfrm>
            <a:off x="831830" y="2487717"/>
            <a:ext cx="2023293"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6B6B6B"/>
                </a:solidFill>
                <a:latin typeface="Space Grotesk" pitchFamily="34" charset="0"/>
                <a:ea typeface="Space Grotesk" pitchFamily="34" charset="-122"/>
                <a:cs typeface="Space Grotesk" pitchFamily="34" charset="-120"/>
              </a:rPr>
              <a:t>TRI THỨC ĐANG NẰM RẢI RÁC</a:t>
            </a:r>
            <a:endParaRPr lang="en-US" sz="950" dirty="0"/>
          </a:p>
        </p:txBody>
      </p:sp>
      <p:sp>
        <p:nvSpPr>
          <p:cNvPr id="8" name="A_1_0_fade_431"/>
          <p:cNvSpPr/>
          <p:nvPr/>
        </p:nvSpPr>
        <p:spPr>
          <a:xfrm>
            <a:off x="834207" y="2766517"/>
            <a:ext cx="476677" cy="259324"/>
          </a:xfrm>
          <a:prstGeom prst="roundRect">
            <a:avLst>
              <a:gd name="adj" fmla="val 50917"/>
            </a:avLst>
          </a:prstGeom>
          <a:ln w="9525">
            <a:solidFill>
              <a:srgbClr val="C9CAEB"/>
            </a:solidFill>
            <a:prstDash val="solid"/>
          </a:ln>
        </p:spPr>
      </p:sp>
      <p:sp>
        <p:nvSpPr>
          <p:cNvPr id="9" name="A_1_0_fade_432"/>
          <p:cNvSpPr txBox="1"/>
          <p:nvPr/>
        </p:nvSpPr>
        <p:spPr>
          <a:xfrm>
            <a:off x="943021" y="2803550"/>
            <a:ext cx="335402" cy="181600"/>
          </a:xfrm>
          <a:prstGeom prst="rect">
            <a:avLst/>
          </a:prstGeom>
          <a:noFill/>
          <a:ln/>
        </p:spPr>
        <p:txBody>
          <a:bodyPr wrap="square" lIns="0" tIns="0" rIns="0" bIns="0" rtlCol="0" anchor="t"/>
          <a:lstStyle/>
          <a:p>
            <a:pPr algn="l" indent="0" marL="0">
              <a:lnSpc>
                <a:spcPts val="1430"/>
              </a:lnSpc>
              <a:buNone/>
            </a:pPr>
            <a:r>
              <a:rPr lang="en-US" sz="1100" dirty="0">
                <a:solidFill>
                  <a:srgbClr val="6B6B6B"/>
                </a:solidFill>
                <a:latin typeface="Space Grotesk" pitchFamily="34" charset="0"/>
                <a:ea typeface="Space Grotesk" pitchFamily="34" charset="-122"/>
                <a:cs typeface="Space Grotesk" pitchFamily="34" charset="-120"/>
              </a:rPr>
              <a:t>wiki</a:t>
            </a:r>
            <a:endParaRPr lang="en-US" sz="1100" dirty="0"/>
          </a:p>
        </p:txBody>
      </p:sp>
      <p:sp>
        <p:nvSpPr>
          <p:cNvPr id="10" name="A_1_0_fade_433"/>
          <p:cNvSpPr/>
          <p:nvPr/>
        </p:nvSpPr>
        <p:spPr>
          <a:xfrm>
            <a:off x="1379098" y="2766517"/>
            <a:ext cx="1089416" cy="259324"/>
          </a:xfrm>
          <a:prstGeom prst="roundRect">
            <a:avLst>
              <a:gd name="adj" fmla="val 50917"/>
            </a:avLst>
          </a:prstGeom>
          <a:ln w="9525">
            <a:solidFill>
              <a:srgbClr val="C9CAEB"/>
            </a:solidFill>
            <a:prstDash val="solid"/>
          </a:ln>
        </p:spPr>
      </p:sp>
      <p:sp>
        <p:nvSpPr>
          <p:cNvPr id="11" name="A_1_0_fade_434"/>
          <p:cNvSpPr txBox="1"/>
          <p:nvPr/>
        </p:nvSpPr>
        <p:spPr>
          <a:xfrm>
            <a:off x="1487912" y="2803550"/>
            <a:ext cx="948141" cy="181600"/>
          </a:xfrm>
          <a:prstGeom prst="rect">
            <a:avLst/>
          </a:prstGeom>
          <a:noFill/>
          <a:ln/>
        </p:spPr>
        <p:txBody>
          <a:bodyPr wrap="square" lIns="0" tIns="0" rIns="0" bIns="0" rtlCol="0" anchor="t"/>
          <a:lstStyle/>
          <a:p>
            <a:pPr algn="l" indent="0" marL="0">
              <a:lnSpc>
                <a:spcPts val="1430"/>
              </a:lnSpc>
              <a:buNone/>
            </a:pPr>
            <a:r>
              <a:rPr lang="en-US" sz="1100" dirty="0">
                <a:solidFill>
                  <a:srgbClr val="6B6B6B"/>
                </a:solidFill>
                <a:latin typeface="Space Grotesk" pitchFamily="34" charset="0"/>
                <a:ea typeface="Space Grotesk" pitchFamily="34" charset="-122"/>
                <a:cs typeface="Space Grotesk" pitchFamily="34" charset="-120"/>
              </a:rPr>
              <a:t>issue tracker</a:t>
            </a:r>
            <a:endParaRPr lang="en-US" sz="1100" dirty="0"/>
          </a:p>
        </p:txBody>
      </p:sp>
      <p:sp>
        <p:nvSpPr>
          <p:cNvPr id="12" name="A_1_0_fade_435"/>
          <p:cNvSpPr/>
          <p:nvPr/>
        </p:nvSpPr>
        <p:spPr>
          <a:xfrm>
            <a:off x="2536820" y="2766517"/>
            <a:ext cx="525871" cy="259324"/>
          </a:xfrm>
          <a:prstGeom prst="roundRect">
            <a:avLst>
              <a:gd name="adj" fmla="val 50917"/>
            </a:avLst>
          </a:prstGeom>
          <a:ln w="9525">
            <a:solidFill>
              <a:srgbClr val="C9CAEB"/>
            </a:solidFill>
            <a:prstDash val="solid"/>
          </a:ln>
        </p:spPr>
      </p:sp>
      <p:sp>
        <p:nvSpPr>
          <p:cNvPr id="13" name="A_1_0_fade_436"/>
          <p:cNvSpPr txBox="1"/>
          <p:nvPr/>
        </p:nvSpPr>
        <p:spPr>
          <a:xfrm>
            <a:off x="2645542" y="2803550"/>
            <a:ext cx="384597" cy="181600"/>
          </a:xfrm>
          <a:prstGeom prst="rect">
            <a:avLst/>
          </a:prstGeom>
          <a:noFill/>
          <a:ln/>
        </p:spPr>
        <p:txBody>
          <a:bodyPr wrap="square" lIns="0" tIns="0" rIns="0" bIns="0" rtlCol="0" anchor="t"/>
          <a:lstStyle/>
          <a:p>
            <a:pPr algn="l" indent="0" marL="0">
              <a:lnSpc>
                <a:spcPts val="1430"/>
              </a:lnSpc>
              <a:buNone/>
            </a:pPr>
            <a:r>
              <a:rPr lang="en-US" sz="1100" dirty="0">
                <a:solidFill>
                  <a:srgbClr val="6B6B6B"/>
                </a:solidFill>
                <a:latin typeface="Space Grotesk" pitchFamily="34" charset="0"/>
                <a:ea typeface="Space Grotesk" pitchFamily="34" charset="-122"/>
                <a:cs typeface="Space Grotesk" pitchFamily="34" charset="-120"/>
              </a:rPr>
              <a:t>chat</a:t>
            </a:r>
            <a:endParaRPr lang="en-US" sz="1100" dirty="0"/>
          </a:p>
        </p:txBody>
      </p:sp>
      <p:sp>
        <p:nvSpPr>
          <p:cNvPr id="14" name="A_1_0_fade_437"/>
          <p:cNvSpPr/>
          <p:nvPr/>
        </p:nvSpPr>
        <p:spPr>
          <a:xfrm>
            <a:off x="3130906" y="2766517"/>
            <a:ext cx="1053937" cy="259324"/>
          </a:xfrm>
          <a:prstGeom prst="roundRect">
            <a:avLst>
              <a:gd name="adj" fmla="val 50917"/>
            </a:avLst>
          </a:prstGeom>
          <a:ln w="9525">
            <a:solidFill>
              <a:srgbClr val="C9CAEB"/>
            </a:solidFill>
            <a:prstDash val="solid"/>
          </a:ln>
        </p:spPr>
      </p:sp>
      <p:sp>
        <p:nvSpPr>
          <p:cNvPr id="15" name="A_1_0_fade_438"/>
          <p:cNvSpPr txBox="1"/>
          <p:nvPr/>
        </p:nvSpPr>
        <p:spPr>
          <a:xfrm>
            <a:off x="3239719" y="2803550"/>
            <a:ext cx="912571" cy="181600"/>
          </a:xfrm>
          <a:prstGeom prst="rect">
            <a:avLst/>
          </a:prstGeom>
          <a:noFill/>
          <a:ln/>
        </p:spPr>
        <p:txBody>
          <a:bodyPr wrap="square" lIns="0" tIns="0" rIns="0" bIns="0" rtlCol="0" anchor="t"/>
          <a:lstStyle/>
          <a:p>
            <a:pPr algn="l" indent="0" marL="0">
              <a:lnSpc>
                <a:spcPts val="1430"/>
              </a:lnSpc>
              <a:buNone/>
            </a:pPr>
            <a:r>
              <a:rPr lang="en-US" sz="1100" dirty="0">
                <a:solidFill>
                  <a:srgbClr val="6B6B6B"/>
                </a:solidFill>
                <a:latin typeface="Space Grotesk" pitchFamily="34" charset="0"/>
                <a:ea typeface="Space Grotesk" pitchFamily="34" charset="-122"/>
                <a:cs typeface="Space Grotesk" pitchFamily="34" charset="-120"/>
              </a:rPr>
              <a:t>source code</a:t>
            </a:r>
            <a:endParaRPr lang="en-US" sz="1100" dirty="0"/>
          </a:p>
        </p:txBody>
      </p:sp>
      <p:sp>
        <p:nvSpPr>
          <p:cNvPr id="16" name="A_1_0_fade_439"/>
          <p:cNvSpPr/>
          <p:nvPr/>
        </p:nvSpPr>
        <p:spPr>
          <a:xfrm>
            <a:off x="4253149" y="2766517"/>
            <a:ext cx="544800" cy="259324"/>
          </a:xfrm>
          <a:prstGeom prst="roundRect">
            <a:avLst>
              <a:gd name="adj" fmla="val 50917"/>
            </a:avLst>
          </a:prstGeom>
          <a:ln w="9525">
            <a:solidFill>
              <a:srgbClr val="C9CAEB"/>
            </a:solidFill>
            <a:prstDash val="solid"/>
          </a:ln>
        </p:spPr>
      </p:sp>
      <p:sp>
        <p:nvSpPr>
          <p:cNvPr id="17" name="A_1_0_fade_440"/>
          <p:cNvSpPr txBox="1"/>
          <p:nvPr/>
        </p:nvSpPr>
        <p:spPr>
          <a:xfrm>
            <a:off x="4361871" y="2803550"/>
            <a:ext cx="403525" cy="181600"/>
          </a:xfrm>
          <a:prstGeom prst="rect">
            <a:avLst/>
          </a:prstGeom>
          <a:noFill/>
          <a:ln/>
        </p:spPr>
        <p:txBody>
          <a:bodyPr wrap="square" lIns="0" tIns="0" rIns="0" bIns="0" rtlCol="0" anchor="t"/>
          <a:lstStyle/>
          <a:p>
            <a:pPr algn="l" indent="0" marL="0">
              <a:lnSpc>
                <a:spcPts val="1430"/>
              </a:lnSpc>
              <a:buNone/>
            </a:pPr>
            <a:r>
              <a:rPr lang="en-US" sz="1100" dirty="0">
                <a:solidFill>
                  <a:srgbClr val="6B6B6B"/>
                </a:solidFill>
                <a:latin typeface="Space Grotesk" pitchFamily="34" charset="0"/>
                <a:ea typeface="Space Grotesk" pitchFamily="34" charset="-122"/>
                <a:cs typeface="Space Grotesk" pitchFamily="34" charset="-120"/>
              </a:rPr>
              <a:t>spec</a:t>
            </a:r>
            <a:endParaRPr lang="en-US" sz="1100" dirty="0"/>
          </a:p>
        </p:txBody>
      </p:sp>
      <p:sp>
        <p:nvSpPr>
          <p:cNvPr id="18" name="A_1_0_fade_441"/>
          <p:cNvSpPr/>
          <p:nvPr/>
        </p:nvSpPr>
        <p:spPr>
          <a:xfrm>
            <a:off x="834207" y="3094147"/>
            <a:ext cx="1098834" cy="259324"/>
          </a:xfrm>
          <a:prstGeom prst="roundRect">
            <a:avLst>
              <a:gd name="adj" fmla="val 50917"/>
            </a:avLst>
          </a:prstGeom>
          <a:ln w="9525">
            <a:solidFill>
              <a:srgbClr val="C9CAEB"/>
            </a:solidFill>
            <a:prstDash val="solid"/>
          </a:ln>
        </p:spPr>
      </p:sp>
      <p:sp>
        <p:nvSpPr>
          <p:cNvPr id="19" name="A_1_0_fade_442"/>
          <p:cNvSpPr txBox="1"/>
          <p:nvPr/>
        </p:nvSpPr>
        <p:spPr>
          <a:xfrm>
            <a:off x="943021" y="3131088"/>
            <a:ext cx="957560" cy="181600"/>
          </a:xfrm>
          <a:prstGeom prst="rect">
            <a:avLst/>
          </a:prstGeom>
          <a:noFill/>
          <a:ln/>
        </p:spPr>
        <p:txBody>
          <a:bodyPr wrap="square" lIns="0" tIns="0" rIns="0" bIns="0" rtlCol="0" anchor="t"/>
          <a:lstStyle/>
          <a:p>
            <a:pPr algn="l" indent="0" marL="0">
              <a:lnSpc>
                <a:spcPts val="1430"/>
              </a:lnSpc>
              <a:buNone/>
            </a:pPr>
            <a:r>
              <a:rPr lang="en-US" sz="1100" dirty="0">
                <a:solidFill>
                  <a:srgbClr val="6B6B6B"/>
                </a:solidFill>
                <a:latin typeface="Space Grotesk" pitchFamily="34" charset="0"/>
                <a:ea typeface="Space Grotesk" pitchFamily="34" charset="-122"/>
                <a:cs typeface="Space Grotesk" pitchFamily="34" charset="-120"/>
              </a:rPr>
              <a:t>biên bản họp</a:t>
            </a:r>
            <a:endParaRPr lang="en-US" sz="1100" dirty="0"/>
          </a:p>
        </p:txBody>
      </p:sp>
      <p:sp>
        <p:nvSpPr>
          <p:cNvPr id="20" name="A_1_0_fade_443"/>
          <p:cNvSpPr/>
          <p:nvPr/>
        </p:nvSpPr>
        <p:spPr>
          <a:xfrm>
            <a:off x="2001347" y="3094147"/>
            <a:ext cx="2138507" cy="259324"/>
          </a:xfrm>
          <a:prstGeom prst="roundRect">
            <a:avLst>
              <a:gd name="adj" fmla="val 50917"/>
            </a:avLst>
          </a:prstGeom>
          <a:ln w="9525">
            <a:solidFill>
              <a:srgbClr val="C9CAEB"/>
            </a:solidFill>
            <a:prstDash val="solid"/>
          </a:ln>
        </p:spPr>
      </p:sp>
      <p:sp>
        <p:nvSpPr>
          <p:cNvPr id="21" name="A_1_0_fade_444"/>
          <p:cNvSpPr txBox="1"/>
          <p:nvPr/>
        </p:nvSpPr>
        <p:spPr>
          <a:xfrm>
            <a:off x="2110069" y="3131088"/>
            <a:ext cx="2074682" cy="181600"/>
          </a:xfrm>
          <a:prstGeom prst="rect">
            <a:avLst/>
          </a:prstGeom>
          <a:noFill/>
          <a:ln/>
        </p:spPr>
        <p:txBody>
          <a:bodyPr wrap="square" lIns="0" tIns="0" rIns="0" bIns="0" rtlCol="0" anchor="t"/>
          <a:lstStyle/>
          <a:p>
            <a:pPr algn="l" indent="0" marL="0">
              <a:lnSpc>
                <a:spcPts val="1430"/>
              </a:lnSpc>
              <a:buNone/>
            </a:pPr>
            <a:r>
              <a:rPr lang="en-US" sz="1100" dirty="0">
                <a:solidFill>
                  <a:srgbClr val="6B6B6B"/>
                </a:solidFill>
                <a:latin typeface="Space Grotesk" pitchFamily="34" charset="0"/>
                <a:ea typeface="Space Grotesk" pitchFamily="34" charset="-122"/>
                <a:cs typeface="Space Grotesk" pitchFamily="34" charset="-120"/>
              </a:rPr>
              <a:t>trong đầu người làm lâu năm</a:t>
            </a:r>
            <a:endParaRPr lang="en-US" sz="1100" dirty="0"/>
          </a:p>
        </p:txBody>
      </p:sp>
      <p:sp>
        <p:nvSpPr>
          <p:cNvPr id="22" name="A_2_0_fade_445"/>
          <p:cNvSpPr txBox="1"/>
          <p:nvPr/>
        </p:nvSpPr>
        <p:spPr>
          <a:xfrm>
            <a:off x="5414528" y="3210916"/>
            <a:ext cx="276149" cy="259050"/>
          </a:xfrm>
          <a:prstGeom prst="rect">
            <a:avLst/>
          </a:prstGeom>
          <a:noFill/>
          <a:ln/>
        </p:spPr>
        <p:txBody>
          <a:bodyPr wrap="square" lIns="0" tIns="0" rIns="0" bIns="0" rtlCol="0" anchor="t"/>
          <a:lstStyle/>
          <a:p>
            <a:pPr algn="l"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23" name="A_3_1_fade_446"/>
          <p:cNvSpPr/>
          <p:nvPr/>
        </p:nvSpPr>
        <p:spPr>
          <a:xfrm>
            <a:off x="5770961" y="2285909"/>
            <a:ext cx="5809092" cy="2120676"/>
          </a:xfrm>
          <a:prstGeom prst="roundRect">
            <a:avLst>
              <a:gd name="adj" fmla="val 4191"/>
            </a:avLst>
          </a:prstGeom>
          <a:solidFill>
            <a:srgbClr val="DCDBEA"/>
          </a:solidFill>
          <a:ln w="9525">
            <a:solidFill>
              <a:srgbClr val="1E2BFA"/>
            </a:solidFill>
            <a:prstDash val="solid"/>
          </a:ln>
        </p:spPr>
      </p:sp>
      <p:sp>
        <p:nvSpPr>
          <p:cNvPr id="24" name="A_3_1_fade_447"/>
          <p:cNvSpPr txBox="1"/>
          <p:nvPr/>
        </p:nvSpPr>
        <p:spPr>
          <a:xfrm>
            <a:off x="6003493" y="2487717"/>
            <a:ext cx="2156612"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DẠNG AGENT DÙNG ĐƯỢC NGAY</a:t>
            </a:r>
            <a:endParaRPr lang="en-US" sz="950" dirty="0"/>
          </a:p>
        </p:txBody>
      </p:sp>
      <p:sp>
        <p:nvSpPr>
          <p:cNvPr id="25" name="A_3_1_fade_448"/>
          <p:cNvSpPr txBox="1"/>
          <p:nvPr/>
        </p:nvSpPr>
        <p:spPr>
          <a:xfrm>
            <a:off x="6003493" y="2763317"/>
            <a:ext cx="213970" cy="230154"/>
          </a:xfrm>
          <a:prstGeom prst="rect">
            <a:avLst/>
          </a:prstGeom>
          <a:noFill/>
          <a:ln/>
        </p:spPr>
        <p:txBody>
          <a:bodyPr wrap="square" lIns="0" tIns="0" rIns="0" bIns="0" rtlCol="0" anchor="t"/>
          <a:lstStyle/>
          <a:p>
            <a:pPr algn="l" indent="0" marL="0">
              <a:lnSpc>
                <a:spcPts val="1813"/>
              </a:lnSpc>
              <a:buNone/>
            </a:pPr>
            <a:r>
              <a:rPr lang="en-US" sz="1250" b="1" dirty="0">
                <a:solidFill>
                  <a:srgbClr val="1E2BFA"/>
                </a:solidFill>
                <a:latin typeface="Inter" pitchFamily="34" charset="0"/>
                <a:ea typeface="Inter" pitchFamily="34" charset="-122"/>
                <a:cs typeface="Inter" pitchFamily="34" charset="-120"/>
              </a:rPr>
              <a:t>✓</a:t>
            </a:r>
            <a:endParaRPr lang="en-US" sz="1250" dirty="0"/>
          </a:p>
        </p:txBody>
      </p:sp>
      <p:sp>
        <p:nvSpPr>
          <p:cNvPr id="26" name="A_3_1_fade_449"/>
          <p:cNvSpPr txBox="1"/>
          <p:nvPr/>
        </p:nvSpPr>
        <p:spPr>
          <a:xfrm>
            <a:off x="6219383" y="2763317"/>
            <a:ext cx="3271632" cy="230154"/>
          </a:xfrm>
          <a:prstGeom prst="rect">
            <a:avLst/>
          </a:prstGeom>
          <a:noFill/>
          <a:ln/>
        </p:spPr>
        <p:txBody>
          <a:bodyPr wrap="square" lIns="0" tIns="0" rIns="0" bIns="0" rtlCol="0" anchor="t"/>
          <a:lstStyle/>
          <a:p>
            <a:pPr algn="l" indent="0" marL="0">
              <a:lnSpc>
                <a:spcPts val="1813"/>
              </a:lnSpc>
              <a:buNone/>
            </a:pPr>
            <a:r>
              <a:rPr lang="en-US" sz="1250" dirty="0">
                <a:solidFill>
                  <a:srgbClr val="111111"/>
                </a:solidFill>
                <a:latin typeface="Inter" pitchFamily="34" charset="0"/>
                <a:ea typeface="Inter" pitchFamily="34" charset="-122"/>
                <a:cs typeface="Inter" pitchFamily="34" charset="-120"/>
              </a:rPr>
              <a:t>Có cấu trúc, có nguồn gốc, có phân quyền</a:t>
            </a:r>
            <a:endParaRPr lang="en-US" sz="1250" dirty="0"/>
          </a:p>
        </p:txBody>
      </p:sp>
      <p:sp>
        <p:nvSpPr>
          <p:cNvPr id="27" name="A_3_1_fade_450"/>
          <p:cNvSpPr txBox="1"/>
          <p:nvPr/>
        </p:nvSpPr>
        <p:spPr>
          <a:xfrm>
            <a:off x="6003493" y="3082442"/>
            <a:ext cx="213970" cy="230154"/>
          </a:xfrm>
          <a:prstGeom prst="rect">
            <a:avLst/>
          </a:prstGeom>
          <a:noFill/>
          <a:ln/>
        </p:spPr>
        <p:txBody>
          <a:bodyPr wrap="square" lIns="0" tIns="0" rIns="0" bIns="0" rtlCol="0" anchor="t"/>
          <a:lstStyle/>
          <a:p>
            <a:pPr algn="l" indent="0" marL="0">
              <a:lnSpc>
                <a:spcPts val="1813"/>
              </a:lnSpc>
              <a:buNone/>
            </a:pPr>
            <a:r>
              <a:rPr lang="en-US" sz="1250" b="1" dirty="0">
                <a:solidFill>
                  <a:srgbClr val="1E2BFA"/>
                </a:solidFill>
                <a:latin typeface="Inter" pitchFamily="34" charset="0"/>
                <a:ea typeface="Inter" pitchFamily="34" charset="-122"/>
                <a:cs typeface="Inter" pitchFamily="34" charset="-120"/>
              </a:rPr>
              <a:t>✓</a:t>
            </a:r>
            <a:endParaRPr lang="en-US" sz="1250" dirty="0"/>
          </a:p>
        </p:txBody>
      </p:sp>
      <p:sp>
        <p:nvSpPr>
          <p:cNvPr id="28" name="A_3_1_fade_451"/>
          <p:cNvSpPr txBox="1"/>
          <p:nvPr/>
        </p:nvSpPr>
        <p:spPr>
          <a:xfrm>
            <a:off x="6219383" y="3082442"/>
            <a:ext cx="5505145" cy="460400"/>
          </a:xfrm>
          <a:prstGeom prst="rect">
            <a:avLst/>
          </a:prstGeom>
          <a:noFill/>
          <a:ln/>
        </p:spPr>
        <p:txBody>
          <a:bodyPr wrap="square" lIns="0" tIns="0" rIns="0" bIns="0" rtlCol="0" anchor="t"/>
          <a:lstStyle/>
          <a:p>
            <a:pPr algn="l" indent="0" marL="0">
              <a:lnSpc>
                <a:spcPts val="1813"/>
              </a:lnSpc>
              <a:buNone/>
            </a:pPr>
            <a:r>
              <a:rPr lang="en-US" sz="1250" dirty="0">
                <a:solidFill>
                  <a:srgbClr val="111111"/>
                </a:solidFill>
                <a:latin typeface="Inter" pitchFamily="34" charset="0"/>
                <a:ea typeface="Inter" pitchFamily="34" charset="-122"/>
                <a:cs typeface="Inter" pitchFamily="34" charset="-120"/>
              </a:rPr>
              <a:t>Kèm một bộ tri thức nói rõ câu hỏi nào trả lời ở đâu, và dữ liệu</a:t>
            </a:r>
            <a:pPr algn="l" indent="0" marL="0">
              <a:lnSpc>
                <a:spcPts val="1813"/>
              </a:lnSpc>
              <a:buNone/>
            </a:pPr>
            <a:r>
              <a:rPr lang="en-US" sz="1250" i="1" dirty="0">
                <a:solidFill>
                  <a:srgbClr val="111111"/>
                </a:solidFill>
                <a:latin typeface="Inter" pitchFamily="34" charset="0"/>
                <a:ea typeface="Inter" pitchFamily="34" charset="-122"/>
                <a:cs typeface="Inter" pitchFamily="34" charset="-120"/>
              </a:rPr>
              <a:t> không</a:t>
            </a:r>
            <a:pPr algn="l" indent="0" marL="0">
              <a:lnSpc>
                <a:spcPts val="1813"/>
              </a:lnSpc>
              <a:buNone/>
            </a:pPr>
            <a:r>
              <a:rPr lang="en-US" sz="1250" dirty="0">
                <a:solidFill>
                  <a:srgbClr val="111111"/>
                </a:solidFill>
                <a:latin typeface="Inter" pitchFamily="34" charset="0"/>
                <a:ea typeface="Inter" pitchFamily="34" charset="-122"/>
                <a:cs typeface="Inter" pitchFamily="34" charset="-120"/>
              </a:rPr>
              <a:t> nói</a:t>
            </a:r>
            <a:endParaRPr lang="en-US" sz="1250" dirty="0"/>
          </a:p>
          <a:p>
            <a:pPr algn="l" indent="0" marL="0">
              <a:lnSpc>
                <a:spcPts val="1813"/>
              </a:lnSpc>
              <a:buNone/>
            </a:pPr>
            <a:r>
              <a:rPr lang="en-US" sz="1250" dirty="0">
                <a:solidFill>
                  <a:srgbClr val="111111"/>
                </a:solidFill>
                <a:latin typeface="Inter" pitchFamily="34" charset="0"/>
                <a:ea typeface="Inter" pitchFamily="34" charset="-122"/>
                <a:cs typeface="Inter" pitchFamily="34" charset="-120"/>
              </a:rPr>
              <a:t>được gì</a:t>
            </a:r>
            <a:endParaRPr lang="en-US" sz="1250" dirty="0"/>
          </a:p>
        </p:txBody>
      </p:sp>
      <p:sp>
        <p:nvSpPr>
          <p:cNvPr id="29" name="A_3_1_fade_452"/>
          <p:cNvSpPr txBox="1"/>
          <p:nvPr/>
        </p:nvSpPr>
        <p:spPr>
          <a:xfrm>
            <a:off x="6003493" y="3690610"/>
            <a:ext cx="1264249"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THUỘC LAYER NÀY</a:t>
            </a:r>
            <a:endParaRPr lang="en-US" sz="950" dirty="0"/>
          </a:p>
        </p:txBody>
      </p:sp>
      <p:sp>
        <p:nvSpPr>
          <p:cNvPr id="30" name="A_3_1_fade_453"/>
          <p:cNvSpPr/>
          <p:nvPr/>
        </p:nvSpPr>
        <p:spPr>
          <a:xfrm>
            <a:off x="6003493" y="3928994"/>
            <a:ext cx="1756197" cy="270480"/>
          </a:xfrm>
          <a:prstGeom prst="roundRect">
            <a:avLst>
              <a:gd name="adj" fmla="val 50000"/>
            </a:avLst>
          </a:prstGeom>
          <a:solidFill>
            <a:srgbClr val="CCCDEB"/>
          </a:solidFill>
          <a:ln/>
        </p:spPr>
      </p:sp>
      <p:sp>
        <p:nvSpPr>
          <p:cNvPr id="31" name="A_3_1_fade_454"/>
          <p:cNvSpPr txBox="1"/>
          <p:nvPr/>
        </p:nvSpPr>
        <p:spPr>
          <a:xfrm>
            <a:off x="6117793" y="3971514"/>
            <a:ext cx="1649760"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code graph nhiều repo</a:t>
            </a:r>
            <a:endParaRPr lang="en-US" sz="1100" dirty="0"/>
          </a:p>
        </p:txBody>
      </p:sp>
      <p:sp>
        <p:nvSpPr>
          <p:cNvPr id="32" name="A_3_1_fade_455"/>
          <p:cNvSpPr/>
          <p:nvPr/>
        </p:nvSpPr>
        <p:spPr>
          <a:xfrm>
            <a:off x="7823241" y="3928994"/>
            <a:ext cx="1644548" cy="270480"/>
          </a:xfrm>
          <a:prstGeom prst="roundRect">
            <a:avLst>
              <a:gd name="adj" fmla="val 50000"/>
            </a:avLst>
          </a:prstGeom>
          <a:solidFill>
            <a:srgbClr val="CCCDEB"/>
          </a:solidFill>
          <a:ln/>
        </p:spPr>
      </p:sp>
      <p:sp>
        <p:nvSpPr>
          <p:cNvPr id="33" name="A_3_1_fade_456"/>
          <p:cNvSpPr txBox="1"/>
          <p:nvPr/>
        </p:nvSpPr>
        <p:spPr>
          <a:xfrm>
            <a:off x="7937541" y="3971514"/>
            <a:ext cx="1529243"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index tài liệu thiết kế</a:t>
            </a:r>
            <a:endParaRPr lang="en-US" sz="1100" dirty="0"/>
          </a:p>
        </p:txBody>
      </p:sp>
      <p:sp>
        <p:nvSpPr>
          <p:cNvPr id="34" name="A_3_1_fade_457"/>
          <p:cNvSpPr/>
          <p:nvPr/>
        </p:nvSpPr>
        <p:spPr>
          <a:xfrm>
            <a:off x="9531248" y="3928994"/>
            <a:ext cx="1377086" cy="270480"/>
          </a:xfrm>
          <a:prstGeom prst="roundRect">
            <a:avLst>
              <a:gd name="adj" fmla="val 50000"/>
            </a:avLst>
          </a:prstGeom>
          <a:solidFill>
            <a:srgbClr val="CCCDEB"/>
          </a:solidFill>
          <a:ln/>
        </p:spPr>
      </p:sp>
      <p:sp>
        <p:nvSpPr>
          <p:cNvPr id="35" name="A_3_1_fade_458"/>
          <p:cNvSpPr txBox="1"/>
          <p:nvPr/>
        </p:nvSpPr>
        <p:spPr>
          <a:xfrm>
            <a:off x="9645548" y="3971514"/>
            <a:ext cx="1240292"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định nghĩa chỉ số</a:t>
            </a:r>
            <a:endParaRPr lang="en-US" sz="1100" dirty="0"/>
          </a:p>
        </p:txBody>
      </p:sp>
      <p:sp>
        <p:nvSpPr>
          <p:cNvPr id="36" name="A_4_2_fade_459"/>
          <p:cNvSpPr/>
          <p:nvPr/>
        </p:nvSpPr>
        <p:spPr>
          <a:xfrm>
            <a:off x="609630" y="4624852"/>
            <a:ext cx="10972800" cy="603230"/>
          </a:xfrm>
          <a:prstGeom prst="roundRect">
            <a:avLst>
              <a:gd name="adj" fmla="val 14734"/>
            </a:avLst>
          </a:prstGeom>
          <a:solidFill>
            <a:srgbClr val="EBE9E9"/>
          </a:solidFill>
          <a:ln/>
        </p:spPr>
      </p:sp>
      <p:sp>
        <p:nvSpPr>
          <p:cNvPr id="37" name="A_4_2_fade_460"/>
          <p:cNvSpPr txBox="1"/>
          <p:nvPr/>
        </p:nvSpPr>
        <p:spPr>
          <a:xfrm>
            <a:off x="838230" y="4842754"/>
            <a:ext cx="1497970"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NÊN TẬP TRUNG NHẤT</a:t>
            </a:r>
            <a:endParaRPr lang="en-US" sz="950" dirty="0"/>
          </a:p>
        </p:txBody>
      </p:sp>
      <p:sp>
        <p:nvSpPr>
          <p:cNvPr id="38" name="A_4_2_fade_461"/>
          <p:cNvSpPr txBox="1"/>
          <p:nvPr/>
        </p:nvSpPr>
        <p:spPr>
          <a:xfrm>
            <a:off x="2415662" y="4802703"/>
            <a:ext cx="4176705" cy="247620"/>
          </a:xfrm>
          <a:prstGeom prst="rect">
            <a:avLst/>
          </a:prstGeom>
          <a:noFill/>
          <a:ln/>
        </p:spPr>
        <p:txBody>
          <a:bodyPr wrap="square" lIns="0" tIns="0" rIns="0" bIns="0" rtlCol="0" anchor="t"/>
          <a:lstStyle/>
          <a:p>
            <a:pPr algn="l" indent="0" marL="0">
              <a:lnSpc>
                <a:spcPts val="1950"/>
              </a:lnSpc>
              <a:buNone/>
            </a:pPr>
            <a:r>
              <a:rPr lang="en-US" sz="1300" dirty="0">
                <a:solidFill>
                  <a:srgbClr val="111111"/>
                </a:solidFill>
                <a:latin typeface="Inter" pitchFamily="34" charset="0"/>
                <a:ea typeface="Inter" pitchFamily="34" charset="-122"/>
                <a:cs typeface="Inter" pitchFamily="34" charset="-120"/>
              </a:rPr>
              <a:t>Để từng team tự làm thì vừa trùng lặp vừa lệch nhau.</a:t>
            </a:r>
            <a:endParaRPr lang="en-US" sz="1300" dirty="0"/>
          </a:p>
        </p:txBody>
      </p:sp>
      <p:sp>
        <p:nvSpPr>
          <p:cNvPr id="39" name="S_462"/>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40" name="S_463"/>
          <p:cNvSpPr txBox="1"/>
          <p:nvPr/>
        </p:nvSpPr>
        <p:spPr>
          <a:xfrm>
            <a:off x="11185581" y="6517660"/>
            <a:ext cx="473019"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12 / 25</a:t>
            </a:r>
            <a:endParaRPr lang="en-US" sz="900" dirty="0"/>
          </a:p>
        </p:txBody>
      </p:sp>
      <p:sp>
        <p:nvSpPr>
          <p:cNvPr id="41" name="S_464"/>
          <p:cNvSpPr/>
          <p:nvPr/>
        </p:nvSpPr>
        <p:spPr>
          <a:xfrm>
            <a:off x="0" y="6838980"/>
            <a:ext cx="585216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58" fill="hold">
                      <p:stCondLst>
                        <p:cond delay="indefinite"/>
                        <p:cond evt="onBegin" delay="0">
                          <p:tn val="2"/>
                        </p:cond>
                      </p:stCondLst>
                      <p:childTnLst>
                        <p:par>
                          <p:cTn id="57"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11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11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11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1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11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11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11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11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11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11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11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11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11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22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childTnLst>
                          </p:cTn>
                        </p:par>
                      </p:childTnLst>
                    </p:cTn>
                  </p:par>
                  <p:par>
                    <p:cTn id="99" fill="hold">
                      <p:stCondLst>
                        <p:cond delay="indefinite"/>
                      </p:stCondLst>
                      <p:childTnLst>
                        <p:par>
                          <p:cTn id="9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childTnLst>
                          </p:cTn>
                        </p:par>
                      </p:childTnLst>
                    </p:cTn>
                  </p:par>
                  <p:par>
                    <p:cTn id="110" fill="hold">
                      <p:stCondLst>
                        <p:cond delay="indefinite"/>
                      </p:stCondLst>
                      <p:childTnLst>
                        <p:par>
                          <p:cTn id="10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500"/>
                                        <p:tgtEl>
                                          <p:spTgt spid="36"/>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7"/>
                                        </p:tgtEl>
                                        <p:attrNameLst>
                                          <p:attrName>style.visibility</p:attrName>
                                        </p:attrNameLst>
                                      </p:cBhvr>
                                      <p:to>
                                        <p:strVal val="visible"/>
                                      </p:to>
                                    </p:set>
                                    <p:animEffect transition="in" filter="fade">
                                      <p:cBhvr>
                                        <p:cTn id="105" dur="500"/>
                                        <p:tgtEl>
                                          <p:spTgt spid="37"/>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8"/>
                                        </p:tgtEl>
                                        <p:attrNameLst>
                                          <p:attrName>style.visibility</p:attrName>
                                        </p:attrNameLst>
                                      </p:cBhvr>
                                      <p:to>
                                        <p:strVal val="visible"/>
                                      </p:to>
                                    </p:set>
                                    <p:animEffect transition="in" filter="fade">
                                      <p:cBhvr>
                                        <p:cTn id="108"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DFAE7"/>
        </a:solidFill>
      </p:bgPr>
    </p:bg>
    <p:spTree>
      <p:nvGrpSpPr>
        <p:cNvPr id="1" name=""/>
        <p:cNvGrpSpPr/>
        <p:nvPr/>
      </p:nvGrpSpPr>
      <p:grpSpPr>
        <a:xfrm>
          <a:off x="0" y="0"/>
          <a:ext cx="0" cy="0"/>
          <a:chOff x="0" y="0"/>
          <a:chExt cx="0" cy="0"/>
        </a:xfrm>
      </p:grpSpPr>
      <p:sp>
        <p:nvSpPr>
          <p:cNvPr id="2" name="S_465"/>
          <p:cNvSpPr txBox="1"/>
          <p:nvPr/>
        </p:nvSpPr>
        <p:spPr>
          <a:xfrm>
            <a:off x="609630" y="466070"/>
            <a:ext cx="1962120"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03 · ĐỀ XUẤT · VIỆC 2 / 5</a:t>
            </a:r>
            <a:endParaRPr lang="en-US" sz="1100" dirty="0"/>
          </a:p>
        </p:txBody>
      </p:sp>
      <p:sp>
        <p:nvSpPr>
          <p:cNvPr id="3" name="S_466"/>
          <p:cNvSpPr/>
          <p:nvPr/>
        </p:nvSpPr>
        <p:spPr>
          <a:xfrm>
            <a:off x="10531145" y="412760"/>
            <a:ext cx="1051194" cy="292059"/>
          </a:xfrm>
          <a:prstGeom prst="roundRect">
            <a:avLst>
              <a:gd name="adj" fmla="val 50000"/>
            </a:avLst>
          </a:prstGeom>
          <a:solidFill>
            <a:srgbClr val="EBE9E9"/>
          </a:solidFill>
          <a:ln/>
        </p:spPr>
      </p:sp>
      <p:sp>
        <p:nvSpPr>
          <p:cNvPr id="4" name="S_467"/>
          <p:cNvSpPr txBox="1"/>
          <p:nvPr/>
        </p:nvSpPr>
        <p:spPr>
          <a:xfrm>
            <a:off x="10696285" y="476220"/>
            <a:ext cx="797265"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Kit AI-ready</a:t>
            </a:r>
            <a:endParaRPr lang="en-US" sz="1000" dirty="0"/>
          </a:p>
        </p:txBody>
      </p:sp>
      <p:sp>
        <p:nvSpPr>
          <p:cNvPr id="5" name="A_0_0_fade_468"/>
          <p:cNvSpPr txBox="1"/>
          <p:nvPr/>
        </p:nvSpPr>
        <p:spPr>
          <a:xfrm>
            <a:off x="609630" y="806592"/>
            <a:ext cx="6947337"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Chuẩn hoá quy trình thành kit AI-ready</a:t>
            </a:r>
            <a:endParaRPr lang="en-US" sz="2800" dirty="0"/>
          </a:p>
        </p:txBody>
      </p:sp>
      <p:sp>
        <p:nvSpPr>
          <p:cNvPr id="6" name="A_1_0_fade_469"/>
          <p:cNvSpPr/>
          <p:nvPr/>
        </p:nvSpPr>
        <p:spPr>
          <a:xfrm>
            <a:off x="612008" y="2051091"/>
            <a:ext cx="2841132" cy="1130107"/>
          </a:xfrm>
          <a:prstGeom prst="roundRect">
            <a:avLst>
              <a:gd name="adj" fmla="val 7865"/>
            </a:avLst>
          </a:prstGeom>
          <a:solidFill>
            <a:srgbClr val="F4F2E8"/>
          </a:solidFill>
          <a:ln w="9525">
            <a:solidFill>
              <a:srgbClr val="C9CAEB"/>
            </a:solidFill>
            <a:prstDash val="solid"/>
          </a:ln>
        </p:spPr>
      </p:sp>
      <p:sp>
        <p:nvSpPr>
          <p:cNvPr id="7" name="A_1_0_fade_470"/>
          <p:cNvSpPr txBox="1"/>
          <p:nvPr/>
        </p:nvSpPr>
        <p:spPr>
          <a:xfrm>
            <a:off x="781080" y="2189348"/>
            <a:ext cx="1811701"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6B6B6B"/>
                </a:solidFill>
                <a:latin typeface="Space Grotesk" pitchFamily="34" charset="0"/>
                <a:ea typeface="Space Grotesk" pitchFamily="34" charset="-122"/>
                <a:cs typeface="Space Grotesk" pitchFamily="34" charset="-120"/>
              </a:rPr>
              <a:t>HIỆN VIẾT CHO NGƯỜI ĐỌC</a:t>
            </a:r>
            <a:endParaRPr lang="en-US" sz="950" dirty="0"/>
          </a:p>
        </p:txBody>
      </p:sp>
      <p:sp>
        <p:nvSpPr>
          <p:cNvPr id="8" name="A_1_0_fade_471"/>
          <p:cNvSpPr txBox="1"/>
          <p:nvPr/>
        </p:nvSpPr>
        <p:spPr>
          <a:xfrm>
            <a:off x="781080" y="2398014"/>
            <a:ext cx="2603297" cy="63532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Template tài liệu, coding convention,</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checklist review, quy trình release,</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cách viết test case</a:t>
            </a:r>
            <a:endParaRPr lang="en-US" sz="1150" dirty="0"/>
          </a:p>
        </p:txBody>
      </p:sp>
      <p:sp>
        <p:nvSpPr>
          <p:cNvPr id="9" name="A_1_0_fade_472"/>
          <p:cNvSpPr txBox="1"/>
          <p:nvPr/>
        </p:nvSpPr>
        <p:spPr>
          <a:xfrm>
            <a:off x="3507913" y="2480767"/>
            <a:ext cx="276149" cy="259050"/>
          </a:xfrm>
          <a:prstGeom prst="rect">
            <a:avLst/>
          </a:prstGeom>
          <a:noFill/>
          <a:ln/>
        </p:spPr>
        <p:txBody>
          <a:bodyPr wrap="square" lIns="0" tIns="0" rIns="0" bIns="0" rtlCol="0" anchor="t"/>
          <a:lstStyle/>
          <a:p>
            <a:pPr algn="ctr"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10" name="A_1_0_fade_473"/>
          <p:cNvSpPr/>
          <p:nvPr/>
        </p:nvSpPr>
        <p:spPr>
          <a:xfrm>
            <a:off x="3838834" y="2051091"/>
            <a:ext cx="2841132" cy="1130107"/>
          </a:xfrm>
          <a:prstGeom prst="roundRect">
            <a:avLst>
              <a:gd name="adj" fmla="val 7865"/>
            </a:avLst>
          </a:prstGeom>
          <a:solidFill>
            <a:srgbClr val="DCDBEA"/>
          </a:solidFill>
          <a:ln w="9525">
            <a:solidFill>
              <a:srgbClr val="1E2BFA"/>
            </a:solidFill>
            <a:prstDash val="solid"/>
          </a:ln>
        </p:spPr>
      </p:sp>
      <p:sp>
        <p:nvSpPr>
          <p:cNvPr id="11" name="A_1_0_fade_474"/>
          <p:cNvSpPr txBox="1"/>
          <p:nvPr/>
        </p:nvSpPr>
        <p:spPr>
          <a:xfrm>
            <a:off x="4007907" y="2395819"/>
            <a:ext cx="1723004"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VIẾT LẠI CHO AGENT ĐỌC</a:t>
            </a:r>
            <a:endParaRPr lang="en-US" sz="950" dirty="0"/>
          </a:p>
        </p:txBody>
      </p:sp>
      <p:sp>
        <p:nvSpPr>
          <p:cNvPr id="12" name="A_1_0_fade_475"/>
          <p:cNvSpPr txBox="1"/>
          <p:nvPr/>
        </p:nvSpPr>
        <p:spPr>
          <a:xfrm>
            <a:off x="4007907" y="2605583"/>
            <a:ext cx="1500256"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Skill và workflow</a:t>
            </a:r>
            <a:endParaRPr lang="en-US" sz="1400" dirty="0"/>
          </a:p>
        </p:txBody>
      </p:sp>
      <p:sp>
        <p:nvSpPr>
          <p:cNvPr id="13" name="A_2_0_fade_476"/>
          <p:cNvSpPr txBox="1"/>
          <p:nvPr/>
        </p:nvSpPr>
        <p:spPr>
          <a:xfrm>
            <a:off x="609630" y="3355939"/>
            <a:ext cx="2514234"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MỖI SKILL LÀM MỘT VIỆC, VÀ GHI RÕ</a:t>
            </a:r>
            <a:endParaRPr lang="en-US" sz="950" dirty="0"/>
          </a:p>
        </p:txBody>
      </p:sp>
      <p:sp>
        <p:nvSpPr>
          <p:cNvPr id="14" name="A_3_0_fade_477"/>
          <p:cNvSpPr/>
          <p:nvPr/>
        </p:nvSpPr>
        <p:spPr>
          <a:xfrm>
            <a:off x="612008" y="3660160"/>
            <a:ext cx="2987162" cy="450891"/>
          </a:xfrm>
          <a:prstGeom prst="roundRect">
            <a:avLst>
              <a:gd name="adj" fmla="val 19712"/>
            </a:avLst>
          </a:prstGeom>
          <a:solidFill>
            <a:srgbClr val="F4F2E8"/>
          </a:solidFill>
          <a:ln w="9525">
            <a:solidFill>
              <a:srgbClr val="C9CAEB"/>
            </a:solidFill>
            <a:prstDash val="solid"/>
          </a:ln>
        </p:spPr>
      </p:sp>
      <p:sp>
        <p:nvSpPr>
          <p:cNvPr id="15" name="A_3_0_fade_478"/>
          <p:cNvSpPr txBox="1"/>
          <p:nvPr/>
        </p:nvSpPr>
        <p:spPr>
          <a:xfrm>
            <a:off x="768370" y="3776106"/>
            <a:ext cx="511058" cy="214335"/>
          </a:xfrm>
          <a:prstGeom prst="rect">
            <a:avLst/>
          </a:prstGeom>
          <a:noFill/>
          <a:ln/>
        </p:spPr>
        <p:txBody>
          <a:bodyPr wrap="square" lIns="0" tIns="0" rIns="0" bIns="0" rtlCol="0" anchor="t"/>
          <a:lstStyle/>
          <a:p>
            <a:pPr algn="l" indent="0" marL="0">
              <a:lnSpc>
                <a:spcPts val="1688"/>
              </a:lnSpc>
              <a:buNone/>
            </a:pPr>
            <a:r>
              <a:rPr lang="en-US" sz="1350" b="1" spc="-14" kern="0" dirty="0">
                <a:solidFill>
                  <a:srgbClr val="111111"/>
                </a:solidFill>
                <a:latin typeface="Space Grotesk" pitchFamily="34" charset="0"/>
                <a:ea typeface="Space Grotesk" pitchFamily="34" charset="-122"/>
                <a:cs typeface="Space Grotesk" pitchFamily="34" charset="-120"/>
              </a:rPr>
              <a:t>Input</a:t>
            </a:r>
            <a:endParaRPr lang="en-US" sz="1350" dirty="0"/>
          </a:p>
        </p:txBody>
      </p:sp>
      <p:sp>
        <p:nvSpPr>
          <p:cNvPr id="16" name="A_3_0_fade_479"/>
          <p:cNvSpPr/>
          <p:nvPr/>
        </p:nvSpPr>
        <p:spPr>
          <a:xfrm>
            <a:off x="3692804" y="3660160"/>
            <a:ext cx="2987162" cy="450891"/>
          </a:xfrm>
          <a:prstGeom prst="roundRect">
            <a:avLst>
              <a:gd name="adj" fmla="val 19712"/>
            </a:avLst>
          </a:prstGeom>
          <a:solidFill>
            <a:srgbClr val="F4F2E8"/>
          </a:solidFill>
          <a:ln w="9525">
            <a:solidFill>
              <a:srgbClr val="C9CAEB"/>
            </a:solidFill>
            <a:prstDash val="solid"/>
          </a:ln>
        </p:spPr>
      </p:sp>
      <p:sp>
        <p:nvSpPr>
          <p:cNvPr id="17" name="A_3_0_fade_480"/>
          <p:cNvSpPr txBox="1"/>
          <p:nvPr/>
        </p:nvSpPr>
        <p:spPr>
          <a:xfrm>
            <a:off x="3849167" y="3776106"/>
            <a:ext cx="658825" cy="214335"/>
          </a:xfrm>
          <a:prstGeom prst="rect">
            <a:avLst/>
          </a:prstGeom>
          <a:noFill/>
          <a:ln/>
        </p:spPr>
        <p:txBody>
          <a:bodyPr wrap="square" lIns="0" tIns="0" rIns="0" bIns="0" rtlCol="0" anchor="t"/>
          <a:lstStyle/>
          <a:p>
            <a:pPr algn="l" indent="0" marL="0">
              <a:lnSpc>
                <a:spcPts val="1688"/>
              </a:lnSpc>
              <a:buNone/>
            </a:pPr>
            <a:r>
              <a:rPr lang="en-US" sz="1350" b="1" spc="-14" kern="0" dirty="0">
                <a:solidFill>
                  <a:srgbClr val="111111"/>
                </a:solidFill>
                <a:latin typeface="Space Grotesk" pitchFamily="34" charset="0"/>
                <a:ea typeface="Space Grotesk" pitchFamily="34" charset="-122"/>
                <a:cs typeface="Space Grotesk" pitchFamily="34" charset="-120"/>
              </a:rPr>
              <a:t>Output</a:t>
            </a:r>
            <a:endParaRPr lang="en-US" sz="1350" dirty="0"/>
          </a:p>
        </p:txBody>
      </p:sp>
      <p:sp>
        <p:nvSpPr>
          <p:cNvPr id="18" name="A_3_0_fade_481"/>
          <p:cNvSpPr/>
          <p:nvPr/>
        </p:nvSpPr>
        <p:spPr>
          <a:xfrm>
            <a:off x="612008" y="4204686"/>
            <a:ext cx="2987162" cy="450891"/>
          </a:xfrm>
          <a:prstGeom prst="roundRect">
            <a:avLst>
              <a:gd name="adj" fmla="val 19712"/>
            </a:avLst>
          </a:prstGeom>
          <a:solidFill>
            <a:srgbClr val="F4F2E8"/>
          </a:solidFill>
          <a:ln w="9525">
            <a:solidFill>
              <a:srgbClr val="C9CAEB"/>
            </a:solidFill>
            <a:prstDash val="solid"/>
          </a:ln>
        </p:spPr>
      </p:sp>
      <p:sp>
        <p:nvSpPr>
          <p:cNvPr id="19" name="A_3_0_fade_482"/>
          <p:cNvSpPr txBox="1"/>
          <p:nvPr/>
        </p:nvSpPr>
        <p:spPr>
          <a:xfrm>
            <a:off x="768370" y="4320540"/>
            <a:ext cx="1968795" cy="214335"/>
          </a:xfrm>
          <a:prstGeom prst="rect">
            <a:avLst/>
          </a:prstGeom>
          <a:noFill/>
          <a:ln/>
        </p:spPr>
        <p:txBody>
          <a:bodyPr wrap="square" lIns="0" tIns="0" rIns="0" bIns="0" rtlCol="0" anchor="t"/>
          <a:lstStyle/>
          <a:p>
            <a:pPr algn="l" indent="0" marL="0">
              <a:lnSpc>
                <a:spcPts val="1688"/>
              </a:lnSpc>
              <a:buNone/>
            </a:pPr>
            <a:r>
              <a:rPr lang="en-US" sz="1350" b="1" spc="-14" kern="0" dirty="0">
                <a:solidFill>
                  <a:srgbClr val="111111"/>
                </a:solidFill>
                <a:latin typeface="Space Grotesk" pitchFamily="34" charset="0"/>
                <a:ea typeface="Space Grotesk" pitchFamily="34" charset="-122"/>
                <a:cs typeface="Space Grotesk" pitchFamily="34" charset="-120"/>
              </a:rPr>
              <a:t>Chỗ dừng lại hỏi người</a:t>
            </a:r>
            <a:endParaRPr lang="en-US" sz="1350" dirty="0"/>
          </a:p>
        </p:txBody>
      </p:sp>
      <p:sp>
        <p:nvSpPr>
          <p:cNvPr id="20" name="A_3_0_fade_483"/>
          <p:cNvSpPr/>
          <p:nvPr/>
        </p:nvSpPr>
        <p:spPr>
          <a:xfrm>
            <a:off x="3692804" y="4204686"/>
            <a:ext cx="2987162" cy="450891"/>
          </a:xfrm>
          <a:prstGeom prst="roundRect">
            <a:avLst>
              <a:gd name="adj" fmla="val 19712"/>
            </a:avLst>
          </a:prstGeom>
          <a:solidFill>
            <a:srgbClr val="F4F2E8"/>
          </a:solidFill>
          <a:ln w="9525">
            <a:solidFill>
              <a:srgbClr val="C9CAEB"/>
            </a:solidFill>
            <a:prstDash val="solid"/>
          </a:ln>
        </p:spPr>
      </p:sp>
      <p:sp>
        <p:nvSpPr>
          <p:cNvPr id="21" name="A_3_0_fade_484"/>
          <p:cNvSpPr txBox="1"/>
          <p:nvPr/>
        </p:nvSpPr>
        <p:spPr>
          <a:xfrm>
            <a:off x="3849167" y="4320540"/>
            <a:ext cx="1735806" cy="214335"/>
          </a:xfrm>
          <a:prstGeom prst="rect">
            <a:avLst/>
          </a:prstGeom>
          <a:noFill/>
          <a:ln/>
        </p:spPr>
        <p:txBody>
          <a:bodyPr wrap="square" lIns="0" tIns="0" rIns="0" bIns="0" rtlCol="0" anchor="t"/>
          <a:lstStyle/>
          <a:p>
            <a:pPr algn="l" indent="0" marL="0">
              <a:lnSpc>
                <a:spcPts val="1688"/>
              </a:lnSpc>
              <a:buNone/>
            </a:pPr>
            <a:r>
              <a:rPr lang="en-US" sz="1350" b="1" spc="-14" kern="0" dirty="0">
                <a:solidFill>
                  <a:srgbClr val="111111"/>
                </a:solidFill>
                <a:latin typeface="Space Grotesk" pitchFamily="34" charset="0"/>
                <a:ea typeface="Space Grotesk" pitchFamily="34" charset="-122"/>
                <a:cs typeface="Space Grotesk" pitchFamily="34" charset="-120"/>
              </a:rPr>
              <a:t>Tiêu chí hoàn thành</a:t>
            </a:r>
            <a:endParaRPr lang="en-US" sz="1350" dirty="0"/>
          </a:p>
        </p:txBody>
      </p:sp>
      <p:sp>
        <p:nvSpPr>
          <p:cNvPr id="22" name="A_4_1_fade_485"/>
          <p:cNvSpPr/>
          <p:nvPr/>
        </p:nvSpPr>
        <p:spPr>
          <a:xfrm>
            <a:off x="6913321" y="2051091"/>
            <a:ext cx="4666549" cy="2604486"/>
          </a:xfrm>
          <a:prstGeom prst="roundRect">
            <a:avLst>
              <a:gd name="adj" fmla="val 3413"/>
            </a:avLst>
          </a:prstGeom>
          <a:solidFill>
            <a:srgbClr val="F4F2E8"/>
          </a:solidFill>
          <a:ln w="9525">
            <a:solidFill>
              <a:srgbClr val="C9CAEB"/>
            </a:solidFill>
            <a:prstDash val="solid"/>
          </a:ln>
        </p:spPr>
      </p:sp>
      <p:sp>
        <p:nvSpPr>
          <p:cNvPr id="23" name="A_4_1_fade_486"/>
          <p:cNvSpPr txBox="1"/>
          <p:nvPr/>
        </p:nvSpPr>
        <p:spPr>
          <a:xfrm>
            <a:off x="7133234" y="2240097"/>
            <a:ext cx="2037832"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KIT ĐƯỢC QUẢN LÝ NHƯ CODE</a:t>
            </a:r>
            <a:endParaRPr lang="en-US" sz="950" dirty="0"/>
          </a:p>
        </p:txBody>
      </p:sp>
      <p:sp>
        <p:nvSpPr>
          <p:cNvPr id="24" name="A_4_1_fade_487"/>
          <p:cNvSpPr txBox="1"/>
          <p:nvPr/>
        </p:nvSpPr>
        <p:spPr>
          <a:xfrm>
            <a:off x="7133234" y="2526944"/>
            <a:ext cx="1277600" cy="214335"/>
          </a:xfrm>
          <a:prstGeom prst="rect">
            <a:avLst/>
          </a:prstGeom>
          <a:noFill/>
          <a:ln/>
        </p:spPr>
        <p:txBody>
          <a:bodyPr wrap="square" lIns="0" tIns="0" rIns="0" bIns="0" rtlCol="0" anchor="t"/>
          <a:lstStyle/>
          <a:p>
            <a:pPr algn="l" indent="0" marL="0">
              <a:lnSpc>
                <a:spcPts val="1688"/>
              </a:lnSpc>
              <a:buNone/>
            </a:pPr>
            <a:r>
              <a:rPr lang="en-US" sz="1350" b="1" spc="-14" kern="0" dirty="0">
                <a:solidFill>
                  <a:srgbClr val="111111"/>
                </a:solidFill>
                <a:latin typeface="Space Grotesk" pitchFamily="34" charset="0"/>
                <a:ea typeface="Space Grotesk" pitchFamily="34" charset="-122"/>
                <a:cs typeface="Space Grotesk" pitchFamily="34" charset="-120"/>
              </a:rPr>
              <a:t>Sống trong git</a:t>
            </a:r>
            <a:endParaRPr lang="en-US" sz="1350" dirty="0"/>
          </a:p>
        </p:txBody>
      </p:sp>
      <p:sp>
        <p:nvSpPr>
          <p:cNvPr id="25" name="A_4_1_fade_488"/>
          <p:cNvSpPr txBox="1"/>
          <p:nvPr/>
        </p:nvSpPr>
        <p:spPr>
          <a:xfrm>
            <a:off x="7133234" y="2764688"/>
            <a:ext cx="2824399" cy="21177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Có owner, review, version và changelog</a:t>
            </a:r>
            <a:endParaRPr lang="en-US" sz="1150" dirty="0"/>
          </a:p>
        </p:txBody>
      </p:sp>
      <p:sp>
        <p:nvSpPr>
          <p:cNvPr id="26" name="A_4_1_fade_489"/>
          <p:cNvSpPr/>
          <p:nvPr/>
        </p:nvSpPr>
        <p:spPr>
          <a:xfrm>
            <a:off x="7133234" y="3107771"/>
            <a:ext cx="4226814" cy="9510"/>
          </a:xfrm>
          <a:prstGeom prst="rect">
            <a:avLst/>
          </a:prstGeom>
          <a:solidFill>
            <a:srgbClr val="C9CAEB"/>
          </a:solidFill>
          <a:ln/>
        </p:spPr>
      </p:sp>
      <p:sp>
        <p:nvSpPr>
          <p:cNvPr id="27" name="A_4_1_fade_490"/>
          <p:cNvSpPr txBox="1"/>
          <p:nvPr/>
        </p:nvSpPr>
        <p:spPr>
          <a:xfrm>
            <a:off x="7133234" y="3241914"/>
            <a:ext cx="2873959" cy="214335"/>
          </a:xfrm>
          <a:prstGeom prst="rect">
            <a:avLst/>
          </a:prstGeom>
          <a:noFill/>
          <a:ln/>
        </p:spPr>
        <p:txBody>
          <a:bodyPr wrap="square" lIns="0" tIns="0" rIns="0" bIns="0" rtlCol="0" anchor="t"/>
          <a:lstStyle/>
          <a:p>
            <a:pPr algn="l" indent="0" marL="0">
              <a:lnSpc>
                <a:spcPts val="1688"/>
              </a:lnSpc>
              <a:buNone/>
            </a:pPr>
            <a:r>
              <a:rPr lang="en-US" sz="1350" b="1" spc="-14" kern="0" dirty="0">
                <a:solidFill>
                  <a:srgbClr val="111111"/>
                </a:solidFill>
                <a:latin typeface="Space Grotesk" pitchFamily="34" charset="0"/>
                <a:ea typeface="Space Grotesk" pitchFamily="34" charset="-122"/>
                <a:cs typeface="Space Grotesk" pitchFamily="34" charset="-120"/>
              </a:rPr>
              <a:t>Phát hành qua kit registry nội bộ</a:t>
            </a:r>
            <a:endParaRPr lang="en-US" sz="1350" dirty="0"/>
          </a:p>
        </p:txBody>
      </p:sp>
      <p:sp>
        <p:nvSpPr>
          <p:cNvPr id="28" name="A_4_1_fade_491"/>
          <p:cNvSpPr/>
          <p:nvPr/>
        </p:nvSpPr>
        <p:spPr>
          <a:xfrm>
            <a:off x="7133234" y="3585545"/>
            <a:ext cx="4226814" cy="9510"/>
          </a:xfrm>
          <a:prstGeom prst="rect">
            <a:avLst/>
          </a:prstGeom>
          <a:solidFill>
            <a:srgbClr val="C9CAEB"/>
          </a:solidFill>
          <a:ln/>
        </p:spPr>
      </p:sp>
      <p:sp>
        <p:nvSpPr>
          <p:cNvPr id="29" name="A_4_1_fade_492"/>
          <p:cNvSpPr txBox="1"/>
          <p:nvPr/>
        </p:nvSpPr>
        <p:spPr>
          <a:xfrm>
            <a:off x="7133234" y="3719688"/>
            <a:ext cx="1709745" cy="214335"/>
          </a:xfrm>
          <a:prstGeom prst="rect">
            <a:avLst/>
          </a:prstGeom>
          <a:noFill/>
          <a:ln/>
        </p:spPr>
        <p:txBody>
          <a:bodyPr wrap="square" lIns="0" tIns="0" rIns="0" bIns="0" rtlCol="0" anchor="t"/>
          <a:lstStyle/>
          <a:p>
            <a:pPr algn="l" indent="0" marL="0">
              <a:lnSpc>
                <a:spcPts val="1688"/>
              </a:lnSpc>
              <a:buNone/>
            </a:pPr>
            <a:r>
              <a:rPr lang="en-US" sz="1350" b="1" spc="-14" kern="0" dirty="0">
                <a:solidFill>
                  <a:srgbClr val="111111"/>
                </a:solidFill>
                <a:latin typeface="Space Grotesk" pitchFamily="34" charset="0"/>
                <a:ea typeface="Space Grotesk" pitchFamily="34" charset="-122"/>
                <a:cs typeface="Space Grotesk" pitchFamily="34" charset="-120"/>
              </a:rPr>
              <a:t>Chứa luôn guardrail</a:t>
            </a:r>
            <a:endParaRPr lang="en-US" sz="1350" dirty="0"/>
          </a:p>
        </p:txBody>
      </p:sp>
      <p:sp>
        <p:nvSpPr>
          <p:cNvPr id="30" name="A_4_1_fade_493"/>
          <p:cNvSpPr txBox="1"/>
          <p:nvPr/>
        </p:nvSpPr>
        <p:spPr>
          <a:xfrm>
            <a:off x="7133234" y="3957523"/>
            <a:ext cx="4437217" cy="21177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Permission, hook, sandbox, deny list cho các thao tác phá huỷ</a:t>
            </a:r>
            <a:endParaRPr lang="en-US" sz="1150" dirty="0"/>
          </a:p>
        </p:txBody>
      </p:sp>
      <p:sp>
        <p:nvSpPr>
          <p:cNvPr id="31" name="A_5_2_fade_494"/>
          <p:cNvSpPr/>
          <p:nvPr/>
        </p:nvSpPr>
        <p:spPr>
          <a:xfrm>
            <a:off x="609630" y="4848423"/>
            <a:ext cx="10972800" cy="614660"/>
          </a:xfrm>
          <a:prstGeom prst="roundRect">
            <a:avLst>
              <a:gd name="adj" fmla="val 14460"/>
            </a:avLst>
          </a:prstGeom>
          <a:solidFill>
            <a:srgbClr val="EBE9E9"/>
          </a:solidFill>
          <a:ln/>
        </p:spPr>
      </p:sp>
      <p:sp>
        <p:nvSpPr>
          <p:cNvPr id="32" name="K_5_2_495"/>
          <p:cNvSpPr/>
          <p:nvPr/>
        </p:nvSpPr>
        <p:spPr>
          <a:xfrm>
            <a:off x="838230" y="5146152"/>
            <a:ext cx="2552730" cy="19020"/>
          </a:xfrm>
          <a:prstGeom prst="rect">
            <a:avLst/>
          </a:prstGeom>
          <a:solidFill>
            <a:srgbClr val="DC2626"/>
          </a:solidFill>
          <a:ln/>
        </p:spPr>
      </p:sp>
      <p:sp>
        <p:nvSpPr>
          <p:cNvPr id="33" name="A_5_2_fade_496"/>
          <p:cNvSpPr txBox="1"/>
          <p:nvPr/>
        </p:nvSpPr>
        <p:spPr>
          <a:xfrm>
            <a:off x="838230" y="5031852"/>
            <a:ext cx="2758836" cy="247620"/>
          </a:xfrm>
          <a:prstGeom prst="rect">
            <a:avLst/>
          </a:prstGeom>
          <a:noFill/>
          <a:ln/>
        </p:spPr>
        <p:txBody>
          <a:bodyPr wrap="square" lIns="0" tIns="0" rIns="0" bIns="0" rtlCol="0" anchor="t"/>
          <a:lstStyle/>
          <a:p>
            <a:pPr algn="l" indent="0" marL="0">
              <a:lnSpc>
                <a:spcPts val="1950"/>
              </a:lnSpc>
              <a:buNone/>
            </a:pPr>
            <a:r>
              <a:rPr lang="en-US" sz="1300" dirty="0">
                <a:solidFill>
                  <a:srgbClr val="9A9A9A"/>
                </a:solidFill>
                <a:latin typeface="Inter" pitchFamily="34" charset="0"/>
                <a:ea typeface="Inter" pitchFamily="34" charset="-122"/>
                <a:cs typeface="Inter" pitchFamily="34" charset="-120"/>
              </a:rPr>
              <a:t>Kết quả phụ thuộc kỹ năng prompt</a:t>
            </a:r>
            <a:endParaRPr lang="en-US" sz="1300" dirty="0"/>
          </a:p>
        </p:txBody>
      </p:sp>
      <p:sp>
        <p:nvSpPr>
          <p:cNvPr id="34" name="A_5_2_fade_497"/>
          <p:cNvSpPr txBox="1"/>
          <p:nvPr/>
        </p:nvSpPr>
        <p:spPr>
          <a:xfrm>
            <a:off x="3557748" y="5020513"/>
            <a:ext cx="276149" cy="259050"/>
          </a:xfrm>
          <a:prstGeom prst="rect">
            <a:avLst/>
          </a:prstGeom>
          <a:noFill/>
          <a:ln/>
        </p:spPr>
        <p:txBody>
          <a:bodyPr wrap="square" lIns="0" tIns="0" rIns="0" bIns="0" rtlCol="0" anchor="t"/>
          <a:lstStyle/>
          <a:p>
            <a:pPr algn="l"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35" name="A_5_2_fade_498"/>
          <p:cNvSpPr txBox="1"/>
          <p:nvPr/>
        </p:nvSpPr>
        <p:spPr>
          <a:xfrm>
            <a:off x="3922776" y="5022342"/>
            <a:ext cx="3424611" cy="257221"/>
          </a:xfrm>
          <a:prstGeom prst="rect">
            <a:avLst/>
          </a:prstGeom>
          <a:noFill/>
          <a:ln/>
        </p:spPr>
        <p:txBody>
          <a:bodyPr wrap="square" lIns="0" tIns="0" rIns="0" bIns="0" rtlCol="0" anchor="t"/>
          <a:lstStyle/>
          <a:p>
            <a:pPr algn="l" indent="0" marL="0">
              <a:lnSpc>
                <a:spcPts val="2025"/>
              </a:lnSpc>
              <a:buNone/>
            </a:pPr>
            <a:r>
              <a:rPr lang="en-US" sz="1500" spc="-15" kern="0" dirty="0">
                <a:solidFill>
                  <a:srgbClr val="111111"/>
                </a:solidFill>
                <a:latin typeface="Space Grotesk" pitchFamily="34" charset="0"/>
                <a:ea typeface="Space Grotesk" pitchFamily="34" charset="-122"/>
                <a:cs typeface="Space Grotesk" pitchFamily="34" charset="-120"/>
              </a:rPr>
              <a:t>Kết quả theo quy trình của tổ chức</a:t>
            </a:r>
            <a:endParaRPr lang="en-US" sz="1500" dirty="0"/>
          </a:p>
        </p:txBody>
      </p:sp>
      <p:sp>
        <p:nvSpPr>
          <p:cNvPr id="36" name="S_499"/>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37" name="S_500"/>
          <p:cNvSpPr txBox="1"/>
          <p:nvPr/>
        </p:nvSpPr>
        <p:spPr>
          <a:xfrm>
            <a:off x="11184758" y="6517660"/>
            <a:ext cx="473842"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13 / 25</a:t>
            </a:r>
            <a:endParaRPr lang="en-US" sz="900" dirty="0"/>
          </a:p>
        </p:txBody>
      </p:sp>
      <p:sp>
        <p:nvSpPr>
          <p:cNvPr id="38" name="S_501"/>
          <p:cNvSpPr/>
          <p:nvPr/>
        </p:nvSpPr>
        <p:spPr>
          <a:xfrm>
            <a:off x="0" y="6838980"/>
            <a:ext cx="633981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54"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11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11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11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1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22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33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33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3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33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33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33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33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33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childTnLst>
                          </p:cTn>
                        </p:par>
                      </p:childTnLst>
                    </p:cTn>
                  </p:par>
                  <p:par>
                    <p:cTn id="84" fill="hold">
                      <p:stCondLst>
                        <p:cond delay="indefinite"/>
                      </p:stCondLst>
                      <p:childTnLst>
                        <p:par>
                          <p:cTn id="83"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50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500"/>
                                        <p:tgtEl>
                                          <p:spTgt spid="30"/>
                                        </p:tgtEl>
                                      </p:cBhvr>
                                    </p:animEffect>
                                  </p:childTnLst>
                                </p:cTn>
                              </p:par>
                            </p:childTnLst>
                          </p:cTn>
                        </p:par>
                      </p:childTnLst>
                    </p:cTn>
                  </p:par>
                  <p:par>
                    <p:cTn id="102" fill="hold">
                      <p:stCondLst>
                        <p:cond delay="indefinite"/>
                      </p:stCondLst>
                      <p:childTnLst>
                        <p:par>
                          <p:cTn id="97"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500"/>
                                        <p:tgtEl>
                                          <p:spTgt spid="33"/>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500"/>
                                        <p:tgtEl>
                                          <p:spTgt spid="34"/>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5"/>
                                        </p:tgtEl>
                                        <p:attrNameLst>
                                          <p:attrName>style.visibility</p:attrName>
                                        </p:attrNameLst>
                                      </p:cBhvr>
                                      <p:to>
                                        <p:strVal val="visible"/>
                                      </p:to>
                                    </p:set>
                                    <p:animEffect transition="in" filter="fade">
                                      <p:cBhvr>
                                        <p:cTn id="96" dur="500"/>
                                        <p:tgtEl>
                                          <p:spTgt spid="35"/>
                                        </p:tgtEl>
                                      </p:cBhvr>
                                    </p:animEffect>
                                  </p:childTnLst>
                                </p:cTn>
                              </p:par>
                            </p:childTnLst>
                          </p:cTn>
                        </p:par>
                        <p:par>
                          <p:cTn id="101" fill="hold">
                            <p:stCondLst>
                              <p:cond delay="500"/>
                            </p:stCondLst>
                            <p:childTnLst>
                              <p:par>
                                <p:cTn id="98" presetID="22" presetClass="entr" presetSubtype="8" fill="hold" grpId="0" nodeType="afterEffect">
                                  <p:stCondLst>
                                    <p:cond delay="0"/>
                                  </p:stCondLst>
                                  <p:childTnLst>
                                    <p:set>
                                      <p:cBhvr>
                                        <p:cTn id="99" dur="1" fill="hold">
                                          <p:stCondLst>
                                            <p:cond delay="0"/>
                                          </p:stCondLst>
                                        </p:cTn>
                                        <p:tgtEl>
                                          <p:spTgt spid="32"/>
                                        </p:tgtEl>
                                        <p:attrNameLst>
                                          <p:attrName>style.visibility</p:attrName>
                                        </p:attrNameLst>
                                      </p:cBhvr>
                                      <p:to>
                                        <p:strVal val="visible"/>
                                      </p:to>
                                    </p:set>
                                    <p:animEffect transition="in" filter="wipe(left)">
                                      <p:cBhvr>
                                        <p:cTn id="100" dur="7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3" grpId="0" animBg="1"/>
      <p:bldP spid="34" grpId="0" animBg="1"/>
      <p:bldP spid="35" grpId="0" animBg="1"/>
      <p:bldP spid="3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DFAE7"/>
        </a:solidFill>
      </p:bgPr>
    </p:bg>
    <p:spTree>
      <p:nvGrpSpPr>
        <p:cNvPr id="1" name=""/>
        <p:cNvGrpSpPr/>
        <p:nvPr/>
      </p:nvGrpSpPr>
      <p:grpSpPr>
        <a:xfrm>
          <a:off x="0" y="0"/>
          <a:ext cx="0" cy="0"/>
          <a:chOff x="0" y="0"/>
          <a:chExt cx="0" cy="0"/>
        </a:xfrm>
      </p:grpSpPr>
      <p:sp>
        <p:nvSpPr>
          <p:cNvPr id="2" name="S_502"/>
          <p:cNvSpPr txBox="1"/>
          <p:nvPr/>
        </p:nvSpPr>
        <p:spPr>
          <a:xfrm>
            <a:off x="609630" y="466070"/>
            <a:ext cx="1963857"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03 · ĐỀ XUẤT · VIỆC 3 / 5</a:t>
            </a:r>
            <a:endParaRPr lang="en-US" sz="1100" dirty="0"/>
          </a:p>
        </p:txBody>
      </p:sp>
      <p:sp>
        <p:nvSpPr>
          <p:cNvPr id="3" name="S_503"/>
          <p:cNvSpPr/>
          <p:nvPr/>
        </p:nvSpPr>
        <p:spPr>
          <a:xfrm>
            <a:off x="10606126" y="412760"/>
            <a:ext cx="976305" cy="292059"/>
          </a:xfrm>
          <a:prstGeom prst="roundRect">
            <a:avLst>
              <a:gd name="adj" fmla="val 50000"/>
            </a:avLst>
          </a:prstGeom>
          <a:solidFill>
            <a:srgbClr val="EBE9E9"/>
          </a:solidFill>
          <a:ln/>
        </p:spPr>
      </p:sp>
      <p:sp>
        <p:nvSpPr>
          <p:cNvPr id="4" name="S_504"/>
          <p:cNvSpPr txBox="1"/>
          <p:nvPr/>
        </p:nvSpPr>
        <p:spPr>
          <a:xfrm>
            <a:off x="10771175" y="476220"/>
            <a:ext cx="722285"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Connector</a:t>
            </a:r>
            <a:endParaRPr lang="en-US" sz="1000" dirty="0"/>
          </a:p>
        </p:txBody>
      </p:sp>
      <p:sp>
        <p:nvSpPr>
          <p:cNvPr id="5" name="A_0_0_fade_505"/>
          <p:cNvSpPr txBox="1"/>
          <p:nvPr/>
        </p:nvSpPr>
        <p:spPr>
          <a:xfrm>
            <a:off x="609630" y="806592"/>
            <a:ext cx="10635112" cy="824972"/>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Connector trung lập với harness: viết một lần, dùng cho mọi</a:t>
            </a:r>
            <a:endParaRPr lang="en-US" sz="2800" dirty="0"/>
          </a:p>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harness</a:t>
            </a:r>
            <a:endParaRPr lang="en-US" sz="2800" dirty="0"/>
          </a:p>
        </p:txBody>
      </p:sp>
      <p:sp>
        <p:nvSpPr>
          <p:cNvPr id="6" name="A_1_0_fade_506"/>
          <p:cNvSpPr/>
          <p:nvPr/>
        </p:nvSpPr>
        <p:spPr>
          <a:xfrm>
            <a:off x="612008" y="2348179"/>
            <a:ext cx="2640147" cy="1375989"/>
          </a:xfrm>
          <a:prstGeom prst="roundRect">
            <a:avLst>
              <a:gd name="adj" fmla="val 6459"/>
            </a:avLst>
          </a:prstGeom>
          <a:solidFill>
            <a:srgbClr val="F4F2E8"/>
          </a:solidFill>
          <a:ln w="9525">
            <a:solidFill>
              <a:srgbClr val="C9CAEB"/>
            </a:solidFill>
            <a:prstDash val="solid"/>
          </a:ln>
        </p:spPr>
      </p:sp>
      <p:sp>
        <p:nvSpPr>
          <p:cNvPr id="7" name="A_1_0_fade_507"/>
          <p:cNvSpPr txBox="1"/>
          <p:nvPr/>
        </p:nvSpPr>
        <p:spPr>
          <a:xfrm>
            <a:off x="793791" y="2801630"/>
            <a:ext cx="527883"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6B6B6B"/>
                </a:solidFill>
                <a:latin typeface="Space Grotesk" pitchFamily="34" charset="0"/>
                <a:ea typeface="Space Grotesk" pitchFamily="34" charset="-122"/>
                <a:cs typeface="Space Grotesk" pitchFamily="34" charset="-120"/>
              </a:rPr>
              <a:t>NGUỒN</a:t>
            </a:r>
            <a:endParaRPr lang="en-US" sz="950" dirty="0"/>
          </a:p>
        </p:txBody>
      </p:sp>
      <p:sp>
        <p:nvSpPr>
          <p:cNvPr id="8" name="A_1_0_fade_508"/>
          <p:cNvSpPr txBox="1"/>
          <p:nvPr/>
        </p:nvSpPr>
        <p:spPr>
          <a:xfrm>
            <a:off x="793791" y="3025658"/>
            <a:ext cx="1946209" cy="238110"/>
          </a:xfrm>
          <a:prstGeom prst="rect">
            <a:avLst/>
          </a:prstGeom>
          <a:noFill/>
          <a:ln/>
        </p:spPr>
        <p:txBody>
          <a:bodyPr wrap="square" lIns="0" tIns="0" rIns="0" bIns="0" rtlCol="0" anchor="t"/>
          <a:lstStyle/>
          <a:p>
            <a:pPr algn="l" indent="0" marL="0">
              <a:lnSpc>
                <a:spcPts val="1875"/>
              </a:lnSpc>
              <a:buNone/>
            </a:pPr>
            <a:r>
              <a:rPr lang="en-US" sz="1500" b="1" spc="-15" kern="0" dirty="0">
                <a:solidFill>
                  <a:srgbClr val="111111"/>
                </a:solidFill>
                <a:latin typeface="Space Grotesk" pitchFamily="34" charset="0"/>
                <a:ea typeface="Space Grotesk" pitchFamily="34" charset="-122"/>
                <a:cs typeface="Space Grotesk" pitchFamily="34" charset="-120"/>
              </a:rPr>
              <a:t>Mỗi hệ thống nội bộ</a:t>
            </a:r>
            <a:endParaRPr lang="en-US" sz="1500" dirty="0"/>
          </a:p>
        </p:txBody>
      </p:sp>
      <p:sp>
        <p:nvSpPr>
          <p:cNvPr id="9" name="A_2_0_fade_509"/>
          <p:cNvSpPr txBox="1"/>
          <p:nvPr/>
        </p:nvSpPr>
        <p:spPr>
          <a:xfrm>
            <a:off x="3376696" y="2900934"/>
            <a:ext cx="276149" cy="259050"/>
          </a:xfrm>
          <a:prstGeom prst="rect">
            <a:avLst/>
          </a:prstGeom>
          <a:noFill/>
          <a:ln/>
        </p:spPr>
        <p:txBody>
          <a:bodyPr wrap="square" lIns="0" tIns="0" rIns="0" bIns="0" rtlCol="0" anchor="t"/>
          <a:lstStyle/>
          <a:p>
            <a:pPr algn="l"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10" name="A_3_0_fade_510"/>
          <p:cNvSpPr/>
          <p:nvPr/>
        </p:nvSpPr>
        <p:spPr>
          <a:xfrm>
            <a:off x="3701400" y="2348179"/>
            <a:ext cx="4127967" cy="1375989"/>
          </a:xfrm>
          <a:prstGeom prst="roundRect">
            <a:avLst>
              <a:gd name="adj" fmla="val 6459"/>
            </a:avLst>
          </a:prstGeom>
          <a:solidFill>
            <a:srgbClr val="DCDBEA"/>
          </a:solidFill>
          <a:ln w="9525">
            <a:solidFill>
              <a:srgbClr val="1E2BFA"/>
            </a:solidFill>
            <a:prstDash val="solid"/>
          </a:ln>
        </p:spPr>
      </p:sp>
      <p:sp>
        <p:nvSpPr>
          <p:cNvPr id="11" name="A_3_0_fade_511"/>
          <p:cNvSpPr txBox="1"/>
          <p:nvPr/>
        </p:nvSpPr>
        <p:spPr>
          <a:xfrm>
            <a:off x="3895801" y="2511857"/>
            <a:ext cx="2753076"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INTERFACE HẸP · CLI HOẶC MCP SERVER</a:t>
            </a:r>
            <a:endParaRPr lang="en-US" sz="950" dirty="0"/>
          </a:p>
        </p:txBody>
      </p:sp>
      <p:sp>
        <p:nvSpPr>
          <p:cNvPr id="12" name="A_3_0_fade_512"/>
          <p:cNvSpPr txBox="1"/>
          <p:nvPr/>
        </p:nvSpPr>
        <p:spPr>
          <a:xfrm>
            <a:off x="3895801" y="2762128"/>
            <a:ext cx="120518" cy="230154"/>
          </a:xfrm>
          <a:prstGeom prst="rect">
            <a:avLst/>
          </a:prstGeom>
          <a:noFill/>
          <a:ln/>
        </p:spPr>
        <p:txBody>
          <a:bodyPr wrap="square" lIns="0" tIns="0" rIns="0" bIns="0" rtlCol="0" anchor="t"/>
          <a:lstStyle/>
          <a:p>
            <a:pPr algn="l" indent="0" marL="0">
              <a:lnSpc>
                <a:spcPts val="1813"/>
              </a:lnSpc>
              <a:buNone/>
            </a:pPr>
            <a:r>
              <a:rPr lang="en-US" sz="1250" b="1" dirty="0">
                <a:solidFill>
                  <a:srgbClr val="1E2BFA"/>
                </a:solidFill>
                <a:latin typeface="Inter" pitchFamily="34" charset="0"/>
                <a:ea typeface="Inter" pitchFamily="34" charset="-122"/>
                <a:cs typeface="Inter" pitchFamily="34" charset="-120"/>
              </a:rPr>
              <a:t>·</a:t>
            </a:r>
            <a:endParaRPr lang="en-US" sz="1250" dirty="0"/>
          </a:p>
        </p:txBody>
      </p:sp>
      <p:sp>
        <p:nvSpPr>
          <p:cNvPr id="13" name="A_3_0_fade_513"/>
          <p:cNvSpPr txBox="1"/>
          <p:nvPr/>
        </p:nvSpPr>
        <p:spPr>
          <a:xfrm>
            <a:off x="4111691" y="2762128"/>
            <a:ext cx="1884487" cy="230154"/>
          </a:xfrm>
          <a:prstGeom prst="rect">
            <a:avLst/>
          </a:prstGeom>
          <a:noFill/>
          <a:ln/>
        </p:spPr>
        <p:txBody>
          <a:bodyPr wrap="square" lIns="0" tIns="0" rIns="0" bIns="0" rtlCol="0" anchor="t"/>
          <a:lstStyle/>
          <a:p>
            <a:pPr algn="l" indent="0" marL="0">
              <a:lnSpc>
                <a:spcPts val="1813"/>
              </a:lnSpc>
              <a:buNone/>
            </a:pPr>
            <a:r>
              <a:rPr lang="en-US" sz="1250" dirty="0">
                <a:solidFill>
                  <a:srgbClr val="111111"/>
                </a:solidFill>
                <a:latin typeface="Inter" pitchFamily="34" charset="0"/>
                <a:ea typeface="Inter" pitchFamily="34" charset="-122"/>
                <a:cs typeface="Inter" pitchFamily="34" charset="-120"/>
              </a:rPr>
              <a:t>Trả JSON kèm ngữ cảnh</a:t>
            </a:r>
            <a:endParaRPr lang="en-US" sz="1250" dirty="0"/>
          </a:p>
        </p:txBody>
      </p:sp>
      <p:sp>
        <p:nvSpPr>
          <p:cNvPr id="14" name="A_3_0_fade_514"/>
          <p:cNvSpPr txBox="1"/>
          <p:nvPr/>
        </p:nvSpPr>
        <p:spPr>
          <a:xfrm>
            <a:off x="3895801" y="3043123"/>
            <a:ext cx="120518" cy="230154"/>
          </a:xfrm>
          <a:prstGeom prst="rect">
            <a:avLst/>
          </a:prstGeom>
          <a:noFill/>
          <a:ln/>
        </p:spPr>
        <p:txBody>
          <a:bodyPr wrap="square" lIns="0" tIns="0" rIns="0" bIns="0" rtlCol="0" anchor="t"/>
          <a:lstStyle/>
          <a:p>
            <a:pPr algn="l" indent="0" marL="0">
              <a:lnSpc>
                <a:spcPts val="1813"/>
              </a:lnSpc>
              <a:buNone/>
            </a:pPr>
            <a:r>
              <a:rPr lang="en-US" sz="1250" b="1" dirty="0">
                <a:solidFill>
                  <a:srgbClr val="1E2BFA"/>
                </a:solidFill>
                <a:latin typeface="Inter" pitchFamily="34" charset="0"/>
                <a:ea typeface="Inter" pitchFamily="34" charset="-122"/>
                <a:cs typeface="Inter" pitchFamily="34" charset="-120"/>
              </a:rPr>
              <a:t>·</a:t>
            </a:r>
            <a:endParaRPr lang="en-US" sz="1250" dirty="0"/>
          </a:p>
        </p:txBody>
      </p:sp>
      <p:sp>
        <p:nvSpPr>
          <p:cNvPr id="15" name="A_3_0_fade_515"/>
          <p:cNvSpPr txBox="1"/>
          <p:nvPr/>
        </p:nvSpPr>
        <p:spPr>
          <a:xfrm>
            <a:off x="4111691" y="3043123"/>
            <a:ext cx="1637142" cy="230154"/>
          </a:xfrm>
          <a:prstGeom prst="rect">
            <a:avLst/>
          </a:prstGeom>
          <a:noFill/>
          <a:ln/>
        </p:spPr>
        <p:txBody>
          <a:bodyPr wrap="square" lIns="0" tIns="0" rIns="0" bIns="0" rtlCol="0" anchor="t"/>
          <a:lstStyle/>
          <a:p>
            <a:pPr algn="l" indent="0" marL="0">
              <a:lnSpc>
                <a:spcPts val="1813"/>
              </a:lnSpc>
              <a:buNone/>
            </a:pPr>
            <a:r>
              <a:rPr lang="en-US" sz="1250" dirty="0">
                <a:solidFill>
                  <a:srgbClr val="111111"/>
                </a:solidFill>
                <a:latin typeface="Inter" pitchFamily="34" charset="0"/>
                <a:ea typeface="Inter" pitchFamily="34" charset="-122"/>
                <a:cs typeface="Inter" pitchFamily="34" charset="-120"/>
              </a:rPr>
              <a:t>Đọc và ghi tách riêng</a:t>
            </a:r>
            <a:endParaRPr lang="en-US" sz="1250" dirty="0"/>
          </a:p>
        </p:txBody>
      </p:sp>
      <p:sp>
        <p:nvSpPr>
          <p:cNvPr id="16" name="A_3_0_fade_516"/>
          <p:cNvSpPr txBox="1"/>
          <p:nvPr/>
        </p:nvSpPr>
        <p:spPr>
          <a:xfrm>
            <a:off x="3895801" y="3324118"/>
            <a:ext cx="120518" cy="230154"/>
          </a:xfrm>
          <a:prstGeom prst="rect">
            <a:avLst/>
          </a:prstGeom>
          <a:noFill/>
          <a:ln/>
        </p:spPr>
        <p:txBody>
          <a:bodyPr wrap="square" lIns="0" tIns="0" rIns="0" bIns="0" rtlCol="0" anchor="t"/>
          <a:lstStyle/>
          <a:p>
            <a:pPr algn="l" indent="0" marL="0">
              <a:lnSpc>
                <a:spcPts val="1813"/>
              </a:lnSpc>
              <a:buNone/>
            </a:pPr>
            <a:r>
              <a:rPr lang="en-US" sz="1250" b="1" dirty="0">
                <a:solidFill>
                  <a:srgbClr val="1E2BFA"/>
                </a:solidFill>
                <a:latin typeface="Inter" pitchFamily="34" charset="0"/>
                <a:ea typeface="Inter" pitchFamily="34" charset="-122"/>
                <a:cs typeface="Inter" pitchFamily="34" charset="-120"/>
              </a:rPr>
              <a:t>·</a:t>
            </a:r>
            <a:endParaRPr lang="en-US" sz="1250" dirty="0"/>
          </a:p>
        </p:txBody>
      </p:sp>
      <p:sp>
        <p:nvSpPr>
          <p:cNvPr id="17" name="A_3_0_fade_517"/>
          <p:cNvSpPr txBox="1"/>
          <p:nvPr/>
        </p:nvSpPr>
        <p:spPr>
          <a:xfrm>
            <a:off x="4111691" y="3324118"/>
            <a:ext cx="2716774" cy="230154"/>
          </a:xfrm>
          <a:prstGeom prst="rect">
            <a:avLst/>
          </a:prstGeom>
          <a:noFill/>
          <a:ln/>
        </p:spPr>
        <p:txBody>
          <a:bodyPr wrap="square" lIns="0" tIns="0" rIns="0" bIns="0" rtlCol="0" anchor="t"/>
          <a:lstStyle/>
          <a:p>
            <a:pPr algn="l" indent="0" marL="0">
              <a:lnSpc>
                <a:spcPts val="1813"/>
              </a:lnSpc>
              <a:buNone/>
            </a:pPr>
            <a:r>
              <a:rPr lang="en-US" sz="1250" dirty="0">
                <a:solidFill>
                  <a:srgbClr val="111111"/>
                </a:solidFill>
                <a:latin typeface="Inter" pitchFamily="34" charset="0"/>
                <a:ea typeface="Inter" pitchFamily="34" charset="-122"/>
                <a:cs typeface="Inter" pitchFamily="34" charset="-120"/>
              </a:rPr>
              <a:t>Xác thực bằng quyền của người gọi</a:t>
            </a:r>
            <a:endParaRPr lang="en-US" sz="1250" dirty="0"/>
          </a:p>
        </p:txBody>
      </p:sp>
      <p:sp>
        <p:nvSpPr>
          <p:cNvPr id="18" name="A_4_0_fade_518"/>
          <p:cNvSpPr txBox="1"/>
          <p:nvPr/>
        </p:nvSpPr>
        <p:spPr>
          <a:xfrm>
            <a:off x="7954000" y="2900934"/>
            <a:ext cx="276149" cy="259050"/>
          </a:xfrm>
          <a:prstGeom prst="rect">
            <a:avLst/>
          </a:prstGeom>
          <a:noFill/>
          <a:ln/>
        </p:spPr>
        <p:txBody>
          <a:bodyPr wrap="square" lIns="0" tIns="0" rIns="0" bIns="0" rtlCol="0" anchor="t"/>
          <a:lstStyle/>
          <a:p>
            <a:pPr algn="l"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19" name="A_5_0_fade_519"/>
          <p:cNvSpPr/>
          <p:nvPr/>
        </p:nvSpPr>
        <p:spPr>
          <a:xfrm>
            <a:off x="8278612" y="2348179"/>
            <a:ext cx="3301441" cy="1375989"/>
          </a:xfrm>
          <a:prstGeom prst="roundRect">
            <a:avLst>
              <a:gd name="adj" fmla="val 6459"/>
            </a:avLst>
          </a:prstGeom>
          <a:solidFill>
            <a:srgbClr val="F4F2E8"/>
          </a:solidFill>
          <a:ln w="9525">
            <a:solidFill>
              <a:srgbClr val="C9CAEB"/>
            </a:solidFill>
            <a:prstDash val="solid"/>
          </a:ln>
        </p:spPr>
      </p:sp>
      <p:sp>
        <p:nvSpPr>
          <p:cNvPr id="20" name="A_5_0_fade_520"/>
          <p:cNvSpPr txBox="1"/>
          <p:nvPr/>
        </p:nvSpPr>
        <p:spPr>
          <a:xfrm>
            <a:off x="8460395" y="2511857"/>
            <a:ext cx="3001152" cy="313731"/>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MỌI HARNESS HỖ TRỢ MCP HOẶC GỌI ĐƯỢC</a:t>
            </a:r>
            <a:endParaRPr lang="en-US" sz="950" dirty="0"/>
          </a:p>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SHELL</a:t>
            </a:r>
            <a:endParaRPr lang="en-US" sz="950" dirty="0"/>
          </a:p>
        </p:txBody>
      </p:sp>
      <p:sp>
        <p:nvSpPr>
          <p:cNvPr id="21" name="A_5_0_fade_521"/>
          <p:cNvSpPr/>
          <p:nvPr/>
        </p:nvSpPr>
        <p:spPr>
          <a:xfrm>
            <a:off x="8460395" y="2919679"/>
            <a:ext cx="1072317" cy="270480"/>
          </a:xfrm>
          <a:prstGeom prst="roundRect">
            <a:avLst>
              <a:gd name="adj" fmla="val 50000"/>
            </a:avLst>
          </a:prstGeom>
          <a:solidFill>
            <a:srgbClr val="E3E2E9"/>
          </a:solidFill>
          <a:ln/>
        </p:spPr>
      </p:sp>
      <p:sp>
        <p:nvSpPr>
          <p:cNvPr id="22" name="A_5_0_fade_522"/>
          <p:cNvSpPr txBox="1"/>
          <p:nvPr/>
        </p:nvSpPr>
        <p:spPr>
          <a:xfrm>
            <a:off x="8574695" y="2962290"/>
            <a:ext cx="91997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Claude Code</a:t>
            </a:r>
            <a:endParaRPr lang="en-US" sz="1100" dirty="0"/>
          </a:p>
        </p:txBody>
      </p:sp>
      <p:sp>
        <p:nvSpPr>
          <p:cNvPr id="23" name="A_5_0_fade_523"/>
          <p:cNvSpPr/>
          <p:nvPr/>
        </p:nvSpPr>
        <p:spPr>
          <a:xfrm>
            <a:off x="9596262" y="2919679"/>
            <a:ext cx="653796" cy="270480"/>
          </a:xfrm>
          <a:prstGeom prst="roundRect">
            <a:avLst>
              <a:gd name="adj" fmla="val 50000"/>
            </a:avLst>
          </a:prstGeom>
          <a:solidFill>
            <a:srgbClr val="E3E2E9"/>
          </a:solidFill>
          <a:ln/>
        </p:spPr>
      </p:sp>
      <p:sp>
        <p:nvSpPr>
          <p:cNvPr id="24" name="A_5_0_fade_524"/>
          <p:cNvSpPr txBox="1"/>
          <p:nvPr/>
        </p:nvSpPr>
        <p:spPr>
          <a:xfrm>
            <a:off x="9710562" y="2962290"/>
            <a:ext cx="501366"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Codex</a:t>
            </a:r>
            <a:endParaRPr lang="en-US" sz="1100" dirty="0"/>
          </a:p>
        </p:txBody>
      </p:sp>
      <p:sp>
        <p:nvSpPr>
          <p:cNvPr id="25" name="A_5_0_fade_525"/>
          <p:cNvSpPr/>
          <p:nvPr/>
        </p:nvSpPr>
        <p:spPr>
          <a:xfrm>
            <a:off x="10313518" y="2919679"/>
            <a:ext cx="488015" cy="270480"/>
          </a:xfrm>
          <a:prstGeom prst="roundRect">
            <a:avLst>
              <a:gd name="adj" fmla="val 50000"/>
            </a:avLst>
          </a:prstGeom>
          <a:solidFill>
            <a:srgbClr val="E3E2E9"/>
          </a:solidFill>
          <a:ln/>
        </p:spPr>
      </p:sp>
      <p:sp>
        <p:nvSpPr>
          <p:cNvPr id="26" name="A_5_0_fade_526"/>
          <p:cNvSpPr txBox="1"/>
          <p:nvPr/>
        </p:nvSpPr>
        <p:spPr>
          <a:xfrm>
            <a:off x="10427818" y="2962290"/>
            <a:ext cx="335676"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Kiro</a:t>
            </a:r>
            <a:endParaRPr lang="en-US" sz="1100" dirty="0"/>
          </a:p>
        </p:txBody>
      </p:sp>
      <p:sp>
        <p:nvSpPr>
          <p:cNvPr id="27" name="A_5_0_fade_527"/>
          <p:cNvSpPr/>
          <p:nvPr/>
        </p:nvSpPr>
        <p:spPr>
          <a:xfrm>
            <a:off x="8460395" y="3253710"/>
            <a:ext cx="712683" cy="270480"/>
          </a:xfrm>
          <a:prstGeom prst="roundRect">
            <a:avLst>
              <a:gd name="adj" fmla="val 50000"/>
            </a:avLst>
          </a:prstGeom>
          <a:solidFill>
            <a:srgbClr val="E3E2E9"/>
          </a:solidFill>
          <a:ln/>
        </p:spPr>
      </p:sp>
      <p:sp>
        <p:nvSpPr>
          <p:cNvPr id="28" name="A_5_0_fade_528"/>
          <p:cNvSpPr txBox="1"/>
          <p:nvPr/>
        </p:nvSpPr>
        <p:spPr>
          <a:xfrm>
            <a:off x="8574695" y="3296229"/>
            <a:ext cx="560253"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Copilot</a:t>
            </a:r>
            <a:endParaRPr lang="en-US" sz="1100" dirty="0"/>
          </a:p>
        </p:txBody>
      </p:sp>
      <p:sp>
        <p:nvSpPr>
          <p:cNvPr id="29" name="A_5_0_fade_529"/>
          <p:cNvSpPr/>
          <p:nvPr/>
        </p:nvSpPr>
        <p:spPr>
          <a:xfrm>
            <a:off x="9236537" y="3253710"/>
            <a:ext cx="926470" cy="270480"/>
          </a:xfrm>
          <a:prstGeom prst="roundRect">
            <a:avLst>
              <a:gd name="adj" fmla="val 50000"/>
            </a:avLst>
          </a:prstGeom>
          <a:solidFill>
            <a:srgbClr val="E3E2E9"/>
          </a:solidFill>
          <a:ln/>
        </p:spPr>
      </p:sp>
      <p:sp>
        <p:nvSpPr>
          <p:cNvPr id="30" name="A_5_0_fade_530"/>
          <p:cNvSpPr txBox="1"/>
          <p:nvPr/>
        </p:nvSpPr>
        <p:spPr>
          <a:xfrm>
            <a:off x="9350837" y="3296229"/>
            <a:ext cx="774131"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OpenCode</a:t>
            </a:r>
            <a:endParaRPr lang="en-US" sz="1100" dirty="0"/>
          </a:p>
        </p:txBody>
      </p:sp>
      <p:sp>
        <p:nvSpPr>
          <p:cNvPr id="31" name="A_6_1_fade_531"/>
          <p:cNvSpPr txBox="1"/>
          <p:nvPr/>
        </p:nvSpPr>
        <p:spPr>
          <a:xfrm>
            <a:off x="609630" y="4000591"/>
            <a:ext cx="1636593"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KIT CŨNG TÁCH HAI LỚP</a:t>
            </a:r>
            <a:endParaRPr lang="en-US" sz="950" dirty="0"/>
          </a:p>
        </p:txBody>
      </p:sp>
      <p:sp>
        <p:nvSpPr>
          <p:cNvPr id="32" name="A_6_1_fade_532"/>
          <p:cNvSpPr/>
          <p:nvPr/>
        </p:nvSpPr>
        <p:spPr>
          <a:xfrm>
            <a:off x="612008" y="4266682"/>
            <a:ext cx="10968045" cy="492679"/>
          </a:xfrm>
          <a:prstGeom prst="roundRect">
            <a:avLst>
              <a:gd name="adj" fmla="val 18040"/>
            </a:avLst>
          </a:prstGeom>
          <a:solidFill>
            <a:srgbClr val="DCDBEA"/>
          </a:solidFill>
          <a:ln w="9525">
            <a:solidFill>
              <a:srgbClr val="1E2BFA"/>
            </a:solidFill>
            <a:prstDash val="solid"/>
          </a:ln>
        </p:spPr>
      </p:sp>
      <p:sp>
        <p:nvSpPr>
          <p:cNvPr id="33" name="A_6_1_fade_533"/>
          <p:cNvSpPr txBox="1"/>
          <p:nvPr/>
        </p:nvSpPr>
        <p:spPr>
          <a:xfrm>
            <a:off x="806409" y="4394515"/>
            <a:ext cx="1301100"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Core trung lập</a:t>
            </a:r>
            <a:endParaRPr lang="en-US" sz="1400" dirty="0"/>
          </a:p>
        </p:txBody>
      </p:sp>
      <p:sp>
        <p:nvSpPr>
          <p:cNvPr id="34" name="A_6_1_fade_534"/>
          <p:cNvSpPr txBox="1"/>
          <p:nvPr/>
        </p:nvSpPr>
        <p:spPr>
          <a:xfrm>
            <a:off x="8201254" y="4412437"/>
            <a:ext cx="3439058" cy="211775"/>
          </a:xfrm>
          <a:prstGeom prst="rect">
            <a:avLst/>
          </a:prstGeom>
          <a:noFill/>
          <a:ln/>
        </p:spPr>
        <p:txBody>
          <a:bodyPr wrap="square" lIns="0" tIns="0" rIns="0" bIns="0" rtlCol="0" anchor="t"/>
          <a:lstStyle/>
          <a:p>
            <a:pPr algn="l" indent="0" marL="0">
              <a:lnSpc>
                <a:spcPts val="1668"/>
              </a:lnSpc>
              <a:buNone/>
            </a:pPr>
            <a:r>
              <a:rPr lang="en-US" sz="1150" dirty="0">
                <a:solidFill>
                  <a:srgbClr val="111111"/>
                </a:solidFill>
                <a:latin typeface="Inter" pitchFamily="34" charset="0"/>
                <a:ea typeface="Inter" pitchFamily="34" charset="-122"/>
                <a:cs typeface="Inter" pitchFamily="34" charset="-120"/>
              </a:rPr>
              <a:t>skill, workflow, template, connector: dùng chung</a:t>
            </a:r>
            <a:endParaRPr lang="en-US" sz="1150" dirty="0"/>
          </a:p>
        </p:txBody>
      </p:sp>
      <p:sp>
        <p:nvSpPr>
          <p:cNvPr id="35" name="A_6_1_fade_535"/>
          <p:cNvSpPr/>
          <p:nvPr/>
        </p:nvSpPr>
        <p:spPr>
          <a:xfrm>
            <a:off x="612008" y="4853087"/>
            <a:ext cx="3593501" cy="409560"/>
          </a:xfrm>
          <a:prstGeom prst="roundRect">
            <a:avLst>
              <a:gd name="adj" fmla="val 21701"/>
            </a:avLst>
          </a:prstGeom>
          <a:solidFill>
            <a:srgbClr val="F4F2E8"/>
          </a:solidFill>
          <a:ln w="9525">
            <a:solidFill>
              <a:srgbClr val="C9CAEB"/>
            </a:solidFill>
            <a:prstDash val="solid"/>
          </a:ln>
        </p:spPr>
      </p:sp>
      <p:sp>
        <p:nvSpPr>
          <p:cNvPr id="36" name="A_6_1_fade_536"/>
          <p:cNvSpPr txBox="1"/>
          <p:nvPr/>
        </p:nvSpPr>
        <p:spPr>
          <a:xfrm>
            <a:off x="1376081" y="4954676"/>
            <a:ext cx="2065264" cy="198425"/>
          </a:xfrm>
          <a:prstGeom prst="rect">
            <a:avLst/>
          </a:prstGeom>
          <a:noFill/>
          <a:ln/>
        </p:spPr>
        <p:txBody>
          <a:bodyPr wrap="square" lIns="0" tIns="0" rIns="0" bIns="0" rtlCol="0" anchor="t"/>
          <a:lstStyle/>
          <a:p>
            <a:pPr algn="ctr" indent="0" marL="0">
              <a:lnSpc>
                <a:spcPts val="1563"/>
              </a:lnSpc>
              <a:buNone/>
            </a:pPr>
            <a:r>
              <a:rPr lang="en-US" sz="1250" b="1" spc="-13" kern="0" dirty="0">
                <a:solidFill>
                  <a:srgbClr val="111111"/>
                </a:solidFill>
                <a:latin typeface="Space Grotesk" pitchFamily="34" charset="0"/>
                <a:ea typeface="Space Grotesk" pitchFamily="34" charset="-122"/>
                <a:cs typeface="Space Grotesk" pitchFamily="34" charset="-120"/>
              </a:rPr>
              <a:t>Adapter mỏng · harness A</a:t>
            </a:r>
            <a:endParaRPr lang="en-US" sz="1250" dirty="0"/>
          </a:p>
        </p:txBody>
      </p:sp>
      <p:sp>
        <p:nvSpPr>
          <p:cNvPr id="37" name="A_6_1_fade_537"/>
          <p:cNvSpPr/>
          <p:nvPr/>
        </p:nvSpPr>
        <p:spPr>
          <a:xfrm>
            <a:off x="4299143" y="4853087"/>
            <a:ext cx="3593592" cy="409560"/>
          </a:xfrm>
          <a:prstGeom prst="roundRect">
            <a:avLst>
              <a:gd name="adj" fmla="val 21701"/>
            </a:avLst>
          </a:prstGeom>
          <a:solidFill>
            <a:srgbClr val="F4F2E8"/>
          </a:solidFill>
          <a:ln w="9525">
            <a:solidFill>
              <a:srgbClr val="C9CAEB"/>
            </a:solidFill>
            <a:prstDash val="solid"/>
          </a:ln>
        </p:spPr>
      </p:sp>
      <p:sp>
        <p:nvSpPr>
          <p:cNvPr id="38" name="A_6_1_fade_538"/>
          <p:cNvSpPr txBox="1"/>
          <p:nvPr/>
        </p:nvSpPr>
        <p:spPr>
          <a:xfrm>
            <a:off x="5059741" y="4954676"/>
            <a:ext cx="2072488" cy="198425"/>
          </a:xfrm>
          <a:prstGeom prst="rect">
            <a:avLst/>
          </a:prstGeom>
          <a:noFill/>
          <a:ln/>
        </p:spPr>
        <p:txBody>
          <a:bodyPr wrap="square" lIns="0" tIns="0" rIns="0" bIns="0" rtlCol="0" anchor="t"/>
          <a:lstStyle/>
          <a:p>
            <a:pPr algn="ctr" indent="0" marL="0">
              <a:lnSpc>
                <a:spcPts val="1563"/>
              </a:lnSpc>
              <a:buNone/>
            </a:pPr>
            <a:r>
              <a:rPr lang="en-US" sz="1250" b="1" spc="-13" kern="0" dirty="0">
                <a:solidFill>
                  <a:srgbClr val="111111"/>
                </a:solidFill>
                <a:latin typeface="Space Grotesk" pitchFamily="34" charset="0"/>
                <a:ea typeface="Space Grotesk" pitchFamily="34" charset="-122"/>
                <a:cs typeface="Space Grotesk" pitchFamily="34" charset="-120"/>
              </a:rPr>
              <a:t>Adapter mỏng · harness B</a:t>
            </a:r>
            <a:endParaRPr lang="en-US" sz="1250" dirty="0"/>
          </a:p>
        </p:txBody>
      </p:sp>
      <p:sp>
        <p:nvSpPr>
          <p:cNvPr id="39" name="A_6_1_fade_539"/>
          <p:cNvSpPr/>
          <p:nvPr/>
        </p:nvSpPr>
        <p:spPr>
          <a:xfrm>
            <a:off x="7986370" y="4853087"/>
            <a:ext cx="3593592" cy="409560"/>
          </a:xfrm>
          <a:prstGeom prst="roundRect">
            <a:avLst>
              <a:gd name="adj" fmla="val 21701"/>
            </a:avLst>
          </a:prstGeom>
          <a:solidFill>
            <a:srgbClr val="F4F2E8"/>
          </a:solidFill>
          <a:ln w="9525">
            <a:solidFill>
              <a:srgbClr val="C9CAEB"/>
            </a:solidFill>
            <a:prstDash val="solid"/>
          </a:ln>
        </p:spPr>
      </p:sp>
      <p:sp>
        <p:nvSpPr>
          <p:cNvPr id="40" name="A_6_1_fade_540"/>
          <p:cNvSpPr txBox="1"/>
          <p:nvPr/>
        </p:nvSpPr>
        <p:spPr>
          <a:xfrm>
            <a:off x="8748613" y="4954676"/>
            <a:ext cx="2069196" cy="198425"/>
          </a:xfrm>
          <a:prstGeom prst="rect">
            <a:avLst/>
          </a:prstGeom>
          <a:noFill/>
          <a:ln/>
        </p:spPr>
        <p:txBody>
          <a:bodyPr wrap="square" lIns="0" tIns="0" rIns="0" bIns="0" rtlCol="0" anchor="t"/>
          <a:lstStyle/>
          <a:p>
            <a:pPr algn="ctr" indent="0" marL="0">
              <a:lnSpc>
                <a:spcPts val="1563"/>
              </a:lnSpc>
              <a:buNone/>
            </a:pPr>
            <a:r>
              <a:rPr lang="en-US" sz="1250" b="1" spc="-13" kern="0" dirty="0">
                <a:solidFill>
                  <a:srgbClr val="111111"/>
                </a:solidFill>
                <a:latin typeface="Space Grotesk" pitchFamily="34" charset="0"/>
                <a:ea typeface="Space Grotesk" pitchFamily="34" charset="-122"/>
                <a:cs typeface="Space Grotesk" pitchFamily="34" charset="-120"/>
              </a:rPr>
              <a:t>Adapter mỏng · harness C</a:t>
            </a:r>
            <a:endParaRPr lang="en-US" sz="1250" dirty="0"/>
          </a:p>
        </p:txBody>
      </p:sp>
      <p:sp>
        <p:nvSpPr>
          <p:cNvPr id="41" name="A_6_1_fade_541"/>
          <p:cNvSpPr txBox="1"/>
          <p:nvPr/>
        </p:nvSpPr>
        <p:spPr>
          <a:xfrm>
            <a:off x="609630" y="5362316"/>
            <a:ext cx="9796516" cy="21177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Vì file rule, format hook và cách chọn agent vẫn khác nhau giữa các harness. Mô hình này đã được áp dụng thực tế (Agent Kit Portability).</a:t>
            </a:r>
            <a:endParaRPr lang="en-US" sz="1150" dirty="0"/>
          </a:p>
        </p:txBody>
      </p:sp>
      <p:sp>
        <p:nvSpPr>
          <p:cNvPr id="42" name="S_542"/>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43" name="S_543"/>
          <p:cNvSpPr txBox="1"/>
          <p:nvPr/>
        </p:nvSpPr>
        <p:spPr>
          <a:xfrm>
            <a:off x="11181923" y="6517660"/>
            <a:ext cx="476677"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14 / 25</a:t>
            </a:r>
            <a:endParaRPr lang="en-US" sz="900" dirty="0"/>
          </a:p>
        </p:txBody>
      </p:sp>
      <p:sp>
        <p:nvSpPr>
          <p:cNvPr id="44" name="S_544"/>
          <p:cNvSpPr/>
          <p:nvPr/>
        </p:nvSpPr>
        <p:spPr>
          <a:xfrm>
            <a:off x="0" y="6838980"/>
            <a:ext cx="682755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82" fill="hold">
                      <p:stCondLst>
                        <p:cond delay="indefinite"/>
                        <p:cond evt="onBegin" delay="0">
                          <p:tn val="2"/>
                        </p:cond>
                      </p:stCondLst>
                      <p:childTnLst>
                        <p:par>
                          <p:cTn id="81"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33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33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33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33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33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3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33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44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55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55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55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55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55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55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55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grpId="0" nodeType="withEffect">
                                  <p:stCondLst>
                                    <p:cond delay="55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par>
                                <p:cTn id="69" presetID="10" presetClass="entr" presetSubtype="0" fill="hold" grpId="0" nodeType="withEffect">
                                  <p:stCondLst>
                                    <p:cond delay="55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55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55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grpId="0" nodeType="withEffect">
                                  <p:stCondLst>
                                    <p:cond delay="55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childTnLst>
                          </p:cTn>
                        </p:par>
                      </p:childTnLst>
                    </p:cTn>
                  </p:par>
                  <p:par>
                    <p:cTn id="117" fill="hold">
                      <p:stCondLst>
                        <p:cond delay="indefinite"/>
                      </p:stCondLst>
                      <p:childTnLst>
                        <p:par>
                          <p:cTn id="116"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500"/>
                                        <p:tgtEl>
                                          <p:spTgt spid="3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DFAE7"/>
        </a:solidFill>
      </p:bgPr>
    </p:bg>
    <p:spTree>
      <p:nvGrpSpPr>
        <p:cNvPr id="1" name=""/>
        <p:cNvGrpSpPr/>
        <p:nvPr/>
      </p:nvGrpSpPr>
      <p:grpSpPr>
        <a:xfrm>
          <a:off x="0" y="0"/>
          <a:ext cx="0" cy="0"/>
          <a:chOff x="0" y="0"/>
          <a:chExt cx="0" cy="0"/>
        </a:xfrm>
      </p:grpSpPr>
      <p:sp>
        <p:nvSpPr>
          <p:cNvPr id="2" name="S_545"/>
          <p:cNvSpPr txBox="1"/>
          <p:nvPr/>
        </p:nvSpPr>
        <p:spPr>
          <a:xfrm>
            <a:off x="609630" y="466070"/>
            <a:ext cx="1967697"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03 · ĐỀ XUẤT · VIỆC 4 / 5</a:t>
            </a:r>
            <a:endParaRPr lang="en-US" sz="1100" dirty="0"/>
          </a:p>
        </p:txBody>
      </p:sp>
      <p:sp>
        <p:nvSpPr>
          <p:cNvPr id="3" name="S_546"/>
          <p:cNvSpPr/>
          <p:nvPr/>
        </p:nvSpPr>
        <p:spPr>
          <a:xfrm>
            <a:off x="10144719" y="412760"/>
            <a:ext cx="1437711" cy="292059"/>
          </a:xfrm>
          <a:prstGeom prst="roundRect">
            <a:avLst>
              <a:gd name="adj" fmla="val 50000"/>
            </a:avLst>
          </a:prstGeom>
          <a:solidFill>
            <a:srgbClr val="EBE9E9"/>
          </a:solidFill>
          <a:ln/>
        </p:spPr>
      </p:sp>
      <p:sp>
        <p:nvSpPr>
          <p:cNvPr id="4" name="S_547"/>
          <p:cNvSpPr txBox="1"/>
          <p:nvPr/>
        </p:nvSpPr>
        <p:spPr>
          <a:xfrm>
            <a:off x="10309860" y="476220"/>
            <a:ext cx="1196035"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Governance mỏng</a:t>
            </a:r>
            <a:endParaRPr lang="en-US" sz="1000" dirty="0"/>
          </a:p>
        </p:txBody>
      </p:sp>
      <p:sp>
        <p:nvSpPr>
          <p:cNvPr id="5" name="A_0_0_fade_548"/>
          <p:cNvSpPr txBox="1"/>
          <p:nvPr/>
        </p:nvSpPr>
        <p:spPr>
          <a:xfrm>
            <a:off x="609630" y="806592"/>
            <a:ext cx="10684215"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Governance mỏng, dùng chung, không đòi hỏi harness riêng</a:t>
            </a:r>
            <a:endParaRPr lang="en-US" sz="2800" dirty="0"/>
          </a:p>
        </p:txBody>
      </p:sp>
      <p:sp>
        <p:nvSpPr>
          <p:cNvPr id="6" name="A_1_0_fade_549"/>
          <p:cNvSpPr txBox="1"/>
          <p:nvPr/>
        </p:nvSpPr>
        <p:spPr>
          <a:xfrm>
            <a:off x="609630" y="1309421"/>
            <a:ext cx="6357000" cy="257221"/>
          </a:xfrm>
          <a:prstGeom prst="rect">
            <a:avLst/>
          </a:prstGeom>
          <a:noFill/>
          <a:ln/>
        </p:spPr>
        <p:txBody>
          <a:bodyPr wrap="square" lIns="0" tIns="0" rIns="0" bIns="0" rtlCol="0" anchor="t"/>
          <a:lstStyle/>
          <a:p>
            <a:pPr algn="l" indent="0" marL="0">
              <a:lnSpc>
                <a:spcPts val="2025"/>
              </a:lnSpc>
              <a:buNone/>
            </a:pPr>
            <a:r>
              <a:rPr lang="en-US" sz="1350" dirty="0">
                <a:solidFill>
                  <a:srgbClr val="6B6B6B"/>
                </a:solidFill>
                <a:latin typeface="Inter" pitchFamily="34" charset="0"/>
                <a:ea typeface="Inter" pitchFamily="34" charset="-122"/>
                <a:cs typeface="Inter" pitchFamily="34" charset="-120"/>
              </a:rPr>
              <a:t>Audit, cost, chính sách dữ liệu, human gate: những gì cấp quản lý thật sự cần.</a:t>
            </a:r>
            <a:endParaRPr lang="en-US" sz="1350" dirty="0"/>
          </a:p>
        </p:txBody>
      </p:sp>
      <p:sp>
        <p:nvSpPr>
          <p:cNvPr id="7" name="A_2_0_fade_550"/>
          <p:cNvSpPr/>
          <p:nvPr/>
        </p:nvSpPr>
        <p:spPr>
          <a:xfrm>
            <a:off x="612008" y="2631369"/>
            <a:ext cx="2617104" cy="1206094"/>
          </a:xfrm>
          <a:prstGeom prst="roundRect">
            <a:avLst>
              <a:gd name="adj" fmla="val 7369"/>
            </a:avLst>
          </a:prstGeom>
          <a:solidFill>
            <a:srgbClr val="F4F2E8"/>
          </a:solidFill>
          <a:ln w="9525">
            <a:solidFill>
              <a:srgbClr val="C9CAEB"/>
            </a:solidFill>
            <a:prstDash val="solid"/>
          </a:ln>
        </p:spPr>
      </p:sp>
      <p:sp>
        <p:nvSpPr>
          <p:cNvPr id="8" name="A_2_0_fade_551"/>
          <p:cNvSpPr txBox="1"/>
          <p:nvPr/>
        </p:nvSpPr>
        <p:spPr>
          <a:xfrm>
            <a:off x="781080" y="2769626"/>
            <a:ext cx="957834"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6B6B6B"/>
                </a:solidFill>
                <a:latin typeface="Space Grotesk" pitchFamily="34" charset="0"/>
                <a:ea typeface="Space Grotesk" pitchFamily="34" charset="-122"/>
                <a:cs typeface="Space Grotesk" pitchFamily="34" charset="-120"/>
              </a:rPr>
              <a:t>MỌI HARNESS</a:t>
            </a:r>
            <a:endParaRPr lang="en-US" sz="950" dirty="0"/>
          </a:p>
        </p:txBody>
      </p:sp>
      <p:sp>
        <p:nvSpPr>
          <p:cNvPr id="9" name="A_2_0_fade_552"/>
          <p:cNvSpPr/>
          <p:nvPr/>
        </p:nvSpPr>
        <p:spPr>
          <a:xfrm>
            <a:off x="781080" y="3008010"/>
            <a:ext cx="1072317" cy="270480"/>
          </a:xfrm>
          <a:prstGeom prst="roundRect">
            <a:avLst>
              <a:gd name="adj" fmla="val 50000"/>
            </a:avLst>
          </a:prstGeom>
          <a:solidFill>
            <a:srgbClr val="E3E2E9"/>
          </a:solidFill>
          <a:ln/>
        </p:spPr>
      </p:sp>
      <p:sp>
        <p:nvSpPr>
          <p:cNvPr id="10" name="A_2_0_fade_553"/>
          <p:cNvSpPr txBox="1"/>
          <p:nvPr/>
        </p:nvSpPr>
        <p:spPr>
          <a:xfrm>
            <a:off x="895380" y="3050530"/>
            <a:ext cx="91997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Claude Code</a:t>
            </a:r>
            <a:endParaRPr lang="en-US" sz="1100" dirty="0"/>
          </a:p>
        </p:txBody>
      </p:sp>
      <p:sp>
        <p:nvSpPr>
          <p:cNvPr id="11" name="A_2_0_fade_554"/>
          <p:cNvSpPr/>
          <p:nvPr/>
        </p:nvSpPr>
        <p:spPr>
          <a:xfrm>
            <a:off x="1916948" y="3008010"/>
            <a:ext cx="488015" cy="270480"/>
          </a:xfrm>
          <a:prstGeom prst="roundRect">
            <a:avLst>
              <a:gd name="adj" fmla="val 50000"/>
            </a:avLst>
          </a:prstGeom>
          <a:solidFill>
            <a:srgbClr val="E3E2E9"/>
          </a:solidFill>
          <a:ln/>
        </p:spPr>
      </p:sp>
      <p:sp>
        <p:nvSpPr>
          <p:cNvPr id="12" name="A_2_0_fade_555"/>
          <p:cNvSpPr txBox="1"/>
          <p:nvPr/>
        </p:nvSpPr>
        <p:spPr>
          <a:xfrm>
            <a:off x="2031248" y="3050530"/>
            <a:ext cx="335676"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Kiro</a:t>
            </a:r>
            <a:endParaRPr lang="en-US" sz="1100" dirty="0"/>
          </a:p>
        </p:txBody>
      </p:sp>
      <p:sp>
        <p:nvSpPr>
          <p:cNvPr id="13" name="A_2_0_fade_556"/>
          <p:cNvSpPr/>
          <p:nvPr/>
        </p:nvSpPr>
        <p:spPr>
          <a:xfrm>
            <a:off x="781080" y="3341949"/>
            <a:ext cx="653796" cy="270480"/>
          </a:xfrm>
          <a:prstGeom prst="roundRect">
            <a:avLst>
              <a:gd name="adj" fmla="val 50000"/>
            </a:avLst>
          </a:prstGeom>
          <a:solidFill>
            <a:srgbClr val="E3E2E9"/>
          </a:solidFill>
          <a:ln/>
        </p:spPr>
      </p:sp>
      <p:sp>
        <p:nvSpPr>
          <p:cNvPr id="14" name="A_2_0_fade_557"/>
          <p:cNvSpPr txBox="1"/>
          <p:nvPr/>
        </p:nvSpPr>
        <p:spPr>
          <a:xfrm>
            <a:off x="895380" y="3384560"/>
            <a:ext cx="501366"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Codex</a:t>
            </a:r>
            <a:endParaRPr lang="en-US" sz="1100" dirty="0"/>
          </a:p>
        </p:txBody>
      </p:sp>
      <p:sp>
        <p:nvSpPr>
          <p:cNvPr id="15" name="A_2_0_fade_558"/>
          <p:cNvSpPr/>
          <p:nvPr/>
        </p:nvSpPr>
        <p:spPr>
          <a:xfrm>
            <a:off x="1498336" y="3341949"/>
            <a:ext cx="331927" cy="270480"/>
          </a:xfrm>
          <a:prstGeom prst="roundRect">
            <a:avLst>
              <a:gd name="adj" fmla="val 50000"/>
            </a:avLst>
          </a:prstGeom>
          <a:solidFill>
            <a:srgbClr val="E3E2E9"/>
          </a:solidFill>
          <a:ln/>
        </p:spPr>
      </p:sp>
      <p:sp>
        <p:nvSpPr>
          <p:cNvPr id="16" name="A_2_0_fade_559"/>
          <p:cNvSpPr txBox="1"/>
          <p:nvPr/>
        </p:nvSpPr>
        <p:spPr>
          <a:xfrm>
            <a:off x="1612636" y="3384560"/>
            <a:ext cx="179497"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a:t>
            </a:r>
            <a:endParaRPr lang="en-US" sz="1100" dirty="0"/>
          </a:p>
        </p:txBody>
      </p:sp>
      <p:sp>
        <p:nvSpPr>
          <p:cNvPr id="17" name="A_3_0_fade_560"/>
          <p:cNvSpPr txBox="1"/>
          <p:nvPr/>
        </p:nvSpPr>
        <p:spPr>
          <a:xfrm>
            <a:off x="3334634" y="3099176"/>
            <a:ext cx="276149" cy="259050"/>
          </a:xfrm>
          <a:prstGeom prst="rect">
            <a:avLst/>
          </a:prstGeom>
          <a:noFill/>
          <a:ln/>
        </p:spPr>
        <p:txBody>
          <a:bodyPr wrap="square" lIns="0" tIns="0" rIns="0" bIns="0" rtlCol="0" anchor="t"/>
          <a:lstStyle/>
          <a:p>
            <a:pPr algn="l"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18" name="A_4_0_fade_561"/>
          <p:cNvSpPr/>
          <p:nvPr/>
        </p:nvSpPr>
        <p:spPr>
          <a:xfrm>
            <a:off x="3640226" y="2631369"/>
            <a:ext cx="4911425" cy="1206094"/>
          </a:xfrm>
          <a:prstGeom prst="roundRect">
            <a:avLst>
              <a:gd name="adj" fmla="val 7369"/>
            </a:avLst>
          </a:prstGeom>
          <a:solidFill>
            <a:srgbClr val="DCDBEA"/>
          </a:solidFill>
          <a:ln w="9525">
            <a:solidFill>
              <a:srgbClr val="1E2BFA"/>
            </a:solidFill>
            <a:prstDash val="solid"/>
          </a:ln>
        </p:spPr>
      </p:sp>
      <p:sp>
        <p:nvSpPr>
          <p:cNvPr id="19" name="A_4_0_fade_562"/>
          <p:cNvSpPr txBox="1"/>
          <p:nvPr/>
        </p:nvSpPr>
        <p:spPr>
          <a:xfrm>
            <a:off x="3834719" y="2773467"/>
            <a:ext cx="1290127" cy="238110"/>
          </a:xfrm>
          <a:prstGeom prst="rect">
            <a:avLst/>
          </a:prstGeom>
          <a:noFill/>
          <a:ln/>
        </p:spPr>
        <p:txBody>
          <a:bodyPr wrap="square" lIns="0" tIns="0" rIns="0" bIns="0" rtlCol="0" anchor="t"/>
          <a:lstStyle/>
          <a:p>
            <a:pPr algn="l" indent="0" marL="0">
              <a:lnSpc>
                <a:spcPts val="1875"/>
              </a:lnSpc>
              <a:buNone/>
            </a:pPr>
            <a:r>
              <a:rPr lang="en-US" sz="1500" b="1" spc="-15" kern="0" dirty="0">
                <a:solidFill>
                  <a:srgbClr val="111111"/>
                </a:solidFill>
                <a:latin typeface="Space Grotesk" pitchFamily="34" charset="0"/>
                <a:ea typeface="Space Grotesk" pitchFamily="34" charset="-122"/>
                <a:cs typeface="Space Grotesk" pitchFamily="34" charset="-120"/>
              </a:rPr>
              <a:t>LLM gateway</a:t>
            </a:r>
            <a:endParaRPr lang="en-US" sz="1500" dirty="0"/>
          </a:p>
        </p:txBody>
      </p:sp>
      <p:sp>
        <p:nvSpPr>
          <p:cNvPr id="20" name="A_4_0_fade_563"/>
          <p:cNvSpPr/>
          <p:nvPr/>
        </p:nvSpPr>
        <p:spPr>
          <a:xfrm>
            <a:off x="3834719" y="3089392"/>
            <a:ext cx="1828343" cy="270480"/>
          </a:xfrm>
          <a:prstGeom prst="roundRect">
            <a:avLst>
              <a:gd name="adj" fmla="val 50000"/>
            </a:avLst>
          </a:prstGeom>
          <a:solidFill>
            <a:srgbClr val="FDFAE7"/>
          </a:solidFill>
          <a:ln/>
        </p:spPr>
      </p:sp>
      <p:sp>
        <p:nvSpPr>
          <p:cNvPr id="21" name="A_4_0_fade_564"/>
          <p:cNvSpPr txBox="1"/>
          <p:nvPr/>
        </p:nvSpPr>
        <p:spPr>
          <a:xfrm>
            <a:off x="3949019" y="3131911"/>
            <a:ext cx="1727667"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cost theo user và dự án</a:t>
            </a:r>
            <a:endParaRPr lang="en-US" sz="1100" dirty="0"/>
          </a:p>
        </p:txBody>
      </p:sp>
      <p:sp>
        <p:nvSpPr>
          <p:cNvPr id="22" name="A_4_0_fade_565"/>
          <p:cNvSpPr/>
          <p:nvPr/>
        </p:nvSpPr>
        <p:spPr>
          <a:xfrm>
            <a:off x="5726521" y="3089392"/>
            <a:ext cx="1001359" cy="270480"/>
          </a:xfrm>
          <a:prstGeom prst="roundRect">
            <a:avLst>
              <a:gd name="adj" fmla="val 50000"/>
            </a:avLst>
          </a:prstGeom>
          <a:solidFill>
            <a:srgbClr val="FDFAE7"/>
          </a:solidFill>
          <a:ln/>
        </p:spPr>
      </p:sp>
      <p:sp>
        <p:nvSpPr>
          <p:cNvPr id="23" name="A_4_0_fade_566"/>
          <p:cNvSpPr txBox="1"/>
          <p:nvPr/>
        </p:nvSpPr>
        <p:spPr>
          <a:xfrm>
            <a:off x="5840821" y="3131911"/>
            <a:ext cx="848929"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log request</a:t>
            </a:r>
            <a:endParaRPr lang="en-US" sz="1100" dirty="0"/>
          </a:p>
        </p:txBody>
      </p:sp>
      <p:sp>
        <p:nvSpPr>
          <p:cNvPr id="24" name="A_4_0_fade_567"/>
          <p:cNvSpPr/>
          <p:nvPr/>
        </p:nvSpPr>
        <p:spPr>
          <a:xfrm>
            <a:off x="3834719" y="3423331"/>
            <a:ext cx="1985528" cy="270480"/>
          </a:xfrm>
          <a:prstGeom prst="roundRect">
            <a:avLst>
              <a:gd name="adj" fmla="val 50000"/>
            </a:avLst>
          </a:prstGeom>
          <a:solidFill>
            <a:srgbClr val="FDFAE7"/>
          </a:solidFill>
          <a:ln/>
        </p:spPr>
      </p:sp>
      <p:sp>
        <p:nvSpPr>
          <p:cNvPr id="25" name="A_4_0_fade_568"/>
          <p:cNvSpPr txBox="1"/>
          <p:nvPr/>
        </p:nvSpPr>
        <p:spPr>
          <a:xfrm>
            <a:off x="3949019" y="3465850"/>
            <a:ext cx="1897563"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giới hạn model được dùng</a:t>
            </a:r>
            <a:endParaRPr lang="en-US" sz="1100" dirty="0"/>
          </a:p>
        </p:txBody>
      </p:sp>
      <p:sp>
        <p:nvSpPr>
          <p:cNvPr id="26" name="A_4_0_fade_569"/>
          <p:cNvSpPr/>
          <p:nvPr/>
        </p:nvSpPr>
        <p:spPr>
          <a:xfrm>
            <a:off x="5883798" y="3423331"/>
            <a:ext cx="2398928" cy="270480"/>
          </a:xfrm>
          <a:prstGeom prst="roundRect">
            <a:avLst>
              <a:gd name="adj" fmla="val 50000"/>
            </a:avLst>
          </a:prstGeom>
          <a:solidFill>
            <a:srgbClr val="FDFAE7"/>
          </a:solidFill>
          <a:ln/>
        </p:spPr>
      </p:sp>
      <p:sp>
        <p:nvSpPr>
          <p:cNvPr id="27" name="A_4_0_fade_570"/>
          <p:cNvSpPr txBox="1"/>
          <p:nvPr/>
        </p:nvSpPr>
        <p:spPr>
          <a:xfrm>
            <a:off x="5998098" y="3465850"/>
            <a:ext cx="2343973"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giữ dữ liệu trong vùng cho phép</a:t>
            </a:r>
            <a:endParaRPr lang="en-US" sz="1100" dirty="0"/>
          </a:p>
        </p:txBody>
      </p:sp>
      <p:sp>
        <p:nvSpPr>
          <p:cNvPr id="28" name="A_5_0_fade_571"/>
          <p:cNvSpPr txBox="1"/>
          <p:nvPr/>
        </p:nvSpPr>
        <p:spPr>
          <a:xfrm>
            <a:off x="8657265" y="3099176"/>
            <a:ext cx="276149" cy="259050"/>
          </a:xfrm>
          <a:prstGeom prst="rect">
            <a:avLst/>
          </a:prstGeom>
          <a:noFill/>
          <a:ln/>
        </p:spPr>
        <p:txBody>
          <a:bodyPr wrap="square" lIns="0" tIns="0" rIns="0" bIns="0" rtlCol="0" anchor="t"/>
          <a:lstStyle/>
          <a:p>
            <a:pPr algn="l"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29" name="A_6_0_fade_572"/>
          <p:cNvSpPr/>
          <p:nvPr/>
        </p:nvSpPr>
        <p:spPr>
          <a:xfrm>
            <a:off x="8962857" y="2631369"/>
            <a:ext cx="2617196" cy="1206094"/>
          </a:xfrm>
          <a:prstGeom prst="roundRect">
            <a:avLst>
              <a:gd name="adj" fmla="val 7369"/>
            </a:avLst>
          </a:prstGeom>
          <a:solidFill>
            <a:srgbClr val="F4F2E8"/>
          </a:solidFill>
          <a:ln w="9525">
            <a:solidFill>
              <a:srgbClr val="C9CAEB"/>
            </a:solidFill>
            <a:prstDash val="solid"/>
          </a:ln>
        </p:spPr>
      </p:sp>
      <p:sp>
        <p:nvSpPr>
          <p:cNvPr id="30" name="A_6_0_fade_573"/>
          <p:cNvSpPr txBox="1"/>
          <p:nvPr/>
        </p:nvSpPr>
        <p:spPr>
          <a:xfrm>
            <a:off x="9131930" y="3014137"/>
            <a:ext cx="521848"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6B6B6B"/>
                </a:solidFill>
                <a:latin typeface="Space Grotesk" pitchFamily="34" charset="0"/>
                <a:ea typeface="Space Grotesk" pitchFamily="34" charset="-122"/>
                <a:cs typeface="Space Grotesk" pitchFamily="34" charset="-120"/>
              </a:rPr>
              <a:t>MODEL</a:t>
            </a:r>
            <a:endParaRPr lang="en-US" sz="950" dirty="0"/>
          </a:p>
        </p:txBody>
      </p:sp>
      <p:sp>
        <p:nvSpPr>
          <p:cNvPr id="31" name="A_6_0_fade_574"/>
          <p:cNvSpPr txBox="1"/>
          <p:nvPr/>
        </p:nvSpPr>
        <p:spPr>
          <a:xfrm>
            <a:off x="9131930" y="3223900"/>
            <a:ext cx="1019739"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của vendor</a:t>
            </a:r>
            <a:endParaRPr lang="en-US" sz="1400" dirty="0"/>
          </a:p>
        </p:txBody>
      </p:sp>
      <p:sp>
        <p:nvSpPr>
          <p:cNvPr id="32" name="A_7_1_fade_575"/>
          <p:cNvSpPr/>
          <p:nvPr/>
        </p:nvSpPr>
        <p:spPr>
          <a:xfrm>
            <a:off x="612008" y="4032778"/>
            <a:ext cx="3551255" cy="1193566"/>
          </a:xfrm>
          <a:prstGeom prst="roundRect">
            <a:avLst>
              <a:gd name="adj" fmla="val 7447"/>
            </a:avLst>
          </a:prstGeom>
          <a:solidFill>
            <a:srgbClr val="F4F2E8"/>
          </a:solidFill>
          <a:ln w="9525">
            <a:solidFill>
              <a:srgbClr val="C9CAEB"/>
            </a:solidFill>
            <a:prstDash val="solid"/>
          </a:ln>
        </p:spPr>
      </p:sp>
      <p:sp>
        <p:nvSpPr>
          <p:cNvPr id="33" name="A_7_1_fade_576"/>
          <p:cNvSpPr txBox="1"/>
          <p:nvPr/>
        </p:nvSpPr>
        <p:spPr>
          <a:xfrm>
            <a:off x="806409" y="4196456"/>
            <a:ext cx="826800"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TELEMETRY</a:t>
            </a:r>
            <a:endParaRPr lang="en-US" sz="950" dirty="0"/>
          </a:p>
        </p:txBody>
      </p:sp>
      <p:sp>
        <p:nvSpPr>
          <p:cNvPr id="34" name="A_7_1_fade_577"/>
          <p:cNvSpPr txBox="1"/>
          <p:nvPr/>
        </p:nvSpPr>
        <p:spPr>
          <a:xfrm>
            <a:off x="806409" y="4417832"/>
            <a:ext cx="3304184" cy="63532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Thu log và metric từ các harness về một chỗ,</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hoặc thu transcript định kỳ. Một số harness đã</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xuất telemetry theo OpenTelemetry.</a:t>
            </a:r>
            <a:endParaRPr lang="en-US" sz="1150" dirty="0"/>
          </a:p>
        </p:txBody>
      </p:sp>
      <p:sp>
        <p:nvSpPr>
          <p:cNvPr id="35" name="A_8_1_fade_578"/>
          <p:cNvSpPr/>
          <p:nvPr/>
        </p:nvSpPr>
        <p:spPr>
          <a:xfrm>
            <a:off x="4320357" y="4032778"/>
            <a:ext cx="3551255" cy="1193566"/>
          </a:xfrm>
          <a:prstGeom prst="roundRect">
            <a:avLst>
              <a:gd name="adj" fmla="val 7447"/>
            </a:avLst>
          </a:prstGeom>
          <a:solidFill>
            <a:srgbClr val="F4F2E8"/>
          </a:solidFill>
          <a:ln w="9525">
            <a:solidFill>
              <a:srgbClr val="C9CAEB"/>
            </a:solidFill>
            <a:prstDash val="solid"/>
          </a:ln>
        </p:spPr>
      </p:sp>
      <p:sp>
        <p:nvSpPr>
          <p:cNvPr id="36" name="A_8_1_fade_579"/>
          <p:cNvSpPr txBox="1"/>
          <p:nvPr/>
        </p:nvSpPr>
        <p:spPr>
          <a:xfrm>
            <a:off x="4514850" y="4196456"/>
            <a:ext cx="2012594"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POLICY PHÁT HÀNH CÙNG KIT</a:t>
            </a:r>
            <a:endParaRPr lang="en-US" sz="950" dirty="0"/>
          </a:p>
        </p:txBody>
      </p:sp>
      <p:sp>
        <p:nvSpPr>
          <p:cNvPr id="37" name="A_8_1_fade_580"/>
          <p:cNvSpPr txBox="1"/>
          <p:nvPr/>
        </p:nvSpPr>
        <p:spPr>
          <a:xfrm>
            <a:off x="4514850" y="4417832"/>
            <a:ext cx="3299887" cy="423550"/>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Permission, hook, sandbox được cấu hình sẵn,</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không để từng người tự đặt.</a:t>
            </a:r>
            <a:endParaRPr lang="en-US" sz="1150" dirty="0"/>
          </a:p>
        </p:txBody>
      </p:sp>
      <p:sp>
        <p:nvSpPr>
          <p:cNvPr id="38" name="A_9_1_fade_581"/>
          <p:cNvSpPr/>
          <p:nvPr/>
        </p:nvSpPr>
        <p:spPr>
          <a:xfrm>
            <a:off x="8028798" y="4032778"/>
            <a:ext cx="3551255" cy="1193566"/>
          </a:xfrm>
          <a:prstGeom prst="roundRect">
            <a:avLst>
              <a:gd name="adj" fmla="val 7447"/>
            </a:avLst>
          </a:prstGeom>
          <a:solidFill>
            <a:srgbClr val="F4F2E8"/>
          </a:solidFill>
          <a:ln w="9525">
            <a:solidFill>
              <a:srgbClr val="C9CAEB"/>
            </a:solidFill>
            <a:prstDash val="solid"/>
          </a:ln>
        </p:spPr>
      </p:sp>
      <p:sp>
        <p:nvSpPr>
          <p:cNvPr id="39" name="A_9_1_fade_582"/>
          <p:cNvSpPr txBox="1"/>
          <p:nvPr/>
        </p:nvSpPr>
        <p:spPr>
          <a:xfrm>
            <a:off x="8223291" y="4196456"/>
            <a:ext cx="1846265"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HUMAN GATE Ở CHỖ ĐÃ CÓ</a:t>
            </a:r>
            <a:endParaRPr lang="en-US" sz="950" dirty="0"/>
          </a:p>
        </p:txBody>
      </p:sp>
      <p:sp>
        <p:nvSpPr>
          <p:cNvPr id="40" name="A_9_1_fade_583"/>
          <p:cNvSpPr txBox="1"/>
          <p:nvPr/>
        </p:nvSpPr>
        <p:spPr>
          <a:xfrm>
            <a:off x="8223291" y="4417832"/>
            <a:ext cx="3395899" cy="21177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PR review, branch protection, approval trong CI.</a:t>
            </a:r>
            <a:endParaRPr lang="en-US" sz="1150" dirty="0"/>
          </a:p>
        </p:txBody>
      </p:sp>
      <p:sp>
        <p:nvSpPr>
          <p:cNvPr id="41" name="S_584"/>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42" name="S_585"/>
          <p:cNvSpPr txBox="1"/>
          <p:nvPr/>
        </p:nvSpPr>
        <p:spPr>
          <a:xfrm>
            <a:off x="11185489" y="6517660"/>
            <a:ext cx="473111"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15 / 25</a:t>
            </a:r>
            <a:endParaRPr lang="en-US" sz="900" dirty="0"/>
          </a:p>
        </p:txBody>
      </p:sp>
      <p:sp>
        <p:nvSpPr>
          <p:cNvPr id="43" name="S_586"/>
          <p:cNvSpPr/>
          <p:nvPr/>
        </p:nvSpPr>
        <p:spPr>
          <a:xfrm>
            <a:off x="0" y="6838980"/>
            <a:ext cx="731520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85" fill="hold">
                      <p:stCondLst>
                        <p:cond delay="indefinite"/>
                        <p:cond evt="onBegin" delay="0">
                          <p:tn val="2"/>
                        </p:cond>
                      </p:stCondLst>
                      <p:childTnLst>
                        <p:par>
                          <p:cTn id="84"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22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22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22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22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22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22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22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33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44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44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44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44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44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44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44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44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grpId="0" nodeType="withEffect">
                                  <p:stCondLst>
                                    <p:cond delay="44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par>
                                <p:cTn id="69" presetID="10" presetClass="entr" presetSubtype="0" fill="hold" grpId="0" nodeType="withEffect">
                                  <p:stCondLst>
                                    <p:cond delay="44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55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66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grpId="0" nodeType="withEffect">
                                  <p:stCondLst>
                                    <p:cond delay="66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grpId="0" nodeType="withEffect">
                                  <p:stCondLst>
                                    <p:cond delay="66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childTnLst>
                          </p:cTn>
                        </p:par>
                      </p:childTnLst>
                    </p:cTn>
                  </p:par>
                  <p:par>
                    <p:cTn id="114" fill="hold">
                      <p:stCondLst>
                        <p:cond delay="indefinite"/>
                      </p:stCondLst>
                      <p:childTnLst>
                        <p:par>
                          <p:cTn id="113"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500"/>
                                        <p:tgtEl>
                                          <p:spTgt spid="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500"/>
                                        <p:tgtEl>
                                          <p:spTgt spid="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500"/>
                                        <p:tgtEl>
                                          <p:spTgt spid="34"/>
                                        </p:tgtEl>
                                      </p:cBhvr>
                                    </p:animEffect>
                                  </p:childTnLst>
                                </p:cTn>
                              </p:par>
                              <p:par>
                                <p:cTn id="95" presetID="10" presetClass="entr" presetSubtype="0" fill="hold" grpId="0" nodeType="withEffect">
                                  <p:stCondLst>
                                    <p:cond delay="11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11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11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22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22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22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DFAE7"/>
        </a:solidFill>
      </p:bgPr>
    </p:bg>
    <p:spTree>
      <p:nvGrpSpPr>
        <p:cNvPr id="1" name=""/>
        <p:cNvGrpSpPr/>
        <p:nvPr/>
      </p:nvGrpSpPr>
      <p:grpSpPr>
        <a:xfrm>
          <a:off x="0" y="0"/>
          <a:ext cx="0" cy="0"/>
          <a:chOff x="0" y="0"/>
          <a:chExt cx="0" cy="0"/>
        </a:xfrm>
      </p:grpSpPr>
      <p:sp>
        <p:nvSpPr>
          <p:cNvPr id="2" name="S_587"/>
          <p:cNvSpPr txBox="1"/>
          <p:nvPr/>
        </p:nvSpPr>
        <p:spPr>
          <a:xfrm>
            <a:off x="609630" y="466070"/>
            <a:ext cx="1962668"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03 · ĐỀ XUẤT · VIỆC 5 / 5</a:t>
            </a:r>
            <a:endParaRPr lang="en-US" sz="1100" dirty="0"/>
          </a:p>
        </p:txBody>
      </p:sp>
      <p:sp>
        <p:nvSpPr>
          <p:cNvPr id="3" name="S_588"/>
          <p:cNvSpPr/>
          <p:nvPr/>
        </p:nvSpPr>
        <p:spPr>
          <a:xfrm>
            <a:off x="10306385" y="412760"/>
            <a:ext cx="1276045" cy="292059"/>
          </a:xfrm>
          <a:prstGeom prst="roundRect">
            <a:avLst>
              <a:gd name="adj" fmla="val 50000"/>
            </a:avLst>
          </a:prstGeom>
          <a:solidFill>
            <a:srgbClr val="EBE9E9"/>
          </a:solidFill>
          <a:ln/>
        </p:spPr>
      </p:sp>
      <p:sp>
        <p:nvSpPr>
          <p:cNvPr id="4" name="S_589"/>
          <p:cNvSpPr txBox="1"/>
          <p:nvPr/>
        </p:nvSpPr>
        <p:spPr>
          <a:xfrm>
            <a:off x="10471434" y="476220"/>
            <a:ext cx="1022025"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Harness và LLM</a:t>
            </a:r>
            <a:endParaRPr lang="en-US" sz="1000" dirty="0"/>
          </a:p>
        </p:txBody>
      </p:sp>
      <p:sp>
        <p:nvSpPr>
          <p:cNvPr id="5" name="A_0_0_fade_590"/>
          <p:cNvSpPr txBox="1"/>
          <p:nvPr/>
        </p:nvSpPr>
        <p:spPr>
          <a:xfrm>
            <a:off x="609630" y="806592"/>
            <a:ext cx="8389346"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Harness và LLM: mua, và chạy ở đâu cũng được</a:t>
            </a:r>
            <a:endParaRPr lang="en-US" sz="2800" dirty="0"/>
          </a:p>
        </p:txBody>
      </p:sp>
      <p:sp>
        <p:nvSpPr>
          <p:cNvPr id="6" name="A_1_0_fade_591"/>
          <p:cNvSpPr txBox="1"/>
          <p:nvPr/>
        </p:nvSpPr>
        <p:spPr>
          <a:xfrm>
            <a:off x="609630" y="1309421"/>
            <a:ext cx="8454085" cy="257221"/>
          </a:xfrm>
          <a:prstGeom prst="rect">
            <a:avLst/>
          </a:prstGeom>
          <a:noFill/>
          <a:ln/>
        </p:spPr>
        <p:txBody>
          <a:bodyPr wrap="square" lIns="0" tIns="0" rIns="0" bIns="0" rtlCol="0" anchor="t"/>
          <a:lstStyle/>
          <a:p>
            <a:pPr algn="l" indent="0" marL="0">
              <a:lnSpc>
                <a:spcPts val="2025"/>
              </a:lnSpc>
              <a:buNone/>
            </a:pPr>
            <a:r>
              <a:rPr lang="en-US" sz="1350" dirty="0">
                <a:solidFill>
                  <a:srgbClr val="6B6B6B"/>
                </a:solidFill>
                <a:latin typeface="Inter" pitchFamily="34" charset="0"/>
                <a:ea typeface="Inter" pitchFamily="34" charset="-122"/>
                <a:cs typeface="Inter" pitchFamily="34" charset="-120"/>
              </a:rPr>
              <a:t>Chọn một đến hai harness chuẩn cho tổ chức, nhưng giữ tài sản ở định dạng mở để có thể đổi harness.</a:t>
            </a:r>
            <a:endParaRPr lang="en-US" sz="1350" dirty="0"/>
          </a:p>
        </p:txBody>
      </p:sp>
      <p:sp>
        <p:nvSpPr>
          <p:cNvPr id="7" name="A_2_0_fade_592"/>
          <p:cNvSpPr txBox="1"/>
          <p:nvPr/>
        </p:nvSpPr>
        <p:spPr>
          <a:xfrm>
            <a:off x="609630" y="2715219"/>
            <a:ext cx="2217694"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KHI CẦN TỰ ĐỘNG HOÁ CAO HƠN</a:t>
            </a:r>
            <a:endParaRPr lang="en-US" sz="950" dirty="0"/>
          </a:p>
        </p:txBody>
      </p:sp>
      <p:sp>
        <p:nvSpPr>
          <p:cNvPr id="8" name="A_3_0_fade_593"/>
          <p:cNvSpPr/>
          <p:nvPr/>
        </p:nvSpPr>
        <p:spPr>
          <a:xfrm>
            <a:off x="612008" y="2994020"/>
            <a:ext cx="3058302" cy="784830"/>
          </a:xfrm>
          <a:prstGeom prst="roundRect">
            <a:avLst>
              <a:gd name="adj" fmla="val 11325"/>
            </a:avLst>
          </a:prstGeom>
          <a:solidFill>
            <a:srgbClr val="F4F2E8"/>
          </a:solidFill>
          <a:ln w="9525">
            <a:solidFill>
              <a:srgbClr val="C9CAEB"/>
            </a:solidFill>
            <a:prstDash val="solid"/>
          </a:ln>
        </p:spPr>
      </p:sp>
      <p:sp>
        <p:nvSpPr>
          <p:cNvPr id="9" name="A_3_0_fade_594"/>
          <p:cNvSpPr txBox="1"/>
          <p:nvPr/>
        </p:nvSpPr>
        <p:spPr>
          <a:xfrm>
            <a:off x="793791" y="3147182"/>
            <a:ext cx="2150486"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Cùng kit và data source</a:t>
            </a:r>
            <a:endParaRPr lang="en-US" sz="1400" dirty="0"/>
          </a:p>
        </p:txBody>
      </p:sp>
      <p:sp>
        <p:nvSpPr>
          <p:cNvPr id="10" name="A_3_0_fade_595"/>
          <p:cNvSpPr txBox="1"/>
          <p:nvPr/>
        </p:nvSpPr>
        <p:spPr>
          <a:xfrm>
            <a:off x="793791" y="3406414"/>
            <a:ext cx="1114836" cy="21177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không viết lại gì</a:t>
            </a:r>
            <a:endParaRPr lang="en-US" sz="1150" dirty="0"/>
          </a:p>
        </p:txBody>
      </p:sp>
      <p:sp>
        <p:nvSpPr>
          <p:cNvPr id="11" name="A_4_0_fade_596"/>
          <p:cNvSpPr txBox="1"/>
          <p:nvPr/>
        </p:nvSpPr>
        <p:spPr>
          <a:xfrm>
            <a:off x="3750503" y="3251149"/>
            <a:ext cx="276149" cy="259050"/>
          </a:xfrm>
          <a:prstGeom prst="rect">
            <a:avLst/>
          </a:prstGeom>
          <a:noFill/>
          <a:ln/>
        </p:spPr>
        <p:txBody>
          <a:bodyPr wrap="square" lIns="0" tIns="0" rIns="0" bIns="0" rtlCol="0" anchor="t"/>
          <a:lstStyle/>
          <a:p>
            <a:pPr algn="l"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12" name="A_5_0_fade_597"/>
          <p:cNvSpPr/>
          <p:nvPr/>
        </p:nvSpPr>
        <p:spPr>
          <a:xfrm>
            <a:off x="4030675" y="2994020"/>
            <a:ext cx="4130619" cy="784830"/>
          </a:xfrm>
          <a:prstGeom prst="roundRect">
            <a:avLst>
              <a:gd name="adj" fmla="val 11325"/>
            </a:avLst>
          </a:prstGeom>
          <a:solidFill>
            <a:srgbClr val="DCDBEA"/>
          </a:solidFill>
          <a:ln w="9525">
            <a:solidFill>
              <a:srgbClr val="1E2BFA"/>
            </a:solidFill>
            <a:prstDash val="solid"/>
          </a:ln>
        </p:spPr>
      </p:sp>
      <p:sp>
        <p:nvSpPr>
          <p:cNvPr id="13" name="A_5_0_fade_598"/>
          <p:cNvSpPr txBox="1"/>
          <p:nvPr/>
        </p:nvSpPr>
        <p:spPr>
          <a:xfrm>
            <a:off x="4225168" y="3147182"/>
            <a:ext cx="2923977"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Chính harness đó chạy headless</a:t>
            </a:r>
            <a:endParaRPr lang="en-US" sz="1400" dirty="0"/>
          </a:p>
        </p:txBody>
      </p:sp>
      <p:sp>
        <p:nvSpPr>
          <p:cNvPr id="14" name="A_5_0_fade_599"/>
          <p:cNvSpPr txBox="1"/>
          <p:nvPr/>
        </p:nvSpPr>
        <p:spPr>
          <a:xfrm>
            <a:off x="4225168" y="3406414"/>
            <a:ext cx="1781891" cy="211775"/>
          </a:xfrm>
          <a:prstGeom prst="rect">
            <a:avLst/>
          </a:prstGeom>
          <a:noFill/>
          <a:ln/>
        </p:spPr>
        <p:txBody>
          <a:bodyPr wrap="square" lIns="0" tIns="0" rIns="0" bIns="0" rtlCol="0" anchor="t"/>
          <a:lstStyle/>
          <a:p>
            <a:pPr algn="l" indent="0" marL="0">
              <a:lnSpc>
                <a:spcPts val="1668"/>
              </a:lnSpc>
              <a:buNone/>
            </a:pPr>
            <a:r>
              <a:rPr lang="en-US" sz="1150" dirty="0">
                <a:solidFill>
                  <a:srgbClr val="111111"/>
                </a:solidFill>
                <a:latin typeface="Inter" pitchFamily="34" charset="0"/>
                <a:ea typeface="Inter" pitchFamily="34" charset="-122"/>
                <a:cs typeface="Inter" pitchFamily="34" charset="-120"/>
              </a:rPr>
              <a:t>trên server hoặc trong CI</a:t>
            </a:r>
            <a:endParaRPr lang="en-US" sz="1150" dirty="0"/>
          </a:p>
        </p:txBody>
      </p:sp>
      <p:sp>
        <p:nvSpPr>
          <p:cNvPr id="15" name="A_6_0_fade_600"/>
          <p:cNvSpPr txBox="1"/>
          <p:nvPr/>
        </p:nvSpPr>
        <p:spPr>
          <a:xfrm>
            <a:off x="8241396" y="3251149"/>
            <a:ext cx="276149" cy="259050"/>
          </a:xfrm>
          <a:prstGeom prst="rect">
            <a:avLst/>
          </a:prstGeom>
          <a:noFill/>
          <a:ln/>
        </p:spPr>
        <p:txBody>
          <a:bodyPr wrap="square" lIns="0" tIns="0" rIns="0" bIns="0" rtlCol="0" anchor="t"/>
          <a:lstStyle/>
          <a:p>
            <a:pPr algn="l" indent="0" marL="0">
              <a:lnSpc>
                <a:spcPts val="2040"/>
              </a:lnSpc>
              <a:buNone/>
            </a:pPr>
            <a:r>
              <a:rPr lang="en-US" sz="1700" dirty="0">
                <a:solidFill>
                  <a:srgbClr val="1E2BFA"/>
                </a:solidFill>
                <a:latin typeface="Inter" pitchFamily="34" charset="0"/>
                <a:ea typeface="Inter" pitchFamily="34" charset="-122"/>
                <a:cs typeface="Inter" pitchFamily="34" charset="-120"/>
              </a:rPr>
              <a:t>→</a:t>
            </a:r>
            <a:endParaRPr lang="en-US" sz="1700" dirty="0"/>
          </a:p>
        </p:txBody>
      </p:sp>
      <p:sp>
        <p:nvSpPr>
          <p:cNvPr id="16" name="A_7_0_fade_601"/>
          <p:cNvSpPr/>
          <p:nvPr/>
        </p:nvSpPr>
        <p:spPr>
          <a:xfrm>
            <a:off x="8521568" y="2994020"/>
            <a:ext cx="3058394" cy="784830"/>
          </a:xfrm>
          <a:prstGeom prst="roundRect">
            <a:avLst>
              <a:gd name="adj" fmla="val 11325"/>
            </a:avLst>
          </a:prstGeom>
          <a:solidFill>
            <a:srgbClr val="1E2BFA"/>
          </a:solidFill>
          <a:ln w="9525">
            <a:solidFill>
              <a:srgbClr val="1E2BFA"/>
            </a:solidFill>
            <a:prstDash val="solid"/>
          </a:ln>
        </p:spPr>
      </p:sp>
      <p:sp>
        <p:nvSpPr>
          <p:cNvPr id="17" name="A_7_0_fade_602"/>
          <p:cNvSpPr txBox="1"/>
          <p:nvPr/>
        </p:nvSpPr>
        <p:spPr>
          <a:xfrm>
            <a:off x="8703351" y="3147182"/>
            <a:ext cx="1701881"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FDFAE7"/>
                </a:solidFill>
                <a:latin typeface="Space Grotesk" pitchFamily="34" charset="0"/>
                <a:ea typeface="Space Grotesk" pitchFamily="34" charset="-122"/>
                <a:cs typeface="Space Grotesk" pitchFamily="34" charset="-120"/>
              </a:rPr>
              <a:t>Approval gate cuối</a:t>
            </a:r>
            <a:endParaRPr lang="en-US" sz="1400" dirty="0"/>
          </a:p>
        </p:txBody>
      </p:sp>
      <p:sp>
        <p:nvSpPr>
          <p:cNvPr id="18" name="A_7_0_fade_603"/>
          <p:cNvSpPr txBox="1"/>
          <p:nvPr/>
        </p:nvSpPr>
        <p:spPr>
          <a:xfrm>
            <a:off x="8703351" y="3406414"/>
            <a:ext cx="1412748" cy="211775"/>
          </a:xfrm>
          <a:prstGeom prst="rect">
            <a:avLst/>
          </a:prstGeom>
          <a:noFill/>
          <a:ln/>
        </p:spPr>
        <p:txBody>
          <a:bodyPr wrap="square" lIns="0" tIns="0" rIns="0" bIns="0" rtlCol="0" anchor="t"/>
          <a:lstStyle/>
          <a:p>
            <a:pPr algn="l" indent="0" marL="0">
              <a:lnSpc>
                <a:spcPts val="1668"/>
              </a:lnSpc>
              <a:buNone/>
            </a:pPr>
            <a:r>
              <a:rPr lang="en-US" sz="1150" dirty="0">
                <a:solidFill>
                  <a:srgbClr val="FDFAE7"/>
                </a:solidFill>
                <a:latin typeface="Inter" pitchFamily="34" charset="0"/>
                <a:ea typeface="Inter" pitchFamily="34" charset="-122"/>
                <a:cs typeface="Inter" pitchFamily="34" charset="-120"/>
              </a:rPr>
              <a:t>người duyệt kết quả</a:t>
            </a:r>
            <a:endParaRPr lang="en-US" sz="1150" dirty="0"/>
          </a:p>
        </p:txBody>
      </p:sp>
      <p:sp>
        <p:nvSpPr>
          <p:cNvPr id="19" name="A_8_1_fade_604"/>
          <p:cNvSpPr txBox="1"/>
          <p:nvPr/>
        </p:nvSpPr>
        <p:spPr>
          <a:xfrm>
            <a:off x="609630" y="4029852"/>
            <a:ext cx="2766334"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CÁC HARNESS PHỔ BIẾN ĐỀU ĐÃ HỖ TRỢ</a:t>
            </a:r>
            <a:endParaRPr lang="en-US" sz="950" dirty="0"/>
          </a:p>
        </p:txBody>
      </p:sp>
      <p:sp>
        <p:nvSpPr>
          <p:cNvPr id="20" name="A_9_1_fade_605"/>
          <p:cNvSpPr/>
          <p:nvPr/>
        </p:nvSpPr>
        <p:spPr>
          <a:xfrm>
            <a:off x="612008" y="4295943"/>
            <a:ext cx="5392765" cy="838779"/>
          </a:xfrm>
          <a:prstGeom prst="roundRect">
            <a:avLst>
              <a:gd name="adj" fmla="val 10596"/>
            </a:avLst>
          </a:prstGeom>
          <a:solidFill>
            <a:srgbClr val="F4F2E8"/>
          </a:solidFill>
          <a:ln w="9525">
            <a:solidFill>
              <a:srgbClr val="C9CAEB"/>
            </a:solidFill>
            <a:prstDash val="solid"/>
          </a:ln>
        </p:spPr>
      </p:sp>
      <p:sp>
        <p:nvSpPr>
          <p:cNvPr id="21" name="A_9_1_fade_606"/>
          <p:cNvSpPr txBox="1"/>
          <p:nvPr/>
        </p:nvSpPr>
        <p:spPr>
          <a:xfrm>
            <a:off x="819120" y="4463461"/>
            <a:ext cx="1218987" cy="238110"/>
          </a:xfrm>
          <a:prstGeom prst="rect">
            <a:avLst/>
          </a:prstGeom>
          <a:noFill/>
          <a:ln/>
        </p:spPr>
        <p:txBody>
          <a:bodyPr wrap="square" lIns="0" tIns="0" rIns="0" bIns="0" rtlCol="0" anchor="t"/>
          <a:lstStyle/>
          <a:p>
            <a:pPr algn="l" indent="0" marL="0">
              <a:lnSpc>
                <a:spcPts val="1875"/>
              </a:lnSpc>
              <a:buNone/>
            </a:pPr>
            <a:r>
              <a:rPr lang="en-US" sz="1500" b="1" spc="-15" kern="0" dirty="0">
                <a:solidFill>
                  <a:srgbClr val="111111"/>
                </a:solidFill>
                <a:latin typeface="Space Grotesk" pitchFamily="34" charset="0"/>
                <a:ea typeface="Space Grotesk" pitchFamily="34" charset="-122"/>
                <a:cs typeface="Space Grotesk" pitchFamily="34" charset="-120"/>
              </a:rPr>
              <a:t>Claude Code</a:t>
            </a:r>
            <a:endParaRPr lang="en-US" sz="1500" dirty="0"/>
          </a:p>
        </p:txBody>
      </p:sp>
      <p:sp>
        <p:nvSpPr>
          <p:cNvPr id="22" name="A_9_1_fade_607"/>
          <p:cNvSpPr txBox="1"/>
          <p:nvPr/>
        </p:nvSpPr>
        <p:spPr>
          <a:xfrm>
            <a:off x="819120" y="4749668"/>
            <a:ext cx="4454042" cy="21177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Chế độ non-interactive, Agent SDK và tích hợp GitHub Actions</a:t>
            </a:r>
            <a:endParaRPr lang="en-US" sz="1150" dirty="0"/>
          </a:p>
        </p:txBody>
      </p:sp>
      <p:sp>
        <p:nvSpPr>
          <p:cNvPr id="23" name="A_10_1_fade_608"/>
          <p:cNvSpPr/>
          <p:nvPr/>
        </p:nvSpPr>
        <p:spPr>
          <a:xfrm>
            <a:off x="6187288" y="4295943"/>
            <a:ext cx="5392765" cy="838779"/>
          </a:xfrm>
          <a:prstGeom prst="roundRect">
            <a:avLst>
              <a:gd name="adj" fmla="val 10596"/>
            </a:avLst>
          </a:prstGeom>
          <a:solidFill>
            <a:srgbClr val="F4F2E8"/>
          </a:solidFill>
          <a:ln w="9525">
            <a:solidFill>
              <a:srgbClr val="C9CAEB"/>
            </a:solidFill>
            <a:prstDash val="solid"/>
          </a:ln>
        </p:spPr>
      </p:sp>
      <p:sp>
        <p:nvSpPr>
          <p:cNvPr id="24" name="A_10_1_fade_609"/>
          <p:cNvSpPr txBox="1"/>
          <p:nvPr/>
        </p:nvSpPr>
        <p:spPr>
          <a:xfrm>
            <a:off x="6394491" y="4463461"/>
            <a:ext cx="741030" cy="238110"/>
          </a:xfrm>
          <a:prstGeom prst="rect">
            <a:avLst/>
          </a:prstGeom>
          <a:noFill/>
          <a:ln/>
        </p:spPr>
        <p:txBody>
          <a:bodyPr wrap="square" lIns="0" tIns="0" rIns="0" bIns="0" rtlCol="0" anchor="t"/>
          <a:lstStyle/>
          <a:p>
            <a:pPr algn="l" indent="0" marL="0">
              <a:lnSpc>
                <a:spcPts val="1875"/>
              </a:lnSpc>
              <a:buNone/>
            </a:pPr>
            <a:r>
              <a:rPr lang="en-US" sz="1500" b="1" spc="-15" kern="0" dirty="0">
                <a:solidFill>
                  <a:srgbClr val="111111"/>
                </a:solidFill>
                <a:latin typeface="Space Grotesk" pitchFamily="34" charset="0"/>
                <a:ea typeface="Space Grotesk" pitchFamily="34" charset="-122"/>
                <a:cs typeface="Space Grotesk" pitchFamily="34" charset="-120"/>
              </a:rPr>
              <a:t>Kiro CLI</a:t>
            </a:r>
            <a:endParaRPr lang="en-US" sz="1500" dirty="0"/>
          </a:p>
        </p:txBody>
      </p:sp>
      <p:sp>
        <p:nvSpPr>
          <p:cNvPr id="25" name="A_10_1_fade_610"/>
          <p:cNvSpPr txBox="1"/>
          <p:nvPr/>
        </p:nvSpPr>
        <p:spPr>
          <a:xfrm>
            <a:off x="6394491" y="4749668"/>
            <a:ext cx="3198297" cy="21177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Chế độ</a:t>
            </a:r>
            <a:pPr algn="l" indent="0" marL="0">
              <a:lnSpc>
                <a:spcPts val="1668"/>
              </a:lnSpc>
              <a:buNone/>
            </a:pPr>
            <a:r>
              <a:rPr lang="en-US" sz="1150" dirty="0">
                <a:solidFill>
                  <a:srgbClr val="111111"/>
                </a:solidFill>
                <a:latin typeface="Inter" pitchFamily="34" charset="0"/>
                <a:ea typeface="Inter" pitchFamily="34" charset="-122"/>
                <a:cs typeface="Inter" pitchFamily="34" charset="-120"/>
              </a:rPr>
              <a:t> --no-interactive</a:t>
            </a:r>
            <a:pPr algn="l" indent="0" marL="0">
              <a:lnSpc>
                <a:spcPts val="1668"/>
              </a:lnSpc>
              <a:buNone/>
            </a:pPr>
            <a:r>
              <a:rPr lang="en-US" sz="1150" dirty="0">
                <a:solidFill>
                  <a:srgbClr val="6B6B6B"/>
                </a:solidFill>
                <a:latin typeface="Inter" pitchFamily="34" charset="0"/>
                <a:ea typeface="Inter" pitchFamily="34" charset="-122"/>
                <a:cs typeface="Inter" pitchFamily="34" charset="-120"/>
              </a:rPr>
              <a:t>,</a:t>
            </a:r>
            <a:pPr algn="l" indent="0" marL="0">
              <a:lnSpc>
                <a:spcPts val="1668"/>
              </a:lnSpc>
              <a:buNone/>
            </a:pPr>
            <a:r>
              <a:rPr lang="en-US" sz="1150" b="1" dirty="0">
                <a:solidFill>
                  <a:srgbClr val="111111"/>
                </a:solidFill>
                <a:latin typeface="Inter" pitchFamily="34" charset="0"/>
                <a:ea typeface="Inter" pitchFamily="34" charset="-122"/>
                <a:cs typeface="Inter" pitchFamily="34" charset="-120"/>
              </a:rPr>
              <a:t> đã chạy thử thực tế</a:t>
            </a:r>
            <a:endParaRPr lang="en-US" sz="1150" dirty="0"/>
          </a:p>
        </p:txBody>
      </p:sp>
      <p:sp>
        <p:nvSpPr>
          <p:cNvPr id="26" name="S_611"/>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27" name="S_612"/>
          <p:cNvSpPr txBox="1"/>
          <p:nvPr/>
        </p:nvSpPr>
        <p:spPr>
          <a:xfrm>
            <a:off x="11183661" y="6517660"/>
            <a:ext cx="474939"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16 / 25</a:t>
            </a:r>
            <a:endParaRPr lang="en-US" sz="900" dirty="0"/>
          </a:p>
        </p:txBody>
      </p:sp>
      <p:sp>
        <p:nvSpPr>
          <p:cNvPr id="28" name="S_613"/>
          <p:cNvSpPr/>
          <p:nvPr/>
        </p:nvSpPr>
        <p:spPr>
          <a:xfrm>
            <a:off x="0" y="6838980"/>
            <a:ext cx="780285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22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33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33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33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44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55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55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55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66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77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77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77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par>
                    <p:cTn id="69" fill="hold">
                      <p:stCondLst>
                        <p:cond delay="indefinite"/>
                      </p:stCondLst>
                      <p:childTnLst>
                        <p:par>
                          <p:cTn id="68"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11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11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11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22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22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22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DFAE7"/>
        </a:solidFill>
      </p:bgPr>
    </p:bg>
    <p:spTree>
      <p:nvGrpSpPr>
        <p:cNvPr id="1" name=""/>
        <p:cNvGrpSpPr/>
        <p:nvPr/>
      </p:nvGrpSpPr>
      <p:grpSpPr>
        <a:xfrm>
          <a:off x="0" y="0"/>
          <a:ext cx="0" cy="0"/>
          <a:chOff x="0" y="0"/>
          <a:chExt cx="0" cy="0"/>
        </a:xfrm>
      </p:grpSpPr>
      <p:sp>
        <p:nvSpPr>
          <p:cNvPr id="2" name="S_614"/>
          <p:cNvSpPr txBox="1"/>
          <p:nvPr/>
        </p:nvSpPr>
        <p:spPr>
          <a:xfrm>
            <a:off x="609630" y="466070"/>
            <a:ext cx="2957718"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04 · VÌ SAO KHÔNG TỰ VIẾT HARNESS</a:t>
            </a:r>
            <a:endParaRPr lang="en-US" sz="1100" dirty="0"/>
          </a:p>
        </p:txBody>
      </p:sp>
      <p:sp>
        <p:nvSpPr>
          <p:cNvPr id="3" name="S_615"/>
          <p:cNvSpPr/>
          <p:nvPr/>
        </p:nvSpPr>
        <p:spPr>
          <a:xfrm>
            <a:off x="9702973" y="412760"/>
            <a:ext cx="1879366" cy="292059"/>
          </a:xfrm>
          <a:prstGeom prst="roundRect">
            <a:avLst>
              <a:gd name="adj" fmla="val 50000"/>
            </a:avLst>
          </a:prstGeom>
          <a:solidFill>
            <a:srgbClr val="EBE9E9"/>
          </a:solidFill>
          <a:ln/>
        </p:spPr>
      </p:sp>
      <p:sp>
        <p:nvSpPr>
          <p:cNvPr id="4" name="S_616"/>
          <p:cNvSpPr txBox="1"/>
          <p:nvPr/>
        </p:nvSpPr>
        <p:spPr>
          <a:xfrm>
            <a:off x="9868113" y="476220"/>
            <a:ext cx="1673169"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Tốc độ · Phép thử mất giá</a:t>
            </a:r>
            <a:endParaRPr lang="en-US" sz="1000" dirty="0"/>
          </a:p>
        </p:txBody>
      </p:sp>
      <p:sp>
        <p:nvSpPr>
          <p:cNvPr id="5" name="A_0_0_fade_617"/>
          <p:cNvSpPr txBox="1"/>
          <p:nvPr/>
        </p:nvSpPr>
        <p:spPr>
          <a:xfrm>
            <a:off x="609630" y="806592"/>
            <a:ext cx="11170402" cy="824972"/>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Phép thử mất giá: phần harness tự viết mất trắng, phần tài sản</a:t>
            </a:r>
            <a:endParaRPr lang="en-US" sz="2800" dirty="0"/>
          </a:p>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thì không</a:t>
            </a:r>
            <a:endParaRPr lang="en-US" sz="2800" dirty="0"/>
          </a:p>
        </p:txBody>
      </p:sp>
      <p:sp>
        <p:nvSpPr>
          <p:cNvPr id="6" name="A_1_0_fade_618"/>
          <p:cNvSpPr/>
          <p:nvPr/>
        </p:nvSpPr>
        <p:spPr>
          <a:xfrm>
            <a:off x="612008" y="2419411"/>
            <a:ext cx="3479841" cy="3085277"/>
          </a:xfrm>
          <a:prstGeom prst="roundRect">
            <a:avLst>
              <a:gd name="adj" fmla="val 2881"/>
            </a:avLst>
          </a:prstGeom>
          <a:solidFill>
            <a:srgbClr val="F4F2E8"/>
          </a:solidFill>
          <a:ln w="9525">
            <a:solidFill>
              <a:srgbClr val="C9CAEB"/>
            </a:solidFill>
            <a:prstDash val="solid"/>
          </a:ln>
        </p:spPr>
      </p:sp>
      <p:sp>
        <p:nvSpPr>
          <p:cNvPr id="7" name="A_1_0_fade_619"/>
          <p:cNvSpPr txBox="1"/>
          <p:nvPr/>
        </p:nvSpPr>
        <p:spPr>
          <a:xfrm>
            <a:off x="844540" y="2633929"/>
            <a:ext cx="552938"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TỐC ĐỘ</a:t>
            </a:r>
            <a:endParaRPr lang="en-US" sz="950" dirty="0"/>
          </a:p>
        </p:txBody>
      </p:sp>
      <p:sp>
        <p:nvSpPr>
          <p:cNvPr id="8" name="A_1_0_fade_620"/>
          <p:cNvSpPr txBox="1"/>
          <p:nvPr/>
        </p:nvSpPr>
        <p:spPr>
          <a:xfrm>
            <a:off x="844540" y="2885023"/>
            <a:ext cx="2637038" cy="508041"/>
          </a:xfrm>
          <a:prstGeom prst="rect">
            <a:avLst/>
          </a:prstGeom>
          <a:noFill/>
          <a:ln/>
        </p:spPr>
        <p:txBody>
          <a:bodyPr wrap="square" lIns="0" tIns="0" rIns="0" bIns="0" rtlCol="0" anchor="t"/>
          <a:lstStyle/>
          <a:p>
            <a:pPr algn="l" indent="0" marL="0">
              <a:lnSpc>
                <a:spcPts val="2000"/>
              </a:lnSpc>
              <a:buNone/>
            </a:pPr>
            <a:r>
              <a:rPr lang="en-US" sz="1600" b="1" spc="-16" kern="0" dirty="0">
                <a:solidFill>
                  <a:srgbClr val="111111"/>
                </a:solidFill>
                <a:latin typeface="Space Grotesk" pitchFamily="34" charset="0"/>
                <a:ea typeface="Space Grotesk" pitchFamily="34" charset="-122"/>
                <a:cs typeface="Space Grotesk" pitchFamily="34" charset="-120"/>
              </a:rPr>
              <a:t>Vendor và open source ra</a:t>
            </a:r>
            <a:endParaRPr lang="en-US" sz="1600" dirty="0"/>
          </a:p>
          <a:p>
            <a:pPr algn="l" indent="0" marL="0">
              <a:lnSpc>
                <a:spcPts val="2000"/>
              </a:lnSpc>
              <a:buNone/>
            </a:pPr>
            <a:r>
              <a:rPr lang="en-US" sz="1600" b="1" spc="-16" kern="0" dirty="0">
                <a:solidFill>
                  <a:srgbClr val="111111"/>
                </a:solidFill>
                <a:latin typeface="Space Grotesk" pitchFamily="34" charset="0"/>
                <a:ea typeface="Space Grotesk" pitchFamily="34" charset="-122"/>
                <a:cs typeface="Space Grotesk" pitchFamily="34" charset="-120"/>
              </a:rPr>
              <a:t>feature theo tháng</a:t>
            </a:r>
            <a:endParaRPr lang="en-US" sz="1600" dirty="0"/>
          </a:p>
        </p:txBody>
      </p:sp>
      <p:sp>
        <p:nvSpPr>
          <p:cNvPr id="9" name="A_1_0_fade_621"/>
          <p:cNvSpPr txBox="1"/>
          <p:nvPr/>
        </p:nvSpPr>
        <p:spPr>
          <a:xfrm>
            <a:off x="844540" y="3476183"/>
            <a:ext cx="3219511" cy="441930"/>
          </a:xfrm>
          <a:prstGeom prst="rect">
            <a:avLst/>
          </a:prstGeom>
          <a:noFill/>
          <a:ln/>
        </p:spPr>
        <p:txBody>
          <a:bodyPr wrap="square" lIns="0" tIns="0" rIns="0" bIns="0" rtlCol="0" anchor="t"/>
          <a:lstStyle/>
          <a:p>
            <a:pPr algn="l" indent="0" marL="0">
              <a:lnSpc>
                <a:spcPts val="1740"/>
              </a:lnSpc>
              <a:buNone/>
            </a:pPr>
            <a:r>
              <a:rPr lang="en-US" sz="1200" dirty="0">
                <a:solidFill>
                  <a:srgbClr val="6B6B6B"/>
                </a:solidFill>
                <a:latin typeface="Inter" pitchFamily="34" charset="0"/>
                <a:ea typeface="Inter" pitchFamily="34" charset="-122"/>
                <a:cs typeface="Inter" pitchFamily="34" charset="-120"/>
              </a:rPr>
              <a:t>Harness tự viết phải đuổi theo mãi, và mỗi</a:t>
            </a:r>
            <a:endParaRPr lang="en-US" sz="1200" dirty="0"/>
          </a:p>
          <a:p>
            <a:pPr algn="l" indent="0" marL="0">
              <a:lnSpc>
                <a:spcPts val="1740"/>
              </a:lnSpc>
              <a:buNone/>
            </a:pPr>
            <a:r>
              <a:rPr lang="en-US" sz="1200" dirty="0">
                <a:solidFill>
                  <a:srgbClr val="6B6B6B"/>
                </a:solidFill>
                <a:latin typeface="Inter" pitchFamily="34" charset="0"/>
                <a:ea typeface="Inter" pitchFamily="34" charset="-122"/>
                <a:cs typeface="Inter" pitchFamily="34" charset="-120"/>
              </a:rPr>
              <a:t>lần đuổi là công sức không tạo ra khác biệt.</a:t>
            </a:r>
            <a:endParaRPr lang="en-US" sz="1200" dirty="0"/>
          </a:p>
        </p:txBody>
      </p:sp>
      <p:sp>
        <p:nvSpPr>
          <p:cNvPr id="10" name="A_2_0_fade_622"/>
          <p:cNvSpPr/>
          <p:nvPr/>
        </p:nvSpPr>
        <p:spPr>
          <a:xfrm>
            <a:off x="4325112" y="2419411"/>
            <a:ext cx="7254850" cy="3085277"/>
          </a:xfrm>
          <a:prstGeom prst="roundRect">
            <a:avLst>
              <a:gd name="adj" fmla="val 2881"/>
            </a:avLst>
          </a:prstGeom>
          <a:solidFill>
            <a:srgbClr val="F4F2E8"/>
          </a:solidFill>
          <a:ln w="9525">
            <a:solidFill>
              <a:srgbClr val="C9CAEB"/>
            </a:solidFill>
            <a:prstDash val="solid"/>
          </a:ln>
        </p:spPr>
      </p:sp>
      <p:sp>
        <p:nvSpPr>
          <p:cNvPr id="11" name="A_2_0_fade_623"/>
          <p:cNvSpPr txBox="1"/>
          <p:nvPr/>
        </p:nvSpPr>
        <p:spPr>
          <a:xfrm>
            <a:off x="4583156" y="2633929"/>
            <a:ext cx="1773113"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VỚI TỪNG HẠNG MỤC, HỎI</a:t>
            </a:r>
            <a:endParaRPr lang="en-US" sz="950" dirty="0"/>
          </a:p>
        </p:txBody>
      </p:sp>
      <p:sp>
        <p:nvSpPr>
          <p:cNvPr id="12" name="A_2_0_fade_624"/>
          <p:cNvSpPr txBox="1"/>
          <p:nvPr/>
        </p:nvSpPr>
        <p:spPr>
          <a:xfrm>
            <a:off x="4583156" y="2883195"/>
            <a:ext cx="6894393" cy="565739"/>
          </a:xfrm>
          <a:prstGeom prst="rect">
            <a:avLst/>
          </a:prstGeom>
          <a:noFill/>
          <a:ln/>
        </p:spPr>
        <p:txBody>
          <a:bodyPr wrap="square" lIns="0" tIns="0" rIns="0" bIns="0" rtlCol="0" anchor="t"/>
          <a:lstStyle/>
          <a:p>
            <a:pPr algn="l" indent="0" marL="0">
              <a:lnSpc>
                <a:spcPts val="2227"/>
              </a:lnSpc>
              <a:buNone/>
            </a:pPr>
            <a:r>
              <a:rPr lang="en-US" sz="1650" spc="-17" kern="0" dirty="0">
                <a:solidFill>
                  <a:srgbClr val="111111"/>
                </a:solidFill>
                <a:latin typeface="Space Grotesk" pitchFamily="34" charset="0"/>
                <a:ea typeface="Space Grotesk" pitchFamily="34" charset="-122"/>
                <a:cs typeface="Space Grotesk" pitchFamily="34" charset="-120"/>
              </a:rPr>
              <a:t>“Nếu quý sau vendor ra đúng thứ này, khoản đầu tư của mình có</a:t>
            </a:r>
            <a:endParaRPr lang="en-US" sz="1650" dirty="0"/>
          </a:p>
          <a:p>
            <a:pPr algn="l" indent="0" marL="0">
              <a:lnSpc>
                <a:spcPts val="2227"/>
              </a:lnSpc>
              <a:buNone/>
            </a:pPr>
            <a:r>
              <a:rPr lang="en-US" sz="1650" spc="-17" kern="0" dirty="0">
                <a:solidFill>
                  <a:srgbClr val="111111"/>
                </a:solidFill>
                <a:latin typeface="Space Grotesk" pitchFamily="34" charset="0"/>
                <a:ea typeface="Space Grotesk" pitchFamily="34" charset="-122"/>
                <a:cs typeface="Space Grotesk" pitchFamily="34" charset="-120"/>
              </a:rPr>
              <a:t>mất trắng không?”</a:t>
            </a:r>
            <a:endParaRPr lang="en-US" sz="1650" dirty="0"/>
          </a:p>
        </p:txBody>
      </p:sp>
      <p:sp>
        <p:nvSpPr>
          <p:cNvPr id="13" name="A_3_0_wipe_625"/>
          <p:cNvSpPr/>
          <p:nvPr/>
        </p:nvSpPr>
        <p:spPr>
          <a:xfrm>
            <a:off x="4583156" y="3615812"/>
            <a:ext cx="6738945" cy="9510"/>
          </a:xfrm>
          <a:prstGeom prst="rect">
            <a:avLst/>
          </a:prstGeom>
          <a:solidFill>
            <a:srgbClr val="C9CAEB"/>
          </a:solidFill>
          <a:ln/>
        </p:spPr>
      </p:sp>
      <p:sp>
        <p:nvSpPr>
          <p:cNvPr id="14" name="A_4_1_fade_626"/>
          <p:cNvSpPr txBox="1"/>
          <p:nvPr/>
        </p:nvSpPr>
        <p:spPr>
          <a:xfrm>
            <a:off x="4583156" y="3787262"/>
            <a:ext cx="644103" cy="228600"/>
          </a:xfrm>
          <a:prstGeom prst="rect">
            <a:avLst/>
          </a:prstGeom>
          <a:noFill/>
          <a:ln/>
        </p:spPr>
        <p:txBody>
          <a:bodyPr wrap="square" lIns="0" tIns="0" rIns="0" bIns="0" rtlCol="0" anchor="t"/>
          <a:lstStyle/>
          <a:p>
            <a:pPr algn="l" indent="0" marL="0">
              <a:lnSpc>
                <a:spcPts val="1800"/>
              </a:lnSpc>
              <a:buNone/>
            </a:pPr>
            <a:r>
              <a:rPr lang="en-US" sz="1500" b="1" dirty="0">
                <a:solidFill>
                  <a:srgbClr val="DC2626"/>
                </a:solidFill>
                <a:latin typeface="Space Grotesk" pitchFamily="34" charset="0"/>
                <a:ea typeface="Space Grotesk" pitchFamily="34" charset="-122"/>
                <a:cs typeface="Space Grotesk" pitchFamily="34" charset="-120"/>
              </a:rPr>
              <a:t>✗ Mất</a:t>
            </a:r>
            <a:endParaRPr lang="en-US" sz="1500" dirty="0"/>
          </a:p>
        </p:txBody>
      </p:sp>
      <p:sp>
        <p:nvSpPr>
          <p:cNvPr id="15" name="K_5_1_627"/>
          <p:cNvSpPr/>
          <p:nvPr/>
        </p:nvSpPr>
        <p:spPr>
          <a:xfrm>
            <a:off x="4583156" y="4228643"/>
            <a:ext cx="800100" cy="19020"/>
          </a:xfrm>
          <a:prstGeom prst="rect">
            <a:avLst/>
          </a:prstGeom>
          <a:solidFill>
            <a:srgbClr val="DC2626"/>
          </a:solidFill>
          <a:ln/>
        </p:spPr>
      </p:sp>
      <p:sp>
        <p:nvSpPr>
          <p:cNvPr id="16" name="A_5_1_fade_628"/>
          <p:cNvSpPr txBox="1"/>
          <p:nvPr/>
        </p:nvSpPr>
        <p:spPr>
          <a:xfrm>
            <a:off x="4583156" y="4114343"/>
            <a:ext cx="877824" cy="247620"/>
          </a:xfrm>
          <a:prstGeom prst="rect">
            <a:avLst/>
          </a:prstGeom>
          <a:noFill/>
          <a:ln/>
        </p:spPr>
        <p:txBody>
          <a:bodyPr wrap="square" lIns="0" tIns="0" rIns="0" bIns="0" rtlCol="0" anchor="t"/>
          <a:lstStyle/>
          <a:p>
            <a:pPr algn="l" indent="0" marL="0">
              <a:lnSpc>
                <a:spcPts val="1950"/>
              </a:lnSpc>
              <a:buNone/>
            </a:pPr>
            <a:r>
              <a:rPr lang="en-US" sz="1300" dirty="0">
                <a:solidFill>
                  <a:srgbClr val="9A9A9A"/>
                </a:solidFill>
                <a:latin typeface="Inter" pitchFamily="34" charset="0"/>
                <a:ea typeface="Inter" pitchFamily="34" charset="-122"/>
                <a:cs typeface="Inter" pitchFamily="34" charset="-120"/>
              </a:rPr>
              <a:t>Agent loop</a:t>
            </a:r>
            <a:endParaRPr lang="en-US" sz="1300" dirty="0"/>
          </a:p>
        </p:txBody>
      </p:sp>
      <p:sp>
        <p:nvSpPr>
          <p:cNvPr id="17" name="K_6_1_629"/>
          <p:cNvSpPr/>
          <p:nvPr/>
        </p:nvSpPr>
        <p:spPr>
          <a:xfrm>
            <a:off x="4583156" y="4539722"/>
            <a:ext cx="1003280" cy="19020"/>
          </a:xfrm>
          <a:prstGeom prst="rect">
            <a:avLst/>
          </a:prstGeom>
          <a:solidFill>
            <a:srgbClr val="DC2626"/>
          </a:solidFill>
          <a:ln/>
        </p:spPr>
      </p:sp>
      <p:sp>
        <p:nvSpPr>
          <p:cNvPr id="18" name="A_6_1_fade_630"/>
          <p:cNvSpPr txBox="1"/>
          <p:nvPr/>
        </p:nvSpPr>
        <p:spPr>
          <a:xfrm>
            <a:off x="4583156" y="4425422"/>
            <a:ext cx="1083107" cy="247620"/>
          </a:xfrm>
          <a:prstGeom prst="rect">
            <a:avLst/>
          </a:prstGeom>
          <a:noFill/>
          <a:ln/>
        </p:spPr>
        <p:txBody>
          <a:bodyPr wrap="square" lIns="0" tIns="0" rIns="0" bIns="0" rtlCol="0" anchor="t"/>
          <a:lstStyle/>
          <a:p>
            <a:pPr algn="l" indent="0" marL="0">
              <a:lnSpc>
                <a:spcPts val="1950"/>
              </a:lnSpc>
              <a:buNone/>
            </a:pPr>
            <a:r>
              <a:rPr lang="en-US" sz="1300" dirty="0">
                <a:solidFill>
                  <a:srgbClr val="9A9A9A"/>
                </a:solidFill>
                <a:latin typeface="Inter" pitchFamily="34" charset="0"/>
                <a:ea typeface="Inter" pitchFamily="34" charset="-122"/>
                <a:cs typeface="Inter" pitchFamily="34" charset="-120"/>
              </a:rPr>
              <a:t>Orchestration</a:t>
            </a:r>
            <a:endParaRPr lang="en-US" sz="1300" dirty="0"/>
          </a:p>
        </p:txBody>
      </p:sp>
      <p:sp>
        <p:nvSpPr>
          <p:cNvPr id="19" name="K_7_1_631"/>
          <p:cNvSpPr/>
          <p:nvPr/>
        </p:nvSpPr>
        <p:spPr>
          <a:xfrm>
            <a:off x="4583156" y="4850892"/>
            <a:ext cx="552480" cy="19020"/>
          </a:xfrm>
          <a:prstGeom prst="rect">
            <a:avLst/>
          </a:prstGeom>
          <a:solidFill>
            <a:srgbClr val="DC2626"/>
          </a:solidFill>
          <a:ln/>
        </p:spPr>
      </p:sp>
      <p:sp>
        <p:nvSpPr>
          <p:cNvPr id="20" name="A_7_1_fade_632"/>
          <p:cNvSpPr txBox="1"/>
          <p:nvPr/>
        </p:nvSpPr>
        <p:spPr>
          <a:xfrm>
            <a:off x="4583156" y="4736592"/>
            <a:ext cx="630479" cy="247620"/>
          </a:xfrm>
          <a:prstGeom prst="rect">
            <a:avLst/>
          </a:prstGeom>
          <a:noFill/>
          <a:ln/>
        </p:spPr>
        <p:txBody>
          <a:bodyPr wrap="square" lIns="0" tIns="0" rIns="0" bIns="0" rtlCol="0" anchor="t"/>
          <a:lstStyle/>
          <a:p>
            <a:pPr algn="l" indent="0" marL="0">
              <a:lnSpc>
                <a:spcPts val="1950"/>
              </a:lnSpc>
              <a:buNone/>
            </a:pPr>
            <a:r>
              <a:rPr lang="en-US" sz="1300" dirty="0">
                <a:solidFill>
                  <a:srgbClr val="9A9A9A"/>
                </a:solidFill>
                <a:latin typeface="Inter" pitchFamily="34" charset="0"/>
                <a:ea typeface="Inter" pitchFamily="34" charset="-122"/>
                <a:cs typeface="Inter" pitchFamily="34" charset="-120"/>
              </a:rPr>
              <a:t>Chat UI</a:t>
            </a:r>
            <a:endParaRPr lang="en-US" sz="1300" dirty="0"/>
          </a:p>
        </p:txBody>
      </p:sp>
      <p:sp>
        <p:nvSpPr>
          <p:cNvPr id="21" name="A_8_2_fade_633"/>
          <p:cNvSpPr txBox="1"/>
          <p:nvPr/>
        </p:nvSpPr>
        <p:spPr>
          <a:xfrm>
            <a:off x="7567392" y="3787262"/>
            <a:ext cx="1315273" cy="228600"/>
          </a:xfrm>
          <a:prstGeom prst="rect">
            <a:avLst/>
          </a:prstGeom>
          <a:noFill/>
          <a:ln/>
        </p:spPr>
        <p:txBody>
          <a:bodyPr wrap="square" lIns="0" tIns="0" rIns="0" bIns="0" rtlCol="0" anchor="t"/>
          <a:lstStyle/>
          <a:p>
            <a:pPr algn="l" indent="0" marL="0">
              <a:lnSpc>
                <a:spcPts val="1800"/>
              </a:lnSpc>
              <a:buNone/>
            </a:pPr>
            <a:r>
              <a:rPr lang="en-US" sz="1500" b="1" dirty="0">
                <a:solidFill>
                  <a:srgbClr val="059669"/>
                </a:solidFill>
                <a:latin typeface="Space Grotesk" pitchFamily="34" charset="0"/>
                <a:ea typeface="Space Grotesk" pitchFamily="34" charset="-122"/>
                <a:cs typeface="Space Grotesk" pitchFamily="34" charset="-120"/>
              </a:rPr>
              <a:t>✓ Không mất</a:t>
            </a:r>
            <a:endParaRPr lang="en-US" sz="1500" dirty="0"/>
          </a:p>
        </p:txBody>
      </p:sp>
      <p:sp>
        <p:nvSpPr>
          <p:cNvPr id="22" name="A_9_2_fade_634"/>
          <p:cNvSpPr txBox="1"/>
          <p:nvPr/>
        </p:nvSpPr>
        <p:spPr>
          <a:xfrm>
            <a:off x="7567392" y="4114343"/>
            <a:ext cx="966429" cy="247620"/>
          </a:xfrm>
          <a:prstGeom prst="rect">
            <a:avLst/>
          </a:prstGeom>
          <a:noFill/>
          <a:ln/>
        </p:spPr>
        <p:txBody>
          <a:bodyPr wrap="square" lIns="0" tIns="0" rIns="0" bIns="0" rtlCol="0" anchor="t"/>
          <a:lstStyle/>
          <a:p>
            <a:pPr algn="l" indent="0" marL="0">
              <a:lnSpc>
                <a:spcPts val="1950"/>
              </a:lnSpc>
              <a:buNone/>
            </a:pPr>
            <a:r>
              <a:rPr lang="en-US" sz="1300" dirty="0">
                <a:solidFill>
                  <a:srgbClr val="111111"/>
                </a:solidFill>
                <a:latin typeface="Inter" pitchFamily="34" charset="0"/>
                <a:ea typeface="Inter" pitchFamily="34" charset="-122"/>
                <a:cs typeface="Inter" pitchFamily="34" charset="-120"/>
              </a:rPr>
              <a:t>Data source</a:t>
            </a:r>
            <a:endParaRPr lang="en-US" sz="1300" dirty="0"/>
          </a:p>
        </p:txBody>
      </p:sp>
      <p:sp>
        <p:nvSpPr>
          <p:cNvPr id="23" name="A_10_2_fade_635"/>
          <p:cNvSpPr txBox="1"/>
          <p:nvPr/>
        </p:nvSpPr>
        <p:spPr>
          <a:xfrm>
            <a:off x="7567392" y="4425422"/>
            <a:ext cx="1811518" cy="247620"/>
          </a:xfrm>
          <a:prstGeom prst="rect">
            <a:avLst/>
          </a:prstGeom>
          <a:noFill/>
          <a:ln/>
        </p:spPr>
        <p:txBody>
          <a:bodyPr wrap="square" lIns="0" tIns="0" rIns="0" bIns="0" rtlCol="0" anchor="t"/>
          <a:lstStyle/>
          <a:p>
            <a:pPr algn="l" indent="0" marL="0">
              <a:lnSpc>
                <a:spcPts val="1950"/>
              </a:lnSpc>
              <a:buNone/>
            </a:pPr>
            <a:r>
              <a:rPr lang="en-US" sz="1300" dirty="0">
                <a:solidFill>
                  <a:srgbClr val="111111"/>
                </a:solidFill>
                <a:latin typeface="Inter" pitchFamily="34" charset="0"/>
                <a:ea typeface="Inter" pitchFamily="34" charset="-122"/>
                <a:cs typeface="Inter" pitchFamily="34" charset="-120"/>
              </a:rPr>
              <a:t>Kit theo quy trình riêng</a:t>
            </a:r>
            <a:endParaRPr lang="en-US" sz="1300" dirty="0"/>
          </a:p>
        </p:txBody>
      </p:sp>
      <p:sp>
        <p:nvSpPr>
          <p:cNvPr id="24" name="A_11_2_fade_636"/>
          <p:cNvSpPr txBox="1"/>
          <p:nvPr/>
        </p:nvSpPr>
        <p:spPr>
          <a:xfrm>
            <a:off x="7567392" y="4736592"/>
            <a:ext cx="2371771" cy="247620"/>
          </a:xfrm>
          <a:prstGeom prst="rect">
            <a:avLst/>
          </a:prstGeom>
          <a:noFill/>
          <a:ln/>
        </p:spPr>
        <p:txBody>
          <a:bodyPr wrap="square" lIns="0" tIns="0" rIns="0" bIns="0" rtlCol="0" anchor="t"/>
          <a:lstStyle/>
          <a:p>
            <a:pPr algn="l" indent="0" marL="0">
              <a:lnSpc>
                <a:spcPts val="1950"/>
              </a:lnSpc>
              <a:buNone/>
            </a:pPr>
            <a:r>
              <a:rPr lang="en-US" sz="1300" dirty="0">
                <a:solidFill>
                  <a:srgbClr val="111111"/>
                </a:solidFill>
                <a:latin typeface="Inter" pitchFamily="34" charset="0"/>
                <a:ea typeface="Inter" pitchFamily="34" charset="-122"/>
                <a:cs typeface="Inter" pitchFamily="34" charset="-120"/>
              </a:rPr>
              <a:t>Connector tới hệ thống nội bộ</a:t>
            </a:r>
            <a:endParaRPr lang="en-US" sz="1300" dirty="0"/>
          </a:p>
        </p:txBody>
      </p:sp>
      <p:sp>
        <p:nvSpPr>
          <p:cNvPr id="25" name="A_12_2_fade_637"/>
          <p:cNvSpPr txBox="1"/>
          <p:nvPr/>
        </p:nvSpPr>
        <p:spPr>
          <a:xfrm>
            <a:off x="7567392" y="5068885"/>
            <a:ext cx="1576608" cy="21177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vì bên ngoài không có</a:t>
            </a:r>
            <a:endParaRPr lang="en-US" sz="1150" dirty="0"/>
          </a:p>
        </p:txBody>
      </p:sp>
      <p:sp>
        <p:nvSpPr>
          <p:cNvPr id="26" name="S_638"/>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27" name="S_639"/>
          <p:cNvSpPr txBox="1"/>
          <p:nvPr/>
        </p:nvSpPr>
        <p:spPr>
          <a:xfrm>
            <a:off x="11190061" y="6517660"/>
            <a:ext cx="468539"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17 / 25</a:t>
            </a:r>
            <a:endParaRPr lang="en-US" sz="900" dirty="0"/>
          </a:p>
        </p:txBody>
      </p:sp>
      <p:sp>
        <p:nvSpPr>
          <p:cNvPr id="28" name="S_640"/>
          <p:cNvSpPr/>
          <p:nvPr/>
        </p:nvSpPr>
        <p:spPr>
          <a:xfrm>
            <a:off x="0" y="6838980"/>
            <a:ext cx="829059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0"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11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22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22" presetClass="entr" presetSubtype="8" fill="hold" grpId="0" nodeType="withEffect">
                                  <p:stCondLst>
                                    <p:cond delay="330"/>
                                  </p:stCondLst>
                                  <p:childTnLst>
                                    <p:set>
                                      <p:cBhvr>
                                        <p:cTn id="28" dur="1" fill="hold">
                                          <p:stCondLst>
                                            <p:cond delay="0"/>
                                          </p:stCondLst>
                                        </p:cTn>
                                        <p:tgtEl>
                                          <p:spTgt spid="13"/>
                                        </p:tgtEl>
                                        <p:attrNameLst>
                                          <p:attrName>style.visibility</p:attrName>
                                        </p:attrNameLst>
                                      </p:cBhvr>
                                      <p:to>
                                        <p:strVal val="visible"/>
                                      </p:to>
                                    </p:set>
                                    <p:animEffect transition="in" filter="wipe(left)">
                                      <p:cBhvr>
                                        <p:cTn id="29" dur="700"/>
                                        <p:tgtEl>
                                          <p:spTgt spid="13"/>
                                        </p:tgtEl>
                                      </p:cBhvr>
                                    </p:animEffect>
                                  </p:childTnLst>
                                </p:cTn>
                              </p:par>
                            </p:childTnLst>
                          </p:cTn>
                        </p:par>
                      </p:childTnLst>
                    </p:cTn>
                  </p:par>
                  <p:par>
                    <p:cTn id="55" fill="hold">
                      <p:stCondLst>
                        <p:cond delay="indefinite"/>
                      </p:stCondLst>
                      <p:childTnLst>
                        <p:par>
                          <p:cTn id="44"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par>
                                <p:cTn id="35" presetID="10" presetClass="entr" presetSubtype="0" fill="hold" grpId="0" nodeType="withEffect">
                                  <p:stCondLst>
                                    <p:cond delay="11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22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33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500"/>
                                        <p:tgtEl>
                                          <p:spTgt spid="20"/>
                                        </p:tgtEl>
                                      </p:cBhvr>
                                    </p:animEffect>
                                  </p:childTnLst>
                                </p:cTn>
                              </p:par>
                            </p:childTnLst>
                          </p:cTn>
                        </p:par>
                        <p:par>
                          <p:cTn id="54" fill="hold">
                            <p:stCondLst>
                              <p:cond delay="830"/>
                            </p:stCondLst>
                            <p:childTnLst>
                              <p:par>
                                <p:cTn id="45" presetID="22" presetClass="entr" presetSubtype="8" fill="hold" grpId="0"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left)">
                                      <p:cBhvr>
                                        <p:cTn id="47" dur="700"/>
                                        <p:tgtEl>
                                          <p:spTgt spid="15"/>
                                        </p:tgtEl>
                                      </p:cBhvr>
                                    </p:animEffect>
                                  </p:childTnLst>
                                </p:cTn>
                              </p:par>
                              <p:par>
                                <p:cTn id="48" presetID="22" presetClass="entr" presetSubtype="8" fill="hold" grpId="0" nodeType="withEffect">
                                  <p:stCondLst>
                                    <p:cond delay="150"/>
                                  </p:stCondLst>
                                  <p:childTnLst>
                                    <p:set>
                                      <p:cBhvr>
                                        <p:cTn id="49" dur="1" fill="hold">
                                          <p:stCondLst>
                                            <p:cond delay="0"/>
                                          </p:stCondLst>
                                        </p:cTn>
                                        <p:tgtEl>
                                          <p:spTgt spid="17"/>
                                        </p:tgtEl>
                                        <p:attrNameLst>
                                          <p:attrName>style.visibility</p:attrName>
                                        </p:attrNameLst>
                                      </p:cBhvr>
                                      <p:to>
                                        <p:strVal val="visible"/>
                                      </p:to>
                                    </p:set>
                                    <p:animEffect transition="in" filter="wipe(left)">
                                      <p:cBhvr>
                                        <p:cTn id="50" dur="700"/>
                                        <p:tgtEl>
                                          <p:spTgt spid="17"/>
                                        </p:tgtEl>
                                      </p:cBhvr>
                                    </p:animEffect>
                                  </p:childTnLst>
                                </p:cTn>
                              </p:par>
                              <p:par>
                                <p:cTn id="51" presetID="22" presetClass="entr" presetSubtype="8" fill="hold" grpId="0" nodeType="withEffect">
                                  <p:stCondLst>
                                    <p:cond delay="300"/>
                                  </p:stCondLst>
                                  <p:childTnLst>
                                    <p:set>
                                      <p:cBhvr>
                                        <p:cTn id="52" dur="1" fill="hold">
                                          <p:stCondLst>
                                            <p:cond delay="0"/>
                                          </p:stCondLst>
                                        </p:cTn>
                                        <p:tgtEl>
                                          <p:spTgt spid="19"/>
                                        </p:tgtEl>
                                        <p:attrNameLst>
                                          <p:attrName>style.visibility</p:attrName>
                                        </p:attrNameLst>
                                      </p:cBhvr>
                                      <p:to>
                                        <p:strVal val="visible"/>
                                      </p:to>
                                    </p:set>
                                    <p:animEffect transition="in" filter="wipe(left)">
                                      <p:cBhvr>
                                        <p:cTn id="53" dur="700"/>
                                        <p:tgtEl>
                                          <p:spTgt spid="19"/>
                                        </p:tgtEl>
                                      </p:cBhvr>
                                    </p:animEffect>
                                  </p:childTnLst>
                                </p:cTn>
                              </p:par>
                            </p:childTnLst>
                          </p:cTn>
                        </p:par>
                      </p:childTnLst>
                    </p:cTn>
                  </p:par>
                  <p:par>
                    <p:cTn id="72" fill="hold">
                      <p:stCondLst>
                        <p:cond delay="indefinite"/>
                      </p:stCondLst>
                      <p:childTnLst>
                        <p:par>
                          <p:cTn id="71"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11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grpId="0" nodeType="withEffect">
                                  <p:stCondLst>
                                    <p:cond delay="22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33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grpId="0" nodeType="withEffect">
                                  <p:stCondLst>
                                    <p:cond delay="44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6" grpId="0" animBg="1"/>
      <p:bldP spid="18" grpId="0" animBg="1"/>
      <p:bldP spid="20" grpId="0" animBg="1"/>
      <p:bldP spid="15" grpId="0" animBg="1"/>
      <p:bldP spid="17" grpId="0" animBg="1"/>
      <p:bldP spid="19" grpId="0" animBg="1"/>
      <p:bldP spid="21" grpId="0" animBg="1"/>
      <p:bldP spid="22" grpId="0" animBg="1"/>
      <p:bldP spid="23" grpId="0" animBg="1"/>
      <p:bldP spid="24" grpId="0" animBg="1"/>
      <p:bldP spid="2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DFAE7"/>
        </a:solidFill>
      </p:bgPr>
    </p:bg>
    <p:spTree>
      <p:nvGrpSpPr>
        <p:cNvPr id="1" name=""/>
        <p:cNvGrpSpPr/>
        <p:nvPr/>
      </p:nvGrpSpPr>
      <p:grpSpPr>
        <a:xfrm>
          <a:off x="0" y="0"/>
          <a:ext cx="0" cy="0"/>
          <a:chOff x="0" y="0"/>
          <a:chExt cx="0" cy="0"/>
        </a:xfrm>
      </p:grpSpPr>
      <p:sp>
        <p:nvSpPr>
          <p:cNvPr id="2" name="S_641"/>
          <p:cNvSpPr txBox="1"/>
          <p:nvPr/>
        </p:nvSpPr>
        <p:spPr>
          <a:xfrm>
            <a:off x="609630" y="466070"/>
            <a:ext cx="2957718"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04 · VÌ SAO KHÔNG TỰ VIẾT HARNESS</a:t>
            </a:r>
            <a:endParaRPr lang="en-US" sz="1100" dirty="0"/>
          </a:p>
        </p:txBody>
      </p:sp>
      <p:sp>
        <p:nvSpPr>
          <p:cNvPr id="3" name="S_642"/>
          <p:cNvSpPr/>
          <p:nvPr/>
        </p:nvSpPr>
        <p:spPr>
          <a:xfrm>
            <a:off x="10571470" y="412760"/>
            <a:ext cx="1010961" cy="292059"/>
          </a:xfrm>
          <a:prstGeom prst="roundRect">
            <a:avLst>
              <a:gd name="adj" fmla="val 50000"/>
            </a:avLst>
          </a:prstGeom>
          <a:solidFill>
            <a:srgbClr val="EBE9E9"/>
          </a:solidFill>
          <a:ln/>
        </p:spPr>
      </p:sp>
      <p:sp>
        <p:nvSpPr>
          <p:cNvPr id="4" name="S_643"/>
          <p:cNvSpPr txBox="1"/>
          <p:nvPr/>
        </p:nvSpPr>
        <p:spPr>
          <a:xfrm>
            <a:off x="10736519" y="476220"/>
            <a:ext cx="756940"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4 lý do nữa</a:t>
            </a:r>
            <a:endParaRPr lang="en-US" sz="1000" dirty="0"/>
          </a:p>
        </p:txBody>
      </p:sp>
      <p:sp>
        <p:nvSpPr>
          <p:cNvPr id="5" name="A_0_0_fade_644"/>
          <p:cNvSpPr txBox="1"/>
          <p:nvPr/>
        </p:nvSpPr>
        <p:spPr>
          <a:xfrm>
            <a:off x="609630" y="806592"/>
            <a:ext cx="10486248" cy="824972"/>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Automation level là tính chất của workflow, không phải của</a:t>
            </a:r>
            <a:endParaRPr lang="en-US" sz="2800" dirty="0"/>
          </a:p>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tool</a:t>
            </a:r>
            <a:endParaRPr lang="en-US" sz="2800" dirty="0"/>
          </a:p>
        </p:txBody>
      </p:sp>
      <p:sp>
        <p:nvSpPr>
          <p:cNvPr id="6" name="A_1_0_fade_645"/>
          <p:cNvSpPr/>
          <p:nvPr/>
        </p:nvSpPr>
        <p:spPr>
          <a:xfrm>
            <a:off x="612008" y="2484699"/>
            <a:ext cx="10968045" cy="1306678"/>
          </a:xfrm>
          <a:prstGeom prst="roundRect">
            <a:avLst>
              <a:gd name="adj" fmla="val 6802"/>
            </a:avLst>
          </a:prstGeom>
          <a:solidFill>
            <a:srgbClr val="F4F2E8"/>
          </a:solidFill>
          <a:ln w="9525">
            <a:solidFill>
              <a:srgbClr val="C9CAEB"/>
            </a:solidFill>
            <a:prstDash val="solid"/>
          </a:ln>
        </p:spPr>
      </p:sp>
      <p:sp>
        <p:nvSpPr>
          <p:cNvPr id="7" name="A_1_0_fade_646"/>
          <p:cNvSpPr txBox="1"/>
          <p:nvPr/>
        </p:nvSpPr>
        <p:spPr>
          <a:xfrm>
            <a:off x="831830" y="2705252"/>
            <a:ext cx="1054303"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MỨC CỘNG TÁC</a:t>
            </a:r>
            <a:endParaRPr lang="en-US" sz="950" dirty="0"/>
          </a:p>
        </p:txBody>
      </p:sp>
      <p:sp>
        <p:nvSpPr>
          <p:cNvPr id="8" name="A_1_0_fade_647"/>
          <p:cNvSpPr/>
          <p:nvPr/>
        </p:nvSpPr>
        <p:spPr>
          <a:xfrm>
            <a:off x="2990820" y="2653772"/>
            <a:ext cx="577626" cy="270480"/>
          </a:xfrm>
          <a:prstGeom prst="roundRect">
            <a:avLst>
              <a:gd name="adj" fmla="val 50000"/>
            </a:avLst>
          </a:prstGeom>
          <a:solidFill>
            <a:srgbClr val="E3E2E9"/>
          </a:solidFill>
          <a:ln/>
        </p:spPr>
      </p:sp>
      <p:sp>
        <p:nvSpPr>
          <p:cNvPr id="9" name="A_1_0_fade_648"/>
          <p:cNvSpPr txBox="1"/>
          <p:nvPr/>
        </p:nvSpPr>
        <p:spPr>
          <a:xfrm>
            <a:off x="3105120" y="2696383"/>
            <a:ext cx="425287"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bước</a:t>
            </a:r>
            <a:endParaRPr lang="en-US" sz="1100" dirty="0"/>
          </a:p>
        </p:txBody>
      </p:sp>
      <p:sp>
        <p:nvSpPr>
          <p:cNvPr id="10" name="A_1_0_fade_649"/>
          <p:cNvSpPr txBox="1"/>
          <p:nvPr/>
        </p:nvSpPr>
        <p:spPr>
          <a:xfrm>
            <a:off x="3631997" y="2689342"/>
            <a:ext cx="230703" cy="198150"/>
          </a:xfrm>
          <a:prstGeom prst="rect">
            <a:avLst/>
          </a:prstGeom>
          <a:noFill/>
          <a:ln/>
        </p:spPr>
        <p:txBody>
          <a:bodyPr wrap="square" lIns="0" tIns="0" rIns="0" bIns="0" rtlCol="0" anchor="t"/>
          <a:lstStyle/>
          <a:p>
            <a:pPr algn="l" indent="0" marL="0">
              <a:lnSpc>
                <a:spcPts val="1560"/>
              </a:lnSpc>
              <a:buNone/>
            </a:pPr>
            <a:r>
              <a:rPr lang="en-US" sz="1300" dirty="0">
                <a:solidFill>
                  <a:srgbClr val="1E2BFA"/>
                </a:solidFill>
                <a:latin typeface="Inter" pitchFamily="34" charset="0"/>
                <a:ea typeface="Inter" pitchFamily="34" charset="-122"/>
                <a:cs typeface="Inter" pitchFamily="34" charset="-120"/>
              </a:rPr>
              <a:t>→</a:t>
            </a:r>
            <a:endParaRPr lang="en-US" sz="1300" dirty="0"/>
          </a:p>
        </p:txBody>
      </p:sp>
      <p:sp>
        <p:nvSpPr>
          <p:cNvPr id="11" name="A_1_0_fade_650"/>
          <p:cNvSpPr/>
          <p:nvPr/>
        </p:nvSpPr>
        <p:spPr>
          <a:xfrm>
            <a:off x="3852367" y="2659350"/>
            <a:ext cx="850301" cy="259324"/>
          </a:xfrm>
          <a:prstGeom prst="roundRect">
            <a:avLst>
              <a:gd name="adj" fmla="val 50917"/>
            </a:avLst>
          </a:prstGeom>
          <a:ln w="9525">
            <a:solidFill>
              <a:srgbClr val="C9CAEB"/>
            </a:solidFill>
            <a:prstDash val="solid"/>
          </a:ln>
        </p:spPr>
      </p:sp>
      <p:sp>
        <p:nvSpPr>
          <p:cNvPr id="12" name="A_1_0_fade_651"/>
          <p:cNvSpPr txBox="1"/>
          <p:nvPr/>
        </p:nvSpPr>
        <p:spPr>
          <a:xfrm>
            <a:off x="3961089" y="2696383"/>
            <a:ext cx="709026" cy="181600"/>
          </a:xfrm>
          <a:prstGeom prst="rect">
            <a:avLst/>
          </a:prstGeom>
          <a:noFill/>
          <a:ln/>
        </p:spPr>
        <p:txBody>
          <a:bodyPr wrap="square" lIns="0" tIns="0" rIns="0" bIns="0" rtlCol="0" anchor="t"/>
          <a:lstStyle/>
          <a:p>
            <a:pPr algn="l" indent="0" marL="0">
              <a:lnSpc>
                <a:spcPts val="1430"/>
              </a:lnSpc>
              <a:buNone/>
            </a:pPr>
            <a:r>
              <a:rPr lang="en-US" sz="1100" dirty="0">
                <a:solidFill>
                  <a:srgbClr val="6B6B6B"/>
                </a:solidFill>
                <a:latin typeface="Space Grotesk" pitchFamily="34" charset="0"/>
                <a:ea typeface="Space Grotesk" pitchFamily="34" charset="-122"/>
                <a:cs typeface="Space Grotesk" pitchFamily="34" charset="-120"/>
              </a:rPr>
              <a:t>hỏi người</a:t>
            </a:r>
            <a:endParaRPr lang="en-US" sz="1100" dirty="0"/>
          </a:p>
        </p:txBody>
      </p:sp>
      <p:sp>
        <p:nvSpPr>
          <p:cNvPr id="13" name="A_1_0_fade_652"/>
          <p:cNvSpPr txBox="1"/>
          <p:nvPr/>
        </p:nvSpPr>
        <p:spPr>
          <a:xfrm>
            <a:off x="4768596" y="2689342"/>
            <a:ext cx="230703" cy="198150"/>
          </a:xfrm>
          <a:prstGeom prst="rect">
            <a:avLst/>
          </a:prstGeom>
          <a:noFill/>
          <a:ln/>
        </p:spPr>
        <p:txBody>
          <a:bodyPr wrap="square" lIns="0" tIns="0" rIns="0" bIns="0" rtlCol="0" anchor="t"/>
          <a:lstStyle/>
          <a:p>
            <a:pPr algn="l" indent="0" marL="0">
              <a:lnSpc>
                <a:spcPts val="1560"/>
              </a:lnSpc>
              <a:buNone/>
            </a:pPr>
            <a:r>
              <a:rPr lang="en-US" sz="1300" dirty="0">
                <a:solidFill>
                  <a:srgbClr val="1E2BFA"/>
                </a:solidFill>
                <a:latin typeface="Inter" pitchFamily="34" charset="0"/>
                <a:ea typeface="Inter" pitchFamily="34" charset="-122"/>
                <a:cs typeface="Inter" pitchFamily="34" charset="-120"/>
              </a:rPr>
              <a:t>→</a:t>
            </a:r>
            <a:endParaRPr lang="en-US" sz="1300" dirty="0"/>
          </a:p>
        </p:txBody>
      </p:sp>
      <p:sp>
        <p:nvSpPr>
          <p:cNvPr id="14" name="A_1_0_fade_653"/>
          <p:cNvSpPr/>
          <p:nvPr/>
        </p:nvSpPr>
        <p:spPr>
          <a:xfrm>
            <a:off x="4986498" y="2653772"/>
            <a:ext cx="577626" cy="270480"/>
          </a:xfrm>
          <a:prstGeom prst="roundRect">
            <a:avLst>
              <a:gd name="adj" fmla="val 50000"/>
            </a:avLst>
          </a:prstGeom>
          <a:solidFill>
            <a:srgbClr val="E3E2E9"/>
          </a:solidFill>
          <a:ln/>
        </p:spPr>
      </p:sp>
      <p:sp>
        <p:nvSpPr>
          <p:cNvPr id="15" name="A_1_0_fade_654"/>
          <p:cNvSpPr txBox="1"/>
          <p:nvPr/>
        </p:nvSpPr>
        <p:spPr>
          <a:xfrm>
            <a:off x="5100798" y="2696383"/>
            <a:ext cx="425287"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bước</a:t>
            </a:r>
            <a:endParaRPr lang="en-US" sz="1100" dirty="0"/>
          </a:p>
        </p:txBody>
      </p:sp>
      <p:sp>
        <p:nvSpPr>
          <p:cNvPr id="16" name="A_1_0_fade_655"/>
          <p:cNvSpPr txBox="1"/>
          <p:nvPr/>
        </p:nvSpPr>
        <p:spPr>
          <a:xfrm>
            <a:off x="5627675" y="2689342"/>
            <a:ext cx="230703" cy="198150"/>
          </a:xfrm>
          <a:prstGeom prst="rect">
            <a:avLst/>
          </a:prstGeom>
          <a:noFill/>
          <a:ln/>
        </p:spPr>
        <p:txBody>
          <a:bodyPr wrap="square" lIns="0" tIns="0" rIns="0" bIns="0" rtlCol="0" anchor="t"/>
          <a:lstStyle/>
          <a:p>
            <a:pPr algn="l" indent="0" marL="0">
              <a:lnSpc>
                <a:spcPts val="1560"/>
              </a:lnSpc>
              <a:buNone/>
            </a:pPr>
            <a:r>
              <a:rPr lang="en-US" sz="1300" dirty="0">
                <a:solidFill>
                  <a:srgbClr val="1E2BFA"/>
                </a:solidFill>
                <a:latin typeface="Inter" pitchFamily="34" charset="0"/>
                <a:ea typeface="Inter" pitchFamily="34" charset="-122"/>
                <a:cs typeface="Inter" pitchFamily="34" charset="-120"/>
              </a:rPr>
              <a:t>→</a:t>
            </a:r>
            <a:endParaRPr lang="en-US" sz="1300" dirty="0"/>
          </a:p>
        </p:txBody>
      </p:sp>
      <p:sp>
        <p:nvSpPr>
          <p:cNvPr id="17" name="A_1_0_fade_656"/>
          <p:cNvSpPr/>
          <p:nvPr/>
        </p:nvSpPr>
        <p:spPr>
          <a:xfrm>
            <a:off x="5848045" y="2659350"/>
            <a:ext cx="850301" cy="259324"/>
          </a:xfrm>
          <a:prstGeom prst="roundRect">
            <a:avLst>
              <a:gd name="adj" fmla="val 50917"/>
            </a:avLst>
          </a:prstGeom>
          <a:ln w="9525">
            <a:solidFill>
              <a:srgbClr val="C9CAEB"/>
            </a:solidFill>
            <a:prstDash val="solid"/>
          </a:ln>
        </p:spPr>
      </p:sp>
      <p:sp>
        <p:nvSpPr>
          <p:cNvPr id="18" name="A_1_0_fade_657"/>
          <p:cNvSpPr txBox="1"/>
          <p:nvPr/>
        </p:nvSpPr>
        <p:spPr>
          <a:xfrm>
            <a:off x="5956767" y="2696383"/>
            <a:ext cx="709026" cy="181600"/>
          </a:xfrm>
          <a:prstGeom prst="rect">
            <a:avLst/>
          </a:prstGeom>
          <a:noFill/>
          <a:ln/>
        </p:spPr>
        <p:txBody>
          <a:bodyPr wrap="square" lIns="0" tIns="0" rIns="0" bIns="0" rtlCol="0" anchor="t"/>
          <a:lstStyle/>
          <a:p>
            <a:pPr algn="l" indent="0" marL="0">
              <a:lnSpc>
                <a:spcPts val="1430"/>
              </a:lnSpc>
              <a:buNone/>
            </a:pPr>
            <a:r>
              <a:rPr lang="en-US" sz="1100" dirty="0">
                <a:solidFill>
                  <a:srgbClr val="6B6B6B"/>
                </a:solidFill>
                <a:latin typeface="Space Grotesk" pitchFamily="34" charset="0"/>
                <a:ea typeface="Space Grotesk" pitchFamily="34" charset="-122"/>
                <a:cs typeface="Space Grotesk" pitchFamily="34" charset="-120"/>
              </a:rPr>
              <a:t>hỏi người</a:t>
            </a:r>
            <a:endParaRPr lang="en-US" sz="1100" dirty="0"/>
          </a:p>
        </p:txBody>
      </p:sp>
      <p:sp>
        <p:nvSpPr>
          <p:cNvPr id="19" name="A_1_0_fade_658"/>
          <p:cNvSpPr txBox="1"/>
          <p:nvPr/>
        </p:nvSpPr>
        <p:spPr>
          <a:xfrm>
            <a:off x="6764274" y="2689342"/>
            <a:ext cx="230703" cy="198150"/>
          </a:xfrm>
          <a:prstGeom prst="rect">
            <a:avLst/>
          </a:prstGeom>
          <a:noFill/>
          <a:ln/>
        </p:spPr>
        <p:txBody>
          <a:bodyPr wrap="square" lIns="0" tIns="0" rIns="0" bIns="0" rtlCol="0" anchor="t"/>
          <a:lstStyle/>
          <a:p>
            <a:pPr algn="l" indent="0" marL="0">
              <a:lnSpc>
                <a:spcPts val="1560"/>
              </a:lnSpc>
              <a:buNone/>
            </a:pPr>
            <a:r>
              <a:rPr lang="en-US" sz="1300" dirty="0">
                <a:solidFill>
                  <a:srgbClr val="1E2BFA"/>
                </a:solidFill>
                <a:latin typeface="Inter" pitchFamily="34" charset="0"/>
                <a:ea typeface="Inter" pitchFamily="34" charset="-122"/>
                <a:cs typeface="Inter" pitchFamily="34" charset="-120"/>
              </a:rPr>
              <a:t>→</a:t>
            </a:r>
            <a:endParaRPr lang="en-US" sz="1300" dirty="0"/>
          </a:p>
        </p:txBody>
      </p:sp>
      <p:sp>
        <p:nvSpPr>
          <p:cNvPr id="20" name="A_1_0_fade_659"/>
          <p:cNvSpPr/>
          <p:nvPr/>
        </p:nvSpPr>
        <p:spPr>
          <a:xfrm>
            <a:off x="6982267" y="2653772"/>
            <a:ext cx="577626" cy="270480"/>
          </a:xfrm>
          <a:prstGeom prst="roundRect">
            <a:avLst>
              <a:gd name="adj" fmla="val 50000"/>
            </a:avLst>
          </a:prstGeom>
          <a:solidFill>
            <a:srgbClr val="E3E2E9"/>
          </a:solidFill>
          <a:ln/>
        </p:spPr>
      </p:sp>
      <p:sp>
        <p:nvSpPr>
          <p:cNvPr id="21" name="A_1_0_fade_660"/>
          <p:cNvSpPr txBox="1"/>
          <p:nvPr/>
        </p:nvSpPr>
        <p:spPr>
          <a:xfrm>
            <a:off x="7096567" y="2696383"/>
            <a:ext cx="425287"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bước</a:t>
            </a:r>
            <a:endParaRPr lang="en-US" sz="1100" dirty="0"/>
          </a:p>
        </p:txBody>
      </p:sp>
      <p:sp>
        <p:nvSpPr>
          <p:cNvPr id="22" name="A_1_0_fade_661"/>
          <p:cNvSpPr txBox="1"/>
          <p:nvPr/>
        </p:nvSpPr>
        <p:spPr>
          <a:xfrm>
            <a:off x="831830" y="3077322"/>
            <a:ext cx="1791401"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AI DẪN DẮT, NGƯỜI DUYỆT</a:t>
            </a:r>
            <a:endParaRPr lang="en-US" sz="950" dirty="0"/>
          </a:p>
        </p:txBody>
      </p:sp>
      <p:sp>
        <p:nvSpPr>
          <p:cNvPr id="23" name="A_1_0_fade_662"/>
          <p:cNvSpPr/>
          <p:nvPr/>
        </p:nvSpPr>
        <p:spPr>
          <a:xfrm>
            <a:off x="2990820" y="3025841"/>
            <a:ext cx="486095" cy="270480"/>
          </a:xfrm>
          <a:prstGeom prst="roundRect">
            <a:avLst>
              <a:gd name="adj" fmla="val 50000"/>
            </a:avLst>
          </a:prstGeom>
          <a:solidFill>
            <a:srgbClr val="E3E2E9"/>
          </a:solidFill>
          <a:ln/>
        </p:spPr>
      </p:sp>
      <p:sp>
        <p:nvSpPr>
          <p:cNvPr id="24" name="A_1_0_fade_663"/>
          <p:cNvSpPr txBox="1"/>
          <p:nvPr/>
        </p:nvSpPr>
        <p:spPr>
          <a:xfrm>
            <a:off x="3105120" y="3068452"/>
            <a:ext cx="333665"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skill</a:t>
            </a:r>
            <a:endParaRPr lang="en-US" sz="1100" dirty="0"/>
          </a:p>
        </p:txBody>
      </p:sp>
      <p:sp>
        <p:nvSpPr>
          <p:cNvPr id="25" name="A_1_0_fade_664"/>
          <p:cNvSpPr txBox="1"/>
          <p:nvPr/>
        </p:nvSpPr>
        <p:spPr>
          <a:xfrm>
            <a:off x="3540465" y="3061411"/>
            <a:ext cx="230703" cy="198150"/>
          </a:xfrm>
          <a:prstGeom prst="rect">
            <a:avLst/>
          </a:prstGeom>
          <a:noFill/>
          <a:ln/>
        </p:spPr>
        <p:txBody>
          <a:bodyPr wrap="square" lIns="0" tIns="0" rIns="0" bIns="0" rtlCol="0" anchor="t"/>
          <a:lstStyle/>
          <a:p>
            <a:pPr algn="l" indent="0" marL="0">
              <a:lnSpc>
                <a:spcPts val="1560"/>
              </a:lnSpc>
              <a:buNone/>
            </a:pPr>
            <a:r>
              <a:rPr lang="en-US" sz="1300" dirty="0">
                <a:solidFill>
                  <a:srgbClr val="1E2BFA"/>
                </a:solidFill>
                <a:latin typeface="Inter" pitchFamily="34" charset="0"/>
                <a:ea typeface="Inter" pitchFamily="34" charset="-122"/>
                <a:cs typeface="Inter" pitchFamily="34" charset="-120"/>
              </a:rPr>
              <a:t>→</a:t>
            </a:r>
            <a:endParaRPr lang="en-US" sz="1300" dirty="0"/>
          </a:p>
        </p:txBody>
      </p:sp>
      <p:sp>
        <p:nvSpPr>
          <p:cNvPr id="26" name="A_1_0_fade_665"/>
          <p:cNvSpPr/>
          <p:nvPr/>
        </p:nvSpPr>
        <p:spPr>
          <a:xfrm>
            <a:off x="3758367" y="3025841"/>
            <a:ext cx="486095" cy="270480"/>
          </a:xfrm>
          <a:prstGeom prst="roundRect">
            <a:avLst>
              <a:gd name="adj" fmla="val 50000"/>
            </a:avLst>
          </a:prstGeom>
          <a:solidFill>
            <a:srgbClr val="E3E2E9"/>
          </a:solidFill>
          <a:ln/>
        </p:spPr>
      </p:sp>
      <p:sp>
        <p:nvSpPr>
          <p:cNvPr id="27" name="A_1_0_fade_666"/>
          <p:cNvSpPr txBox="1"/>
          <p:nvPr/>
        </p:nvSpPr>
        <p:spPr>
          <a:xfrm>
            <a:off x="3872667" y="3068452"/>
            <a:ext cx="333665"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skill</a:t>
            </a:r>
            <a:endParaRPr lang="en-US" sz="1100" dirty="0"/>
          </a:p>
        </p:txBody>
      </p:sp>
      <p:sp>
        <p:nvSpPr>
          <p:cNvPr id="28" name="A_1_0_fade_667"/>
          <p:cNvSpPr txBox="1"/>
          <p:nvPr/>
        </p:nvSpPr>
        <p:spPr>
          <a:xfrm>
            <a:off x="4308013" y="3061411"/>
            <a:ext cx="230703" cy="198150"/>
          </a:xfrm>
          <a:prstGeom prst="rect">
            <a:avLst/>
          </a:prstGeom>
          <a:noFill/>
          <a:ln/>
        </p:spPr>
        <p:txBody>
          <a:bodyPr wrap="square" lIns="0" tIns="0" rIns="0" bIns="0" rtlCol="0" anchor="t"/>
          <a:lstStyle/>
          <a:p>
            <a:pPr algn="l" indent="0" marL="0">
              <a:lnSpc>
                <a:spcPts val="1560"/>
              </a:lnSpc>
              <a:buNone/>
            </a:pPr>
            <a:r>
              <a:rPr lang="en-US" sz="1300" dirty="0">
                <a:solidFill>
                  <a:srgbClr val="1E2BFA"/>
                </a:solidFill>
                <a:latin typeface="Inter" pitchFamily="34" charset="0"/>
                <a:ea typeface="Inter" pitchFamily="34" charset="-122"/>
                <a:cs typeface="Inter" pitchFamily="34" charset="-120"/>
              </a:rPr>
              <a:t>→</a:t>
            </a:r>
            <a:endParaRPr lang="en-US" sz="1300" dirty="0"/>
          </a:p>
        </p:txBody>
      </p:sp>
      <p:sp>
        <p:nvSpPr>
          <p:cNvPr id="29" name="A_1_0_fade_668"/>
          <p:cNvSpPr/>
          <p:nvPr/>
        </p:nvSpPr>
        <p:spPr>
          <a:xfrm>
            <a:off x="4526006" y="3025841"/>
            <a:ext cx="486095" cy="270480"/>
          </a:xfrm>
          <a:prstGeom prst="roundRect">
            <a:avLst>
              <a:gd name="adj" fmla="val 50000"/>
            </a:avLst>
          </a:prstGeom>
          <a:solidFill>
            <a:srgbClr val="E3E2E9"/>
          </a:solidFill>
          <a:ln/>
        </p:spPr>
      </p:sp>
      <p:sp>
        <p:nvSpPr>
          <p:cNvPr id="30" name="A_1_0_fade_669"/>
          <p:cNvSpPr txBox="1"/>
          <p:nvPr/>
        </p:nvSpPr>
        <p:spPr>
          <a:xfrm>
            <a:off x="4640306" y="3068452"/>
            <a:ext cx="333665"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skill</a:t>
            </a:r>
            <a:endParaRPr lang="en-US" sz="1100" dirty="0"/>
          </a:p>
        </p:txBody>
      </p:sp>
      <p:sp>
        <p:nvSpPr>
          <p:cNvPr id="31" name="A_1_0_fade_670"/>
          <p:cNvSpPr txBox="1"/>
          <p:nvPr/>
        </p:nvSpPr>
        <p:spPr>
          <a:xfrm>
            <a:off x="5075560" y="3061411"/>
            <a:ext cx="230703" cy="198150"/>
          </a:xfrm>
          <a:prstGeom prst="rect">
            <a:avLst/>
          </a:prstGeom>
          <a:noFill/>
          <a:ln/>
        </p:spPr>
        <p:txBody>
          <a:bodyPr wrap="square" lIns="0" tIns="0" rIns="0" bIns="0" rtlCol="0" anchor="t"/>
          <a:lstStyle/>
          <a:p>
            <a:pPr algn="l" indent="0" marL="0">
              <a:lnSpc>
                <a:spcPts val="1560"/>
              </a:lnSpc>
              <a:buNone/>
            </a:pPr>
            <a:r>
              <a:rPr lang="en-US" sz="1300" dirty="0">
                <a:solidFill>
                  <a:srgbClr val="1E2BFA"/>
                </a:solidFill>
                <a:latin typeface="Inter" pitchFamily="34" charset="0"/>
                <a:ea typeface="Inter" pitchFamily="34" charset="-122"/>
                <a:cs typeface="Inter" pitchFamily="34" charset="-120"/>
              </a:rPr>
              <a:t>→</a:t>
            </a:r>
            <a:endParaRPr lang="en-US" sz="1300" dirty="0"/>
          </a:p>
        </p:txBody>
      </p:sp>
      <p:sp>
        <p:nvSpPr>
          <p:cNvPr id="32" name="A_1_0_fade_671"/>
          <p:cNvSpPr/>
          <p:nvPr/>
        </p:nvSpPr>
        <p:spPr>
          <a:xfrm>
            <a:off x="5293553" y="3025841"/>
            <a:ext cx="1484071" cy="270480"/>
          </a:xfrm>
          <a:prstGeom prst="roundRect">
            <a:avLst>
              <a:gd name="adj" fmla="val 50000"/>
            </a:avLst>
          </a:prstGeom>
          <a:solidFill>
            <a:srgbClr val="1E2BFA"/>
          </a:solidFill>
          <a:ln/>
        </p:spPr>
      </p:sp>
      <p:sp>
        <p:nvSpPr>
          <p:cNvPr id="33" name="A_1_0_fade_672"/>
          <p:cNvSpPr txBox="1"/>
          <p:nvPr/>
        </p:nvSpPr>
        <p:spPr>
          <a:xfrm>
            <a:off x="5407853" y="3068452"/>
            <a:ext cx="1355964" cy="181600"/>
          </a:xfrm>
          <a:prstGeom prst="rect">
            <a:avLst/>
          </a:prstGeom>
          <a:noFill/>
          <a:ln/>
        </p:spPr>
        <p:txBody>
          <a:bodyPr wrap="square" lIns="0" tIns="0" rIns="0" bIns="0" rtlCol="0" anchor="t"/>
          <a:lstStyle/>
          <a:p>
            <a:pPr algn="l" indent="0" marL="0">
              <a:lnSpc>
                <a:spcPts val="1430"/>
              </a:lnSpc>
              <a:buNone/>
            </a:pPr>
            <a:r>
              <a:rPr lang="en-US" sz="1100" b="1" dirty="0">
                <a:solidFill>
                  <a:srgbClr val="FDFAE7"/>
                </a:solidFill>
                <a:latin typeface="Space Grotesk" pitchFamily="34" charset="0"/>
                <a:ea typeface="Space Grotesk" pitchFamily="34" charset="-122"/>
                <a:cs typeface="Space Grotesk" pitchFamily="34" charset="-120"/>
              </a:rPr>
              <a:t>approval gate cuối</a:t>
            </a:r>
            <a:endParaRPr lang="en-US" sz="1100" dirty="0"/>
          </a:p>
        </p:txBody>
      </p:sp>
      <p:sp>
        <p:nvSpPr>
          <p:cNvPr id="34" name="A_1_0_fade_673"/>
          <p:cNvSpPr txBox="1"/>
          <p:nvPr/>
        </p:nvSpPr>
        <p:spPr>
          <a:xfrm>
            <a:off x="831830" y="3406323"/>
            <a:ext cx="7048104" cy="211775"/>
          </a:xfrm>
          <a:prstGeom prst="rect">
            <a:avLst/>
          </a:prstGeom>
          <a:noFill/>
          <a:ln/>
        </p:spPr>
        <p:txBody>
          <a:bodyPr wrap="square" lIns="0" tIns="0" rIns="0" bIns="0" rtlCol="0" anchor="t"/>
          <a:lstStyle/>
          <a:p>
            <a:pPr algn="l" indent="0" marL="0">
              <a:lnSpc>
                <a:spcPts val="1668"/>
              </a:lnSpc>
              <a:buNone/>
            </a:pPr>
            <a:r>
              <a:rPr lang="en-US" sz="1150" dirty="0">
                <a:solidFill>
                  <a:srgbClr val="111111"/>
                </a:solidFill>
                <a:latin typeface="Inter" pitchFamily="34" charset="0"/>
                <a:ea typeface="Inter" pitchFamily="34" charset="-122"/>
                <a:cs typeface="Inter" pitchFamily="34" charset="-120"/>
              </a:rPr>
              <a:t>Cùng một harness. “Dây chuyền tự động” là kit chạy headless, không phải một loại sản phẩm khác.</a:t>
            </a:r>
            <a:endParaRPr lang="en-US" sz="1150" dirty="0"/>
          </a:p>
        </p:txBody>
      </p:sp>
      <p:sp>
        <p:nvSpPr>
          <p:cNvPr id="35" name="A_2_1_fade_674"/>
          <p:cNvSpPr/>
          <p:nvPr/>
        </p:nvSpPr>
        <p:spPr>
          <a:xfrm>
            <a:off x="612008" y="3961272"/>
            <a:ext cx="3551255" cy="1465417"/>
          </a:xfrm>
          <a:prstGeom prst="roundRect">
            <a:avLst>
              <a:gd name="adj" fmla="val 6065"/>
            </a:avLst>
          </a:prstGeom>
          <a:solidFill>
            <a:srgbClr val="F4F2E8"/>
          </a:solidFill>
          <a:ln w="9525">
            <a:solidFill>
              <a:srgbClr val="C9CAEB"/>
            </a:solidFill>
            <a:prstDash val="solid"/>
          </a:ln>
        </p:spPr>
      </p:sp>
      <p:sp>
        <p:nvSpPr>
          <p:cNvPr id="36" name="A_2_1_fade_675"/>
          <p:cNvSpPr txBox="1"/>
          <p:nvPr/>
        </p:nvSpPr>
        <p:spPr>
          <a:xfrm>
            <a:off x="806409" y="4127967"/>
            <a:ext cx="2940619" cy="428671"/>
          </a:xfrm>
          <a:prstGeom prst="rect">
            <a:avLst/>
          </a:prstGeom>
          <a:noFill/>
          <a:ln/>
        </p:spPr>
        <p:txBody>
          <a:bodyPr wrap="square" lIns="0" tIns="0" rIns="0" bIns="0" rtlCol="0" anchor="t"/>
          <a:lstStyle/>
          <a:p>
            <a:pPr algn="l" indent="0" marL="0">
              <a:lnSpc>
                <a:spcPts val="1688"/>
              </a:lnSpc>
              <a:buNone/>
            </a:pPr>
            <a:r>
              <a:rPr lang="en-US" sz="1350" b="1" spc="-14" kern="0" dirty="0">
                <a:solidFill>
                  <a:srgbClr val="111111"/>
                </a:solidFill>
                <a:latin typeface="Space Grotesk" pitchFamily="34" charset="0"/>
                <a:ea typeface="Space Grotesk" pitchFamily="34" charset="-122"/>
                <a:cs typeface="Space Grotesk" pitchFamily="34" charset="-120"/>
              </a:rPr>
              <a:t>Chuẩn mở khiến harness thay thế</a:t>
            </a:r>
            <a:endParaRPr lang="en-US" sz="1350" dirty="0"/>
          </a:p>
          <a:p>
            <a:pPr algn="l" indent="0" marL="0">
              <a:lnSpc>
                <a:spcPts val="1688"/>
              </a:lnSpc>
              <a:buNone/>
            </a:pPr>
            <a:r>
              <a:rPr lang="en-US" sz="1350" b="1" spc="-14" kern="0" dirty="0">
                <a:solidFill>
                  <a:srgbClr val="111111"/>
                </a:solidFill>
                <a:latin typeface="Space Grotesk" pitchFamily="34" charset="0"/>
                <a:ea typeface="Space Grotesk" pitchFamily="34" charset="-122"/>
                <a:cs typeface="Space Grotesk" pitchFamily="34" charset="-120"/>
              </a:rPr>
              <a:t>được</a:t>
            </a:r>
            <a:endParaRPr lang="en-US" sz="1350" dirty="0"/>
          </a:p>
        </p:txBody>
      </p:sp>
      <p:sp>
        <p:nvSpPr>
          <p:cNvPr id="37" name="A_2_1_fade_676"/>
          <p:cNvSpPr txBox="1"/>
          <p:nvPr/>
        </p:nvSpPr>
        <p:spPr>
          <a:xfrm>
            <a:off x="806409" y="4618177"/>
            <a:ext cx="3265505" cy="63532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Lock-in lớn nhất không phải harness của</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vendor, mà là harness tự viết chỉ đội làm ra nó</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bảo trì được.</a:t>
            </a:r>
            <a:endParaRPr lang="en-US" sz="1150" dirty="0"/>
          </a:p>
        </p:txBody>
      </p:sp>
      <p:sp>
        <p:nvSpPr>
          <p:cNvPr id="38" name="A_3_1_fade_677"/>
          <p:cNvSpPr/>
          <p:nvPr/>
        </p:nvSpPr>
        <p:spPr>
          <a:xfrm>
            <a:off x="4320357" y="3961272"/>
            <a:ext cx="3551255" cy="1465417"/>
          </a:xfrm>
          <a:prstGeom prst="roundRect">
            <a:avLst>
              <a:gd name="adj" fmla="val 6065"/>
            </a:avLst>
          </a:prstGeom>
          <a:solidFill>
            <a:srgbClr val="F4F2E8"/>
          </a:solidFill>
          <a:ln w="9525">
            <a:solidFill>
              <a:srgbClr val="C9CAEB"/>
            </a:solidFill>
            <a:prstDash val="solid"/>
          </a:ln>
        </p:spPr>
      </p:sp>
      <p:sp>
        <p:nvSpPr>
          <p:cNvPr id="39" name="A_3_1_fade_678"/>
          <p:cNvSpPr txBox="1"/>
          <p:nvPr/>
        </p:nvSpPr>
        <p:spPr>
          <a:xfrm>
            <a:off x="4514850" y="4127967"/>
            <a:ext cx="1989369" cy="214335"/>
          </a:xfrm>
          <a:prstGeom prst="rect">
            <a:avLst/>
          </a:prstGeom>
          <a:noFill/>
          <a:ln/>
        </p:spPr>
        <p:txBody>
          <a:bodyPr wrap="square" lIns="0" tIns="0" rIns="0" bIns="0" rtlCol="0" anchor="t"/>
          <a:lstStyle/>
          <a:p>
            <a:pPr algn="l" indent="0" marL="0">
              <a:lnSpc>
                <a:spcPts val="1688"/>
              </a:lnSpc>
              <a:buNone/>
            </a:pPr>
            <a:r>
              <a:rPr lang="en-US" sz="1350" b="1" spc="-14" kern="0" dirty="0">
                <a:solidFill>
                  <a:srgbClr val="111111"/>
                </a:solidFill>
                <a:latin typeface="Space Grotesk" pitchFamily="34" charset="0"/>
                <a:ea typeface="Space Grotesk" pitchFamily="34" charset="-122"/>
                <a:cs typeface="Space Grotesk" pitchFamily="34" charset="-120"/>
              </a:rPr>
              <a:t>Người dùng sẽ so sánh</a:t>
            </a:r>
            <a:endParaRPr lang="en-US" sz="1350" dirty="0"/>
          </a:p>
        </p:txBody>
      </p:sp>
      <p:sp>
        <p:nvSpPr>
          <p:cNvPr id="40" name="A_3_1_fade_679"/>
          <p:cNvSpPr txBox="1"/>
          <p:nvPr/>
        </p:nvSpPr>
        <p:spPr>
          <a:xfrm>
            <a:off x="4514850" y="4403933"/>
            <a:ext cx="3299521" cy="63532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Kỹ sư đã dùng harness tốt ở nơi khác. Thua về</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trải nghiệm là mất adoption, dù đã đầu tư bao</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nhiêu.</a:t>
            </a:r>
            <a:endParaRPr lang="en-US" sz="1150" dirty="0"/>
          </a:p>
        </p:txBody>
      </p:sp>
      <p:sp>
        <p:nvSpPr>
          <p:cNvPr id="41" name="A_4_1_fade_680"/>
          <p:cNvSpPr/>
          <p:nvPr/>
        </p:nvSpPr>
        <p:spPr>
          <a:xfrm>
            <a:off x="8028798" y="3961272"/>
            <a:ext cx="3551255" cy="1465417"/>
          </a:xfrm>
          <a:prstGeom prst="roundRect">
            <a:avLst>
              <a:gd name="adj" fmla="val 6065"/>
            </a:avLst>
          </a:prstGeom>
          <a:solidFill>
            <a:srgbClr val="F4F2E8"/>
          </a:solidFill>
          <a:ln w="9525">
            <a:solidFill>
              <a:srgbClr val="C9CAEB"/>
            </a:solidFill>
            <a:prstDash val="solid"/>
          </a:ln>
        </p:spPr>
      </p:sp>
      <p:sp>
        <p:nvSpPr>
          <p:cNvPr id="42" name="A_4_1_fade_681"/>
          <p:cNvSpPr txBox="1"/>
          <p:nvPr/>
        </p:nvSpPr>
        <p:spPr>
          <a:xfrm>
            <a:off x="8223291" y="4127967"/>
            <a:ext cx="1180948" cy="214335"/>
          </a:xfrm>
          <a:prstGeom prst="rect">
            <a:avLst/>
          </a:prstGeom>
          <a:noFill/>
          <a:ln/>
        </p:spPr>
        <p:txBody>
          <a:bodyPr wrap="square" lIns="0" tIns="0" rIns="0" bIns="0" rtlCol="0" anchor="t"/>
          <a:lstStyle/>
          <a:p>
            <a:pPr algn="l" indent="0" marL="0">
              <a:lnSpc>
                <a:spcPts val="1688"/>
              </a:lnSpc>
              <a:buNone/>
            </a:pPr>
            <a:r>
              <a:rPr lang="en-US" sz="1350" b="1" spc="-14" kern="0" dirty="0">
                <a:solidFill>
                  <a:srgbClr val="111111"/>
                </a:solidFill>
                <a:latin typeface="Space Grotesk" pitchFamily="34" charset="0"/>
                <a:ea typeface="Space Grotesk" pitchFamily="34" charset="-122"/>
                <a:cs typeface="Space Grotesk" pitchFamily="34" charset="-120"/>
              </a:rPr>
              <a:t>Chi phí cơ hội</a:t>
            </a:r>
            <a:endParaRPr lang="en-US" sz="1350" dirty="0"/>
          </a:p>
        </p:txBody>
      </p:sp>
      <p:sp>
        <p:nvSpPr>
          <p:cNvPr id="43" name="A_4_1_fade_682"/>
          <p:cNvSpPr txBox="1"/>
          <p:nvPr/>
        </p:nvSpPr>
        <p:spPr>
          <a:xfrm>
            <a:off x="8223291" y="4403933"/>
            <a:ext cx="3406049" cy="63532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Người giỏi nhất bị dồn vào phần không tạo khác</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biệt; dữ liệu và quy trình, phần quyết định thành</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bại, bị bỏ đói.</a:t>
            </a:r>
            <a:endParaRPr lang="en-US" sz="1150" dirty="0"/>
          </a:p>
        </p:txBody>
      </p:sp>
      <p:sp>
        <p:nvSpPr>
          <p:cNvPr id="44" name="S_683"/>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45" name="S_684"/>
          <p:cNvSpPr txBox="1"/>
          <p:nvPr/>
        </p:nvSpPr>
        <p:spPr>
          <a:xfrm>
            <a:off x="11184118" y="6517660"/>
            <a:ext cx="474482"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18 / 25</a:t>
            </a:r>
            <a:endParaRPr lang="en-US" sz="900" dirty="0"/>
          </a:p>
        </p:txBody>
      </p:sp>
      <p:sp>
        <p:nvSpPr>
          <p:cNvPr id="46" name="S_685"/>
          <p:cNvSpPr/>
          <p:nvPr/>
        </p:nvSpPr>
        <p:spPr>
          <a:xfrm>
            <a:off x="0" y="6838980"/>
            <a:ext cx="877824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94" fill="hold">
                      <p:stCondLst>
                        <p:cond delay="indefinite"/>
                        <p:cond evt="onBegin" delay="0">
                          <p:tn val="2"/>
                        </p:cond>
                      </p:stCondLst>
                      <p:childTnLst>
                        <p:par>
                          <p:cTn id="93"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11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11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11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11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11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11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11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11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11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11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11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11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11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11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11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11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11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grpId="0" nodeType="withEffect">
                                  <p:stCondLst>
                                    <p:cond delay="11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par>
                                <p:cTn id="69" presetID="10" presetClass="entr" presetSubtype="0" fill="hold" grpId="0" nodeType="withEffect">
                                  <p:stCondLst>
                                    <p:cond delay="11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11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11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grpId="0" nodeType="withEffect">
                                  <p:stCondLst>
                                    <p:cond delay="11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grpId="0" nodeType="withEffect">
                                  <p:stCondLst>
                                    <p:cond delay="11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par>
                                <p:cTn id="84" presetID="10" presetClass="entr" presetSubtype="0" fill="hold" grpId="0" nodeType="withEffect">
                                  <p:stCondLst>
                                    <p:cond delay="11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500"/>
                                        <p:tgtEl>
                                          <p:spTgt spid="32"/>
                                        </p:tgtEl>
                                      </p:cBhvr>
                                    </p:animEffect>
                                  </p:childTnLst>
                                </p:cTn>
                              </p:par>
                              <p:par>
                                <p:cTn id="87" presetID="10" presetClass="entr" presetSubtype="0" fill="hold" grpId="0" nodeType="withEffect">
                                  <p:stCondLst>
                                    <p:cond delay="11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500"/>
                                        <p:tgtEl>
                                          <p:spTgt spid="33"/>
                                        </p:tgtEl>
                                      </p:cBhvr>
                                    </p:animEffect>
                                  </p:childTnLst>
                                </p:cTn>
                              </p:par>
                              <p:par>
                                <p:cTn id="90" presetID="10" presetClass="entr" presetSubtype="0" fill="hold" grpId="0" nodeType="withEffect">
                                  <p:stCondLst>
                                    <p:cond delay="11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500"/>
                                        <p:tgtEl>
                                          <p:spTgt spid="34"/>
                                        </p:tgtEl>
                                      </p:cBhvr>
                                    </p:animEffect>
                                  </p:childTnLst>
                                </p:cTn>
                              </p:par>
                            </p:childTnLst>
                          </p:cTn>
                        </p:par>
                      </p:childTnLst>
                    </p:cTn>
                  </p:par>
                  <p:par>
                    <p:cTn id="123" fill="hold">
                      <p:stCondLst>
                        <p:cond delay="indefinite"/>
                      </p:stCondLst>
                      <p:childTnLst>
                        <p:par>
                          <p:cTn id="122"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500"/>
                                        <p:tgtEl>
                                          <p:spTgt spid="3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500"/>
                                        <p:tgtEl>
                                          <p:spTgt spid="37"/>
                                        </p:tgtEl>
                                      </p:cBhvr>
                                    </p:animEffect>
                                  </p:childTnLst>
                                </p:cTn>
                              </p:par>
                              <p:par>
                                <p:cTn id="104" presetID="10" presetClass="entr" presetSubtype="0" fill="hold" grpId="0" nodeType="withEffect">
                                  <p:stCondLst>
                                    <p:cond delay="11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500"/>
                                        <p:tgtEl>
                                          <p:spTgt spid="38"/>
                                        </p:tgtEl>
                                      </p:cBhvr>
                                    </p:animEffect>
                                  </p:childTnLst>
                                </p:cTn>
                              </p:par>
                              <p:par>
                                <p:cTn id="107" presetID="10" presetClass="entr" presetSubtype="0" fill="hold" grpId="0" nodeType="withEffect">
                                  <p:stCondLst>
                                    <p:cond delay="11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500"/>
                                        <p:tgtEl>
                                          <p:spTgt spid="39"/>
                                        </p:tgtEl>
                                      </p:cBhvr>
                                    </p:animEffect>
                                  </p:childTnLst>
                                </p:cTn>
                              </p:par>
                              <p:par>
                                <p:cTn id="110" presetID="10" presetClass="entr" presetSubtype="0" fill="hold" grpId="0" nodeType="withEffect">
                                  <p:stCondLst>
                                    <p:cond delay="11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500"/>
                                        <p:tgtEl>
                                          <p:spTgt spid="40"/>
                                        </p:tgtEl>
                                      </p:cBhvr>
                                    </p:animEffect>
                                  </p:childTnLst>
                                </p:cTn>
                              </p:par>
                              <p:par>
                                <p:cTn id="113" presetID="10" presetClass="entr" presetSubtype="0" fill="hold" grpId="0" nodeType="withEffect">
                                  <p:stCondLst>
                                    <p:cond delay="220"/>
                                  </p:stCondLst>
                                  <p:childTnLst>
                                    <p:set>
                                      <p:cBhvr>
                                        <p:cTn id="114" dur="1" fill="hold">
                                          <p:stCondLst>
                                            <p:cond delay="0"/>
                                          </p:stCondLst>
                                        </p:cTn>
                                        <p:tgtEl>
                                          <p:spTgt spid="41"/>
                                        </p:tgtEl>
                                        <p:attrNameLst>
                                          <p:attrName>style.visibility</p:attrName>
                                        </p:attrNameLst>
                                      </p:cBhvr>
                                      <p:to>
                                        <p:strVal val="visible"/>
                                      </p:to>
                                    </p:set>
                                    <p:animEffect transition="in" filter="fade">
                                      <p:cBhvr>
                                        <p:cTn id="115" dur="500"/>
                                        <p:tgtEl>
                                          <p:spTgt spid="41"/>
                                        </p:tgtEl>
                                      </p:cBhvr>
                                    </p:animEffect>
                                  </p:childTnLst>
                                </p:cTn>
                              </p:par>
                              <p:par>
                                <p:cTn id="116" presetID="10" presetClass="entr" presetSubtype="0" fill="hold" grpId="0" nodeType="withEffect">
                                  <p:stCondLst>
                                    <p:cond delay="220"/>
                                  </p:stCondLst>
                                  <p:childTnLst>
                                    <p:set>
                                      <p:cBhvr>
                                        <p:cTn id="117" dur="1" fill="hold">
                                          <p:stCondLst>
                                            <p:cond delay="0"/>
                                          </p:stCondLst>
                                        </p:cTn>
                                        <p:tgtEl>
                                          <p:spTgt spid="42"/>
                                        </p:tgtEl>
                                        <p:attrNameLst>
                                          <p:attrName>style.visibility</p:attrName>
                                        </p:attrNameLst>
                                      </p:cBhvr>
                                      <p:to>
                                        <p:strVal val="visible"/>
                                      </p:to>
                                    </p:set>
                                    <p:animEffect transition="in" filter="fade">
                                      <p:cBhvr>
                                        <p:cTn id="118" dur="500"/>
                                        <p:tgtEl>
                                          <p:spTgt spid="42"/>
                                        </p:tgtEl>
                                      </p:cBhvr>
                                    </p:animEffect>
                                  </p:childTnLst>
                                </p:cTn>
                              </p:par>
                              <p:par>
                                <p:cTn id="119" presetID="10" presetClass="entr" presetSubtype="0" fill="hold" grpId="0" nodeType="withEffect">
                                  <p:stCondLst>
                                    <p:cond delay="220"/>
                                  </p:stCondLst>
                                  <p:childTnLst>
                                    <p:set>
                                      <p:cBhvr>
                                        <p:cTn id="120" dur="1" fill="hold">
                                          <p:stCondLst>
                                            <p:cond delay="0"/>
                                          </p:stCondLst>
                                        </p:cTn>
                                        <p:tgtEl>
                                          <p:spTgt spid="43"/>
                                        </p:tgtEl>
                                        <p:attrNameLst>
                                          <p:attrName>style.visibility</p:attrName>
                                        </p:attrNameLst>
                                      </p:cBhvr>
                                      <p:to>
                                        <p:strVal val="visible"/>
                                      </p:to>
                                    </p:set>
                                    <p:animEffect transition="in" filter="fade">
                                      <p:cBhvr>
                                        <p:cTn id="121"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DFAE7"/>
        </a:solidFill>
      </p:bgPr>
    </p:bg>
    <p:spTree>
      <p:nvGrpSpPr>
        <p:cNvPr id="1" name=""/>
        <p:cNvGrpSpPr/>
        <p:nvPr/>
      </p:nvGrpSpPr>
      <p:grpSpPr>
        <a:xfrm>
          <a:off x="0" y="0"/>
          <a:ext cx="0" cy="0"/>
          <a:chOff x="0" y="0"/>
          <a:chExt cx="0" cy="0"/>
        </a:xfrm>
      </p:grpSpPr>
      <p:sp>
        <p:nvSpPr>
          <p:cNvPr id="2" name="S_686"/>
          <p:cNvSpPr txBox="1"/>
          <p:nvPr/>
        </p:nvSpPr>
        <p:spPr>
          <a:xfrm>
            <a:off x="609630" y="466070"/>
            <a:ext cx="3078419"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05 · LO NGẠI CHÍNH ĐÁNG VỀ HARNESS</a:t>
            </a:r>
            <a:endParaRPr lang="en-US" sz="1100" dirty="0"/>
          </a:p>
        </p:txBody>
      </p:sp>
      <p:sp>
        <p:nvSpPr>
          <p:cNvPr id="3" name="S_687"/>
          <p:cNvSpPr/>
          <p:nvPr/>
        </p:nvSpPr>
        <p:spPr>
          <a:xfrm>
            <a:off x="9687611" y="412760"/>
            <a:ext cx="1894820" cy="292059"/>
          </a:xfrm>
          <a:prstGeom prst="roundRect">
            <a:avLst>
              <a:gd name="adj" fmla="val 50000"/>
            </a:avLst>
          </a:prstGeom>
          <a:solidFill>
            <a:srgbClr val="EBE9E9"/>
          </a:solidFill>
          <a:ln/>
        </p:spPr>
      </p:sp>
      <p:sp>
        <p:nvSpPr>
          <p:cNvPr id="4" name="S_688"/>
          <p:cNvSpPr txBox="1"/>
          <p:nvPr/>
        </p:nvSpPr>
        <p:spPr>
          <a:xfrm>
            <a:off x="9852751" y="476220"/>
            <a:ext cx="1689720"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8 lo ngại · 8 cách đáp ứng</a:t>
            </a:r>
            <a:endParaRPr lang="en-US" sz="1000" dirty="0"/>
          </a:p>
        </p:txBody>
      </p:sp>
      <p:sp>
        <p:nvSpPr>
          <p:cNvPr id="5" name="A_0_0_fade_689"/>
          <p:cNvSpPr txBox="1"/>
          <p:nvPr/>
        </p:nvSpPr>
        <p:spPr>
          <a:xfrm>
            <a:off x="609630" y="806592"/>
            <a:ext cx="9654692" cy="824972"/>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Mỗi lo ngại đều có cách đáp ứng mà không cần tự viết</a:t>
            </a:r>
            <a:endParaRPr lang="en-US" sz="2800" dirty="0"/>
          </a:p>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platform</a:t>
            </a:r>
            <a:endParaRPr lang="en-US" sz="2800" dirty="0"/>
          </a:p>
        </p:txBody>
      </p:sp>
      <p:sp>
        <p:nvSpPr>
          <p:cNvPr id="6" name="S_690"/>
          <p:cNvSpPr/>
          <p:nvPr/>
        </p:nvSpPr>
        <p:spPr>
          <a:xfrm>
            <a:off x="612008" y="1806306"/>
            <a:ext cx="10968045" cy="4286159"/>
          </a:xfrm>
          <a:prstGeom prst="roundRect">
            <a:avLst>
              <a:gd name="adj" fmla="val 2074"/>
            </a:avLst>
          </a:prstGeom>
          <a:solidFill>
            <a:srgbClr val="F4F2E8"/>
          </a:solidFill>
          <a:ln w="9525">
            <a:solidFill>
              <a:srgbClr val="C9CAEB"/>
            </a:solidFill>
            <a:prstDash val="solid"/>
          </a:ln>
        </p:spPr>
      </p:sp>
      <p:sp>
        <p:nvSpPr>
          <p:cNvPr id="7" name="A_1_0_fade_691"/>
          <p:cNvSpPr/>
          <p:nvPr/>
        </p:nvSpPr>
        <p:spPr>
          <a:xfrm>
            <a:off x="615940" y="1810238"/>
            <a:ext cx="10960090" cy="364388"/>
          </a:xfrm>
          <a:prstGeom prst="roundRect">
            <a:avLst>
              <a:gd name="adj" fmla="val 21782"/>
            </a:avLst>
          </a:prstGeom>
          <a:solidFill>
            <a:srgbClr val="E3E2E9"/>
          </a:solidFill>
          <a:ln/>
        </p:spPr>
      </p:sp>
      <p:sp>
        <p:nvSpPr>
          <p:cNvPr id="8" name="A_1_0_fade_692"/>
          <p:cNvSpPr/>
          <p:nvPr/>
        </p:nvSpPr>
        <p:spPr>
          <a:xfrm>
            <a:off x="615940" y="1992478"/>
            <a:ext cx="10960090" cy="182240"/>
          </a:xfrm>
          <a:prstGeom prst="rect">
            <a:avLst/>
          </a:prstGeom>
          <a:solidFill>
            <a:srgbClr val="E3E2E9"/>
          </a:solidFill>
          <a:ln/>
        </p:spPr>
      </p:sp>
      <p:sp>
        <p:nvSpPr>
          <p:cNvPr id="9" name="A_1_0_fade_693"/>
          <p:cNvSpPr txBox="1"/>
          <p:nvPr/>
        </p:nvSpPr>
        <p:spPr>
          <a:xfrm>
            <a:off x="781080" y="1916948"/>
            <a:ext cx="559796"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LO NGẠI</a:t>
            </a:r>
            <a:endParaRPr lang="en-US" sz="900" dirty="0"/>
          </a:p>
        </p:txBody>
      </p:sp>
      <p:sp>
        <p:nvSpPr>
          <p:cNvPr id="10" name="A_1_0_fade_694"/>
          <p:cNvSpPr txBox="1"/>
          <p:nvPr/>
        </p:nvSpPr>
        <p:spPr>
          <a:xfrm>
            <a:off x="4083070" y="1916948"/>
            <a:ext cx="989564"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CÁCH ĐÁP ỨNG</a:t>
            </a:r>
            <a:endParaRPr lang="en-US" sz="900" dirty="0"/>
          </a:p>
        </p:txBody>
      </p:sp>
      <p:sp>
        <p:nvSpPr>
          <p:cNvPr id="11" name="A_2_0_fade_695"/>
          <p:cNvSpPr/>
          <p:nvPr/>
        </p:nvSpPr>
        <p:spPr>
          <a:xfrm>
            <a:off x="615940" y="2174718"/>
            <a:ext cx="10960090" cy="6309"/>
          </a:xfrm>
          <a:prstGeom prst="rect">
            <a:avLst/>
          </a:prstGeom>
          <a:solidFill>
            <a:srgbClr val="C9CAEB"/>
          </a:solidFill>
          <a:ln/>
        </p:spPr>
      </p:sp>
      <p:sp>
        <p:nvSpPr>
          <p:cNvPr id="12" name="A_2_0_fade_696"/>
          <p:cNvSpPr txBox="1"/>
          <p:nvPr/>
        </p:nvSpPr>
        <p:spPr>
          <a:xfrm>
            <a:off x="781080" y="2273107"/>
            <a:ext cx="2899562"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Kết quả phụ thuộc kỹ năng prompt</a:t>
            </a:r>
            <a:endParaRPr lang="en-US" sz="1250" dirty="0"/>
          </a:p>
        </p:txBody>
      </p:sp>
      <p:sp>
        <p:nvSpPr>
          <p:cNvPr id="13" name="A_2_0_fade_697"/>
          <p:cNvSpPr txBox="1"/>
          <p:nvPr/>
        </p:nvSpPr>
        <p:spPr>
          <a:xfrm>
            <a:off x="4083070" y="2274387"/>
            <a:ext cx="6082406"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Kit: skill kích hoạt từ ngôn ngữ tự nhiên hoặc lệnh slash, mang sẵn quy trình chuẩn</a:t>
            </a:r>
            <a:endParaRPr lang="en-US" sz="1200" dirty="0"/>
          </a:p>
        </p:txBody>
      </p:sp>
      <p:sp>
        <p:nvSpPr>
          <p:cNvPr id="14" name="A_3_0_fade_698"/>
          <p:cNvSpPr/>
          <p:nvPr/>
        </p:nvSpPr>
        <p:spPr>
          <a:xfrm>
            <a:off x="615940" y="2584826"/>
            <a:ext cx="10960090" cy="6309"/>
          </a:xfrm>
          <a:prstGeom prst="rect">
            <a:avLst/>
          </a:prstGeom>
          <a:solidFill>
            <a:srgbClr val="C9CAEB"/>
          </a:solidFill>
          <a:ln/>
        </p:spPr>
      </p:sp>
      <p:sp>
        <p:nvSpPr>
          <p:cNvPr id="15" name="A_3_0_fade_699"/>
          <p:cNvSpPr txBox="1"/>
          <p:nvPr/>
        </p:nvSpPr>
        <p:spPr>
          <a:xfrm>
            <a:off x="781080" y="2683307"/>
            <a:ext cx="2338029"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Không làm được end-to-end</a:t>
            </a:r>
            <a:endParaRPr lang="en-US" sz="1250" dirty="0"/>
          </a:p>
        </p:txBody>
      </p:sp>
      <p:sp>
        <p:nvSpPr>
          <p:cNvPr id="16" name="A_3_0_fade_700"/>
          <p:cNvSpPr txBox="1"/>
          <p:nvPr/>
        </p:nvSpPr>
        <p:spPr>
          <a:xfrm>
            <a:off x="4083070" y="2684587"/>
            <a:ext cx="3980017"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Skill chain, chạy headless trong CI, approval gate cuối</a:t>
            </a:r>
            <a:endParaRPr lang="en-US" sz="1200" dirty="0"/>
          </a:p>
        </p:txBody>
      </p:sp>
      <p:sp>
        <p:nvSpPr>
          <p:cNvPr id="17" name="A_4_0_fade_701"/>
          <p:cNvSpPr/>
          <p:nvPr/>
        </p:nvSpPr>
        <p:spPr>
          <a:xfrm>
            <a:off x="615940" y="2995026"/>
            <a:ext cx="10960090" cy="6309"/>
          </a:xfrm>
          <a:prstGeom prst="rect">
            <a:avLst/>
          </a:prstGeom>
          <a:solidFill>
            <a:srgbClr val="C9CAEB"/>
          </a:solidFill>
          <a:ln/>
        </p:spPr>
      </p:sp>
      <p:sp>
        <p:nvSpPr>
          <p:cNvPr id="18" name="A_4_0_fade_702"/>
          <p:cNvSpPr txBox="1"/>
          <p:nvPr/>
        </p:nvSpPr>
        <p:spPr>
          <a:xfrm>
            <a:off x="781080" y="3093415"/>
            <a:ext cx="3131088" cy="41907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Không nhìn được nhiều repo, nhiều hệ</a:t>
            </a:r>
            <a:endParaRPr lang="en-US" sz="1250" dirty="0"/>
          </a:p>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thống</a:t>
            </a:r>
            <a:endParaRPr lang="en-US" sz="1250" dirty="0"/>
          </a:p>
        </p:txBody>
      </p:sp>
      <p:sp>
        <p:nvSpPr>
          <p:cNvPr id="19" name="A_4_0_fade_703"/>
          <p:cNvSpPr txBox="1"/>
          <p:nvPr/>
        </p:nvSpPr>
        <p:spPr>
          <a:xfrm>
            <a:off x="4083070" y="3094695"/>
            <a:ext cx="5176784"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Code graph và index tài liệu là data source, phơi ra qua MCP hoặc CLI</a:t>
            </a:r>
            <a:endParaRPr lang="en-US" sz="1200" dirty="0"/>
          </a:p>
        </p:txBody>
      </p:sp>
      <p:sp>
        <p:nvSpPr>
          <p:cNvPr id="20" name="A_5_0_fade_704"/>
          <p:cNvSpPr/>
          <p:nvPr/>
        </p:nvSpPr>
        <p:spPr>
          <a:xfrm>
            <a:off x="615940" y="3610966"/>
            <a:ext cx="10960090" cy="6309"/>
          </a:xfrm>
          <a:prstGeom prst="rect">
            <a:avLst/>
          </a:prstGeom>
          <a:solidFill>
            <a:srgbClr val="C9CAEB"/>
          </a:solidFill>
          <a:ln/>
        </p:spPr>
      </p:sp>
      <p:sp>
        <p:nvSpPr>
          <p:cNvPr id="21" name="A_5_0_fade_705"/>
          <p:cNvSpPr txBox="1"/>
          <p:nvPr/>
        </p:nvSpPr>
        <p:spPr>
          <a:xfrm>
            <a:off x="781080" y="3709355"/>
            <a:ext cx="2100925"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Không có audit tập trung</a:t>
            </a:r>
            <a:endParaRPr lang="en-US" sz="1250" dirty="0"/>
          </a:p>
        </p:txBody>
      </p:sp>
      <p:sp>
        <p:nvSpPr>
          <p:cNvPr id="22" name="A_5_0_fade_706"/>
          <p:cNvSpPr txBox="1"/>
          <p:nvPr/>
        </p:nvSpPr>
        <p:spPr>
          <a:xfrm>
            <a:off x="4083070" y="3710635"/>
            <a:ext cx="2834274"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LLM gateway, telemetry, thu transcript</a:t>
            </a:r>
            <a:endParaRPr lang="en-US" sz="1200" dirty="0"/>
          </a:p>
        </p:txBody>
      </p:sp>
      <p:sp>
        <p:nvSpPr>
          <p:cNvPr id="23" name="A_6_1_fade_707"/>
          <p:cNvSpPr/>
          <p:nvPr/>
        </p:nvSpPr>
        <p:spPr>
          <a:xfrm>
            <a:off x="615940" y="4021165"/>
            <a:ext cx="10960090" cy="6309"/>
          </a:xfrm>
          <a:prstGeom prst="rect">
            <a:avLst/>
          </a:prstGeom>
          <a:solidFill>
            <a:srgbClr val="C9CAEB"/>
          </a:solidFill>
          <a:ln/>
        </p:spPr>
      </p:sp>
      <p:sp>
        <p:nvSpPr>
          <p:cNvPr id="24" name="A_6_1_fade_708"/>
          <p:cNvSpPr txBox="1"/>
          <p:nvPr/>
        </p:nvSpPr>
        <p:spPr>
          <a:xfrm>
            <a:off x="781080" y="4119555"/>
            <a:ext cx="2441448"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Chi phí không kiểm soát được</a:t>
            </a:r>
            <a:endParaRPr lang="en-US" sz="1250" dirty="0"/>
          </a:p>
        </p:txBody>
      </p:sp>
      <p:sp>
        <p:nvSpPr>
          <p:cNvPr id="25" name="A_6_1_fade_709"/>
          <p:cNvSpPr txBox="1"/>
          <p:nvPr/>
        </p:nvSpPr>
        <p:spPr>
          <a:xfrm>
            <a:off x="4083070" y="4120835"/>
            <a:ext cx="4809195"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Budget theo user và dự án ở gateway; admin console của vendor</a:t>
            </a:r>
            <a:endParaRPr lang="en-US" sz="1200" dirty="0"/>
          </a:p>
        </p:txBody>
      </p:sp>
      <p:sp>
        <p:nvSpPr>
          <p:cNvPr id="26" name="A_7_1_fade_710"/>
          <p:cNvSpPr/>
          <p:nvPr/>
        </p:nvSpPr>
        <p:spPr>
          <a:xfrm>
            <a:off x="615940" y="4431274"/>
            <a:ext cx="10960090" cy="6309"/>
          </a:xfrm>
          <a:prstGeom prst="rect">
            <a:avLst/>
          </a:prstGeom>
          <a:solidFill>
            <a:srgbClr val="C9CAEB"/>
          </a:solidFill>
          <a:ln/>
        </p:spPr>
      </p:sp>
      <p:sp>
        <p:nvSpPr>
          <p:cNvPr id="27" name="A_7_1_fade_711"/>
          <p:cNvSpPr txBox="1"/>
          <p:nvPr/>
        </p:nvSpPr>
        <p:spPr>
          <a:xfrm>
            <a:off x="781080" y="4529755"/>
            <a:ext cx="1415674"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Dữ liệu nhạy cảm</a:t>
            </a:r>
            <a:endParaRPr lang="en-US" sz="1250" dirty="0"/>
          </a:p>
        </p:txBody>
      </p:sp>
      <p:sp>
        <p:nvSpPr>
          <p:cNvPr id="28" name="A_7_1_fade_712"/>
          <p:cNvSpPr txBox="1"/>
          <p:nvPr/>
        </p:nvSpPr>
        <p:spPr>
          <a:xfrm>
            <a:off x="4083070" y="4531035"/>
            <a:ext cx="7618506" cy="42675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RBAC ở data source; connector dùng quyền người gọi; gateway giới hạn model; model chạy trong vùng</a:t>
            </a:r>
            <a:endParaRPr lang="en-US" sz="1200" dirty="0"/>
          </a:p>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cho phép hoặc tự host</a:t>
            </a:r>
            <a:endParaRPr lang="en-US" sz="1200" dirty="0"/>
          </a:p>
        </p:txBody>
      </p:sp>
      <p:sp>
        <p:nvSpPr>
          <p:cNvPr id="29" name="A_8_1_fade_713"/>
          <p:cNvSpPr/>
          <p:nvPr/>
        </p:nvSpPr>
        <p:spPr>
          <a:xfrm>
            <a:off x="615940" y="5054803"/>
            <a:ext cx="10960090" cy="6309"/>
          </a:xfrm>
          <a:prstGeom prst="rect">
            <a:avLst/>
          </a:prstGeom>
          <a:solidFill>
            <a:srgbClr val="C9CAEB"/>
          </a:solidFill>
          <a:ln/>
        </p:spPr>
      </p:sp>
      <p:sp>
        <p:nvSpPr>
          <p:cNvPr id="30" name="A_8_1_fade_714"/>
          <p:cNvSpPr txBox="1"/>
          <p:nvPr/>
        </p:nvSpPr>
        <p:spPr>
          <a:xfrm>
            <a:off x="781080" y="5153193"/>
            <a:ext cx="2311786"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Chạy tự động thì nguy hiểm</a:t>
            </a:r>
            <a:endParaRPr lang="en-US" sz="1250" dirty="0"/>
          </a:p>
        </p:txBody>
      </p:sp>
      <p:sp>
        <p:nvSpPr>
          <p:cNvPr id="31" name="A_8_1_fade_715"/>
          <p:cNvSpPr txBox="1"/>
          <p:nvPr/>
        </p:nvSpPr>
        <p:spPr>
          <a:xfrm>
            <a:off x="4083070" y="5154473"/>
            <a:ext cx="7519386" cy="42675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Guardrail là một phần của kit. Prompt không kích hoạt skill nào mới dễ gây phá huỷ; API hệ thống đích</a:t>
            </a:r>
            <a:endParaRPr lang="en-US" sz="1200" dirty="0"/>
          </a:p>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cũng có thể không chặn thao tác xoá, nên không thể trông vào nó tự bảo vệ</a:t>
            </a:r>
            <a:endParaRPr lang="en-US" sz="1200" dirty="0"/>
          </a:p>
        </p:txBody>
      </p:sp>
      <p:sp>
        <p:nvSpPr>
          <p:cNvPr id="32" name="A_9_1_fade_716"/>
          <p:cNvSpPr/>
          <p:nvPr/>
        </p:nvSpPr>
        <p:spPr>
          <a:xfrm>
            <a:off x="615940" y="5678333"/>
            <a:ext cx="10960090" cy="6309"/>
          </a:xfrm>
          <a:prstGeom prst="rect">
            <a:avLst/>
          </a:prstGeom>
          <a:solidFill>
            <a:srgbClr val="C9CAEB"/>
          </a:solidFill>
          <a:ln/>
        </p:spPr>
      </p:sp>
      <p:sp>
        <p:nvSpPr>
          <p:cNvPr id="33" name="A_9_1_fade_717"/>
          <p:cNvSpPr txBox="1"/>
          <p:nvPr/>
        </p:nvSpPr>
        <p:spPr>
          <a:xfrm>
            <a:off x="781080" y="5776722"/>
            <a:ext cx="2252167"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Mỗi harness một định dạng</a:t>
            </a:r>
            <a:endParaRPr lang="en-US" sz="1250" dirty="0"/>
          </a:p>
        </p:txBody>
      </p:sp>
      <p:sp>
        <p:nvSpPr>
          <p:cNvPr id="34" name="A_9_1_fade_718"/>
          <p:cNvSpPr txBox="1"/>
          <p:nvPr/>
        </p:nvSpPr>
        <p:spPr>
          <a:xfrm>
            <a:off x="4083070" y="5778002"/>
            <a:ext cx="4354647"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Core trung lập và adapter mỏng; không hứa portable 100%</a:t>
            </a:r>
            <a:endParaRPr lang="en-US" sz="1200" dirty="0"/>
          </a:p>
        </p:txBody>
      </p:sp>
      <p:sp>
        <p:nvSpPr>
          <p:cNvPr id="35" name="S_719"/>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36" name="S_720"/>
          <p:cNvSpPr txBox="1"/>
          <p:nvPr/>
        </p:nvSpPr>
        <p:spPr>
          <a:xfrm>
            <a:off x="11183661" y="6517660"/>
            <a:ext cx="474939"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19 / 25</a:t>
            </a:r>
            <a:endParaRPr lang="en-US" sz="900" dirty="0"/>
          </a:p>
        </p:txBody>
      </p:sp>
      <p:sp>
        <p:nvSpPr>
          <p:cNvPr id="37" name="S_721"/>
          <p:cNvSpPr/>
          <p:nvPr/>
        </p:nvSpPr>
        <p:spPr>
          <a:xfrm>
            <a:off x="0" y="6838980"/>
            <a:ext cx="926589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54"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0" presetClass="entr" presetSubtype="0" fill="hold" grpId="0" nodeType="withEffect">
                                  <p:stCondLst>
                                    <p:cond delay="11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22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33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33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44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44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44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grpId="0" nodeType="withEffect">
                                  <p:stCondLst>
                                    <p:cond delay="55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500"/>
                                        <p:tgtEl>
                                          <p:spTgt spid="20"/>
                                        </p:tgtEl>
                                      </p:cBhvr>
                                    </p:animEffect>
                                  </p:childTnLst>
                                </p:cTn>
                              </p:par>
                              <p:par>
                                <p:cTn id="48" presetID="10" presetClass="entr" presetSubtype="0" fill="hold" grpId="0" nodeType="withEffect">
                                  <p:stCondLst>
                                    <p:cond delay="55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grpId="0" nodeType="withEffect">
                                  <p:stCondLst>
                                    <p:cond delay="55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childTnLst>
                          </p:cTn>
                        </p:par>
                      </p:childTnLst>
                    </p:cTn>
                  </p:par>
                  <p:par>
                    <p:cTn id="93" fill="hold">
                      <p:stCondLst>
                        <p:cond delay="indefinite"/>
                      </p:stCondLst>
                      <p:childTnLst>
                        <p:par>
                          <p:cTn id="92"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11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grpId="0" nodeType="withEffect">
                                  <p:stCondLst>
                                    <p:cond delay="11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par>
                                <p:cTn id="71" presetID="10" presetClass="entr" presetSubtype="0" fill="hold" grpId="0" nodeType="withEffect">
                                  <p:stCondLst>
                                    <p:cond delay="11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par>
                                <p:cTn id="74" presetID="10" presetClass="entr" presetSubtype="0" fill="hold" grpId="0" nodeType="withEffect">
                                  <p:stCondLst>
                                    <p:cond delay="22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0" presetClass="entr" presetSubtype="0" fill="hold" grpId="0" nodeType="withEffect">
                                  <p:stCondLst>
                                    <p:cond delay="22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0" presetClass="entr" presetSubtype="0" fill="hold" grpId="0" nodeType="withEffect">
                                  <p:stCondLst>
                                    <p:cond delay="22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par>
                                <p:cTn id="83" presetID="10" presetClass="entr" presetSubtype="0" fill="hold" grpId="0" nodeType="withEffect">
                                  <p:stCondLst>
                                    <p:cond delay="330"/>
                                  </p:stCondLst>
                                  <p:childTnLst>
                                    <p:set>
                                      <p:cBhvr>
                                        <p:cTn id="84" dur="1" fill="hold">
                                          <p:stCondLst>
                                            <p:cond delay="0"/>
                                          </p:stCondLst>
                                        </p:cTn>
                                        <p:tgtEl>
                                          <p:spTgt spid="32"/>
                                        </p:tgtEl>
                                        <p:attrNameLst>
                                          <p:attrName>style.visibility</p:attrName>
                                        </p:attrNameLst>
                                      </p:cBhvr>
                                      <p:to>
                                        <p:strVal val="visible"/>
                                      </p:to>
                                    </p:set>
                                    <p:animEffect transition="in" filter="fade">
                                      <p:cBhvr>
                                        <p:cTn id="85" dur="500"/>
                                        <p:tgtEl>
                                          <p:spTgt spid="32"/>
                                        </p:tgtEl>
                                      </p:cBhvr>
                                    </p:animEffect>
                                  </p:childTnLst>
                                </p:cTn>
                              </p:par>
                              <p:par>
                                <p:cTn id="86" presetID="10" presetClass="entr" presetSubtype="0" fill="hold" grpId="0" nodeType="withEffect">
                                  <p:stCondLst>
                                    <p:cond delay="330"/>
                                  </p:stCondLst>
                                  <p:childTnLst>
                                    <p:set>
                                      <p:cBhvr>
                                        <p:cTn id="87" dur="1" fill="hold">
                                          <p:stCondLst>
                                            <p:cond delay="0"/>
                                          </p:stCondLst>
                                        </p:cTn>
                                        <p:tgtEl>
                                          <p:spTgt spid="33"/>
                                        </p:tgtEl>
                                        <p:attrNameLst>
                                          <p:attrName>style.visibility</p:attrName>
                                        </p:attrNameLst>
                                      </p:cBhvr>
                                      <p:to>
                                        <p:strVal val="visible"/>
                                      </p:to>
                                    </p:set>
                                    <p:animEffect transition="in" filter="fade">
                                      <p:cBhvr>
                                        <p:cTn id="88" dur="500"/>
                                        <p:tgtEl>
                                          <p:spTgt spid="33"/>
                                        </p:tgtEl>
                                      </p:cBhvr>
                                    </p:animEffect>
                                  </p:childTnLst>
                                </p:cTn>
                              </p:par>
                              <p:par>
                                <p:cTn id="89" presetID="10" presetClass="entr" presetSubtype="0" fill="hold" grpId="0" nodeType="withEffect">
                                  <p:stCondLst>
                                    <p:cond delay="330"/>
                                  </p:stCondLst>
                                  <p:childTnLst>
                                    <p:set>
                                      <p:cBhvr>
                                        <p:cTn id="90" dur="1" fill="hold">
                                          <p:stCondLst>
                                            <p:cond delay="0"/>
                                          </p:stCondLst>
                                        </p:cTn>
                                        <p:tgtEl>
                                          <p:spTgt spid="34"/>
                                        </p:tgtEl>
                                        <p:attrNameLst>
                                          <p:attrName>style.visibility</p:attrName>
                                        </p:attrNameLst>
                                      </p:cBhvr>
                                      <p:to>
                                        <p:strVal val="visible"/>
                                      </p:to>
                                    </p:set>
                                    <p:animEffect transition="in" filter="fade">
                                      <p:cBhvr>
                                        <p:cTn id="9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DFAE7"/>
        </a:solidFill>
      </p:bgPr>
    </p:bg>
    <p:spTree>
      <p:nvGrpSpPr>
        <p:cNvPr id="1" name=""/>
        <p:cNvGrpSpPr/>
        <p:nvPr/>
      </p:nvGrpSpPr>
      <p:grpSpPr>
        <a:xfrm>
          <a:off x="0" y="0"/>
          <a:ext cx="0" cy="0"/>
          <a:chOff x="0" y="0"/>
          <a:chExt cx="0" cy="0"/>
        </a:xfrm>
      </p:grpSpPr>
      <p:sp>
        <p:nvSpPr>
          <p:cNvPr id="2" name="A_0_0_fade_722"/>
          <p:cNvSpPr/>
          <p:nvPr/>
        </p:nvSpPr>
        <p:spPr>
          <a:xfrm>
            <a:off x="4320357" y="1653418"/>
            <a:ext cx="3551255" cy="3551255"/>
          </a:xfrm>
          <a:prstGeom prst="ellipse">
            <a:avLst/>
          </a:prstGeom>
          <a:ln w="9525">
            <a:solidFill>
              <a:srgbClr val="D0D1EB"/>
            </a:solidFill>
            <a:prstDash val="solid"/>
          </a:ln>
        </p:spPr>
      </p:sp>
      <p:sp>
        <p:nvSpPr>
          <p:cNvPr id="3" name="A_1_0_fade_723"/>
          <p:cNvSpPr/>
          <p:nvPr/>
        </p:nvSpPr>
        <p:spPr>
          <a:xfrm>
            <a:off x="3367918" y="700888"/>
            <a:ext cx="5456225" cy="5456225"/>
          </a:xfrm>
          <a:prstGeom prst="ellipse">
            <a:avLst/>
          </a:prstGeom>
          <a:ln w="9525">
            <a:solidFill>
              <a:srgbClr val="D0D1EB"/>
            </a:solidFill>
            <a:prstDash val="solid"/>
          </a:ln>
        </p:spPr>
      </p:sp>
      <p:sp>
        <p:nvSpPr>
          <p:cNvPr id="4" name="A_2_0_fade_724"/>
          <p:cNvSpPr/>
          <p:nvPr/>
        </p:nvSpPr>
        <p:spPr>
          <a:xfrm>
            <a:off x="2415388" y="-251643"/>
            <a:ext cx="7361194" cy="7361194"/>
          </a:xfrm>
          <a:prstGeom prst="ellipse">
            <a:avLst/>
          </a:prstGeom>
          <a:ln w="9525">
            <a:solidFill>
              <a:srgbClr val="D0D1EB"/>
            </a:solidFill>
            <a:prstDash val="solid"/>
          </a:ln>
        </p:spPr>
      </p:sp>
      <p:sp>
        <p:nvSpPr>
          <p:cNvPr id="5" name="A_3_0_fade_725"/>
          <p:cNvSpPr/>
          <p:nvPr/>
        </p:nvSpPr>
        <p:spPr>
          <a:xfrm>
            <a:off x="761970" y="698510"/>
            <a:ext cx="88880" cy="88880"/>
          </a:xfrm>
          <a:prstGeom prst="ellipse">
            <a:avLst/>
          </a:prstGeom>
          <a:solidFill>
            <a:srgbClr val="1E2BFA"/>
          </a:solidFill>
          <a:ln/>
        </p:spPr>
      </p:sp>
      <p:sp>
        <p:nvSpPr>
          <p:cNvPr id="6" name="A_4_0_fade_726"/>
          <p:cNvSpPr/>
          <p:nvPr/>
        </p:nvSpPr>
        <p:spPr>
          <a:xfrm>
            <a:off x="1041410" y="698510"/>
            <a:ext cx="88880" cy="88880"/>
          </a:xfrm>
          <a:prstGeom prst="ellipse">
            <a:avLst/>
          </a:prstGeom>
          <a:solidFill>
            <a:srgbClr val="1E2BFA"/>
          </a:solidFill>
          <a:ln/>
        </p:spPr>
      </p:sp>
      <p:sp>
        <p:nvSpPr>
          <p:cNvPr id="7" name="A_5_0_fade_727"/>
          <p:cNvSpPr/>
          <p:nvPr/>
        </p:nvSpPr>
        <p:spPr>
          <a:xfrm>
            <a:off x="1320759" y="698510"/>
            <a:ext cx="88880" cy="88880"/>
          </a:xfrm>
          <a:prstGeom prst="ellipse">
            <a:avLst/>
          </a:prstGeom>
          <a:solidFill>
            <a:srgbClr val="1E2BFA"/>
          </a:solidFill>
          <a:ln/>
        </p:spPr>
      </p:sp>
      <p:sp>
        <p:nvSpPr>
          <p:cNvPr id="8" name="A_6_0_fade_728"/>
          <p:cNvSpPr/>
          <p:nvPr/>
        </p:nvSpPr>
        <p:spPr>
          <a:xfrm>
            <a:off x="761970" y="977859"/>
            <a:ext cx="88880" cy="88880"/>
          </a:xfrm>
          <a:prstGeom prst="ellipse">
            <a:avLst/>
          </a:prstGeom>
          <a:solidFill>
            <a:srgbClr val="1E2BFA"/>
          </a:solidFill>
          <a:ln/>
        </p:spPr>
      </p:sp>
      <p:sp>
        <p:nvSpPr>
          <p:cNvPr id="9" name="A_7_0_fade_729"/>
          <p:cNvSpPr/>
          <p:nvPr/>
        </p:nvSpPr>
        <p:spPr>
          <a:xfrm>
            <a:off x="1041410" y="977859"/>
            <a:ext cx="88880" cy="88880"/>
          </a:xfrm>
          <a:prstGeom prst="ellipse">
            <a:avLst/>
          </a:prstGeom>
          <a:solidFill>
            <a:srgbClr val="1E2BFA"/>
          </a:solidFill>
          <a:ln/>
        </p:spPr>
      </p:sp>
      <p:sp>
        <p:nvSpPr>
          <p:cNvPr id="10" name="A_8_0_fade_730"/>
          <p:cNvSpPr/>
          <p:nvPr/>
        </p:nvSpPr>
        <p:spPr>
          <a:xfrm>
            <a:off x="1320759" y="977859"/>
            <a:ext cx="88880" cy="88880"/>
          </a:xfrm>
          <a:prstGeom prst="ellipse">
            <a:avLst/>
          </a:prstGeom>
          <a:solidFill>
            <a:srgbClr val="1E2BFA"/>
          </a:solidFill>
          <a:ln/>
        </p:spPr>
      </p:sp>
      <p:sp>
        <p:nvSpPr>
          <p:cNvPr id="11" name="A_9_0_fade_731"/>
          <p:cNvSpPr/>
          <p:nvPr/>
        </p:nvSpPr>
        <p:spPr>
          <a:xfrm>
            <a:off x="761970" y="1257300"/>
            <a:ext cx="88880" cy="88880"/>
          </a:xfrm>
          <a:prstGeom prst="ellipse">
            <a:avLst/>
          </a:prstGeom>
          <a:solidFill>
            <a:srgbClr val="1E2BFA"/>
          </a:solidFill>
          <a:ln/>
        </p:spPr>
      </p:sp>
      <p:sp>
        <p:nvSpPr>
          <p:cNvPr id="12" name="A_10_0_fade_732"/>
          <p:cNvSpPr/>
          <p:nvPr/>
        </p:nvSpPr>
        <p:spPr>
          <a:xfrm>
            <a:off x="1041410" y="1257300"/>
            <a:ext cx="88880" cy="88880"/>
          </a:xfrm>
          <a:prstGeom prst="ellipse">
            <a:avLst/>
          </a:prstGeom>
          <a:solidFill>
            <a:srgbClr val="1E2BFA"/>
          </a:solidFill>
          <a:ln/>
        </p:spPr>
      </p:sp>
      <p:sp>
        <p:nvSpPr>
          <p:cNvPr id="13" name="A_11_0_fade_733"/>
          <p:cNvSpPr/>
          <p:nvPr/>
        </p:nvSpPr>
        <p:spPr>
          <a:xfrm>
            <a:off x="1320759" y="1257300"/>
            <a:ext cx="88880" cy="88880"/>
          </a:xfrm>
          <a:prstGeom prst="ellipse">
            <a:avLst/>
          </a:prstGeom>
          <a:solidFill>
            <a:srgbClr val="1E2BFA"/>
          </a:solidFill>
          <a:ln/>
        </p:spPr>
      </p:sp>
      <p:sp>
        <p:nvSpPr>
          <p:cNvPr id="14" name="A_12_0_fade_734"/>
          <p:cNvSpPr txBox="1"/>
          <p:nvPr/>
        </p:nvSpPr>
        <p:spPr>
          <a:xfrm>
            <a:off x="4755977" y="1754551"/>
            <a:ext cx="2680015" cy="181600"/>
          </a:xfrm>
          <a:prstGeom prst="rect">
            <a:avLst/>
          </a:prstGeom>
          <a:noFill/>
          <a:ln/>
        </p:spPr>
        <p:txBody>
          <a:bodyPr wrap="square" lIns="0" tIns="0" rIns="0" bIns="0" rtlCol="0" anchor="t"/>
          <a:lstStyle/>
          <a:p>
            <a:pPr algn="ctr"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05 · KẾT LUẬN CỦA PHẦN LO NGẠI</a:t>
            </a:r>
            <a:endParaRPr lang="en-US" sz="1100" dirty="0"/>
          </a:p>
        </p:txBody>
      </p:sp>
      <p:sp>
        <p:nvSpPr>
          <p:cNvPr id="15" name="A_13_0_fade_735"/>
          <p:cNvSpPr txBox="1"/>
          <p:nvPr/>
        </p:nvSpPr>
        <p:spPr>
          <a:xfrm>
            <a:off x="2872405" y="2074591"/>
            <a:ext cx="6447069" cy="285750"/>
          </a:xfrm>
          <a:prstGeom prst="rect">
            <a:avLst/>
          </a:prstGeom>
          <a:noFill/>
          <a:ln/>
        </p:spPr>
        <p:txBody>
          <a:bodyPr wrap="square" lIns="0" tIns="0" rIns="0" bIns="0" rtlCol="0" anchor="t"/>
          <a:lstStyle/>
          <a:p>
            <a:pPr algn="ctr" indent="0" marL="0">
              <a:lnSpc>
                <a:spcPts val="2250"/>
              </a:lnSpc>
              <a:buNone/>
            </a:pPr>
            <a:r>
              <a:rPr lang="en-US" sz="1500" dirty="0">
                <a:solidFill>
                  <a:srgbClr val="6B6B6B"/>
                </a:solidFill>
                <a:latin typeface="Inter" pitchFamily="34" charset="0"/>
                <a:ea typeface="Inter" pitchFamily="34" charset="-122"/>
                <a:cs typeface="Inter" pitchFamily="34" charset="-120"/>
              </a:rPr>
              <a:t>Khi các lo ngại đã được đáp ứng, phần thật sự cần xây tập trung chỉ còn</a:t>
            </a:r>
            <a:endParaRPr lang="en-US" sz="1500" dirty="0"/>
          </a:p>
        </p:txBody>
      </p:sp>
      <p:sp>
        <p:nvSpPr>
          <p:cNvPr id="16" name="A_14_0_fade_736"/>
          <p:cNvSpPr/>
          <p:nvPr/>
        </p:nvSpPr>
        <p:spPr>
          <a:xfrm>
            <a:off x="2301088" y="2594427"/>
            <a:ext cx="2408255" cy="973104"/>
          </a:xfrm>
          <a:prstGeom prst="roundRect">
            <a:avLst>
              <a:gd name="adj" fmla="val 9134"/>
            </a:avLst>
          </a:prstGeom>
          <a:solidFill>
            <a:srgbClr val="FDFAE7"/>
          </a:solidFill>
          <a:ln w="9525">
            <a:solidFill>
              <a:srgbClr val="D0D1EB"/>
            </a:solidFill>
            <a:prstDash val="solid"/>
          </a:ln>
        </p:spPr>
      </p:sp>
      <p:sp>
        <p:nvSpPr>
          <p:cNvPr id="17" name="A_14_0_fade_737"/>
          <p:cNvSpPr txBox="1"/>
          <p:nvPr/>
        </p:nvSpPr>
        <p:spPr>
          <a:xfrm>
            <a:off x="3332439" y="2773101"/>
            <a:ext cx="345460" cy="292059"/>
          </a:xfrm>
          <a:prstGeom prst="rect">
            <a:avLst/>
          </a:prstGeom>
          <a:noFill/>
          <a:ln/>
        </p:spPr>
        <p:txBody>
          <a:bodyPr wrap="square" lIns="0" tIns="0" rIns="0" bIns="0" rtlCol="0" anchor="t"/>
          <a:lstStyle/>
          <a:p>
            <a:pPr algn="ctr" indent="0" marL="0">
              <a:lnSpc>
                <a:spcPts val="2300"/>
              </a:lnSpc>
              <a:buNone/>
            </a:pPr>
            <a:r>
              <a:rPr lang="en-US" sz="2000" b="1" spc="-40" kern="0" dirty="0">
                <a:solidFill>
                  <a:srgbClr val="1E2BFA"/>
                </a:solidFill>
                <a:latin typeface="Space Grotesk" pitchFamily="34" charset="0"/>
                <a:ea typeface="Space Grotesk" pitchFamily="34" charset="-122"/>
                <a:cs typeface="Space Grotesk" pitchFamily="34" charset="-120"/>
              </a:rPr>
              <a:t>01</a:t>
            </a:r>
            <a:endParaRPr lang="en-US" sz="2000" dirty="0"/>
          </a:p>
        </p:txBody>
      </p:sp>
      <p:sp>
        <p:nvSpPr>
          <p:cNvPr id="18" name="A_14_0_fade_738"/>
          <p:cNvSpPr txBox="1"/>
          <p:nvPr/>
        </p:nvSpPr>
        <p:spPr>
          <a:xfrm>
            <a:off x="2977652" y="3131820"/>
            <a:ext cx="1055035" cy="254020"/>
          </a:xfrm>
          <a:prstGeom prst="rect">
            <a:avLst/>
          </a:prstGeom>
          <a:noFill/>
          <a:ln/>
        </p:spPr>
        <p:txBody>
          <a:bodyPr wrap="square" lIns="0" tIns="0" rIns="0" bIns="0" rtlCol="0" anchor="t"/>
          <a:lstStyle/>
          <a:p>
            <a:pPr algn="ctr" indent="0" marL="0">
              <a:lnSpc>
                <a:spcPts val="2000"/>
              </a:lnSpc>
              <a:buNone/>
            </a:pPr>
            <a:r>
              <a:rPr lang="en-US" sz="1600" b="1" spc="-16" kern="0" dirty="0">
                <a:solidFill>
                  <a:srgbClr val="111111"/>
                </a:solidFill>
                <a:latin typeface="Space Grotesk" pitchFamily="34" charset="0"/>
                <a:ea typeface="Space Grotesk" pitchFamily="34" charset="-122"/>
                <a:cs typeface="Space Grotesk" pitchFamily="34" charset="-120"/>
              </a:rPr>
              <a:t>Data layer</a:t>
            </a:r>
            <a:endParaRPr lang="en-US" sz="1600" dirty="0"/>
          </a:p>
        </p:txBody>
      </p:sp>
      <p:sp>
        <p:nvSpPr>
          <p:cNvPr id="19" name="A_15_0_fade_739"/>
          <p:cNvSpPr/>
          <p:nvPr/>
        </p:nvSpPr>
        <p:spPr>
          <a:xfrm>
            <a:off x="4891857" y="2594427"/>
            <a:ext cx="2408255" cy="973104"/>
          </a:xfrm>
          <a:prstGeom prst="roundRect">
            <a:avLst>
              <a:gd name="adj" fmla="val 9134"/>
            </a:avLst>
          </a:prstGeom>
          <a:solidFill>
            <a:srgbClr val="FDFAE7"/>
          </a:solidFill>
          <a:ln w="9525">
            <a:solidFill>
              <a:srgbClr val="D0D1EB"/>
            </a:solidFill>
            <a:prstDash val="solid"/>
          </a:ln>
        </p:spPr>
      </p:sp>
      <p:sp>
        <p:nvSpPr>
          <p:cNvPr id="20" name="A_15_0_fade_740"/>
          <p:cNvSpPr txBox="1"/>
          <p:nvPr/>
        </p:nvSpPr>
        <p:spPr>
          <a:xfrm>
            <a:off x="5905195" y="2773101"/>
            <a:ext cx="381579" cy="292059"/>
          </a:xfrm>
          <a:prstGeom prst="rect">
            <a:avLst/>
          </a:prstGeom>
          <a:noFill/>
          <a:ln/>
        </p:spPr>
        <p:txBody>
          <a:bodyPr wrap="square" lIns="0" tIns="0" rIns="0" bIns="0" rtlCol="0" anchor="t"/>
          <a:lstStyle/>
          <a:p>
            <a:pPr algn="ctr" indent="0" marL="0">
              <a:lnSpc>
                <a:spcPts val="2300"/>
              </a:lnSpc>
              <a:buNone/>
            </a:pPr>
            <a:r>
              <a:rPr lang="en-US" sz="2000" b="1" spc="-40" kern="0" dirty="0">
                <a:solidFill>
                  <a:srgbClr val="1E2BFA"/>
                </a:solidFill>
                <a:latin typeface="Space Grotesk" pitchFamily="34" charset="0"/>
                <a:ea typeface="Space Grotesk" pitchFamily="34" charset="-122"/>
                <a:cs typeface="Space Grotesk" pitchFamily="34" charset="-120"/>
              </a:rPr>
              <a:t>02</a:t>
            </a:r>
            <a:endParaRPr lang="en-US" sz="2000" dirty="0"/>
          </a:p>
        </p:txBody>
      </p:sp>
      <p:sp>
        <p:nvSpPr>
          <p:cNvPr id="21" name="A_15_0_fade_741"/>
          <p:cNvSpPr txBox="1"/>
          <p:nvPr/>
        </p:nvSpPr>
        <p:spPr>
          <a:xfrm>
            <a:off x="5513741" y="3131820"/>
            <a:ext cx="1164580" cy="254020"/>
          </a:xfrm>
          <a:prstGeom prst="rect">
            <a:avLst/>
          </a:prstGeom>
          <a:noFill/>
          <a:ln/>
        </p:spPr>
        <p:txBody>
          <a:bodyPr wrap="square" lIns="0" tIns="0" rIns="0" bIns="0" rtlCol="0" anchor="t"/>
          <a:lstStyle/>
          <a:p>
            <a:pPr algn="ctr" indent="0" marL="0">
              <a:lnSpc>
                <a:spcPts val="2000"/>
              </a:lnSpc>
              <a:buNone/>
            </a:pPr>
            <a:r>
              <a:rPr lang="en-US" sz="1600" b="1" spc="-16" kern="0" dirty="0">
                <a:solidFill>
                  <a:srgbClr val="111111"/>
                </a:solidFill>
                <a:latin typeface="Space Grotesk" pitchFamily="34" charset="0"/>
                <a:ea typeface="Space Grotesk" pitchFamily="34" charset="-122"/>
                <a:cs typeface="Space Grotesk" pitchFamily="34" charset="-120"/>
              </a:rPr>
              <a:t>Kit registry</a:t>
            </a:r>
            <a:endParaRPr lang="en-US" sz="1600" dirty="0"/>
          </a:p>
        </p:txBody>
      </p:sp>
      <p:sp>
        <p:nvSpPr>
          <p:cNvPr id="22" name="A_16_0_fade_742"/>
          <p:cNvSpPr/>
          <p:nvPr/>
        </p:nvSpPr>
        <p:spPr>
          <a:xfrm>
            <a:off x="7482718" y="2594427"/>
            <a:ext cx="2408255" cy="973104"/>
          </a:xfrm>
          <a:prstGeom prst="roundRect">
            <a:avLst>
              <a:gd name="adj" fmla="val 9134"/>
            </a:avLst>
          </a:prstGeom>
          <a:solidFill>
            <a:srgbClr val="FDFAE7"/>
          </a:solidFill>
          <a:ln w="9525">
            <a:solidFill>
              <a:srgbClr val="D0D1EB"/>
            </a:solidFill>
            <a:prstDash val="solid"/>
          </a:ln>
        </p:spPr>
      </p:sp>
      <p:sp>
        <p:nvSpPr>
          <p:cNvPr id="23" name="A_16_0_fade_743"/>
          <p:cNvSpPr txBox="1"/>
          <p:nvPr/>
        </p:nvSpPr>
        <p:spPr>
          <a:xfrm>
            <a:off x="8494227" y="2773101"/>
            <a:ext cx="385054" cy="292059"/>
          </a:xfrm>
          <a:prstGeom prst="rect">
            <a:avLst/>
          </a:prstGeom>
          <a:noFill/>
          <a:ln/>
        </p:spPr>
        <p:txBody>
          <a:bodyPr wrap="square" lIns="0" tIns="0" rIns="0" bIns="0" rtlCol="0" anchor="t"/>
          <a:lstStyle/>
          <a:p>
            <a:pPr algn="ctr" indent="0" marL="0">
              <a:lnSpc>
                <a:spcPts val="2300"/>
              </a:lnSpc>
              <a:buNone/>
            </a:pPr>
            <a:r>
              <a:rPr lang="en-US" sz="2000" b="1" spc="-40" kern="0" dirty="0">
                <a:solidFill>
                  <a:srgbClr val="1E2BFA"/>
                </a:solidFill>
                <a:latin typeface="Space Grotesk" pitchFamily="34" charset="0"/>
                <a:ea typeface="Space Grotesk" pitchFamily="34" charset="-122"/>
                <a:cs typeface="Space Grotesk" pitchFamily="34" charset="-120"/>
              </a:rPr>
              <a:t>03</a:t>
            </a:r>
            <a:endParaRPr lang="en-US" sz="2000" dirty="0"/>
          </a:p>
        </p:txBody>
      </p:sp>
      <p:sp>
        <p:nvSpPr>
          <p:cNvPr id="24" name="A_16_0_fade_744"/>
          <p:cNvSpPr txBox="1"/>
          <p:nvPr/>
        </p:nvSpPr>
        <p:spPr>
          <a:xfrm>
            <a:off x="7782001" y="3131820"/>
            <a:ext cx="1809506" cy="254020"/>
          </a:xfrm>
          <a:prstGeom prst="rect">
            <a:avLst/>
          </a:prstGeom>
          <a:noFill/>
          <a:ln/>
        </p:spPr>
        <p:txBody>
          <a:bodyPr wrap="square" lIns="0" tIns="0" rIns="0" bIns="0" rtlCol="0" anchor="t"/>
          <a:lstStyle/>
          <a:p>
            <a:pPr algn="ctr" indent="0" marL="0">
              <a:lnSpc>
                <a:spcPts val="2000"/>
              </a:lnSpc>
              <a:buNone/>
            </a:pPr>
            <a:r>
              <a:rPr lang="en-US" sz="1600" b="1" spc="-16" kern="0" dirty="0">
                <a:solidFill>
                  <a:srgbClr val="111111"/>
                </a:solidFill>
                <a:latin typeface="Space Grotesk" pitchFamily="34" charset="0"/>
                <a:ea typeface="Space Grotesk" pitchFamily="34" charset="-122"/>
                <a:cs typeface="Space Grotesk" pitchFamily="34" charset="-120"/>
              </a:rPr>
              <a:t>Governance layer</a:t>
            </a:r>
            <a:endParaRPr lang="en-US" sz="1600" dirty="0"/>
          </a:p>
        </p:txBody>
      </p:sp>
      <p:sp>
        <p:nvSpPr>
          <p:cNvPr id="25" name="A_17_1_fade_745"/>
          <p:cNvSpPr txBox="1"/>
          <p:nvPr/>
        </p:nvSpPr>
        <p:spPr>
          <a:xfrm>
            <a:off x="3098444" y="3895070"/>
            <a:ext cx="5995172" cy="441930"/>
          </a:xfrm>
          <a:prstGeom prst="rect">
            <a:avLst/>
          </a:prstGeom>
          <a:noFill/>
          <a:ln/>
        </p:spPr>
        <p:txBody>
          <a:bodyPr wrap="square" lIns="0" tIns="0" rIns="0" bIns="0" rtlCol="0" anchor="t"/>
          <a:lstStyle/>
          <a:p>
            <a:pPr algn="ctr" indent="0" marL="0">
              <a:lnSpc>
                <a:spcPts val="3480"/>
              </a:lnSpc>
              <a:buNone/>
            </a:pPr>
            <a:r>
              <a:rPr lang="en-US" sz="2900" b="1" spc="-58" kern="0" dirty="0">
                <a:solidFill>
                  <a:srgbClr val="111111"/>
                </a:solidFill>
                <a:latin typeface="Space Grotesk" pitchFamily="34" charset="0"/>
                <a:ea typeface="Space Grotesk" pitchFamily="34" charset="-122"/>
                <a:cs typeface="Space Grotesk" pitchFamily="34" charset="-120"/>
              </a:rPr>
              <a:t>Đó vẫn là một platform, nhưng là</a:t>
            </a:r>
            <a:endParaRPr lang="en-US" sz="2900" dirty="0"/>
          </a:p>
        </p:txBody>
      </p:sp>
      <p:sp>
        <p:nvSpPr>
          <p:cNvPr id="26" name="A_17_1_fade_746"/>
          <p:cNvSpPr txBox="1"/>
          <p:nvPr/>
        </p:nvSpPr>
        <p:spPr>
          <a:xfrm>
            <a:off x="1047720" y="4336999"/>
            <a:ext cx="10096439" cy="441930"/>
          </a:xfrm>
          <a:prstGeom prst="rect">
            <a:avLst/>
          </a:prstGeom>
          <a:noFill/>
          <a:ln/>
        </p:spPr>
        <p:txBody>
          <a:bodyPr wrap="square" lIns="0" tIns="0" rIns="0" bIns="0" rtlCol="0" anchor="t"/>
          <a:lstStyle/>
          <a:p>
            <a:pPr algn="ctr" indent="0" marL="0">
              <a:lnSpc>
                <a:spcPts val="3480"/>
              </a:lnSpc>
              <a:buNone/>
            </a:pPr>
            <a:r>
              <a:rPr lang="en-US" sz="2900" b="1" spc="-58" kern="0" dirty="0">
                <a:solidFill>
                  <a:srgbClr val="1E2BFA"/>
                </a:solidFill>
                <a:latin typeface="Space Grotesk" pitchFamily="34" charset="0"/>
                <a:ea typeface="Space Grotesk" pitchFamily="34" charset="-122"/>
                <a:cs typeface="Space Grotesk" pitchFamily="34" charset="-120"/>
              </a:rPr>
              <a:t>platform của tài sản</a:t>
            </a:r>
            <a:pPr algn="ctr" indent="0" marL="0">
              <a:lnSpc>
                <a:spcPts val="3480"/>
              </a:lnSpc>
              <a:buNone/>
            </a:pPr>
            <a:r>
              <a:rPr lang="en-US" sz="2900" b="1" spc="-58" kern="0" dirty="0">
                <a:solidFill>
                  <a:srgbClr val="111111"/>
                </a:solidFill>
                <a:latin typeface="Space Grotesk" pitchFamily="34" charset="0"/>
                <a:ea typeface="Space Grotesk" pitchFamily="34" charset="-122"/>
                <a:cs typeface="Space Grotesk" pitchFamily="34" charset="-120"/>
              </a:rPr>
              <a:t>, không phải platform của harness.</a:t>
            </a:r>
            <a:endParaRPr lang="en-US" sz="2900" dirty="0"/>
          </a:p>
        </p:txBody>
      </p:sp>
      <p:sp>
        <p:nvSpPr>
          <p:cNvPr id="27" name="S_747"/>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28" name="S_748"/>
          <p:cNvSpPr txBox="1"/>
          <p:nvPr/>
        </p:nvSpPr>
        <p:spPr>
          <a:xfrm>
            <a:off x="11161715" y="6517660"/>
            <a:ext cx="496885"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20 / 25</a:t>
            </a:r>
            <a:endParaRPr lang="en-US" sz="900" dirty="0"/>
          </a:p>
        </p:txBody>
      </p:sp>
      <p:sp>
        <p:nvSpPr>
          <p:cNvPr id="29" name="S_749"/>
          <p:cNvSpPr/>
          <p:nvPr/>
        </p:nvSpPr>
        <p:spPr>
          <a:xfrm>
            <a:off x="0" y="6838980"/>
            <a:ext cx="975363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2"/>
                                        </p:tgtEl>
                                        <p:attrNameLst>
                                          <p:attrName>style.visibility</p:attrName>
                                        </p:attrNameLst>
                                      </p:cBhvr>
                                      <p:to>
                                        <p:strVal val="visible"/>
                                      </p:to>
                                    </p:set>
                                    <p:animEffect transition="in" filter="fade">
                                      <p:cBhvr>
                                        <p:cTn id="5" dur="500"/>
                                        <p:tgtEl>
                                          <p:spTgt spid="2"/>
                                        </p:tgtEl>
                                      </p:cBhvr>
                                    </p:animEffect>
                                  </p:childTnLst>
                                </p:cTn>
                              </p:par>
                              <p:par>
                                <p:cTn id="6" presetID="10" presetClass="entr" presetSubtype="0" fill="hold" grpId="0" nodeType="withEffect">
                                  <p:stCondLst>
                                    <p:cond delay="76"/>
                                  </p:stCondLst>
                                  <p:childTnLst>
                                    <p:set>
                                      <p:cBhvr>
                                        <p:cTn id="7" dur="1" fill="hold">
                                          <p:stCondLst>
                                            <p:cond delay="0"/>
                                          </p:stCondLst>
                                        </p:cTn>
                                        <p:tgtEl>
                                          <p:spTgt spid="3"/>
                                        </p:tgtEl>
                                        <p:attrNameLst>
                                          <p:attrName>style.visibility</p:attrName>
                                        </p:attrNameLst>
                                      </p:cBhvr>
                                      <p:to>
                                        <p:strVal val="visible"/>
                                      </p:to>
                                    </p:set>
                                    <p:animEffect transition="in" filter="fade">
                                      <p:cBhvr>
                                        <p:cTn id="8" dur="500"/>
                                        <p:tgtEl>
                                          <p:spTgt spid="3"/>
                                        </p:tgtEl>
                                      </p:cBhvr>
                                    </p:animEffect>
                                  </p:childTnLst>
                                </p:cTn>
                              </p:par>
                              <p:par>
                                <p:cTn id="9" presetID="10" presetClass="entr" presetSubtype="0" fill="hold" grpId="0" nodeType="withEffect">
                                  <p:stCondLst>
                                    <p:cond delay="152"/>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500"/>
                                        <p:tgtEl>
                                          <p:spTgt spid="4"/>
                                        </p:tgtEl>
                                      </p:cBhvr>
                                    </p:animEffect>
                                  </p:childTnLst>
                                </p:cTn>
                              </p:par>
                              <p:par>
                                <p:cTn id="12" presetID="10" presetClass="entr" presetSubtype="0" fill="hold" grpId="0" nodeType="withEffect">
                                  <p:stCondLst>
                                    <p:cond delay="228"/>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10" presetClass="entr" presetSubtype="0" fill="hold" grpId="0" nodeType="withEffect">
                                  <p:stCondLst>
                                    <p:cond delay="304"/>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10" presetClass="entr" presetSubtype="0" fill="hold" grpId="0" nodeType="withEffect">
                                  <p:stCondLst>
                                    <p:cond delay="38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456"/>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par>
                                <p:cTn id="24" presetID="10" presetClass="entr" presetSubtype="0" fill="hold" grpId="0" nodeType="withEffect">
                                  <p:stCondLst>
                                    <p:cond delay="532"/>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grpId="0" nodeType="withEffect">
                                  <p:stCondLst>
                                    <p:cond delay="608"/>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childTnLst>
                                </p:cTn>
                              </p:par>
                              <p:par>
                                <p:cTn id="30" presetID="10" presetClass="entr" presetSubtype="0" fill="hold" grpId="0" nodeType="withEffect">
                                  <p:stCondLst>
                                    <p:cond delay="684"/>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par>
                                <p:cTn id="33" presetID="10" presetClass="entr" presetSubtype="0" fill="hold" grpId="0" nodeType="withEffect">
                                  <p:stCondLst>
                                    <p:cond delay="76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grpId="0" nodeType="withEffect">
                                  <p:stCondLst>
                                    <p:cond delay="836"/>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grpId="0" nodeType="withEffect">
                                  <p:stCondLst>
                                    <p:cond delay="912"/>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500"/>
                                        <p:tgtEl>
                                          <p:spTgt spid="14"/>
                                        </p:tgtEl>
                                      </p:cBhvr>
                                    </p:animEffect>
                                  </p:childTnLst>
                                </p:cTn>
                              </p:par>
                              <p:par>
                                <p:cTn id="42" presetID="10" presetClass="entr" presetSubtype="0" fill="hold" grpId="0" nodeType="withEffect">
                                  <p:stCondLst>
                                    <p:cond delay="988"/>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500"/>
                                        <p:tgtEl>
                                          <p:spTgt spid="15"/>
                                        </p:tgtEl>
                                      </p:cBhvr>
                                    </p:animEffect>
                                  </p:childTnLst>
                                </p:cTn>
                              </p:par>
                              <p:par>
                                <p:cTn id="45" presetID="10" presetClass="entr" presetSubtype="0" fill="hold" grpId="0" nodeType="withEffect">
                                  <p:stCondLst>
                                    <p:cond delay="1064"/>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500"/>
                                        <p:tgtEl>
                                          <p:spTgt spid="16"/>
                                        </p:tgtEl>
                                      </p:cBhvr>
                                    </p:animEffect>
                                  </p:childTnLst>
                                </p:cTn>
                              </p:par>
                              <p:par>
                                <p:cTn id="48" presetID="10" presetClass="entr" presetSubtype="0" fill="hold" grpId="0" nodeType="withEffect">
                                  <p:stCondLst>
                                    <p:cond delay="1064"/>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par>
                                <p:cTn id="51" presetID="10" presetClass="entr" presetSubtype="0" fill="hold" grpId="0" nodeType="withEffect">
                                  <p:stCondLst>
                                    <p:cond delay="1064"/>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500"/>
                                        <p:tgtEl>
                                          <p:spTgt spid="18"/>
                                        </p:tgtEl>
                                      </p:cBhvr>
                                    </p:animEffect>
                                  </p:childTnLst>
                                </p:cTn>
                              </p:par>
                              <p:par>
                                <p:cTn id="54" presetID="10" presetClass="entr" presetSubtype="0" fill="hold" grpId="0" nodeType="withEffect">
                                  <p:stCondLst>
                                    <p:cond delay="114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500"/>
                                        <p:tgtEl>
                                          <p:spTgt spid="19"/>
                                        </p:tgtEl>
                                      </p:cBhvr>
                                    </p:animEffect>
                                  </p:childTnLst>
                                </p:cTn>
                              </p:par>
                              <p:par>
                                <p:cTn id="57" presetID="10" presetClass="entr" presetSubtype="0" fill="hold" grpId="0" nodeType="withEffect">
                                  <p:stCondLst>
                                    <p:cond delay="114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grpId="0" nodeType="withEffect">
                                  <p:stCondLst>
                                    <p:cond delay="114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grpId="0" nodeType="withEffect">
                                  <p:stCondLst>
                                    <p:cond delay="1216"/>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grpId="0" nodeType="withEffect">
                                  <p:stCondLst>
                                    <p:cond delay="1216"/>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10" presetClass="entr" presetSubtype="0" fill="hold" grpId="0" nodeType="withEffect">
                                  <p:stCondLst>
                                    <p:cond delay="1216"/>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500"/>
                                        <p:tgtEl>
                                          <p:spTgt spid="24"/>
                                        </p:tgtEl>
                                      </p:cBhvr>
                                    </p:animEffect>
                                  </p:childTnLst>
                                </p:cTn>
                              </p:par>
                            </p:childTnLst>
                          </p:cTn>
                        </p:par>
                      </p:childTnLst>
                    </p:cTn>
                  </p:par>
                  <p:par>
                    <p:cTn id="81" fill="hold">
                      <p:stCondLst>
                        <p:cond delay="indefinite"/>
                      </p:stCondLst>
                      <p:childTnLst>
                        <p:par>
                          <p:cTn id="80"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DFAE7"/>
        </a:solidFill>
      </p:bgPr>
    </p:bg>
    <p:spTree>
      <p:nvGrpSpPr>
        <p:cNvPr id="1" name=""/>
        <p:cNvGrpSpPr/>
        <p:nvPr/>
      </p:nvGrpSpPr>
      <p:grpSpPr>
        <a:xfrm>
          <a:off x="0" y="0"/>
          <a:ext cx="0" cy="0"/>
          <a:chOff x="0" y="0"/>
          <a:chExt cx="0" cy="0"/>
        </a:xfrm>
      </p:grpSpPr>
      <p:sp>
        <p:nvSpPr>
          <p:cNvPr id="2" name="S_750"/>
          <p:cNvSpPr txBox="1"/>
          <p:nvPr/>
        </p:nvSpPr>
        <p:spPr>
          <a:xfrm>
            <a:off x="609630" y="466070"/>
            <a:ext cx="2975366"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06 · KHI NÀO NÊN TỰ LÀM NHIỀU HƠN</a:t>
            </a:r>
            <a:endParaRPr lang="en-US" sz="1100" dirty="0"/>
          </a:p>
        </p:txBody>
      </p:sp>
      <p:sp>
        <p:nvSpPr>
          <p:cNvPr id="3" name="S_751"/>
          <p:cNvSpPr/>
          <p:nvPr/>
        </p:nvSpPr>
        <p:spPr>
          <a:xfrm>
            <a:off x="9761769" y="412760"/>
            <a:ext cx="1820662" cy="292059"/>
          </a:xfrm>
          <a:prstGeom prst="roundRect">
            <a:avLst>
              <a:gd name="adj" fmla="val 50000"/>
            </a:avLst>
          </a:prstGeom>
          <a:solidFill>
            <a:srgbClr val="EBE9E9"/>
          </a:solidFill>
          <a:ln/>
        </p:spPr>
      </p:sp>
      <p:sp>
        <p:nvSpPr>
          <p:cNvPr id="4" name="S_752"/>
          <p:cNvSpPr txBox="1"/>
          <p:nvPr/>
        </p:nvSpPr>
        <p:spPr>
          <a:xfrm>
            <a:off x="9926818" y="476220"/>
            <a:ext cx="1609710"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Đề xuất không tuyệt đối</a:t>
            </a:r>
            <a:endParaRPr lang="en-US" sz="1000" dirty="0"/>
          </a:p>
        </p:txBody>
      </p:sp>
      <p:sp>
        <p:nvSpPr>
          <p:cNvPr id="5" name="A_0_0_fade_753"/>
          <p:cNvSpPr txBox="1"/>
          <p:nvPr/>
        </p:nvSpPr>
        <p:spPr>
          <a:xfrm>
            <a:off x="609630" y="806592"/>
            <a:ext cx="10767426" cy="824972"/>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Bốn trường hợp nên tự làm nhiều hơn, nhưng vẫn không viết</a:t>
            </a:r>
            <a:endParaRPr lang="en-US" sz="2800" dirty="0"/>
          </a:p>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harness từ đầu</a:t>
            </a:r>
            <a:endParaRPr lang="en-US" sz="2800" dirty="0"/>
          </a:p>
        </p:txBody>
      </p:sp>
      <p:sp>
        <p:nvSpPr>
          <p:cNvPr id="6" name="A_1_0_fade_754"/>
          <p:cNvSpPr/>
          <p:nvPr/>
        </p:nvSpPr>
        <p:spPr>
          <a:xfrm>
            <a:off x="612008" y="2581077"/>
            <a:ext cx="5405476" cy="1519458"/>
          </a:xfrm>
          <a:prstGeom prst="roundRect">
            <a:avLst>
              <a:gd name="adj" fmla="val 5849"/>
            </a:avLst>
          </a:prstGeom>
          <a:solidFill>
            <a:srgbClr val="F4F2E8"/>
          </a:solidFill>
          <a:ln w="9525">
            <a:solidFill>
              <a:srgbClr val="C9CAEB"/>
            </a:solidFill>
            <a:prstDash val="solid"/>
          </a:ln>
        </p:spPr>
      </p:sp>
      <p:sp>
        <p:nvSpPr>
          <p:cNvPr id="7" name="A_1_0_fade_755"/>
          <p:cNvSpPr txBox="1"/>
          <p:nvPr/>
        </p:nvSpPr>
        <p:spPr>
          <a:xfrm>
            <a:off x="831830" y="2759659"/>
            <a:ext cx="5022616" cy="444490"/>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Người dùng phần lớn không phải kỹ sư, quy mô lớn, cần</a:t>
            </a:r>
            <a:endParaRPr lang="en-US" sz="1400" dirty="0"/>
          </a:p>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một chat UI chung</a:t>
            </a:r>
            <a:endParaRPr lang="en-US" sz="1400" dirty="0"/>
          </a:p>
        </p:txBody>
      </p:sp>
      <p:sp>
        <p:nvSpPr>
          <p:cNvPr id="8" name="A_1_0_fade_756"/>
          <p:cNvSpPr txBox="1"/>
          <p:nvPr/>
        </p:nvSpPr>
        <p:spPr>
          <a:xfrm>
            <a:off x="831830" y="3279221"/>
            <a:ext cx="5338084" cy="635325"/>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Dùng sản phẩm chat doanh nghiệp của vendor, hoặc harness đa kênh có</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sẵn như OpenClaw, nối vào cùng connector và data source. Chỉ tự làm một</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lớp giao diện mỏng khi không sản phẩm nào đáp ứng.</a:t>
            </a:r>
            <a:endParaRPr lang="en-US" sz="1150" dirty="0"/>
          </a:p>
        </p:txBody>
      </p:sp>
      <p:sp>
        <p:nvSpPr>
          <p:cNvPr id="9" name="A_2_0_fade_757"/>
          <p:cNvSpPr/>
          <p:nvPr/>
        </p:nvSpPr>
        <p:spPr>
          <a:xfrm>
            <a:off x="6174577" y="2581077"/>
            <a:ext cx="5405476" cy="1519458"/>
          </a:xfrm>
          <a:prstGeom prst="roundRect">
            <a:avLst>
              <a:gd name="adj" fmla="val 5849"/>
            </a:avLst>
          </a:prstGeom>
          <a:solidFill>
            <a:srgbClr val="F4F2E8"/>
          </a:solidFill>
          <a:ln w="9525">
            <a:solidFill>
              <a:srgbClr val="C9CAEB"/>
            </a:solidFill>
            <a:prstDash val="solid"/>
          </a:ln>
        </p:spPr>
      </p:sp>
      <p:sp>
        <p:nvSpPr>
          <p:cNvPr id="10" name="A_2_0_fade_758"/>
          <p:cNvSpPr txBox="1"/>
          <p:nvPr/>
        </p:nvSpPr>
        <p:spPr>
          <a:xfrm>
            <a:off x="6394491" y="2759659"/>
            <a:ext cx="3898087"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Môi trường cách ly hoàn toàn (air-gapped)</a:t>
            </a:r>
            <a:endParaRPr lang="en-US" sz="1400" dirty="0"/>
          </a:p>
        </p:txBody>
      </p:sp>
      <p:sp>
        <p:nvSpPr>
          <p:cNvPr id="11" name="A_2_0_fade_759"/>
          <p:cNvSpPr txBox="1"/>
          <p:nvPr/>
        </p:nvSpPr>
        <p:spPr>
          <a:xfrm>
            <a:off x="6394491" y="3057022"/>
            <a:ext cx="5268590" cy="423550"/>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Không harness thương mại nào được phép dùng. Bắt đầu từ harness open</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source tự host và model tự host, không viết từ đầu.</a:t>
            </a:r>
            <a:endParaRPr lang="en-US" sz="1150" dirty="0"/>
          </a:p>
        </p:txBody>
      </p:sp>
      <p:sp>
        <p:nvSpPr>
          <p:cNvPr id="12" name="A_3_0_fade_760"/>
          <p:cNvSpPr/>
          <p:nvPr/>
        </p:nvSpPr>
        <p:spPr>
          <a:xfrm>
            <a:off x="612008" y="4257721"/>
            <a:ext cx="5405476" cy="1085484"/>
          </a:xfrm>
          <a:prstGeom prst="roundRect">
            <a:avLst>
              <a:gd name="adj" fmla="val 8188"/>
            </a:avLst>
          </a:prstGeom>
          <a:solidFill>
            <a:srgbClr val="F4F2E8"/>
          </a:solidFill>
          <a:ln w="9525">
            <a:solidFill>
              <a:srgbClr val="C9CAEB"/>
            </a:solidFill>
            <a:prstDash val="solid"/>
          </a:ln>
        </p:spPr>
      </p:sp>
      <p:sp>
        <p:nvSpPr>
          <p:cNvPr id="13" name="A_3_0_fade_761"/>
          <p:cNvSpPr txBox="1"/>
          <p:nvPr/>
        </p:nvSpPr>
        <p:spPr>
          <a:xfrm>
            <a:off x="831830" y="4436303"/>
            <a:ext cx="3064977"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Agent là sản phẩm bán cho khách</a:t>
            </a:r>
            <a:endParaRPr lang="en-US" sz="1400" dirty="0"/>
          </a:p>
        </p:txBody>
      </p:sp>
      <p:sp>
        <p:nvSpPr>
          <p:cNvPr id="14" name="A_3_0_fade_762"/>
          <p:cNvSpPr txBox="1"/>
          <p:nvPr/>
        </p:nvSpPr>
        <p:spPr>
          <a:xfrm>
            <a:off x="831830" y="4733574"/>
            <a:ext cx="5331409" cy="423550"/>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Đây là bài toán khác: dùng Agent SDK hoặc framework để dựng sản phẩm.</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Kit và data source vẫn dùng lại được.</a:t>
            </a:r>
            <a:endParaRPr lang="en-US" sz="1150" dirty="0"/>
          </a:p>
        </p:txBody>
      </p:sp>
      <p:sp>
        <p:nvSpPr>
          <p:cNvPr id="15" name="A_4_0_fade_763"/>
          <p:cNvSpPr/>
          <p:nvPr/>
        </p:nvSpPr>
        <p:spPr>
          <a:xfrm>
            <a:off x="6174577" y="4257721"/>
            <a:ext cx="5405476" cy="1085484"/>
          </a:xfrm>
          <a:prstGeom prst="roundRect">
            <a:avLst>
              <a:gd name="adj" fmla="val 8188"/>
            </a:avLst>
          </a:prstGeom>
          <a:solidFill>
            <a:srgbClr val="F4F2E8"/>
          </a:solidFill>
          <a:ln w="9525">
            <a:solidFill>
              <a:srgbClr val="C9CAEB"/>
            </a:solidFill>
            <a:prstDash val="solid"/>
          </a:ln>
        </p:spPr>
      </p:sp>
      <p:sp>
        <p:nvSpPr>
          <p:cNvPr id="16" name="A_4_0_fade_764"/>
          <p:cNvSpPr txBox="1"/>
          <p:nvPr/>
        </p:nvSpPr>
        <p:spPr>
          <a:xfrm>
            <a:off x="6394491" y="4436303"/>
            <a:ext cx="3365175" cy="222291"/>
          </a:xfrm>
          <a:prstGeom prst="rect">
            <a:avLst/>
          </a:prstGeom>
          <a:noFill/>
          <a:ln/>
        </p:spPr>
        <p:txBody>
          <a:bodyPr wrap="square" lIns="0" tIns="0" rIns="0" bIns="0" rtlCol="0" anchor="t"/>
          <a:lstStyle/>
          <a:p>
            <a:pPr algn="l" indent="0" marL="0">
              <a:lnSpc>
                <a:spcPts val="1750"/>
              </a:lnSpc>
              <a:buNone/>
            </a:pPr>
            <a:r>
              <a:rPr lang="en-US" sz="1400" b="1" spc="-14" kern="0" dirty="0">
                <a:solidFill>
                  <a:srgbClr val="111111"/>
                </a:solidFill>
                <a:latin typeface="Space Grotesk" pitchFamily="34" charset="0"/>
                <a:ea typeface="Space Grotesk" pitchFamily="34" charset="-122"/>
                <a:cs typeface="Space Grotesk" pitchFamily="34" charset="-120"/>
              </a:rPr>
              <a:t>Harness thiếu một năng lực bắt buộc</a:t>
            </a:r>
            <a:endParaRPr lang="en-US" sz="1400" dirty="0"/>
          </a:p>
        </p:txBody>
      </p:sp>
      <p:sp>
        <p:nvSpPr>
          <p:cNvPr id="17" name="A_4_0_fade_765"/>
          <p:cNvSpPr txBox="1"/>
          <p:nvPr/>
        </p:nvSpPr>
        <p:spPr>
          <a:xfrm>
            <a:off x="6394491" y="4733574"/>
            <a:ext cx="5304617" cy="423550"/>
          </a:xfrm>
          <a:prstGeom prst="rect">
            <a:avLst/>
          </a:prstGeom>
          <a:noFill/>
          <a:ln/>
        </p:spPr>
        <p:txBody>
          <a:bodyPr wrap="square" lIns="0" tIns="0" rIns="0" bIns="0" rtlCol="0" anchor="t"/>
          <a:lstStyle/>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Vá bằng hook, plugin, MCP server, hoặc đóng góp cho dự án open source.</a:t>
            </a:r>
            <a:endParaRPr lang="en-US" sz="1150" dirty="0"/>
          </a:p>
          <a:p>
            <a:pPr algn="l" indent="0" marL="0">
              <a:lnSpc>
                <a:spcPts val="1668"/>
              </a:lnSpc>
              <a:buNone/>
            </a:pPr>
            <a:r>
              <a:rPr lang="en-US" sz="1150" dirty="0">
                <a:solidFill>
                  <a:srgbClr val="6B6B6B"/>
                </a:solidFill>
                <a:latin typeface="Inter" pitchFamily="34" charset="0"/>
                <a:ea typeface="Inter" pitchFamily="34" charset="-122"/>
                <a:cs typeface="Inter" pitchFamily="34" charset="-120"/>
              </a:rPr>
              <a:t>Viết harness mới là lựa chọn cuối cùng.</a:t>
            </a:r>
            <a:endParaRPr lang="en-US" sz="1150" dirty="0"/>
          </a:p>
        </p:txBody>
      </p:sp>
      <p:sp>
        <p:nvSpPr>
          <p:cNvPr id="18" name="S_766"/>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19" name="S_767"/>
          <p:cNvSpPr txBox="1"/>
          <p:nvPr/>
        </p:nvSpPr>
        <p:spPr>
          <a:xfrm>
            <a:off x="11185581" y="6517660"/>
            <a:ext cx="473019"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21 / 25</a:t>
            </a:r>
            <a:endParaRPr lang="en-US" sz="900" dirty="0"/>
          </a:p>
        </p:txBody>
      </p:sp>
      <p:sp>
        <p:nvSpPr>
          <p:cNvPr id="20" name="S_768"/>
          <p:cNvSpPr/>
          <p:nvPr/>
        </p:nvSpPr>
        <p:spPr>
          <a:xfrm>
            <a:off x="0" y="6838980"/>
            <a:ext cx="1024128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42"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33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33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44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44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44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DFAE7"/>
        </a:solidFill>
      </p:bgPr>
    </p:bg>
    <p:spTree>
      <p:nvGrpSpPr>
        <p:cNvPr id="1" name=""/>
        <p:cNvGrpSpPr/>
        <p:nvPr/>
      </p:nvGrpSpPr>
      <p:grpSpPr>
        <a:xfrm>
          <a:off x="0" y="0"/>
          <a:ext cx="0" cy="0"/>
          <a:chOff x="0" y="0"/>
          <a:chExt cx="0" cy="0"/>
        </a:xfrm>
      </p:grpSpPr>
      <p:sp>
        <p:nvSpPr>
          <p:cNvPr id="2" name="S_769"/>
          <p:cNvSpPr txBox="1"/>
          <p:nvPr/>
        </p:nvSpPr>
        <p:spPr>
          <a:xfrm>
            <a:off x="609630" y="466070"/>
            <a:ext cx="2542032"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07 · RỦI RO CỦA CHÍNH ĐỀ XUẤT</a:t>
            </a:r>
            <a:endParaRPr lang="en-US" sz="1100" dirty="0"/>
          </a:p>
        </p:txBody>
      </p:sp>
      <p:sp>
        <p:nvSpPr>
          <p:cNvPr id="3" name="S_770"/>
          <p:cNvSpPr/>
          <p:nvPr/>
        </p:nvSpPr>
        <p:spPr>
          <a:xfrm>
            <a:off x="10009480" y="412760"/>
            <a:ext cx="1572951" cy="292059"/>
          </a:xfrm>
          <a:prstGeom prst="roundRect">
            <a:avLst>
              <a:gd name="adj" fmla="val 50000"/>
            </a:avLst>
          </a:prstGeom>
          <a:solidFill>
            <a:srgbClr val="EBE9E9"/>
          </a:solidFill>
          <a:ln/>
        </p:spPr>
      </p:sp>
      <p:sp>
        <p:nvSpPr>
          <p:cNvPr id="4" name="S_771"/>
          <p:cNvSpPr txBox="1"/>
          <p:nvPr/>
        </p:nvSpPr>
        <p:spPr>
          <a:xfrm>
            <a:off x="10174620" y="476220"/>
            <a:ext cx="1342156"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7 rủi ro · 7 cách giảm</a:t>
            </a:r>
            <a:endParaRPr lang="en-US" sz="1000" dirty="0"/>
          </a:p>
        </p:txBody>
      </p:sp>
      <p:sp>
        <p:nvSpPr>
          <p:cNvPr id="5" name="A_0_0_fade_772"/>
          <p:cNvSpPr txBox="1"/>
          <p:nvPr/>
        </p:nvSpPr>
        <p:spPr>
          <a:xfrm>
            <a:off x="609630" y="806592"/>
            <a:ext cx="8702070"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Đề xuất cũng có rủi ro, và mỗi rủi ro có cách giảm</a:t>
            </a:r>
            <a:endParaRPr lang="en-US" sz="2800" dirty="0"/>
          </a:p>
        </p:txBody>
      </p:sp>
      <p:sp>
        <p:nvSpPr>
          <p:cNvPr id="6" name="S_773"/>
          <p:cNvSpPr/>
          <p:nvPr/>
        </p:nvSpPr>
        <p:spPr>
          <a:xfrm>
            <a:off x="612008" y="1698498"/>
            <a:ext cx="10968045" cy="4089288"/>
          </a:xfrm>
          <a:prstGeom prst="roundRect">
            <a:avLst>
              <a:gd name="adj" fmla="val 2173"/>
            </a:avLst>
          </a:prstGeom>
          <a:solidFill>
            <a:srgbClr val="F4F2E8"/>
          </a:solidFill>
          <a:ln w="9525">
            <a:solidFill>
              <a:srgbClr val="C9CAEB"/>
            </a:solidFill>
            <a:prstDash val="solid"/>
          </a:ln>
        </p:spPr>
      </p:sp>
      <p:sp>
        <p:nvSpPr>
          <p:cNvPr id="7" name="A_1_0_fade_774"/>
          <p:cNvSpPr/>
          <p:nvPr/>
        </p:nvSpPr>
        <p:spPr>
          <a:xfrm>
            <a:off x="615940" y="1702521"/>
            <a:ext cx="10960090" cy="364388"/>
          </a:xfrm>
          <a:prstGeom prst="roundRect">
            <a:avLst>
              <a:gd name="adj" fmla="val 21782"/>
            </a:avLst>
          </a:prstGeom>
          <a:solidFill>
            <a:srgbClr val="E3E2E9"/>
          </a:solidFill>
          <a:ln/>
        </p:spPr>
      </p:sp>
      <p:sp>
        <p:nvSpPr>
          <p:cNvPr id="8" name="A_1_0_fade_775"/>
          <p:cNvSpPr/>
          <p:nvPr/>
        </p:nvSpPr>
        <p:spPr>
          <a:xfrm>
            <a:off x="615940" y="1884670"/>
            <a:ext cx="10960090" cy="182240"/>
          </a:xfrm>
          <a:prstGeom prst="rect">
            <a:avLst/>
          </a:prstGeom>
          <a:solidFill>
            <a:srgbClr val="E3E2E9"/>
          </a:solidFill>
          <a:ln/>
        </p:spPr>
      </p:sp>
      <p:sp>
        <p:nvSpPr>
          <p:cNvPr id="9" name="A_1_0_fade_776"/>
          <p:cNvSpPr txBox="1"/>
          <p:nvPr/>
        </p:nvSpPr>
        <p:spPr>
          <a:xfrm>
            <a:off x="781080" y="1809140"/>
            <a:ext cx="487924"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RỦI RO</a:t>
            </a:r>
            <a:endParaRPr lang="en-US" sz="900" dirty="0"/>
          </a:p>
        </p:txBody>
      </p:sp>
      <p:sp>
        <p:nvSpPr>
          <p:cNvPr id="10" name="A_1_0_fade_777"/>
          <p:cNvSpPr txBox="1"/>
          <p:nvPr/>
        </p:nvSpPr>
        <p:spPr>
          <a:xfrm>
            <a:off x="6261080" y="1809140"/>
            <a:ext cx="758312" cy="148590"/>
          </a:xfrm>
          <a:prstGeom prst="rect">
            <a:avLst/>
          </a:prstGeom>
          <a:noFill/>
          <a:ln/>
        </p:spPr>
        <p:txBody>
          <a:bodyPr wrap="square" lIns="0" tIns="0" rIns="0" bIns="0" rtlCol="0" anchor="t"/>
          <a:lstStyle/>
          <a:p>
            <a:pPr algn="l" indent="0" marL="0">
              <a:lnSpc>
                <a:spcPts val="1170"/>
              </a:lnSpc>
              <a:buNone/>
            </a:pPr>
            <a:r>
              <a:rPr lang="en-US" sz="900" b="1" spc="72" kern="0" dirty="0">
                <a:solidFill>
                  <a:srgbClr val="1E2BFA"/>
                </a:solidFill>
                <a:latin typeface="Space Grotesk" pitchFamily="34" charset="0"/>
                <a:ea typeface="Space Grotesk" pitchFamily="34" charset="-122"/>
                <a:cs typeface="Space Grotesk" pitchFamily="34" charset="-120"/>
              </a:rPr>
              <a:t>CÁCH GIẢM</a:t>
            </a:r>
            <a:endParaRPr lang="en-US" sz="900" dirty="0"/>
          </a:p>
        </p:txBody>
      </p:sp>
      <p:sp>
        <p:nvSpPr>
          <p:cNvPr id="11" name="A_2_0_fade_778"/>
          <p:cNvSpPr/>
          <p:nvPr/>
        </p:nvSpPr>
        <p:spPr>
          <a:xfrm>
            <a:off x="615940" y="2066910"/>
            <a:ext cx="10960090" cy="6309"/>
          </a:xfrm>
          <a:prstGeom prst="rect">
            <a:avLst/>
          </a:prstGeom>
          <a:solidFill>
            <a:srgbClr val="C9CAEB"/>
          </a:solidFill>
          <a:ln/>
        </p:spPr>
      </p:sp>
      <p:sp>
        <p:nvSpPr>
          <p:cNvPr id="12" name="A_2_0_fade_779"/>
          <p:cNvSpPr txBox="1"/>
          <p:nvPr/>
        </p:nvSpPr>
        <p:spPr>
          <a:xfrm>
            <a:off x="781080" y="2165391"/>
            <a:ext cx="2179564"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Portability không trọn vẹn</a:t>
            </a:r>
            <a:endParaRPr lang="en-US" sz="1250" dirty="0"/>
          </a:p>
        </p:txBody>
      </p:sp>
      <p:sp>
        <p:nvSpPr>
          <p:cNvPr id="13" name="A_2_0_fade_780"/>
          <p:cNvSpPr txBox="1"/>
          <p:nvPr/>
        </p:nvSpPr>
        <p:spPr>
          <a:xfrm>
            <a:off x="6261080" y="2166579"/>
            <a:ext cx="4817608"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Adapter mỏng; đo phần phải sửa khi chạy kit trên harness thứ hai</a:t>
            </a:r>
            <a:endParaRPr lang="en-US" sz="1200" dirty="0"/>
          </a:p>
        </p:txBody>
      </p:sp>
      <p:sp>
        <p:nvSpPr>
          <p:cNvPr id="14" name="A_3_0_fade_781"/>
          <p:cNvSpPr/>
          <p:nvPr/>
        </p:nvSpPr>
        <p:spPr>
          <a:xfrm>
            <a:off x="615940" y="2477110"/>
            <a:ext cx="10960090" cy="6309"/>
          </a:xfrm>
          <a:prstGeom prst="rect">
            <a:avLst/>
          </a:prstGeom>
          <a:solidFill>
            <a:srgbClr val="C9CAEB"/>
          </a:solidFill>
          <a:ln/>
        </p:spPr>
      </p:sp>
      <p:sp>
        <p:nvSpPr>
          <p:cNvPr id="15" name="A_3_0_fade_782"/>
          <p:cNvSpPr txBox="1"/>
          <p:nvPr/>
        </p:nvSpPr>
        <p:spPr>
          <a:xfrm>
            <a:off x="781080" y="2575499"/>
            <a:ext cx="5287061" cy="41907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License IDE không nhất thiết cho chạy headless trong CI; có thể</a:t>
            </a:r>
            <a:endParaRPr lang="en-US" sz="1250" dirty="0"/>
          </a:p>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cần tài khoản API riêng</a:t>
            </a:r>
            <a:endParaRPr lang="en-US" sz="1250" dirty="0"/>
          </a:p>
        </p:txBody>
      </p:sp>
      <p:sp>
        <p:nvSpPr>
          <p:cNvPr id="16" name="A_3_0_fade_783"/>
          <p:cNvSpPr txBox="1"/>
          <p:nvPr/>
        </p:nvSpPr>
        <p:spPr>
          <a:xfrm>
            <a:off x="6261080" y="2576779"/>
            <a:ext cx="3053090"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Làm rõ điều khoản và chi phí ngay từ đầu</a:t>
            </a:r>
            <a:endParaRPr lang="en-US" sz="1200" dirty="0"/>
          </a:p>
        </p:txBody>
      </p:sp>
      <p:sp>
        <p:nvSpPr>
          <p:cNvPr id="17" name="A_4_0_fade_784"/>
          <p:cNvSpPr/>
          <p:nvPr/>
        </p:nvSpPr>
        <p:spPr>
          <a:xfrm>
            <a:off x="615940" y="3093049"/>
            <a:ext cx="10960090" cy="6309"/>
          </a:xfrm>
          <a:prstGeom prst="rect">
            <a:avLst/>
          </a:prstGeom>
          <a:solidFill>
            <a:srgbClr val="C9CAEB"/>
          </a:solidFill>
          <a:ln/>
        </p:spPr>
      </p:sp>
      <p:sp>
        <p:nvSpPr>
          <p:cNvPr id="18" name="A_4_0_fade_785"/>
          <p:cNvSpPr txBox="1"/>
          <p:nvPr/>
        </p:nvSpPr>
        <p:spPr>
          <a:xfrm>
            <a:off x="781080" y="3191439"/>
            <a:ext cx="1852666"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Phụ thuộc vendor LLM</a:t>
            </a:r>
            <a:endParaRPr lang="en-US" sz="1250" dirty="0"/>
          </a:p>
        </p:txBody>
      </p:sp>
      <p:sp>
        <p:nvSpPr>
          <p:cNvPr id="19" name="A_4_0_fade_786"/>
          <p:cNvSpPr txBox="1"/>
          <p:nvPr/>
        </p:nvSpPr>
        <p:spPr>
          <a:xfrm>
            <a:off x="6261080" y="3192719"/>
            <a:ext cx="4926056"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Gateway cho phép đổi model; data và kit không gắn với model nào</a:t>
            </a:r>
            <a:endParaRPr lang="en-US" sz="1200" dirty="0"/>
          </a:p>
        </p:txBody>
      </p:sp>
      <p:sp>
        <p:nvSpPr>
          <p:cNvPr id="20" name="A_5_1_fade_787"/>
          <p:cNvSpPr/>
          <p:nvPr/>
        </p:nvSpPr>
        <p:spPr>
          <a:xfrm>
            <a:off x="615940" y="3503249"/>
            <a:ext cx="10960090" cy="6309"/>
          </a:xfrm>
          <a:prstGeom prst="rect">
            <a:avLst/>
          </a:prstGeom>
          <a:solidFill>
            <a:srgbClr val="C9CAEB"/>
          </a:solidFill>
          <a:ln/>
        </p:spPr>
      </p:sp>
      <p:sp>
        <p:nvSpPr>
          <p:cNvPr id="21" name="A_5_1_fade_788"/>
          <p:cNvSpPr txBox="1"/>
          <p:nvPr/>
        </p:nvSpPr>
        <p:spPr>
          <a:xfrm>
            <a:off x="781080" y="3601639"/>
            <a:ext cx="2375977"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Kit bị bỏ mặc, hoặc trùng lặp</a:t>
            </a:r>
            <a:endParaRPr lang="en-US" sz="1250" dirty="0"/>
          </a:p>
        </p:txBody>
      </p:sp>
      <p:sp>
        <p:nvSpPr>
          <p:cNvPr id="22" name="A_5_1_fade_789"/>
          <p:cNvSpPr txBox="1"/>
          <p:nvPr/>
        </p:nvSpPr>
        <p:spPr>
          <a:xfrm>
            <a:off x="6261080" y="3602919"/>
            <a:ext cx="5437297" cy="42675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Mỗi skill có owner; phát hành qua registry; đo mức dùng và gỡ skill không</a:t>
            </a:r>
            <a:endParaRPr lang="en-US" sz="1200" dirty="0"/>
          </a:p>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ai dùng</a:t>
            </a:r>
            <a:endParaRPr lang="en-US" sz="1200" dirty="0"/>
          </a:p>
        </p:txBody>
      </p:sp>
      <p:sp>
        <p:nvSpPr>
          <p:cNvPr id="23" name="A_6_1_fade_790"/>
          <p:cNvSpPr/>
          <p:nvPr/>
        </p:nvSpPr>
        <p:spPr>
          <a:xfrm>
            <a:off x="615940" y="4126687"/>
            <a:ext cx="10960090" cy="6309"/>
          </a:xfrm>
          <a:prstGeom prst="rect">
            <a:avLst/>
          </a:prstGeom>
          <a:solidFill>
            <a:srgbClr val="C9CAEB"/>
          </a:solidFill>
          <a:ln/>
        </p:spPr>
      </p:sp>
      <p:sp>
        <p:nvSpPr>
          <p:cNvPr id="24" name="A_6_1_fade_791"/>
          <p:cNvSpPr txBox="1"/>
          <p:nvPr/>
        </p:nvSpPr>
        <p:spPr>
          <a:xfrm>
            <a:off x="781080" y="4225168"/>
            <a:ext cx="5048585"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Chuỗi cung ứng skill: skill độc hại, skill bên ngoài chưa review</a:t>
            </a:r>
            <a:endParaRPr lang="en-US" sz="1250" dirty="0"/>
          </a:p>
        </p:txBody>
      </p:sp>
      <p:sp>
        <p:nvSpPr>
          <p:cNvPr id="25" name="A_6_1_fade_792"/>
          <p:cNvSpPr txBox="1"/>
          <p:nvPr/>
        </p:nvSpPr>
        <p:spPr>
          <a:xfrm>
            <a:off x="6261080" y="4226357"/>
            <a:ext cx="5102809" cy="42675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Chỉ cài từ registry nội bộ; review như code; chỉ nhận skill từ nguồn đã</a:t>
            </a:r>
            <a:endParaRPr lang="en-US" sz="1200" dirty="0"/>
          </a:p>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duyệt</a:t>
            </a:r>
            <a:endParaRPr lang="en-US" sz="1200" dirty="0"/>
          </a:p>
        </p:txBody>
      </p:sp>
      <p:sp>
        <p:nvSpPr>
          <p:cNvPr id="26" name="A_7_1_fade_793"/>
          <p:cNvSpPr/>
          <p:nvPr/>
        </p:nvSpPr>
        <p:spPr>
          <a:xfrm>
            <a:off x="615940" y="4750217"/>
            <a:ext cx="10960090" cy="6309"/>
          </a:xfrm>
          <a:prstGeom prst="rect">
            <a:avLst/>
          </a:prstGeom>
          <a:solidFill>
            <a:srgbClr val="C9CAEB"/>
          </a:solidFill>
          <a:ln/>
        </p:spPr>
      </p:sp>
      <p:sp>
        <p:nvSpPr>
          <p:cNvPr id="27" name="A_7_1_fade_794"/>
          <p:cNvSpPr txBox="1"/>
          <p:nvPr/>
        </p:nvSpPr>
        <p:spPr>
          <a:xfrm>
            <a:off x="781080" y="4848606"/>
            <a:ext cx="3288731"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Công sức làm guardrail bị đánh giá thấp</a:t>
            </a:r>
            <a:endParaRPr lang="en-US" sz="1250" dirty="0"/>
          </a:p>
        </p:txBody>
      </p:sp>
      <p:sp>
        <p:nvSpPr>
          <p:cNvPr id="28" name="A_7_1_fade_795"/>
          <p:cNvSpPr txBox="1"/>
          <p:nvPr/>
        </p:nvSpPr>
        <p:spPr>
          <a:xfrm>
            <a:off x="6261080" y="4849886"/>
            <a:ext cx="3101828" cy="21333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Tính guardrail vào phạm vi kit ngay từ đầu</a:t>
            </a:r>
            <a:endParaRPr lang="en-US" sz="1200" dirty="0"/>
          </a:p>
        </p:txBody>
      </p:sp>
      <p:sp>
        <p:nvSpPr>
          <p:cNvPr id="29" name="A_8_1_fade_796"/>
          <p:cNvSpPr/>
          <p:nvPr/>
        </p:nvSpPr>
        <p:spPr>
          <a:xfrm>
            <a:off x="615940" y="5160325"/>
            <a:ext cx="10960090" cy="6309"/>
          </a:xfrm>
          <a:prstGeom prst="rect">
            <a:avLst/>
          </a:prstGeom>
          <a:solidFill>
            <a:srgbClr val="C9CAEB"/>
          </a:solidFill>
          <a:ln/>
        </p:spPr>
      </p:sp>
      <p:sp>
        <p:nvSpPr>
          <p:cNvPr id="30" name="A_8_1_fade_797"/>
          <p:cNvSpPr txBox="1"/>
          <p:nvPr/>
        </p:nvSpPr>
        <p:spPr>
          <a:xfrm>
            <a:off x="781080" y="5258806"/>
            <a:ext cx="3710361" cy="209580"/>
          </a:xfrm>
          <a:prstGeom prst="rect">
            <a:avLst/>
          </a:prstGeom>
          <a:noFill/>
          <a:ln/>
        </p:spPr>
        <p:txBody>
          <a:bodyPr wrap="square" lIns="0" tIns="0" rIns="0" bIns="0" rtlCol="0" anchor="t"/>
          <a:lstStyle/>
          <a:p>
            <a:pPr algn="l" indent="0" marL="0">
              <a:lnSpc>
                <a:spcPts val="1650"/>
              </a:lnSpc>
              <a:buNone/>
            </a:pPr>
            <a:r>
              <a:rPr lang="en-US" sz="1250" b="1" dirty="0">
                <a:solidFill>
                  <a:srgbClr val="111111"/>
                </a:solidFill>
                <a:latin typeface="Space Grotesk" pitchFamily="34" charset="0"/>
                <a:ea typeface="Space Grotesk" pitchFamily="34" charset="-122"/>
                <a:cs typeface="Space Grotesk" pitchFamily="34" charset="-120"/>
              </a:rPr>
              <a:t>Chuẩn hoá dữ liệu tốn công, lâu thấy kết quả</a:t>
            </a:r>
            <a:endParaRPr lang="en-US" sz="1250" dirty="0"/>
          </a:p>
        </p:txBody>
      </p:sp>
      <p:sp>
        <p:nvSpPr>
          <p:cNvPr id="31" name="A_8_1_fade_798"/>
          <p:cNvSpPr txBox="1"/>
          <p:nvPr/>
        </p:nvSpPr>
        <p:spPr>
          <a:xfrm>
            <a:off x="6261080" y="5260086"/>
            <a:ext cx="5494355" cy="426750"/>
          </a:xfrm>
          <a:prstGeom prst="rect">
            <a:avLst/>
          </a:prstGeom>
          <a:noFill/>
          <a:ln/>
        </p:spPr>
        <p:txBody>
          <a:bodyPr wrap="square" lIns="0" tIns="0" rIns="0" bIns="0" rtlCol="0" anchor="t"/>
          <a:lstStyle/>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Bắt đầu từ một quy trình và một hai nguồn có câu hỏi lặp lại hằng ngày; đo</a:t>
            </a:r>
            <a:endParaRPr lang="en-US" sz="1200" dirty="0"/>
          </a:p>
          <a:p>
            <a:pPr algn="l" indent="0" marL="0">
              <a:lnSpc>
                <a:spcPts val="1680"/>
              </a:lnSpc>
              <a:buNone/>
            </a:pPr>
            <a:r>
              <a:rPr lang="en-US" sz="1200" dirty="0">
                <a:solidFill>
                  <a:srgbClr val="6B6B6B"/>
                </a:solidFill>
                <a:latin typeface="Inter" pitchFamily="34" charset="0"/>
                <a:ea typeface="Inter" pitchFamily="34" charset="-122"/>
                <a:cs typeface="Inter" pitchFamily="34" charset="-120"/>
              </a:rPr>
              <a:t>trước và sau</a:t>
            </a:r>
            <a:endParaRPr lang="en-US" sz="1200" dirty="0"/>
          </a:p>
        </p:txBody>
      </p:sp>
      <p:sp>
        <p:nvSpPr>
          <p:cNvPr id="32" name="S_799"/>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33" name="S_800"/>
          <p:cNvSpPr txBox="1"/>
          <p:nvPr/>
        </p:nvSpPr>
        <p:spPr>
          <a:xfrm>
            <a:off x="11166927" y="6517660"/>
            <a:ext cx="491673"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22 / 25</a:t>
            </a:r>
            <a:endParaRPr lang="en-US" sz="900" dirty="0"/>
          </a:p>
        </p:txBody>
      </p:sp>
      <p:sp>
        <p:nvSpPr>
          <p:cNvPr id="34" name="S_801"/>
          <p:cNvSpPr/>
          <p:nvPr/>
        </p:nvSpPr>
        <p:spPr>
          <a:xfrm>
            <a:off x="0" y="6838980"/>
            <a:ext cx="1072893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5"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500"/>
                                        <p:tgtEl>
                                          <p:spTgt spid="7"/>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par>
                                <p:cTn id="15" presetID="10" presetClass="entr" presetSubtype="0" fill="hold" grpId="0" nodeType="withEffect">
                                  <p:stCondLst>
                                    <p:cond delay="11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22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10" presetClass="entr" presetSubtype="0" fill="hold" grpId="0" nodeType="withEffect">
                                  <p:stCondLst>
                                    <p:cond delay="33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par>
                                <p:cTn id="30" presetID="10" presetClass="entr" presetSubtype="0" fill="hold" grpId="0" nodeType="withEffect">
                                  <p:stCondLst>
                                    <p:cond delay="33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33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par>
                                <p:cTn id="36" presetID="10" presetClass="entr" presetSubtype="0" fill="hold" grpId="0" nodeType="withEffect">
                                  <p:stCondLst>
                                    <p:cond delay="44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grpId="0" nodeType="withEffect">
                                  <p:stCondLst>
                                    <p:cond delay="44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childTnLst>
                                </p:cTn>
                              </p:par>
                              <p:par>
                                <p:cTn id="42" presetID="10" presetClass="entr" presetSubtype="0" fill="hold" grpId="0" nodeType="withEffect">
                                  <p:stCondLst>
                                    <p:cond delay="44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childTnLst>
                    </p:cTn>
                  </p:par>
                  <p:par>
                    <p:cTn id="84" fill="hold">
                      <p:stCondLst>
                        <p:cond delay="indefinite"/>
                      </p:stCondLst>
                      <p:childTnLst>
                        <p:par>
                          <p:cTn id="83"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11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childTnLst>
                                </p:cTn>
                              </p:par>
                              <p:par>
                                <p:cTn id="59" presetID="10" presetClass="entr" presetSubtype="0" fill="hold" grpId="0" nodeType="withEffect">
                                  <p:stCondLst>
                                    <p:cond delay="11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500"/>
                                        <p:tgtEl>
                                          <p:spTgt spid="24"/>
                                        </p:tgtEl>
                                      </p:cBhvr>
                                    </p:animEffect>
                                  </p:childTnLst>
                                </p:cTn>
                              </p:par>
                              <p:par>
                                <p:cTn id="62" presetID="10" presetClass="entr" presetSubtype="0" fill="hold" grpId="0" nodeType="withEffect">
                                  <p:stCondLst>
                                    <p:cond delay="11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500"/>
                                        <p:tgtEl>
                                          <p:spTgt spid="25"/>
                                        </p:tgtEl>
                                      </p:cBhvr>
                                    </p:animEffect>
                                  </p:childTnLst>
                                </p:cTn>
                              </p:par>
                              <p:par>
                                <p:cTn id="65" presetID="10" presetClass="entr" presetSubtype="0" fill="hold" grpId="0" nodeType="withEffect">
                                  <p:stCondLst>
                                    <p:cond delay="22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childTnLst>
                                </p:cTn>
                              </p:par>
                              <p:par>
                                <p:cTn id="68" presetID="10" presetClass="entr" presetSubtype="0" fill="hold" grpId="0" nodeType="withEffect">
                                  <p:stCondLst>
                                    <p:cond delay="22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500"/>
                                        <p:tgtEl>
                                          <p:spTgt spid="27"/>
                                        </p:tgtEl>
                                      </p:cBhvr>
                                    </p:animEffect>
                                  </p:childTnLst>
                                </p:cTn>
                              </p:par>
                              <p:par>
                                <p:cTn id="71" presetID="10" presetClass="entr" presetSubtype="0" fill="hold" grpId="0" nodeType="withEffect">
                                  <p:stCondLst>
                                    <p:cond delay="22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500"/>
                                        <p:tgtEl>
                                          <p:spTgt spid="28"/>
                                        </p:tgtEl>
                                      </p:cBhvr>
                                    </p:animEffect>
                                  </p:childTnLst>
                                </p:cTn>
                              </p:par>
                              <p:par>
                                <p:cTn id="74" presetID="10" presetClass="entr" presetSubtype="0" fill="hold" grpId="0" nodeType="withEffect">
                                  <p:stCondLst>
                                    <p:cond delay="330"/>
                                  </p:stCondLst>
                                  <p:childTnLst>
                                    <p:set>
                                      <p:cBhvr>
                                        <p:cTn id="75" dur="1" fill="hold">
                                          <p:stCondLst>
                                            <p:cond delay="0"/>
                                          </p:stCondLst>
                                        </p:cTn>
                                        <p:tgtEl>
                                          <p:spTgt spid="29"/>
                                        </p:tgtEl>
                                        <p:attrNameLst>
                                          <p:attrName>style.visibility</p:attrName>
                                        </p:attrNameLst>
                                      </p:cBhvr>
                                      <p:to>
                                        <p:strVal val="visible"/>
                                      </p:to>
                                    </p:set>
                                    <p:animEffect transition="in" filter="fade">
                                      <p:cBhvr>
                                        <p:cTn id="76" dur="500"/>
                                        <p:tgtEl>
                                          <p:spTgt spid="29"/>
                                        </p:tgtEl>
                                      </p:cBhvr>
                                    </p:animEffect>
                                  </p:childTnLst>
                                </p:cTn>
                              </p:par>
                              <p:par>
                                <p:cTn id="77" presetID="10" presetClass="entr" presetSubtype="0" fill="hold" grpId="0" nodeType="withEffect">
                                  <p:stCondLst>
                                    <p:cond delay="330"/>
                                  </p:stCondLst>
                                  <p:childTnLst>
                                    <p:set>
                                      <p:cBhvr>
                                        <p:cTn id="78" dur="1" fill="hold">
                                          <p:stCondLst>
                                            <p:cond delay="0"/>
                                          </p:stCondLst>
                                        </p:cTn>
                                        <p:tgtEl>
                                          <p:spTgt spid="30"/>
                                        </p:tgtEl>
                                        <p:attrNameLst>
                                          <p:attrName>style.visibility</p:attrName>
                                        </p:attrNameLst>
                                      </p:cBhvr>
                                      <p:to>
                                        <p:strVal val="visible"/>
                                      </p:to>
                                    </p:set>
                                    <p:animEffect transition="in" filter="fade">
                                      <p:cBhvr>
                                        <p:cTn id="79" dur="500"/>
                                        <p:tgtEl>
                                          <p:spTgt spid="30"/>
                                        </p:tgtEl>
                                      </p:cBhvr>
                                    </p:animEffect>
                                  </p:childTnLst>
                                </p:cTn>
                              </p:par>
                              <p:par>
                                <p:cTn id="80" presetID="10" presetClass="entr" presetSubtype="0" fill="hold" grpId="0" nodeType="withEffect">
                                  <p:stCondLst>
                                    <p:cond delay="33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DFAE7"/>
        </a:solidFill>
      </p:bgPr>
    </p:bg>
    <p:spTree>
      <p:nvGrpSpPr>
        <p:cNvPr id="1" name=""/>
        <p:cNvGrpSpPr/>
        <p:nvPr/>
      </p:nvGrpSpPr>
      <p:grpSpPr>
        <a:xfrm>
          <a:off x="0" y="0"/>
          <a:ext cx="0" cy="0"/>
          <a:chOff x="0" y="0"/>
          <a:chExt cx="0" cy="0"/>
        </a:xfrm>
      </p:grpSpPr>
      <p:sp>
        <p:nvSpPr>
          <p:cNvPr id="2" name="S_802"/>
          <p:cNvSpPr txBox="1"/>
          <p:nvPr/>
        </p:nvSpPr>
        <p:spPr>
          <a:xfrm>
            <a:off x="609630" y="466070"/>
            <a:ext cx="1575511"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08 · LỘ TRÌNH GỢI Ý</a:t>
            </a:r>
            <a:endParaRPr lang="en-US" sz="1100" dirty="0"/>
          </a:p>
        </p:txBody>
      </p:sp>
      <p:sp>
        <p:nvSpPr>
          <p:cNvPr id="3" name="S_803"/>
          <p:cNvSpPr/>
          <p:nvPr/>
        </p:nvSpPr>
        <p:spPr>
          <a:xfrm>
            <a:off x="10577048" y="412760"/>
            <a:ext cx="1005383" cy="292059"/>
          </a:xfrm>
          <a:prstGeom prst="roundRect">
            <a:avLst>
              <a:gd name="adj" fmla="val 50000"/>
            </a:avLst>
          </a:prstGeom>
          <a:solidFill>
            <a:srgbClr val="EBE9E9"/>
          </a:solidFill>
          <a:ln/>
        </p:spPr>
      </p:sp>
      <p:sp>
        <p:nvSpPr>
          <p:cNvPr id="4" name="S_804"/>
          <p:cNvSpPr txBox="1"/>
          <p:nvPr/>
        </p:nvSpPr>
        <p:spPr>
          <a:xfrm>
            <a:off x="10742097" y="476220"/>
            <a:ext cx="751362"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4 giai đoạn</a:t>
            </a:r>
            <a:endParaRPr lang="en-US" sz="1000" dirty="0"/>
          </a:p>
        </p:txBody>
      </p:sp>
      <p:sp>
        <p:nvSpPr>
          <p:cNvPr id="5" name="A_0_0_fade_805"/>
          <p:cNvSpPr txBox="1"/>
          <p:nvPr/>
        </p:nvSpPr>
        <p:spPr>
          <a:xfrm>
            <a:off x="609630" y="806592"/>
            <a:ext cx="8254380"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Lộ trình gợi ý: nền, pilot, tự động hoá, mở rộng</a:t>
            </a:r>
            <a:endParaRPr lang="en-US" sz="2800" dirty="0"/>
          </a:p>
        </p:txBody>
      </p:sp>
      <p:sp>
        <p:nvSpPr>
          <p:cNvPr id="6" name="A_1_0_wipe_806"/>
          <p:cNvSpPr/>
          <p:nvPr/>
        </p:nvSpPr>
        <p:spPr>
          <a:xfrm>
            <a:off x="774680" y="2081997"/>
            <a:ext cx="10642610" cy="19020"/>
          </a:xfrm>
          <a:prstGeom prst="rect">
            <a:avLst/>
          </a:prstGeom>
          <a:solidFill>
            <a:srgbClr val="1E2BFA"/>
          </a:solidFill>
          <a:ln/>
        </p:spPr>
      </p:sp>
      <p:sp>
        <p:nvSpPr>
          <p:cNvPr id="7" name="A_2_0_fade_807"/>
          <p:cNvSpPr/>
          <p:nvPr/>
        </p:nvSpPr>
        <p:spPr>
          <a:xfrm>
            <a:off x="609630" y="1923258"/>
            <a:ext cx="330190" cy="330190"/>
          </a:xfrm>
          <a:prstGeom prst="ellipse">
            <a:avLst/>
          </a:prstGeom>
          <a:solidFill>
            <a:srgbClr val="1E2BFA"/>
          </a:solidFill>
          <a:ln/>
        </p:spPr>
      </p:sp>
      <p:sp>
        <p:nvSpPr>
          <p:cNvPr id="8" name="A_2_0_fade_808"/>
          <p:cNvSpPr txBox="1"/>
          <p:nvPr/>
        </p:nvSpPr>
        <p:spPr>
          <a:xfrm>
            <a:off x="687172" y="1920057"/>
            <a:ext cx="175016" cy="330190"/>
          </a:xfrm>
          <a:prstGeom prst="rect">
            <a:avLst/>
          </a:prstGeom>
          <a:noFill/>
          <a:ln/>
        </p:spPr>
        <p:txBody>
          <a:bodyPr wrap="square" lIns="0" tIns="0" rIns="0" bIns="0" rtlCol="0" anchor="t"/>
          <a:lstStyle/>
          <a:p>
            <a:pPr algn="ctr" indent="0" marL="0">
              <a:lnSpc>
                <a:spcPts val="2600"/>
              </a:lnSpc>
              <a:buNone/>
            </a:pPr>
            <a:r>
              <a:rPr lang="en-US" sz="1200" b="1" dirty="0">
                <a:solidFill>
                  <a:srgbClr val="FDFAE7"/>
                </a:solidFill>
                <a:latin typeface="Space Grotesk" pitchFamily="34" charset="0"/>
                <a:ea typeface="Space Grotesk" pitchFamily="34" charset="-122"/>
                <a:cs typeface="Space Grotesk" pitchFamily="34" charset="-120"/>
              </a:rPr>
              <a:t>0</a:t>
            </a:r>
            <a:endParaRPr lang="en-US" sz="1200" dirty="0"/>
          </a:p>
        </p:txBody>
      </p:sp>
      <p:sp>
        <p:nvSpPr>
          <p:cNvPr id="9" name="A_2_0_fade_809"/>
          <p:cNvSpPr/>
          <p:nvPr/>
        </p:nvSpPr>
        <p:spPr>
          <a:xfrm>
            <a:off x="612008" y="2370125"/>
            <a:ext cx="2633655" cy="2408255"/>
          </a:xfrm>
          <a:prstGeom prst="roundRect">
            <a:avLst>
              <a:gd name="adj" fmla="val 3691"/>
            </a:avLst>
          </a:prstGeom>
          <a:solidFill>
            <a:srgbClr val="F4F2E8"/>
          </a:solidFill>
          <a:ln w="9525">
            <a:solidFill>
              <a:srgbClr val="C9CAEB"/>
            </a:solidFill>
            <a:prstDash val="solid"/>
          </a:ln>
        </p:spPr>
      </p:sp>
      <p:sp>
        <p:nvSpPr>
          <p:cNvPr id="10" name="A_2_0_fade_810"/>
          <p:cNvSpPr txBox="1"/>
          <p:nvPr/>
        </p:nvSpPr>
        <p:spPr>
          <a:xfrm>
            <a:off x="768370" y="2512223"/>
            <a:ext cx="425745" cy="238110"/>
          </a:xfrm>
          <a:prstGeom prst="rect">
            <a:avLst/>
          </a:prstGeom>
          <a:noFill/>
          <a:ln/>
        </p:spPr>
        <p:txBody>
          <a:bodyPr wrap="square" lIns="0" tIns="0" rIns="0" bIns="0" rtlCol="0" anchor="t"/>
          <a:lstStyle/>
          <a:p>
            <a:pPr algn="l" indent="0" marL="0">
              <a:lnSpc>
                <a:spcPts val="1875"/>
              </a:lnSpc>
              <a:buNone/>
            </a:pPr>
            <a:r>
              <a:rPr lang="en-US" sz="1500" b="1" spc="-15" kern="0" dirty="0">
                <a:solidFill>
                  <a:srgbClr val="111111"/>
                </a:solidFill>
                <a:latin typeface="Space Grotesk" pitchFamily="34" charset="0"/>
                <a:ea typeface="Space Grotesk" pitchFamily="34" charset="-122"/>
                <a:cs typeface="Space Grotesk" pitchFamily="34" charset="-120"/>
              </a:rPr>
              <a:t>Nền</a:t>
            </a:r>
            <a:endParaRPr lang="en-US" sz="1500" dirty="0"/>
          </a:p>
        </p:txBody>
      </p:sp>
      <p:sp>
        <p:nvSpPr>
          <p:cNvPr id="11" name="A_2_0_fade_811"/>
          <p:cNvSpPr/>
          <p:nvPr/>
        </p:nvSpPr>
        <p:spPr>
          <a:xfrm>
            <a:off x="2413193" y="2558217"/>
            <a:ext cx="676107" cy="207569"/>
          </a:xfrm>
          <a:prstGeom prst="roundRect">
            <a:avLst>
              <a:gd name="adj" fmla="val 50000"/>
            </a:avLst>
          </a:prstGeom>
          <a:solidFill>
            <a:srgbClr val="E3E2E9"/>
          </a:solidFill>
          <a:ln/>
        </p:spPr>
      </p:sp>
      <p:sp>
        <p:nvSpPr>
          <p:cNvPr id="12" name="A_2_0_fade_812"/>
          <p:cNvSpPr txBox="1"/>
          <p:nvPr/>
        </p:nvSpPr>
        <p:spPr>
          <a:xfrm>
            <a:off x="2489363" y="2578242"/>
            <a:ext cx="599846" cy="156820"/>
          </a:xfrm>
          <a:prstGeom prst="rect">
            <a:avLst/>
          </a:prstGeom>
          <a:noFill/>
          <a:ln/>
        </p:spPr>
        <p:txBody>
          <a:bodyPr wrap="square" lIns="0" tIns="0" rIns="0" bIns="0" rtlCol="0" anchor="t"/>
          <a:lstStyle/>
          <a:p>
            <a:pPr algn="l" indent="0" marL="0">
              <a:lnSpc>
                <a:spcPts val="1235"/>
              </a:lnSpc>
              <a:buNone/>
            </a:pPr>
            <a:r>
              <a:rPr lang="en-US" sz="950" dirty="0">
                <a:solidFill>
                  <a:srgbClr val="1E2BFA"/>
                </a:solidFill>
                <a:latin typeface="Space Grotesk" pitchFamily="34" charset="0"/>
                <a:ea typeface="Space Grotesk" pitchFamily="34" charset="-122"/>
                <a:cs typeface="Space Grotesk" pitchFamily="34" charset="-120"/>
              </a:rPr>
              <a:t>2–4 tuần</a:t>
            </a:r>
            <a:endParaRPr lang="en-US" sz="950" dirty="0"/>
          </a:p>
        </p:txBody>
      </p:sp>
      <p:sp>
        <p:nvSpPr>
          <p:cNvPr id="13" name="A_2_0_fade_813"/>
          <p:cNvSpPr txBox="1"/>
          <p:nvPr/>
        </p:nvSpPr>
        <p:spPr>
          <a:xfrm>
            <a:off x="768370" y="2836012"/>
            <a:ext cx="2459096" cy="60771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Chọn 1–2 harness chuẩn; dựng LLM</a:t>
            </a:r>
            <a:endParaRPr lang="en-US" sz="1100" dirty="0"/>
          </a:p>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gateway; đặt policy permission cơ</a:t>
            </a:r>
            <a:endParaRPr lang="en-US" sz="1100" dirty="0"/>
          </a:p>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bản</a:t>
            </a:r>
            <a:endParaRPr lang="en-US" sz="1100" dirty="0"/>
          </a:p>
        </p:txBody>
      </p:sp>
      <p:sp>
        <p:nvSpPr>
          <p:cNvPr id="14" name="A_2_0_fade_814"/>
          <p:cNvSpPr/>
          <p:nvPr/>
        </p:nvSpPr>
        <p:spPr>
          <a:xfrm>
            <a:off x="768370" y="3551164"/>
            <a:ext cx="2320930" cy="9510"/>
          </a:xfrm>
          <a:prstGeom prst="rect">
            <a:avLst/>
          </a:prstGeom>
          <a:solidFill>
            <a:srgbClr val="C9CAEB"/>
          </a:solidFill>
          <a:ln/>
        </p:spPr>
      </p:sp>
      <p:sp>
        <p:nvSpPr>
          <p:cNvPr id="15" name="A_2_0_fade_815"/>
          <p:cNvSpPr txBox="1"/>
          <p:nvPr/>
        </p:nvSpPr>
        <p:spPr>
          <a:xfrm>
            <a:off x="768370" y="3636569"/>
            <a:ext cx="502737" cy="140360"/>
          </a:xfrm>
          <a:prstGeom prst="rect">
            <a:avLst/>
          </a:prstGeom>
          <a:noFill/>
          <a:ln/>
        </p:spPr>
        <p:txBody>
          <a:bodyPr wrap="square" lIns="0" tIns="0" rIns="0" bIns="0" rtlCol="0" anchor="t"/>
          <a:lstStyle/>
          <a:p>
            <a:pPr algn="l" indent="0" marL="0">
              <a:lnSpc>
                <a:spcPts val="1105"/>
              </a:lnSpc>
              <a:buNone/>
            </a:pPr>
            <a:r>
              <a:rPr lang="en-US" sz="850" b="1" spc="68" kern="0" dirty="0">
                <a:solidFill>
                  <a:srgbClr val="1E2BFA"/>
                </a:solidFill>
                <a:latin typeface="Space Grotesk" pitchFamily="34" charset="0"/>
                <a:ea typeface="Space Grotesk" pitchFamily="34" charset="-122"/>
                <a:cs typeface="Space Grotesk" pitchFamily="34" charset="-120"/>
              </a:rPr>
              <a:t>ĐẦU RA</a:t>
            </a:r>
            <a:endParaRPr lang="en-US" sz="850" dirty="0"/>
          </a:p>
        </p:txBody>
      </p:sp>
      <p:sp>
        <p:nvSpPr>
          <p:cNvPr id="16" name="A_2_0_fade_816"/>
          <p:cNvSpPr txBox="1"/>
          <p:nvPr/>
        </p:nvSpPr>
        <p:spPr>
          <a:xfrm>
            <a:off x="768370" y="3809208"/>
            <a:ext cx="1952153" cy="405171"/>
          </a:xfrm>
          <a:prstGeom prst="rect">
            <a:avLst/>
          </a:prstGeom>
          <a:noFill/>
          <a:ln/>
        </p:spPr>
        <p:txBody>
          <a:bodyPr wrap="square" lIns="0" tIns="0" rIns="0" bIns="0" rtlCol="0" anchor="t"/>
          <a:lstStyle/>
          <a:p>
            <a:pPr algn="l" indent="0" marL="0">
              <a:lnSpc>
                <a:spcPts val="1595"/>
              </a:lnSpc>
              <a:buNone/>
            </a:pPr>
            <a:r>
              <a:rPr lang="en-US" sz="1100" dirty="0">
                <a:solidFill>
                  <a:srgbClr val="111111"/>
                </a:solidFill>
                <a:latin typeface="Inter" pitchFamily="34" charset="0"/>
                <a:ea typeface="Inter" pitchFamily="34" charset="-122"/>
                <a:cs typeface="Inter" pitchFamily="34" charset="-120"/>
              </a:rPr>
              <a:t>Mọi người dùng harness qua</a:t>
            </a:r>
            <a:endParaRPr lang="en-US" sz="1100" dirty="0"/>
          </a:p>
          <a:p>
            <a:pPr algn="l" indent="0" marL="0">
              <a:lnSpc>
                <a:spcPts val="1595"/>
              </a:lnSpc>
              <a:buNone/>
            </a:pPr>
            <a:r>
              <a:rPr lang="en-US" sz="1100" dirty="0">
                <a:solidFill>
                  <a:srgbClr val="111111"/>
                </a:solidFill>
                <a:latin typeface="Inter" pitchFamily="34" charset="0"/>
                <a:ea typeface="Inter" pitchFamily="34" charset="-122"/>
                <a:cs typeface="Inter" pitchFamily="34" charset="-120"/>
              </a:rPr>
              <a:t>gateway, có log và cost</a:t>
            </a:r>
            <a:endParaRPr lang="en-US" sz="1100" dirty="0"/>
          </a:p>
        </p:txBody>
      </p:sp>
      <p:sp>
        <p:nvSpPr>
          <p:cNvPr id="17" name="A_3_1_fade_817"/>
          <p:cNvSpPr/>
          <p:nvPr/>
        </p:nvSpPr>
        <p:spPr>
          <a:xfrm>
            <a:off x="3387761" y="1923258"/>
            <a:ext cx="330190" cy="330190"/>
          </a:xfrm>
          <a:prstGeom prst="ellipse">
            <a:avLst/>
          </a:prstGeom>
          <a:solidFill>
            <a:srgbClr val="1E2BFA"/>
          </a:solidFill>
          <a:ln/>
        </p:spPr>
      </p:sp>
      <p:sp>
        <p:nvSpPr>
          <p:cNvPr id="18" name="A_3_1_fade_818"/>
          <p:cNvSpPr txBox="1"/>
          <p:nvPr/>
        </p:nvSpPr>
        <p:spPr>
          <a:xfrm>
            <a:off x="3480206" y="1920057"/>
            <a:ext cx="145115" cy="330190"/>
          </a:xfrm>
          <a:prstGeom prst="rect">
            <a:avLst/>
          </a:prstGeom>
          <a:noFill/>
          <a:ln/>
        </p:spPr>
        <p:txBody>
          <a:bodyPr wrap="square" lIns="0" tIns="0" rIns="0" bIns="0" rtlCol="0" anchor="t"/>
          <a:lstStyle/>
          <a:p>
            <a:pPr algn="ctr" indent="0" marL="0">
              <a:lnSpc>
                <a:spcPts val="2600"/>
              </a:lnSpc>
              <a:buNone/>
            </a:pPr>
            <a:r>
              <a:rPr lang="en-US" sz="1200" b="1" dirty="0">
                <a:solidFill>
                  <a:srgbClr val="FDFAE7"/>
                </a:solidFill>
                <a:latin typeface="Space Grotesk" pitchFamily="34" charset="0"/>
                <a:ea typeface="Space Grotesk" pitchFamily="34" charset="-122"/>
                <a:cs typeface="Space Grotesk" pitchFamily="34" charset="-120"/>
              </a:rPr>
              <a:t>1</a:t>
            </a:r>
            <a:endParaRPr lang="en-US" sz="1200" dirty="0"/>
          </a:p>
        </p:txBody>
      </p:sp>
      <p:sp>
        <p:nvSpPr>
          <p:cNvPr id="19" name="A_3_1_fade_819"/>
          <p:cNvSpPr/>
          <p:nvPr/>
        </p:nvSpPr>
        <p:spPr>
          <a:xfrm>
            <a:off x="3390138" y="2370125"/>
            <a:ext cx="2633655" cy="2408255"/>
          </a:xfrm>
          <a:prstGeom prst="roundRect">
            <a:avLst>
              <a:gd name="adj" fmla="val 3691"/>
            </a:avLst>
          </a:prstGeom>
          <a:solidFill>
            <a:srgbClr val="F4F2E8"/>
          </a:solidFill>
          <a:ln w="9525">
            <a:solidFill>
              <a:srgbClr val="C9CAEB"/>
            </a:solidFill>
            <a:prstDash val="solid"/>
          </a:ln>
        </p:spPr>
      </p:sp>
      <p:sp>
        <p:nvSpPr>
          <p:cNvPr id="20" name="A_3_1_fade_820"/>
          <p:cNvSpPr txBox="1"/>
          <p:nvPr/>
        </p:nvSpPr>
        <p:spPr>
          <a:xfrm>
            <a:off x="3546500" y="2512223"/>
            <a:ext cx="481706" cy="238110"/>
          </a:xfrm>
          <a:prstGeom prst="rect">
            <a:avLst/>
          </a:prstGeom>
          <a:noFill/>
          <a:ln/>
        </p:spPr>
        <p:txBody>
          <a:bodyPr wrap="square" lIns="0" tIns="0" rIns="0" bIns="0" rtlCol="0" anchor="t"/>
          <a:lstStyle/>
          <a:p>
            <a:pPr algn="l" indent="0" marL="0">
              <a:lnSpc>
                <a:spcPts val="1875"/>
              </a:lnSpc>
              <a:buNone/>
            </a:pPr>
            <a:r>
              <a:rPr lang="en-US" sz="1500" b="1" spc="-15" kern="0" dirty="0">
                <a:solidFill>
                  <a:srgbClr val="111111"/>
                </a:solidFill>
                <a:latin typeface="Space Grotesk" pitchFamily="34" charset="0"/>
                <a:ea typeface="Space Grotesk" pitchFamily="34" charset="-122"/>
                <a:cs typeface="Space Grotesk" pitchFamily="34" charset="-120"/>
              </a:rPr>
              <a:t>Pilot</a:t>
            </a:r>
            <a:endParaRPr lang="en-US" sz="1500" dirty="0"/>
          </a:p>
        </p:txBody>
      </p:sp>
      <p:sp>
        <p:nvSpPr>
          <p:cNvPr id="21" name="A_3_1_fade_821"/>
          <p:cNvSpPr/>
          <p:nvPr/>
        </p:nvSpPr>
        <p:spPr>
          <a:xfrm>
            <a:off x="5136368" y="2558217"/>
            <a:ext cx="731063" cy="207569"/>
          </a:xfrm>
          <a:prstGeom prst="roundRect">
            <a:avLst>
              <a:gd name="adj" fmla="val 50000"/>
            </a:avLst>
          </a:prstGeom>
          <a:solidFill>
            <a:srgbClr val="E3E2E9"/>
          </a:solidFill>
          <a:ln/>
        </p:spPr>
      </p:sp>
      <p:sp>
        <p:nvSpPr>
          <p:cNvPr id="22" name="A_3_1_fade_822"/>
          <p:cNvSpPr txBox="1"/>
          <p:nvPr/>
        </p:nvSpPr>
        <p:spPr>
          <a:xfrm>
            <a:off x="5212537" y="2578242"/>
            <a:ext cx="654802" cy="156820"/>
          </a:xfrm>
          <a:prstGeom prst="rect">
            <a:avLst/>
          </a:prstGeom>
          <a:noFill/>
          <a:ln/>
        </p:spPr>
        <p:txBody>
          <a:bodyPr wrap="square" lIns="0" tIns="0" rIns="0" bIns="0" rtlCol="0" anchor="t"/>
          <a:lstStyle/>
          <a:p>
            <a:pPr algn="l" indent="0" marL="0">
              <a:lnSpc>
                <a:spcPts val="1235"/>
              </a:lnSpc>
              <a:buNone/>
            </a:pPr>
            <a:r>
              <a:rPr lang="en-US" sz="950" dirty="0">
                <a:solidFill>
                  <a:srgbClr val="1E2BFA"/>
                </a:solidFill>
                <a:latin typeface="Space Grotesk" pitchFamily="34" charset="0"/>
                <a:ea typeface="Space Grotesk" pitchFamily="34" charset="-122"/>
                <a:cs typeface="Space Grotesk" pitchFamily="34" charset="-120"/>
              </a:rPr>
              <a:t>1–3 tháng</a:t>
            </a:r>
            <a:endParaRPr lang="en-US" sz="950" dirty="0"/>
          </a:p>
        </p:txBody>
      </p:sp>
      <p:sp>
        <p:nvSpPr>
          <p:cNvPr id="23" name="A_3_1_fade_823"/>
          <p:cNvSpPr txBox="1"/>
          <p:nvPr/>
        </p:nvSpPr>
        <p:spPr>
          <a:xfrm>
            <a:off x="3546500" y="2836012"/>
            <a:ext cx="2271644" cy="60771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Một quy trình lặp lại nhiều và 1–2</a:t>
            </a:r>
            <a:endParaRPr lang="en-US" sz="1100" dirty="0"/>
          </a:p>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nguồn dữ liệu; làm kit, connector,</a:t>
            </a:r>
            <a:endParaRPr lang="en-US" sz="1100" dirty="0"/>
          </a:p>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data source; cho một team dùng</a:t>
            </a:r>
            <a:endParaRPr lang="en-US" sz="1100" dirty="0"/>
          </a:p>
        </p:txBody>
      </p:sp>
      <p:sp>
        <p:nvSpPr>
          <p:cNvPr id="24" name="A_3_1_fade_824"/>
          <p:cNvSpPr/>
          <p:nvPr/>
        </p:nvSpPr>
        <p:spPr>
          <a:xfrm>
            <a:off x="3546500" y="3551164"/>
            <a:ext cx="2320930" cy="9510"/>
          </a:xfrm>
          <a:prstGeom prst="rect">
            <a:avLst/>
          </a:prstGeom>
          <a:solidFill>
            <a:srgbClr val="C9CAEB"/>
          </a:solidFill>
          <a:ln/>
        </p:spPr>
      </p:sp>
      <p:sp>
        <p:nvSpPr>
          <p:cNvPr id="25" name="A_3_1_fade_825"/>
          <p:cNvSpPr txBox="1"/>
          <p:nvPr/>
        </p:nvSpPr>
        <p:spPr>
          <a:xfrm>
            <a:off x="3546500" y="3636569"/>
            <a:ext cx="502737" cy="140360"/>
          </a:xfrm>
          <a:prstGeom prst="rect">
            <a:avLst/>
          </a:prstGeom>
          <a:noFill/>
          <a:ln/>
        </p:spPr>
        <p:txBody>
          <a:bodyPr wrap="square" lIns="0" tIns="0" rIns="0" bIns="0" rtlCol="0" anchor="t"/>
          <a:lstStyle/>
          <a:p>
            <a:pPr algn="l" indent="0" marL="0">
              <a:lnSpc>
                <a:spcPts val="1105"/>
              </a:lnSpc>
              <a:buNone/>
            </a:pPr>
            <a:r>
              <a:rPr lang="en-US" sz="850" b="1" spc="68" kern="0" dirty="0">
                <a:solidFill>
                  <a:srgbClr val="1E2BFA"/>
                </a:solidFill>
                <a:latin typeface="Space Grotesk" pitchFamily="34" charset="0"/>
                <a:ea typeface="Space Grotesk" pitchFamily="34" charset="-122"/>
                <a:cs typeface="Space Grotesk" pitchFamily="34" charset="-120"/>
              </a:rPr>
              <a:t>ĐẦU RA</a:t>
            </a:r>
            <a:endParaRPr lang="en-US" sz="850" dirty="0"/>
          </a:p>
        </p:txBody>
      </p:sp>
      <p:sp>
        <p:nvSpPr>
          <p:cNvPr id="26" name="A_3_1_fade_826"/>
          <p:cNvSpPr txBox="1"/>
          <p:nvPr/>
        </p:nvSpPr>
        <p:spPr>
          <a:xfrm>
            <a:off x="3546500" y="3809208"/>
            <a:ext cx="2183862" cy="405171"/>
          </a:xfrm>
          <a:prstGeom prst="rect">
            <a:avLst/>
          </a:prstGeom>
          <a:noFill/>
          <a:ln/>
        </p:spPr>
        <p:txBody>
          <a:bodyPr wrap="square" lIns="0" tIns="0" rIns="0" bIns="0" rtlCol="0" anchor="t"/>
          <a:lstStyle/>
          <a:p>
            <a:pPr algn="l" indent="0" marL="0">
              <a:lnSpc>
                <a:spcPts val="1595"/>
              </a:lnSpc>
              <a:buNone/>
            </a:pPr>
            <a:r>
              <a:rPr lang="en-US" sz="1100" dirty="0">
                <a:solidFill>
                  <a:srgbClr val="111111"/>
                </a:solidFill>
                <a:latin typeface="Inter" pitchFamily="34" charset="0"/>
                <a:ea typeface="Inter" pitchFamily="34" charset="-122"/>
                <a:cs typeface="Inter" pitchFamily="34" charset="-120"/>
              </a:rPr>
              <a:t>Số đo trước và sau: thời gian, lỗi</a:t>
            </a:r>
            <a:endParaRPr lang="en-US" sz="1100" dirty="0"/>
          </a:p>
          <a:p>
            <a:pPr algn="l" indent="0" marL="0">
              <a:lnSpc>
                <a:spcPts val="1595"/>
              </a:lnSpc>
              <a:buNone/>
            </a:pPr>
            <a:r>
              <a:rPr lang="en-US" sz="1100" dirty="0">
                <a:solidFill>
                  <a:srgbClr val="111111"/>
                </a:solidFill>
                <a:latin typeface="Inter" pitchFamily="34" charset="0"/>
                <a:ea typeface="Inter" pitchFamily="34" charset="-122"/>
                <a:cs typeface="Inter" pitchFamily="34" charset="-120"/>
              </a:rPr>
              <a:t>review, mức dùng</a:t>
            </a:r>
            <a:endParaRPr lang="en-US" sz="1100" dirty="0"/>
          </a:p>
        </p:txBody>
      </p:sp>
      <p:sp>
        <p:nvSpPr>
          <p:cNvPr id="27" name="A_4_2_fade_827"/>
          <p:cNvSpPr/>
          <p:nvPr/>
        </p:nvSpPr>
        <p:spPr>
          <a:xfrm>
            <a:off x="6165891" y="1923258"/>
            <a:ext cx="330190" cy="330190"/>
          </a:xfrm>
          <a:prstGeom prst="ellipse">
            <a:avLst/>
          </a:prstGeom>
          <a:solidFill>
            <a:srgbClr val="1E2BFA"/>
          </a:solidFill>
          <a:ln/>
        </p:spPr>
      </p:sp>
      <p:sp>
        <p:nvSpPr>
          <p:cNvPr id="28" name="A_4_2_fade_828"/>
          <p:cNvSpPr txBox="1"/>
          <p:nvPr/>
        </p:nvSpPr>
        <p:spPr>
          <a:xfrm>
            <a:off x="6247547" y="1920057"/>
            <a:ext cx="166787" cy="330190"/>
          </a:xfrm>
          <a:prstGeom prst="rect">
            <a:avLst/>
          </a:prstGeom>
          <a:noFill/>
          <a:ln/>
        </p:spPr>
        <p:txBody>
          <a:bodyPr wrap="square" lIns="0" tIns="0" rIns="0" bIns="0" rtlCol="0" anchor="t"/>
          <a:lstStyle/>
          <a:p>
            <a:pPr algn="ctr" indent="0" marL="0">
              <a:lnSpc>
                <a:spcPts val="2600"/>
              </a:lnSpc>
              <a:buNone/>
            </a:pPr>
            <a:r>
              <a:rPr lang="en-US" sz="1200" b="1" dirty="0">
                <a:solidFill>
                  <a:srgbClr val="FDFAE7"/>
                </a:solidFill>
                <a:latin typeface="Space Grotesk" pitchFamily="34" charset="0"/>
                <a:ea typeface="Space Grotesk" pitchFamily="34" charset="-122"/>
                <a:cs typeface="Space Grotesk" pitchFamily="34" charset="-120"/>
              </a:rPr>
              <a:t>2</a:t>
            </a:r>
            <a:endParaRPr lang="en-US" sz="1200" dirty="0"/>
          </a:p>
        </p:txBody>
      </p:sp>
      <p:sp>
        <p:nvSpPr>
          <p:cNvPr id="29" name="A_4_2_fade_829"/>
          <p:cNvSpPr/>
          <p:nvPr/>
        </p:nvSpPr>
        <p:spPr>
          <a:xfrm>
            <a:off x="6168268" y="2370125"/>
            <a:ext cx="2633655" cy="2408255"/>
          </a:xfrm>
          <a:prstGeom prst="roundRect">
            <a:avLst>
              <a:gd name="adj" fmla="val 3691"/>
            </a:avLst>
          </a:prstGeom>
          <a:solidFill>
            <a:srgbClr val="F4F2E8"/>
          </a:solidFill>
          <a:ln w="9525">
            <a:solidFill>
              <a:srgbClr val="C9CAEB"/>
            </a:solidFill>
            <a:prstDash val="solid"/>
          </a:ln>
        </p:spPr>
      </p:sp>
      <p:sp>
        <p:nvSpPr>
          <p:cNvPr id="30" name="A_4_2_fade_830"/>
          <p:cNvSpPr txBox="1"/>
          <p:nvPr/>
        </p:nvSpPr>
        <p:spPr>
          <a:xfrm>
            <a:off x="6324630" y="2512223"/>
            <a:ext cx="1215146" cy="238110"/>
          </a:xfrm>
          <a:prstGeom prst="rect">
            <a:avLst/>
          </a:prstGeom>
          <a:noFill/>
          <a:ln/>
        </p:spPr>
        <p:txBody>
          <a:bodyPr wrap="square" lIns="0" tIns="0" rIns="0" bIns="0" rtlCol="0" anchor="t"/>
          <a:lstStyle/>
          <a:p>
            <a:pPr algn="l" indent="0" marL="0">
              <a:lnSpc>
                <a:spcPts val="1875"/>
              </a:lnSpc>
              <a:buNone/>
            </a:pPr>
            <a:r>
              <a:rPr lang="en-US" sz="1500" b="1" spc="-15" kern="0" dirty="0">
                <a:solidFill>
                  <a:srgbClr val="111111"/>
                </a:solidFill>
                <a:latin typeface="Space Grotesk" pitchFamily="34" charset="0"/>
                <a:ea typeface="Space Grotesk" pitchFamily="34" charset="-122"/>
                <a:cs typeface="Space Grotesk" pitchFamily="34" charset="-120"/>
              </a:rPr>
              <a:t>Tự động hoá</a:t>
            </a:r>
            <a:endParaRPr lang="en-US" sz="1500" dirty="0"/>
          </a:p>
        </p:txBody>
      </p:sp>
      <p:sp>
        <p:nvSpPr>
          <p:cNvPr id="31" name="A_4_2_fade_831"/>
          <p:cNvSpPr/>
          <p:nvPr/>
        </p:nvSpPr>
        <p:spPr>
          <a:xfrm>
            <a:off x="7915412" y="2558217"/>
            <a:ext cx="730148" cy="207569"/>
          </a:xfrm>
          <a:prstGeom prst="roundRect">
            <a:avLst>
              <a:gd name="adj" fmla="val 50000"/>
            </a:avLst>
          </a:prstGeom>
          <a:solidFill>
            <a:srgbClr val="E3E2E9"/>
          </a:solidFill>
          <a:ln/>
        </p:spPr>
      </p:sp>
      <p:sp>
        <p:nvSpPr>
          <p:cNvPr id="32" name="A_4_2_fade_832"/>
          <p:cNvSpPr txBox="1"/>
          <p:nvPr/>
        </p:nvSpPr>
        <p:spPr>
          <a:xfrm>
            <a:off x="7991582" y="2578242"/>
            <a:ext cx="653979" cy="156820"/>
          </a:xfrm>
          <a:prstGeom prst="rect">
            <a:avLst/>
          </a:prstGeom>
          <a:noFill/>
          <a:ln/>
        </p:spPr>
        <p:txBody>
          <a:bodyPr wrap="square" lIns="0" tIns="0" rIns="0" bIns="0" rtlCol="0" anchor="t"/>
          <a:lstStyle/>
          <a:p>
            <a:pPr algn="l" indent="0" marL="0">
              <a:lnSpc>
                <a:spcPts val="1235"/>
              </a:lnSpc>
              <a:buNone/>
            </a:pPr>
            <a:r>
              <a:rPr lang="en-US" sz="950" dirty="0">
                <a:solidFill>
                  <a:srgbClr val="1E2BFA"/>
                </a:solidFill>
                <a:latin typeface="Space Grotesk" pitchFamily="34" charset="0"/>
                <a:ea typeface="Space Grotesk" pitchFamily="34" charset="-122"/>
                <a:cs typeface="Space Grotesk" pitchFamily="34" charset="-120"/>
              </a:rPr>
              <a:t>1–2 tháng</a:t>
            </a:r>
            <a:endParaRPr lang="en-US" sz="950" dirty="0"/>
          </a:p>
        </p:txBody>
      </p:sp>
      <p:sp>
        <p:nvSpPr>
          <p:cNvPr id="33" name="A_4_2_fade_833"/>
          <p:cNvSpPr txBox="1"/>
          <p:nvPr/>
        </p:nvSpPr>
        <p:spPr>
          <a:xfrm>
            <a:off x="6324630" y="2836012"/>
            <a:ext cx="2444740" cy="60771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Chạy cùng kit headless trong CI với</a:t>
            </a:r>
            <a:endParaRPr lang="en-US" sz="1100" dirty="0"/>
          </a:p>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approval gate; chạy kit trên harness</a:t>
            </a:r>
            <a:endParaRPr lang="en-US" sz="1100" dirty="0"/>
          </a:p>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thứ hai</a:t>
            </a:r>
            <a:endParaRPr lang="en-US" sz="1100" dirty="0"/>
          </a:p>
        </p:txBody>
      </p:sp>
      <p:sp>
        <p:nvSpPr>
          <p:cNvPr id="34" name="A_4_2_fade_834"/>
          <p:cNvSpPr/>
          <p:nvPr/>
        </p:nvSpPr>
        <p:spPr>
          <a:xfrm>
            <a:off x="6324630" y="3551164"/>
            <a:ext cx="2320930" cy="9510"/>
          </a:xfrm>
          <a:prstGeom prst="rect">
            <a:avLst/>
          </a:prstGeom>
          <a:solidFill>
            <a:srgbClr val="C9CAEB"/>
          </a:solidFill>
          <a:ln/>
        </p:spPr>
      </p:sp>
      <p:sp>
        <p:nvSpPr>
          <p:cNvPr id="35" name="A_4_2_fade_835"/>
          <p:cNvSpPr txBox="1"/>
          <p:nvPr/>
        </p:nvSpPr>
        <p:spPr>
          <a:xfrm>
            <a:off x="6324630" y="3636569"/>
            <a:ext cx="502737" cy="140360"/>
          </a:xfrm>
          <a:prstGeom prst="rect">
            <a:avLst/>
          </a:prstGeom>
          <a:noFill/>
          <a:ln/>
        </p:spPr>
        <p:txBody>
          <a:bodyPr wrap="square" lIns="0" tIns="0" rIns="0" bIns="0" rtlCol="0" anchor="t"/>
          <a:lstStyle/>
          <a:p>
            <a:pPr algn="l" indent="0" marL="0">
              <a:lnSpc>
                <a:spcPts val="1105"/>
              </a:lnSpc>
              <a:buNone/>
            </a:pPr>
            <a:r>
              <a:rPr lang="en-US" sz="850" b="1" spc="68" kern="0" dirty="0">
                <a:solidFill>
                  <a:srgbClr val="1E2BFA"/>
                </a:solidFill>
                <a:latin typeface="Space Grotesk" pitchFamily="34" charset="0"/>
                <a:ea typeface="Space Grotesk" pitchFamily="34" charset="-122"/>
                <a:cs typeface="Space Grotesk" pitchFamily="34" charset="-120"/>
              </a:rPr>
              <a:t>ĐẦU RA</a:t>
            </a:r>
            <a:endParaRPr lang="en-US" sz="850" dirty="0"/>
          </a:p>
        </p:txBody>
      </p:sp>
      <p:sp>
        <p:nvSpPr>
          <p:cNvPr id="36" name="A_4_2_fade_836"/>
          <p:cNvSpPr txBox="1"/>
          <p:nvPr/>
        </p:nvSpPr>
        <p:spPr>
          <a:xfrm>
            <a:off x="6324630" y="3809208"/>
            <a:ext cx="2424806" cy="607710"/>
          </a:xfrm>
          <a:prstGeom prst="rect">
            <a:avLst/>
          </a:prstGeom>
          <a:noFill/>
          <a:ln/>
        </p:spPr>
        <p:txBody>
          <a:bodyPr wrap="square" lIns="0" tIns="0" rIns="0" bIns="0" rtlCol="0" anchor="t"/>
          <a:lstStyle/>
          <a:p>
            <a:pPr algn="l" indent="0" marL="0">
              <a:lnSpc>
                <a:spcPts val="1595"/>
              </a:lnSpc>
              <a:buNone/>
            </a:pPr>
            <a:r>
              <a:rPr lang="en-US" sz="1100" dirty="0">
                <a:solidFill>
                  <a:srgbClr val="111111"/>
                </a:solidFill>
                <a:latin typeface="Inter" pitchFamily="34" charset="0"/>
                <a:ea typeface="Inter" pitchFamily="34" charset="-122"/>
                <a:cs typeface="Inter" pitchFamily="34" charset="-120"/>
              </a:rPr>
              <a:t>Một chuỗi việc do AI dẫn dắt, người</a:t>
            </a:r>
            <a:endParaRPr lang="en-US" sz="1100" dirty="0"/>
          </a:p>
          <a:p>
            <a:pPr algn="l" indent="0" marL="0">
              <a:lnSpc>
                <a:spcPts val="1595"/>
              </a:lnSpc>
              <a:buNone/>
            </a:pPr>
            <a:r>
              <a:rPr lang="en-US" sz="1100" dirty="0">
                <a:solidFill>
                  <a:srgbClr val="111111"/>
                </a:solidFill>
                <a:latin typeface="Inter" pitchFamily="34" charset="0"/>
                <a:ea typeface="Inter" pitchFamily="34" charset="-122"/>
                <a:cs typeface="Inter" pitchFamily="34" charset="-120"/>
              </a:rPr>
              <a:t>duyệt; danh sách phần phải sửa ở</a:t>
            </a:r>
            <a:endParaRPr lang="en-US" sz="1100" dirty="0"/>
          </a:p>
          <a:p>
            <a:pPr algn="l" indent="0" marL="0">
              <a:lnSpc>
                <a:spcPts val="1595"/>
              </a:lnSpc>
              <a:buNone/>
            </a:pPr>
            <a:r>
              <a:rPr lang="en-US" sz="1100" dirty="0">
                <a:solidFill>
                  <a:srgbClr val="111111"/>
                </a:solidFill>
                <a:latin typeface="Inter" pitchFamily="34" charset="0"/>
                <a:ea typeface="Inter" pitchFamily="34" charset="-122"/>
                <a:cs typeface="Inter" pitchFamily="34" charset="-120"/>
              </a:rPr>
              <a:t>adapter</a:t>
            </a:r>
            <a:endParaRPr lang="en-US" sz="1100" dirty="0"/>
          </a:p>
        </p:txBody>
      </p:sp>
      <p:sp>
        <p:nvSpPr>
          <p:cNvPr id="37" name="A_5_3_fade_837"/>
          <p:cNvSpPr/>
          <p:nvPr/>
        </p:nvSpPr>
        <p:spPr>
          <a:xfrm>
            <a:off x="8944021" y="1923258"/>
            <a:ext cx="330190" cy="330190"/>
          </a:xfrm>
          <a:prstGeom prst="ellipse">
            <a:avLst/>
          </a:prstGeom>
          <a:solidFill>
            <a:srgbClr val="1E2BFA"/>
          </a:solidFill>
          <a:ln/>
        </p:spPr>
      </p:sp>
      <p:sp>
        <p:nvSpPr>
          <p:cNvPr id="38" name="A_5_3_fade_838"/>
          <p:cNvSpPr txBox="1"/>
          <p:nvPr/>
        </p:nvSpPr>
        <p:spPr>
          <a:xfrm>
            <a:off x="9024671" y="1920057"/>
            <a:ext cx="168890" cy="330190"/>
          </a:xfrm>
          <a:prstGeom prst="rect">
            <a:avLst/>
          </a:prstGeom>
          <a:noFill/>
          <a:ln/>
        </p:spPr>
        <p:txBody>
          <a:bodyPr wrap="square" lIns="0" tIns="0" rIns="0" bIns="0" rtlCol="0" anchor="t"/>
          <a:lstStyle/>
          <a:p>
            <a:pPr algn="ctr" indent="0" marL="0">
              <a:lnSpc>
                <a:spcPts val="2600"/>
              </a:lnSpc>
              <a:buNone/>
            </a:pPr>
            <a:r>
              <a:rPr lang="en-US" sz="1200" b="1" dirty="0">
                <a:solidFill>
                  <a:srgbClr val="FDFAE7"/>
                </a:solidFill>
                <a:latin typeface="Space Grotesk" pitchFamily="34" charset="0"/>
                <a:ea typeface="Space Grotesk" pitchFamily="34" charset="-122"/>
                <a:cs typeface="Space Grotesk" pitchFamily="34" charset="-120"/>
              </a:rPr>
              <a:t>3</a:t>
            </a:r>
            <a:endParaRPr lang="en-US" sz="1200" dirty="0"/>
          </a:p>
        </p:txBody>
      </p:sp>
      <p:sp>
        <p:nvSpPr>
          <p:cNvPr id="39" name="A_5_3_fade_839"/>
          <p:cNvSpPr/>
          <p:nvPr/>
        </p:nvSpPr>
        <p:spPr>
          <a:xfrm>
            <a:off x="8946398" y="2370125"/>
            <a:ext cx="2633655" cy="2408255"/>
          </a:xfrm>
          <a:prstGeom prst="roundRect">
            <a:avLst>
              <a:gd name="adj" fmla="val 3691"/>
            </a:avLst>
          </a:prstGeom>
          <a:solidFill>
            <a:srgbClr val="F4F2E8"/>
          </a:solidFill>
          <a:ln w="9525">
            <a:solidFill>
              <a:srgbClr val="C9CAEB"/>
            </a:solidFill>
            <a:prstDash val="solid"/>
          </a:ln>
        </p:spPr>
      </p:sp>
      <p:sp>
        <p:nvSpPr>
          <p:cNvPr id="40" name="A_5_3_fade_840"/>
          <p:cNvSpPr txBox="1"/>
          <p:nvPr/>
        </p:nvSpPr>
        <p:spPr>
          <a:xfrm>
            <a:off x="9102761" y="2512223"/>
            <a:ext cx="827441" cy="238110"/>
          </a:xfrm>
          <a:prstGeom prst="rect">
            <a:avLst/>
          </a:prstGeom>
          <a:noFill/>
          <a:ln/>
        </p:spPr>
        <p:txBody>
          <a:bodyPr wrap="square" lIns="0" tIns="0" rIns="0" bIns="0" rtlCol="0" anchor="t"/>
          <a:lstStyle/>
          <a:p>
            <a:pPr algn="l" indent="0" marL="0">
              <a:lnSpc>
                <a:spcPts val="1875"/>
              </a:lnSpc>
              <a:buNone/>
            </a:pPr>
            <a:r>
              <a:rPr lang="en-US" sz="1500" b="1" spc="-15" kern="0" dirty="0">
                <a:solidFill>
                  <a:srgbClr val="111111"/>
                </a:solidFill>
                <a:latin typeface="Space Grotesk" pitchFamily="34" charset="0"/>
                <a:ea typeface="Space Grotesk" pitchFamily="34" charset="-122"/>
                <a:cs typeface="Space Grotesk" pitchFamily="34" charset="-120"/>
              </a:rPr>
              <a:t>Mở rộng</a:t>
            </a:r>
            <a:endParaRPr lang="en-US" sz="1500" dirty="0"/>
          </a:p>
        </p:txBody>
      </p:sp>
      <p:sp>
        <p:nvSpPr>
          <p:cNvPr id="41" name="A_5_3_fade_841"/>
          <p:cNvSpPr/>
          <p:nvPr/>
        </p:nvSpPr>
        <p:spPr>
          <a:xfrm>
            <a:off x="10798515" y="2558217"/>
            <a:ext cx="625175" cy="207569"/>
          </a:xfrm>
          <a:prstGeom prst="roundRect">
            <a:avLst>
              <a:gd name="adj" fmla="val 50000"/>
            </a:avLst>
          </a:prstGeom>
          <a:solidFill>
            <a:srgbClr val="E3E2E9"/>
          </a:solidFill>
          <a:ln/>
        </p:spPr>
      </p:sp>
      <p:sp>
        <p:nvSpPr>
          <p:cNvPr id="42" name="A_5_3_fade_842"/>
          <p:cNvSpPr txBox="1"/>
          <p:nvPr/>
        </p:nvSpPr>
        <p:spPr>
          <a:xfrm>
            <a:off x="10874685" y="2578242"/>
            <a:ext cx="549006" cy="156820"/>
          </a:xfrm>
          <a:prstGeom prst="rect">
            <a:avLst/>
          </a:prstGeom>
          <a:noFill/>
          <a:ln/>
        </p:spPr>
        <p:txBody>
          <a:bodyPr wrap="square" lIns="0" tIns="0" rIns="0" bIns="0" rtlCol="0" anchor="t"/>
          <a:lstStyle/>
          <a:p>
            <a:pPr algn="l" indent="0" marL="0">
              <a:lnSpc>
                <a:spcPts val="1235"/>
              </a:lnSpc>
              <a:buNone/>
            </a:pPr>
            <a:r>
              <a:rPr lang="en-US" sz="950" dirty="0">
                <a:solidFill>
                  <a:srgbClr val="1E2BFA"/>
                </a:solidFill>
                <a:latin typeface="Space Grotesk" pitchFamily="34" charset="0"/>
                <a:ea typeface="Space Grotesk" pitchFamily="34" charset="-122"/>
                <a:cs typeface="Space Grotesk" pitchFamily="34" charset="-120"/>
              </a:rPr>
              <a:t>Liên tục</a:t>
            </a:r>
            <a:endParaRPr lang="en-US" sz="950" dirty="0"/>
          </a:p>
        </p:txBody>
      </p:sp>
      <p:sp>
        <p:nvSpPr>
          <p:cNvPr id="43" name="A_5_3_fade_843"/>
          <p:cNvSpPr txBox="1"/>
          <p:nvPr/>
        </p:nvSpPr>
        <p:spPr>
          <a:xfrm>
            <a:off x="9102761" y="2836012"/>
            <a:ext cx="2252624" cy="607710"/>
          </a:xfrm>
          <a:prstGeom prst="rect">
            <a:avLst/>
          </a:prstGeom>
          <a:noFill/>
          <a:ln/>
        </p:spPr>
        <p:txBody>
          <a:bodyPr wrap="square" lIns="0" tIns="0" rIns="0" bIns="0" rtlCol="0" anchor="t"/>
          <a:lstStyle/>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Kit registry có owner, review,</a:t>
            </a:r>
            <a:endParaRPr lang="en-US" sz="1100" dirty="0"/>
          </a:p>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version; thêm nguồn dữ liệu theo</a:t>
            </a:r>
            <a:endParaRPr lang="en-US" sz="1100" dirty="0"/>
          </a:p>
          <a:p>
            <a:pPr algn="l" indent="0" marL="0">
              <a:lnSpc>
                <a:spcPts val="1595"/>
              </a:lnSpc>
              <a:buNone/>
            </a:pPr>
            <a:r>
              <a:rPr lang="en-US" sz="1100" dirty="0">
                <a:solidFill>
                  <a:srgbClr val="6B6B6B"/>
                </a:solidFill>
                <a:latin typeface="Inter" pitchFamily="34" charset="0"/>
                <a:ea typeface="Inter" pitchFamily="34" charset="-122"/>
                <a:cs typeface="Inter" pitchFamily="34" charset="-120"/>
              </a:rPr>
              <a:t>playbook</a:t>
            </a:r>
            <a:endParaRPr lang="en-US" sz="1100" dirty="0"/>
          </a:p>
        </p:txBody>
      </p:sp>
      <p:sp>
        <p:nvSpPr>
          <p:cNvPr id="44" name="A_5_3_fade_844"/>
          <p:cNvSpPr/>
          <p:nvPr/>
        </p:nvSpPr>
        <p:spPr>
          <a:xfrm>
            <a:off x="9102761" y="3551164"/>
            <a:ext cx="2320930" cy="9510"/>
          </a:xfrm>
          <a:prstGeom prst="rect">
            <a:avLst/>
          </a:prstGeom>
          <a:solidFill>
            <a:srgbClr val="C9CAEB"/>
          </a:solidFill>
          <a:ln/>
        </p:spPr>
      </p:sp>
      <p:sp>
        <p:nvSpPr>
          <p:cNvPr id="45" name="A_5_3_fade_845"/>
          <p:cNvSpPr txBox="1"/>
          <p:nvPr/>
        </p:nvSpPr>
        <p:spPr>
          <a:xfrm>
            <a:off x="9102761" y="3636569"/>
            <a:ext cx="502737" cy="140360"/>
          </a:xfrm>
          <a:prstGeom prst="rect">
            <a:avLst/>
          </a:prstGeom>
          <a:noFill/>
          <a:ln/>
        </p:spPr>
        <p:txBody>
          <a:bodyPr wrap="square" lIns="0" tIns="0" rIns="0" bIns="0" rtlCol="0" anchor="t"/>
          <a:lstStyle/>
          <a:p>
            <a:pPr algn="l" indent="0" marL="0">
              <a:lnSpc>
                <a:spcPts val="1105"/>
              </a:lnSpc>
              <a:buNone/>
            </a:pPr>
            <a:r>
              <a:rPr lang="en-US" sz="850" b="1" spc="68" kern="0" dirty="0">
                <a:solidFill>
                  <a:srgbClr val="1E2BFA"/>
                </a:solidFill>
                <a:latin typeface="Space Grotesk" pitchFamily="34" charset="0"/>
                <a:ea typeface="Space Grotesk" pitchFamily="34" charset="-122"/>
                <a:cs typeface="Space Grotesk" pitchFamily="34" charset="-120"/>
              </a:rPr>
              <a:t>ĐẦU RA</a:t>
            </a:r>
            <a:endParaRPr lang="en-US" sz="850" dirty="0"/>
          </a:p>
        </p:txBody>
      </p:sp>
      <p:sp>
        <p:nvSpPr>
          <p:cNvPr id="46" name="A_5_3_fade_846"/>
          <p:cNvSpPr txBox="1"/>
          <p:nvPr/>
        </p:nvSpPr>
        <p:spPr>
          <a:xfrm>
            <a:off x="9102761" y="3809208"/>
            <a:ext cx="2348454" cy="405171"/>
          </a:xfrm>
          <a:prstGeom prst="rect">
            <a:avLst/>
          </a:prstGeom>
          <a:noFill/>
          <a:ln/>
        </p:spPr>
        <p:txBody>
          <a:bodyPr wrap="square" lIns="0" tIns="0" rIns="0" bIns="0" rtlCol="0" anchor="t"/>
          <a:lstStyle/>
          <a:p>
            <a:pPr algn="l" indent="0" marL="0">
              <a:lnSpc>
                <a:spcPts val="1595"/>
              </a:lnSpc>
              <a:buNone/>
            </a:pPr>
            <a:r>
              <a:rPr lang="en-US" sz="1100" dirty="0">
                <a:solidFill>
                  <a:srgbClr val="111111"/>
                </a:solidFill>
                <a:latin typeface="Inter" pitchFamily="34" charset="0"/>
                <a:ea typeface="Inter" pitchFamily="34" charset="-122"/>
                <a:cs typeface="Inter" pitchFamily="34" charset="-120"/>
              </a:rPr>
              <a:t>Danh mục kit và data source dùng</a:t>
            </a:r>
            <a:endParaRPr lang="en-US" sz="1100" dirty="0"/>
          </a:p>
          <a:p>
            <a:pPr algn="l" indent="0" marL="0">
              <a:lnSpc>
                <a:spcPts val="1595"/>
              </a:lnSpc>
              <a:buNone/>
            </a:pPr>
            <a:r>
              <a:rPr lang="en-US" sz="1100" dirty="0">
                <a:solidFill>
                  <a:srgbClr val="111111"/>
                </a:solidFill>
                <a:latin typeface="Inter" pitchFamily="34" charset="0"/>
                <a:ea typeface="Inter" pitchFamily="34" charset="-122"/>
                <a:cs typeface="Inter" pitchFamily="34" charset="-120"/>
              </a:rPr>
              <a:t>chung</a:t>
            </a:r>
            <a:endParaRPr lang="en-US" sz="1100" dirty="0"/>
          </a:p>
        </p:txBody>
      </p:sp>
      <p:sp>
        <p:nvSpPr>
          <p:cNvPr id="47" name="A_6_4_fade_847"/>
          <p:cNvSpPr txBox="1"/>
          <p:nvPr/>
        </p:nvSpPr>
        <p:spPr>
          <a:xfrm>
            <a:off x="609630" y="5016673"/>
            <a:ext cx="1474561"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CHỈ SỐ NÊN THEO DÕI</a:t>
            </a:r>
            <a:endParaRPr lang="en-US" sz="950" dirty="0"/>
          </a:p>
        </p:txBody>
      </p:sp>
      <p:sp>
        <p:nvSpPr>
          <p:cNvPr id="48" name="A_6_4_fade_848"/>
          <p:cNvSpPr/>
          <p:nvPr/>
        </p:nvSpPr>
        <p:spPr>
          <a:xfrm>
            <a:off x="2114641" y="4958517"/>
            <a:ext cx="2045238" cy="270480"/>
          </a:xfrm>
          <a:prstGeom prst="roundRect">
            <a:avLst>
              <a:gd name="adj" fmla="val 50000"/>
            </a:avLst>
          </a:prstGeom>
          <a:solidFill>
            <a:srgbClr val="EBE9E9"/>
          </a:solidFill>
          <a:ln/>
        </p:spPr>
      </p:sp>
      <p:sp>
        <p:nvSpPr>
          <p:cNvPr id="49" name="A_6_4_fade_849"/>
          <p:cNvSpPr txBox="1"/>
          <p:nvPr/>
        </p:nvSpPr>
        <p:spPr>
          <a:xfrm>
            <a:off x="2228941" y="5001128"/>
            <a:ext cx="1961937"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tỉ lệ công việc chạy qua kit</a:t>
            </a:r>
            <a:endParaRPr lang="en-US" sz="1100" dirty="0"/>
          </a:p>
        </p:txBody>
      </p:sp>
      <p:sp>
        <p:nvSpPr>
          <p:cNvPr id="50" name="A_6_4_fade_850"/>
          <p:cNvSpPr/>
          <p:nvPr/>
        </p:nvSpPr>
        <p:spPr>
          <a:xfrm>
            <a:off x="4223339" y="4958517"/>
            <a:ext cx="2647920" cy="270480"/>
          </a:xfrm>
          <a:prstGeom prst="roundRect">
            <a:avLst>
              <a:gd name="adj" fmla="val 50000"/>
            </a:avLst>
          </a:prstGeom>
          <a:solidFill>
            <a:srgbClr val="EBE9E9"/>
          </a:solidFill>
          <a:ln/>
        </p:spPr>
      </p:sp>
      <p:sp>
        <p:nvSpPr>
          <p:cNvPr id="51" name="A_6_4_fade_851"/>
          <p:cNvSpPr txBox="1"/>
          <p:nvPr/>
        </p:nvSpPr>
        <p:spPr>
          <a:xfrm>
            <a:off x="4337639" y="5001128"/>
            <a:ext cx="261289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thời gian và lỗi review so với làm tay</a:t>
            </a:r>
            <a:endParaRPr lang="en-US" sz="1100" dirty="0"/>
          </a:p>
        </p:txBody>
      </p:sp>
      <p:sp>
        <p:nvSpPr>
          <p:cNvPr id="52" name="A_6_4_fade_852"/>
          <p:cNvSpPr/>
          <p:nvPr/>
        </p:nvSpPr>
        <p:spPr>
          <a:xfrm>
            <a:off x="6934810" y="4958517"/>
            <a:ext cx="2323856" cy="270480"/>
          </a:xfrm>
          <a:prstGeom prst="roundRect">
            <a:avLst>
              <a:gd name="adj" fmla="val 50000"/>
            </a:avLst>
          </a:prstGeom>
          <a:solidFill>
            <a:srgbClr val="EBE9E9"/>
          </a:solidFill>
          <a:ln/>
        </p:spPr>
      </p:sp>
      <p:sp>
        <p:nvSpPr>
          <p:cNvPr id="53" name="A_6_4_fade_853"/>
          <p:cNvSpPr txBox="1"/>
          <p:nvPr/>
        </p:nvSpPr>
        <p:spPr>
          <a:xfrm>
            <a:off x="7049110" y="5001128"/>
            <a:ext cx="2262957"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số harness dùng chung một kit</a:t>
            </a:r>
            <a:endParaRPr lang="en-US" sz="1100" dirty="0"/>
          </a:p>
        </p:txBody>
      </p:sp>
      <p:sp>
        <p:nvSpPr>
          <p:cNvPr id="54" name="A_6_4_fade_854"/>
          <p:cNvSpPr/>
          <p:nvPr/>
        </p:nvSpPr>
        <p:spPr>
          <a:xfrm>
            <a:off x="9322217" y="4958517"/>
            <a:ext cx="1411468" cy="270480"/>
          </a:xfrm>
          <a:prstGeom prst="roundRect">
            <a:avLst>
              <a:gd name="adj" fmla="val 50000"/>
            </a:avLst>
          </a:prstGeom>
          <a:solidFill>
            <a:srgbClr val="EBE9E9"/>
          </a:solidFill>
          <a:ln/>
        </p:spPr>
      </p:sp>
      <p:sp>
        <p:nvSpPr>
          <p:cNvPr id="55" name="A_6_4_fade_855"/>
          <p:cNvSpPr txBox="1"/>
          <p:nvPr/>
        </p:nvSpPr>
        <p:spPr>
          <a:xfrm>
            <a:off x="9436517" y="5001128"/>
            <a:ext cx="1277508"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cost mỗi đầu việc</a:t>
            </a:r>
            <a:endParaRPr lang="en-US" sz="1100" dirty="0"/>
          </a:p>
        </p:txBody>
      </p:sp>
      <p:sp>
        <p:nvSpPr>
          <p:cNvPr id="56" name="A_6_4_fade_856"/>
          <p:cNvSpPr/>
          <p:nvPr/>
        </p:nvSpPr>
        <p:spPr>
          <a:xfrm>
            <a:off x="2114641" y="5292547"/>
            <a:ext cx="2546970" cy="270480"/>
          </a:xfrm>
          <a:prstGeom prst="roundRect">
            <a:avLst>
              <a:gd name="adj" fmla="val 50000"/>
            </a:avLst>
          </a:prstGeom>
          <a:solidFill>
            <a:srgbClr val="EBE9E9"/>
          </a:solidFill>
          <a:ln/>
        </p:spPr>
      </p:sp>
      <p:sp>
        <p:nvSpPr>
          <p:cNvPr id="57" name="A_6_4_fade_857"/>
          <p:cNvSpPr txBox="1"/>
          <p:nvPr/>
        </p:nvSpPr>
        <p:spPr>
          <a:xfrm>
            <a:off x="2228941" y="5335067"/>
            <a:ext cx="2503810" cy="181600"/>
          </a:xfrm>
          <a:prstGeom prst="rect">
            <a:avLst/>
          </a:prstGeom>
          <a:noFill/>
          <a:ln/>
        </p:spPr>
        <p:txBody>
          <a:bodyPr wrap="square" lIns="0" tIns="0" rIns="0" bIns="0" rtlCol="0" anchor="t"/>
          <a:lstStyle/>
          <a:p>
            <a:pPr algn="l" indent="0" marL="0">
              <a:lnSpc>
                <a:spcPts val="1430"/>
              </a:lnSpc>
              <a:buNone/>
            </a:pPr>
            <a:r>
              <a:rPr lang="en-US" sz="1100" dirty="0">
                <a:solidFill>
                  <a:srgbClr val="1E2BFA"/>
                </a:solidFill>
                <a:latin typeface="Space Grotesk" pitchFamily="34" charset="0"/>
                <a:ea typeface="Space Grotesk" pitchFamily="34" charset="-122"/>
                <a:cs typeface="Space Grotesk" pitchFamily="34" charset="-120"/>
              </a:rPr>
              <a:t>số lần guardrail chặn một thao tác</a:t>
            </a:r>
            <a:endParaRPr lang="en-US" sz="1100" dirty="0"/>
          </a:p>
        </p:txBody>
      </p:sp>
      <p:sp>
        <p:nvSpPr>
          <p:cNvPr id="58" name="S_858"/>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59" name="S_859"/>
          <p:cNvSpPr txBox="1"/>
          <p:nvPr/>
        </p:nvSpPr>
        <p:spPr>
          <a:xfrm>
            <a:off x="11166287" y="6517660"/>
            <a:ext cx="492313"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23 / 25</a:t>
            </a:r>
            <a:endParaRPr lang="en-US" sz="900" dirty="0"/>
          </a:p>
        </p:txBody>
      </p:sp>
      <p:sp>
        <p:nvSpPr>
          <p:cNvPr id="60" name="S_860"/>
          <p:cNvSpPr/>
          <p:nvPr/>
        </p:nvSpPr>
        <p:spPr>
          <a:xfrm>
            <a:off x="0" y="6838980"/>
            <a:ext cx="1121667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40" fill="hold">
                      <p:stCondLst>
                        <p:cond delay="indefinite"/>
                        <p:cond evt="onBegin" delay="0">
                          <p:tn val="2"/>
                        </p:cond>
                      </p:stCondLst>
                      <p:childTnLst>
                        <p:par>
                          <p:cTn id="3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22" presetClass="entr" presetSubtype="8"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wipe(left)">
                                      <p:cBhvr>
                                        <p:cTn id="8" dur="700"/>
                                        <p:tgtEl>
                                          <p:spTgt spid="6"/>
                                        </p:tgtEl>
                                      </p:cBhvr>
                                    </p:animEffect>
                                  </p:childTnLst>
                                </p:cTn>
                              </p:par>
                              <p:par>
                                <p:cTn id="9" presetID="10" presetClass="entr" presetSubtype="0" fill="hold" grpId="0" nodeType="withEffect">
                                  <p:stCondLst>
                                    <p:cond delay="22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22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22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22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22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22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22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22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childTnLst>
                          </p:cTn>
                        </p:par>
                      </p:childTnLst>
                    </p:cTn>
                  </p:par>
                  <p:par>
                    <p:cTn id="72" fill="hold">
                      <p:stCondLst>
                        <p:cond delay="indefinite"/>
                      </p:stCondLst>
                      <p:childTnLst>
                        <p:par>
                          <p:cTn id="71"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5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5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5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5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childTnLst>
                          </p:cTn>
                        </p:par>
                      </p:childTnLst>
                    </p:cTn>
                  </p:par>
                  <p:par>
                    <p:cTn id="104" fill="hold">
                      <p:stCondLst>
                        <p:cond delay="indefinite"/>
                      </p:stCondLst>
                      <p:childTnLst>
                        <p:par>
                          <p:cTn id="103"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50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50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50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50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50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500"/>
                                        <p:tgtEl>
                                          <p:spTgt spid="3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500"/>
                                        <p:tgtEl>
                                          <p:spTgt spid="3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500"/>
                                        <p:tgtEl>
                                          <p:spTgt spid="36"/>
                                        </p:tgtEl>
                                      </p:cBhvr>
                                    </p:animEffect>
                                  </p:childTnLst>
                                </p:cTn>
                              </p:par>
                            </p:childTnLst>
                          </p:cTn>
                        </p:par>
                      </p:childTnLst>
                    </p:cTn>
                  </p:par>
                  <p:par>
                    <p:cTn id="136" fill="hold">
                      <p:stCondLst>
                        <p:cond delay="indefinite"/>
                      </p:stCondLst>
                      <p:childTnLst>
                        <p:par>
                          <p:cTn id="135"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fade">
                                      <p:cBhvr>
                                        <p:cTn id="107" dur="500"/>
                                        <p:tgtEl>
                                          <p:spTgt spid="3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500"/>
                                        <p:tgtEl>
                                          <p:spTgt spid="3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9"/>
                                        </p:tgtEl>
                                        <p:attrNameLst>
                                          <p:attrName>style.visibility</p:attrName>
                                        </p:attrNameLst>
                                      </p:cBhvr>
                                      <p:to>
                                        <p:strVal val="visible"/>
                                      </p:to>
                                    </p:set>
                                    <p:animEffect transition="in" filter="fade">
                                      <p:cBhvr>
                                        <p:cTn id="113" dur="500"/>
                                        <p:tgtEl>
                                          <p:spTgt spid="3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0"/>
                                        </p:tgtEl>
                                        <p:attrNameLst>
                                          <p:attrName>style.visibility</p:attrName>
                                        </p:attrNameLst>
                                      </p:cBhvr>
                                      <p:to>
                                        <p:strVal val="visible"/>
                                      </p:to>
                                    </p:set>
                                    <p:animEffect transition="in" filter="fade">
                                      <p:cBhvr>
                                        <p:cTn id="116" dur="500"/>
                                        <p:tgtEl>
                                          <p:spTgt spid="40"/>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1"/>
                                        </p:tgtEl>
                                        <p:attrNameLst>
                                          <p:attrName>style.visibility</p:attrName>
                                        </p:attrNameLst>
                                      </p:cBhvr>
                                      <p:to>
                                        <p:strVal val="visible"/>
                                      </p:to>
                                    </p:set>
                                    <p:animEffect transition="in" filter="fade">
                                      <p:cBhvr>
                                        <p:cTn id="119" dur="500"/>
                                        <p:tgtEl>
                                          <p:spTgt spid="41"/>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2"/>
                                        </p:tgtEl>
                                        <p:attrNameLst>
                                          <p:attrName>style.visibility</p:attrName>
                                        </p:attrNameLst>
                                      </p:cBhvr>
                                      <p:to>
                                        <p:strVal val="visible"/>
                                      </p:to>
                                    </p:set>
                                    <p:animEffect transition="in" filter="fade">
                                      <p:cBhvr>
                                        <p:cTn id="122" dur="500"/>
                                        <p:tgtEl>
                                          <p:spTgt spid="42"/>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3"/>
                                        </p:tgtEl>
                                        <p:attrNameLst>
                                          <p:attrName>style.visibility</p:attrName>
                                        </p:attrNameLst>
                                      </p:cBhvr>
                                      <p:to>
                                        <p:strVal val="visible"/>
                                      </p:to>
                                    </p:set>
                                    <p:animEffect transition="in" filter="fade">
                                      <p:cBhvr>
                                        <p:cTn id="125" dur="500"/>
                                        <p:tgtEl>
                                          <p:spTgt spid="43"/>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4"/>
                                        </p:tgtEl>
                                        <p:attrNameLst>
                                          <p:attrName>style.visibility</p:attrName>
                                        </p:attrNameLst>
                                      </p:cBhvr>
                                      <p:to>
                                        <p:strVal val="visible"/>
                                      </p:to>
                                    </p:set>
                                    <p:animEffect transition="in" filter="fade">
                                      <p:cBhvr>
                                        <p:cTn id="128" dur="500"/>
                                        <p:tgtEl>
                                          <p:spTgt spid="44"/>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5"/>
                                        </p:tgtEl>
                                        <p:attrNameLst>
                                          <p:attrName>style.visibility</p:attrName>
                                        </p:attrNameLst>
                                      </p:cBhvr>
                                      <p:to>
                                        <p:strVal val="visible"/>
                                      </p:to>
                                    </p:set>
                                    <p:animEffect transition="in" filter="fade">
                                      <p:cBhvr>
                                        <p:cTn id="131" dur="500"/>
                                        <p:tgtEl>
                                          <p:spTgt spid="45"/>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6"/>
                                        </p:tgtEl>
                                        <p:attrNameLst>
                                          <p:attrName>style.visibility</p:attrName>
                                        </p:attrNameLst>
                                      </p:cBhvr>
                                      <p:to>
                                        <p:strVal val="visible"/>
                                      </p:to>
                                    </p:set>
                                    <p:animEffect transition="in" filter="fade">
                                      <p:cBhvr>
                                        <p:cTn id="134" dur="500"/>
                                        <p:tgtEl>
                                          <p:spTgt spid="46"/>
                                        </p:tgtEl>
                                      </p:cBhvr>
                                    </p:animEffect>
                                  </p:childTnLst>
                                </p:cTn>
                              </p:par>
                            </p:childTnLst>
                          </p:cTn>
                        </p:par>
                      </p:childTnLst>
                    </p:cTn>
                  </p:par>
                  <p:par>
                    <p:cTn id="171" fill="hold">
                      <p:stCondLst>
                        <p:cond delay="indefinite"/>
                      </p:stCondLst>
                      <p:childTnLst>
                        <p:par>
                          <p:cTn id="170" fill="hold">
                            <p:stCondLst>
                              <p:cond delay="0"/>
                            </p:stCondLst>
                            <p:childTnLst>
                              <p:par>
                                <p:cTn id="137" presetID="10" presetClass="entr" presetSubtype="0" fill="hold" grpId="0" nodeType="clickEffect">
                                  <p:stCondLst>
                                    <p:cond delay="0"/>
                                  </p:stCondLst>
                                  <p:childTnLst>
                                    <p:set>
                                      <p:cBhvr>
                                        <p:cTn id="138" dur="1" fill="hold">
                                          <p:stCondLst>
                                            <p:cond delay="0"/>
                                          </p:stCondLst>
                                        </p:cTn>
                                        <p:tgtEl>
                                          <p:spTgt spid="47"/>
                                        </p:tgtEl>
                                        <p:attrNameLst>
                                          <p:attrName>style.visibility</p:attrName>
                                        </p:attrNameLst>
                                      </p:cBhvr>
                                      <p:to>
                                        <p:strVal val="visible"/>
                                      </p:to>
                                    </p:set>
                                    <p:animEffect transition="in" filter="fade">
                                      <p:cBhvr>
                                        <p:cTn id="139" dur="500"/>
                                        <p:tgtEl>
                                          <p:spTgt spid="47"/>
                                        </p:tgtEl>
                                      </p:cBhvr>
                                    </p:animEffect>
                                  </p:childTnLst>
                                </p:cTn>
                              </p:par>
                              <p:par>
                                <p:cTn id="140" presetID="10" presetClass="entr" presetSubtype="0" fill="hold" grpId="0" nodeType="withEffect">
                                  <p:stCondLst>
                                    <p:cond delay="0"/>
                                  </p:stCondLst>
                                  <p:childTnLst>
                                    <p:set>
                                      <p:cBhvr>
                                        <p:cTn id="141" dur="1" fill="hold">
                                          <p:stCondLst>
                                            <p:cond delay="0"/>
                                          </p:stCondLst>
                                        </p:cTn>
                                        <p:tgtEl>
                                          <p:spTgt spid="48"/>
                                        </p:tgtEl>
                                        <p:attrNameLst>
                                          <p:attrName>style.visibility</p:attrName>
                                        </p:attrNameLst>
                                      </p:cBhvr>
                                      <p:to>
                                        <p:strVal val="visible"/>
                                      </p:to>
                                    </p:set>
                                    <p:animEffect transition="in" filter="fade">
                                      <p:cBhvr>
                                        <p:cTn id="142" dur="500"/>
                                        <p:tgtEl>
                                          <p:spTgt spid="48"/>
                                        </p:tgtEl>
                                      </p:cBhvr>
                                    </p:animEffect>
                                  </p:childTnLst>
                                </p:cTn>
                              </p:par>
                              <p:par>
                                <p:cTn id="143" presetID="10" presetClass="entr" presetSubtype="0" fill="hold" grpId="0" nodeType="withEffect">
                                  <p:stCondLst>
                                    <p:cond delay="0"/>
                                  </p:stCondLst>
                                  <p:childTnLst>
                                    <p:set>
                                      <p:cBhvr>
                                        <p:cTn id="144" dur="1" fill="hold">
                                          <p:stCondLst>
                                            <p:cond delay="0"/>
                                          </p:stCondLst>
                                        </p:cTn>
                                        <p:tgtEl>
                                          <p:spTgt spid="49"/>
                                        </p:tgtEl>
                                        <p:attrNameLst>
                                          <p:attrName>style.visibility</p:attrName>
                                        </p:attrNameLst>
                                      </p:cBhvr>
                                      <p:to>
                                        <p:strVal val="visible"/>
                                      </p:to>
                                    </p:set>
                                    <p:animEffect transition="in" filter="fade">
                                      <p:cBhvr>
                                        <p:cTn id="145" dur="500"/>
                                        <p:tgtEl>
                                          <p:spTgt spid="49"/>
                                        </p:tgtEl>
                                      </p:cBhvr>
                                    </p:animEffect>
                                  </p:childTnLst>
                                </p:cTn>
                              </p:par>
                              <p:par>
                                <p:cTn id="146" presetID="10" presetClass="entr" presetSubtype="0" fill="hold" grpId="0" nodeType="withEffect">
                                  <p:stCondLst>
                                    <p:cond delay="0"/>
                                  </p:stCondLst>
                                  <p:childTnLst>
                                    <p:set>
                                      <p:cBhvr>
                                        <p:cTn id="147" dur="1" fill="hold">
                                          <p:stCondLst>
                                            <p:cond delay="0"/>
                                          </p:stCondLst>
                                        </p:cTn>
                                        <p:tgtEl>
                                          <p:spTgt spid="50"/>
                                        </p:tgtEl>
                                        <p:attrNameLst>
                                          <p:attrName>style.visibility</p:attrName>
                                        </p:attrNameLst>
                                      </p:cBhvr>
                                      <p:to>
                                        <p:strVal val="visible"/>
                                      </p:to>
                                    </p:set>
                                    <p:animEffect transition="in" filter="fade">
                                      <p:cBhvr>
                                        <p:cTn id="148" dur="500"/>
                                        <p:tgtEl>
                                          <p:spTgt spid="50"/>
                                        </p:tgtEl>
                                      </p:cBhvr>
                                    </p:animEffect>
                                  </p:childTnLst>
                                </p:cTn>
                              </p:par>
                              <p:par>
                                <p:cTn id="149" presetID="10" presetClass="entr" presetSubtype="0" fill="hold" grpId="0" nodeType="withEffect">
                                  <p:stCondLst>
                                    <p:cond delay="0"/>
                                  </p:stCondLst>
                                  <p:childTnLst>
                                    <p:set>
                                      <p:cBhvr>
                                        <p:cTn id="150" dur="1" fill="hold">
                                          <p:stCondLst>
                                            <p:cond delay="0"/>
                                          </p:stCondLst>
                                        </p:cTn>
                                        <p:tgtEl>
                                          <p:spTgt spid="51"/>
                                        </p:tgtEl>
                                        <p:attrNameLst>
                                          <p:attrName>style.visibility</p:attrName>
                                        </p:attrNameLst>
                                      </p:cBhvr>
                                      <p:to>
                                        <p:strVal val="visible"/>
                                      </p:to>
                                    </p:set>
                                    <p:animEffect transition="in" filter="fade">
                                      <p:cBhvr>
                                        <p:cTn id="151" dur="500"/>
                                        <p:tgtEl>
                                          <p:spTgt spid="51"/>
                                        </p:tgtEl>
                                      </p:cBhvr>
                                    </p:animEffect>
                                  </p:childTnLst>
                                </p:cTn>
                              </p:par>
                              <p:par>
                                <p:cTn id="152" presetID="10" presetClass="entr" presetSubtype="0" fill="hold" grpId="0" nodeType="withEffect">
                                  <p:stCondLst>
                                    <p:cond delay="0"/>
                                  </p:stCondLst>
                                  <p:childTnLst>
                                    <p:set>
                                      <p:cBhvr>
                                        <p:cTn id="153" dur="1" fill="hold">
                                          <p:stCondLst>
                                            <p:cond delay="0"/>
                                          </p:stCondLst>
                                        </p:cTn>
                                        <p:tgtEl>
                                          <p:spTgt spid="52"/>
                                        </p:tgtEl>
                                        <p:attrNameLst>
                                          <p:attrName>style.visibility</p:attrName>
                                        </p:attrNameLst>
                                      </p:cBhvr>
                                      <p:to>
                                        <p:strVal val="visible"/>
                                      </p:to>
                                    </p:set>
                                    <p:animEffect transition="in" filter="fade">
                                      <p:cBhvr>
                                        <p:cTn id="154" dur="500"/>
                                        <p:tgtEl>
                                          <p:spTgt spid="52"/>
                                        </p:tgtEl>
                                      </p:cBhvr>
                                    </p:animEffect>
                                  </p:childTnLst>
                                </p:cTn>
                              </p:par>
                              <p:par>
                                <p:cTn id="155" presetID="10" presetClass="entr" presetSubtype="0" fill="hold" grpId="0" nodeType="withEffect">
                                  <p:stCondLst>
                                    <p:cond delay="0"/>
                                  </p:stCondLst>
                                  <p:childTnLst>
                                    <p:set>
                                      <p:cBhvr>
                                        <p:cTn id="156" dur="1" fill="hold">
                                          <p:stCondLst>
                                            <p:cond delay="0"/>
                                          </p:stCondLst>
                                        </p:cTn>
                                        <p:tgtEl>
                                          <p:spTgt spid="53"/>
                                        </p:tgtEl>
                                        <p:attrNameLst>
                                          <p:attrName>style.visibility</p:attrName>
                                        </p:attrNameLst>
                                      </p:cBhvr>
                                      <p:to>
                                        <p:strVal val="visible"/>
                                      </p:to>
                                    </p:set>
                                    <p:animEffect transition="in" filter="fade">
                                      <p:cBhvr>
                                        <p:cTn id="157" dur="500"/>
                                        <p:tgtEl>
                                          <p:spTgt spid="53"/>
                                        </p:tgtEl>
                                      </p:cBhvr>
                                    </p:animEffect>
                                  </p:childTnLst>
                                </p:cTn>
                              </p:par>
                              <p:par>
                                <p:cTn id="158" presetID="10" presetClass="entr" presetSubtype="0" fill="hold" grpId="0" nodeType="withEffect">
                                  <p:stCondLst>
                                    <p:cond delay="0"/>
                                  </p:stCondLst>
                                  <p:childTnLst>
                                    <p:set>
                                      <p:cBhvr>
                                        <p:cTn id="159" dur="1" fill="hold">
                                          <p:stCondLst>
                                            <p:cond delay="0"/>
                                          </p:stCondLst>
                                        </p:cTn>
                                        <p:tgtEl>
                                          <p:spTgt spid="54"/>
                                        </p:tgtEl>
                                        <p:attrNameLst>
                                          <p:attrName>style.visibility</p:attrName>
                                        </p:attrNameLst>
                                      </p:cBhvr>
                                      <p:to>
                                        <p:strVal val="visible"/>
                                      </p:to>
                                    </p:set>
                                    <p:animEffect transition="in" filter="fade">
                                      <p:cBhvr>
                                        <p:cTn id="160" dur="500"/>
                                        <p:tgtEl>
                                          <p:spTgt spid="54"/>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5"/>
                                        </p:tgtEl>
                                        <p:attrNameLst>
                                          <p:attrName>style.visibility</p:attrName>
                                        </p:attrNameLst>
                                      </p:cBhvr>
                                      <p:to>
                                        <p:strVal val="visible"/>
                                      </p:to>
                                    </p:set>
                                    <p:animEffect transition="in" filter="fade">
                                      <p:cBhvr>
                                        <p:cTn id="163" dur="500"/>
                                        <p:tgtEl>
                                          <p:spTgt spid="55"/>
                                        </p:tgtEl>
                                      </p:cBhvr>
                                    </p:animEffect>
                                  </p:childTnLst>
                                </p:cTn>
                              </p:par>
                              <p:par>
                                <p:cTn id="164" presetID="10" presetClass="entr" presetSubtype="0" fill="hold" grpId="0" nodeType="withEffect">
                                  <p:stCondLst>
                                    <p:cond delay="0"/>
                                  </p:stCondLst>
                                  <p:childTnLst>
                                    <p:set>
                                      <p:cBhvr>
                                        <p:cTn id="165" dur="1" fill="hold">
                                          <p:stCondLst>
                                            <p:cond delay="0"/>
                                          </p:stCondLst>
                                        </p:cTn>
                                        <p:tgtEl>
                                          <p:spTgt spid="56"/>
                                        </p:tgtEl>
                                        <p:attrNameLst>
                                          <p:attrName>style.visibility</p:attrName>
                                        </p:attrNameLst>
                                      </p:cBhvr>
                                      <p:to>
                                        <p:strVal val="visible"/>
                                      </p:to>
                                    </p:set>
                                    <p:animEffect transition="in" filter="fade">
                                      <p:cBhvr>
                                        <p:cTn id="166" dur="500"/>
                                        <p:tgtEl>
                                          <p:spTgt spid="56"/>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57"/>
                                        </p:tgtEl>
                                        <p:attrNameLst>
                                          <p:attrName>style.visibility</p:attrName>
                                        </p:attrNameLst>
                                      </p:cBhvr>
                                      <p:to>
                                        <p:strVal val="visible"/>
                                      </p:to>
                                    </p:set>
                                    <p:animEffect transition="in" filter="fade">
                                      <p:cBhvr>
                                        <p:cTn id="16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DFAE7"/>
        </a:solidFill>
      </p:bgPr>
    </p:bg>
    <p:spTree>
      <p:nvGrpSpPr>
        <p:cNvPr id="1" name=""/>
        <p:cNvGrpSpPr/>
        <p:nvPr/>
      </p:nvGrpSpPr>
      <p:grpSpPr>
        <a:xfrm>
          <a:off x="0" y="0"/>
          <a:ext cx="0" cy="0"/>
          <a:chOff x="0" y="0"/>
          <a:chExt cx="0" cy="0"/>
        </a:xfrm>
      </p:grpSpPr>
      <p:sp>
        <p:nvSpPr>
          <p:cNvPr id="2" name="S_861"/>
          <p:cNvSpPr txBox="1"/>
          <p:nvPr/>
        </p:nvSpPr>
        <p:spPr>
          <a:xfrm>
            <a:off x="609630" y="466070"/>
            <a:ext cx="1915302"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09 · CẦN QUYẾT ĐỊNH GÌ</a:t>
            </a:r>
            <a:endParaRPr lang="en-US" sz="1100" dirty="0"/>
          </a:p>
        </p:txBody>
      </p:sp>
      <p:sp>
        <p:nvSpPr>
          <p:cNvPr id="3" name="S_862"/>
          <p:cNvSpPr/>
          <p:nvPr/>
        </p:nvSpPr>
        <p:spPr>
          <a:xfrm>
            <a:off x="10470520" y="412760"/>
            <a:ext cx="1111819" cy="292059"/>
          </a:xfrm>
          <a:prstGeom prst="roundRect">
            <a:avLst>
              <a:gd name="adj" fmla="val 50000"/>
            </a:avLst>
          </a:prstGeom>
          <a:solidFill>
            <a:srgbClr val="EBE9E9"/>
          </a:solidFill>
          <a:ln/>
        </p:spPr>
      </p:sp>
      <p:sp>
        <p:nvSpPr>
          <p:cNvPr id="4" name="S_863"/>
          <p:cNvSpPr txBox="1"/>
          <p:nvPr/>
        </p:nvSpPr>
        <p:spPr>
          <a:xfrm>
            <a:off x="10635661" y="476220"/>
            <a:ext cx="857890"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5 quyết định</a:t>
            </a:r>
            <a:endParaRPr lang="en-US" sz="1000" dirty="0"/>
          </a:p>
        </p:txBody>
      </p:sp>
      <p:sp>
        <p:nvSpPr>
          <p:cNvPr id="5" name="A_0_0_fade_864"/>
          <p:cNvSpPr txBox="1"/>
          <p:nvPr/>
        </p:nvSpPr>
        <p:spPr>
          <a:xfrm>
            <a:off x="609630" y="806592"/>
            <a:ext cx="4121109"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Năm quyết định cần có</a:t>
            </a:r>
            <a:endParaRPr lang="en-US" sz="2800" dirty="0"/>
          </a:p>
        </p:txBody>
      </p:sp>
      <p:sp>
        <p:nvSpPr>
          <p:cNvPr id="6" name="A_1_0_fade_865"/>
          <p:cNvSpPr/>
          <p:nvPr/>
        </p:nvSpPr>
        <p:spPr>
          <a:xfrm>
            <a:off x="612008" y="2110527"/>
            <a:ext cx="10968045" cy="583204"/>
          </a:xfrm>
          <a:prstGeom prst="roundRect">
            <a:avLst>
              <a:gd name="adj" fmla="val 15240"/>
            </a:avLst>
          </a:prstGeom>
          <a:solidFill>
            <a:srgbClr val="F4F2E8"/>
          </a:solidFill>
          <a:ln w="9525">
            <a:solidFill>
              <a:srgbClr val="C9CAEB"/>
            </a:solidFill>
            <a:prstDash val="solid"/>
          </a:ln>
        </p:spPr>
      </p:sp>
      <p:sp>
        <p:nvSpPr>
          <p:cNvPr id="7" name="A_1_0_fade_866"/>
          <p:cNvSpPr txBox="1"/>
          <p:nvPr/>
        </p:nvSpPr>
        <p:spPr>
          <a:xfrm>
            <a:off x="819120" y="2239548"/>
            <a:ext cx="372344" cy="321320"/>
          </a:xfrm>
          <a:prstGeom prst="rect">
            <a:avLst/>
          </a:prstGeom>
          <a:noFill/>
          <a:ln/>
        </p:spPr>
        <p:txBody>
          <a:bodyPr wrap="square" lIns="0" tIns="0" rIns="0" bIns="0" rtlCol="0" anchor="t"/>
          <a:lstStyle/>
          <a:p>
            <a:pPr algn="l" indent="0" marL="0">
              <a:lnSpc>
                <a:spcPts val="2530"/>
              </a:lnSpc>
              <a:buNone/>
            </a:pPr>
            <a:r>
              <a:rPr lang="en-US" sz="2200" b="1" spc="-44" kern="0" dirty="0">
                <a:solidFill>
                  <a:srgbClr val="1E2BFA"/>
                </a:solidFill>
                <a:latin typeface="Space Grotesk" pitchFamily="34" charset="0"/>
                <a:ea typeface="Space Grotesk" pitchFamily="34" charset="-122"/>
                <a:cs typeface="Space Grotesk" pitchFamily="34" charset="-120"/>
              </a:rPr>
              <a:t>01</a:t>
            </a:r>
            <a:endParaRPr lang="en-US" sz="2200" dirty="0"/>
          </a:p>
        </p:txBody>
      </p:sp>
      <p:sp>
        <p:nvSpPr>
          <p:cNvPr id="8" name="A_1_0_fade_867"/>
          <p:cNvSpPr txBox="1"/>
          <p:nvPr/>
        </p:nvSpPr>
        <p:spPr>
          <a:xfrm>
            <a:off x="1454170" y="2282982"/>
            <a:ext cx="1768815" cy="230154"/>
          </a:xfrm>
          <a:prstGeom prst="rect">
            <a:avLst/>
          </a:prstGeom>
          <a:noFill/>
          <a:ln/>
        </p:spPr>
        <p:txBody>
          <a:bodyPr wrap="square" lIns="0" tIns="0" rIns="0" bIns="0" rtlCol="0" anchor="t"/>
          <a:lstStyle/>
          <a:p>
            <a:pPr algn="l" indent="0" marL="0">
              <a:lnSpc>
                <a:spcPts val="1813"/>
              </a:lnSpc>
              <a:buNone/>
            </a:pPr>
            <a:r>
              <a:rPr lang="en-US" sz="1450" b="1" spc="-14" kern="0" dirty="0">
                <a:solidFill>
                  <a:srgbClr val="111111"/>
                </a:solidFill>
                <a:latin typeface="Space Grotesk" pitchFamily="34" charset="0"/>
                <a:ea typeface="Space Grotesk" pitchFamily="34" charset="-122"/>
                <a:cs typeface="Space Grotesk" pitchFamily="34" charset="-120"/>
              </a:rPr>
              <a:t>Nguyên tắc đầu tư</a:t>
            </a:r>
            <a:endParaRPr lang="en-US" sz="1450" dirty="0"/>
          </a:p>
        </p:txBody>
      </p:sp>
      <p:sp>
        <p:nvSpPr>
          <p:cNvPr id="9" name="A_1_0_fade_868"/>
          <p:cNvSpPr txBox="1"/>
          <p:nvPr/>
        </p:nvSpPr>
        <p:spPr>
          <a:xfrm>
            <a:off x="3930640" y="2285817"/>
            <a:ext cx="6319876" cy="221010"/>
          </a:xfrm>
          <a:prstGeom prst="rect">
            <a:avLst/>
          </a:prstGeom>
          <a:noFill/>
          <a:ln/>
        </p:spPr>
        <p:txBody>
          <a:bodyPr wrap="square" lIns="0" tIns="0" rIns="0" bIns="0" rtlCol="0" anchor="t"/>
          <a:lstStyle/>
          <a:p>
            <a:pPr algn="l" indent="0" marL="0">
              <a:lnSpc>
                <a:spcPts val="1740"/>
              </a:lnSpc>
              <a:buNone/>
            </a:pPr>
            <a:r>
              <a:rPr lang="en-US" sz="1200" dirty="0">
                <a:solidFill>
                  <a:srgbClr val="6B6B6B"/>
                </a:solidFill>
                <a:latin typeface="Inter" pitchFamily="34" charset="0"/>
                <a:ea typeface="Inter" pitchFamily="34" charset="-122"/>
                <a:cs typeface="Inter" pitchFamily="34" charset="-120"/>
              </a:rPr>
              <a:t>Harness và LLM thì mua hoặc cấu hình; ngân sách xây dồn vào data, kit và connector</a:t>
            </a:r>
            <a:endParaRPr lang="en-US" sz="1200" dirty="0"/>
          </a:p>
        </p:txBody>
      </p:sp>
      <p:sp>
        <p:nvSpPr>
          <p:cNvPr id="10" name="A_2_0_fade_869"/>
          <p:cNvSpPr/>
          <p:nvPr/>
        </p:nvSpPr>
        <p:spPr>
          <a:xfrm>
            <a:off x="612008" y="2787366"/>
            <a:ext cx="10968045" cy="583204"/>
          </a:xfrm>
          <a:prstGeom prst="roundRect">
            <a:avLst>
              <a:gd name="adj" fmla="val 15240"/>
            </a:avLst>
          </a:prstGeom>
          <a:solidFill>
            <a:srgbClr val="F4F2E8"/>
          </a:solidFill>
          <a:ln w="9525">
            <a:solidFill>
              <a:srgbClr val="C9CAEB"/>
            </a:solidFill>
            <a:prstDash val="solid"/>
          </a:ln>
        </p:spPr>
      </p:sp>
      <p:sp>
        <p:nvSpPr>
          <p:cNvPr id="11" name="A_2_0_fade_870"/>
          <p:cNvSpPr txBox="1"/>
          <p:nvPr/>
        </p:nvSpPr>
        <p:spPr>
          <a:xfrm>
            <a:off x="819120" y="2916387"/>
            <a:ext cx="412029" cy="321320"/>
          </a:xfrm>
          <a:prstGeom prst="rect">
            <a:avLst/>
          </a:prstGeom>
          <a:noFill/>
          <a:ln/>
        </p:spPr>
        <p:txBody>
          <a:bodyPr wrap="square" lIns="0" tIns="0" rIns="0" bIns="0" rtlCol="0" anchor="t"/>
          <a:lstStyle/>
          <a:p>
            <a:pPr algn="l" indent="0" marL="0">
              <a:lnSpc>
                <a:spcPts val="2530"/>
              </a:lnSpc>
              <a:buNone/>
            </a:pPr>
            <a:r>
              <a:rPr lang="en-US" sz="2200" b="1" spc="-44" kern="0" dirty="0">
                <a:solidFill>
                  <a:srgbClr val="1E2BFA"/>
                </a:solidFill>
                <a:latin typeface="Space Grotesk" pitchFamily="34" charset="0"/>
                <a:ea typeface="Space Grotesk" pitchFamily="34" charset="-122"/>
                <a:cs typeface="Space Grotesk" pitchFamily="34" charset="-120"/>
              </a:rPr>
              <a:t>02</a:t>
            </a:r>
            <a:endParaRPr lang="en-US" sz="2200" dirty="0"/>
          </a:p>
        </p:txBody>
      </p:sp>
      <p:sp>
        <p:nvSpPr>
          <p:cNvPr id="12" name="A_2_0_fade_871"/>
          <p:cNvSpPr txBox="1"/>
          <p:nvPr/>
        </p:nvSpPr>
        <p:spPr>
          <a:xfrm>
            <a:off x="1454170" y="2959913"/>
            <a:ext cx="628650" cy="230154"/>
          </a:xfrm>
          <a:prstGeom prst="rect">
            <a:avLst/>
          </a:prstGeom>
          <a:noFill/>
          <a:ln/>
        </p:spPr>
        <p:txBody>
          <a:bodyPr wrap="square" lIns="0" tIns="0" rIns="0" bIns="0" rtlCol="0" anchor="t"/>
          <a:lstStyle/>
          <a:p>
            <a:pPr algn="l" indent="0" marL="0">
              <a:lnSpc>
                <a:spcPts val="1813"/>
              </a:lnSpc>
              <a:buNone/>
            </a:pPr>
            <a:r>
              <a:rPr lang="en-US" sz="1450" b="1" spc="-14" kern="0" dirty="0">
                <a:solidFill>
                  <a:srgbClr val="111111"/>
                </a:solidFill>
                <a:latin typeface="Space Grotesk" pitchFamily="34" charset="0"/>
                <a:ea typeface="Space Grotesk" pitchFamily="34" charset="-122"/>
                <a:cs typeface="Space Grotesk" pitchFamily="34" charset="-120"/>
              </a:rPr>
              <a:t>Owner</a:t>
            </a:r>
            <a:endParaRPr lang="en-US" sz="1450" dirty="0"/>
          </a:p>
        </p:txBody>
      </p:sp>
      <p:sp>
        <p:nvSpPr>
          <p:cNvPr id="13" name="A_2_0_fade_872"/>
          <p:cNvSpPr txBox="1"/>
          <p:nvPr/>
        </p:nvSpPr>
        <p:spPr>
          <a:xfrm>
            <a:off x="3930640" y="2962747"/>
            <a:ext cx="5788884" cy="221010"/>
          </a:xfrm>
          <a:prstGeom prst="rect">
            <a:avLst/>
          </a:prstGeom>
          <a:noFill/>
          <a:ln/>
        </p:spPr>
        <p:txBody>
          <a:bodyPr wrap="square" lIns="0" tIns="0" rIns="0" bIns="0" rtlCol="0" anchor="t"/>
          <a:lstStyle/>
          <a:p>
            <a:pPr algn="l" indent="0" marL="0">
              <a:lnSpc>
                <a:spcPts val="1740"/>
              </a:lnSpc>
              <a:buNone/>
            </a:pPr>
            <a:r>
              <a:rPr lang="en-US" sz="1200" dirty="0">
                <a:solidFill>
                  <a:srgbClr val="6B6B6B"/>
                </a:solidFill>
                <a:latin typeface="Inter" pitchFamily="34" charset="0"/>
                <a:ea typeface="Inter" pitchFamily="34" charset="-122"/>
                <a:cs typeface="Inter" pitchFamily="34" charset="-120"/>
              </a:rPr>
              <a:t>Ai sở hữu data source, ai sở hữu kit registry, ai sở hữu gateway và dữ liệu audit</a:t>
            </a:r>
            <a:endParaRPr lang="en-US" sz="1200" dirty="0"/>
          </a:p>
        </p:txBody>
      </p:sp>
      <p:sp>
        <p:nvSpPr>
          <p:cNvPr id="14" name="A_3_0_fade_873"/>
          <p:cNvSpPr/>
          <p:nvPr/>
        </p:nvSpPr>
        <p:spPr>
          <a:xfrm>
            <a:off x="612008" y="3464204"/>
            <a:ext cx="10968045" cy="583204"/>
          </a:xfrm>
          <a:prstGeom prst="roundRect">
            <a:avLst>
              <a:gd name="adj" fmla="val 15240"/>
            </a:avLst>
          </a:prstGeom>
          <a:solidFill>
            <a:srgbClr val="F4F2E8"/>
          </a:solidFill>
          <a:ln w="9525">
            <a:solidFill>
              <a:srgbClr val="C9CAEB"/>
            </a:solidFill>
            <a:prstDash val="solid"/>
          </a:ln>
        </p:spPr>
      </p:sp>
      <p:sp>
        <p:nvSpPr>
          <p:cNvPr id="15" name="A_3_0_fade_874"/>
          <p:cNvSpPr txBox="1"/>
          <p:nvPr/>
        </p:nvSpPr>
        <p:spPr>
          <a:xfrm>
            <a:off x="819120" y="3593318"/>
            <a:ext cx="416052" cy="321320"/>
          </a:xfrm>
          <a:prstGeom prst="rect">
            <a:avLst/>
          </a:prstGeom>
          <a:noFill/>
          <a:ln/>
        </p:spPr>
        <p:txBody>
          <a:bodyPr wrap="square" lIns="0" tIns="0" rIns="0" bIns="0" rtlCol="0" anchor="t"/>
          <a:lstStyle/>
          <a:p>
            <a:pPr algn="l" indent="0" marL="0">
              <a:lnSpc>
                <a:spcPts val="2530"/>
              </a:lnSpc>
              <a:buNone/>
            </a:pPr>
            <a:r>
              <a:rPr lang="en-US" sz="2200" b="1" spc="-44" kern="0" dirty="0">
                <a:solidFill>
                  <a:srgbClr val="1E2BFA"/>
                </a:solidFill>
                <a:latin typeface="Space Grotesk" pitchFamily="34" charset="0"/>
                <a:ea typeface="Space Grotesk" pitchFamily="34" charset="-122"/>
                <a:cs typeface="Space Grotesk" pitchFamily="34" charset="-120"/>
              </a:rPr>
              <a:t>03</a:t>
            </a:r>
            <a:endParaRPr lang="en-US" sz="2200" dirty="0"/>
          </a:p>
        </p:txBody>
      </p:sp>
      <p:sp>
        <p:nvSpPr>
          <p:cNvPr id="16" name="A_3_0_fade_875"/>
          <p:cNvSpPr txBox="1"/>
          <p:nvPr/>
        </p:nvSpPr>
        <p:spPr>
          <a:xfrm>
            <a:off x="1454170" y="3636752"/>
            <a:ext cx="1600017" cy="230154"/>
          </a:xfrm>
          <a:prstGeom prst="rect">
            <a:avLst/>
          </a:prstGeom>
          <a:noFill/>
          <a:ln/>
        </p:spPr>
        <p:txBody>
          <a:bodyPr wrap="square" lIns="0" tIns="0" rIns="0" bIns="0" rtlCol="0" anchor="t"/>
          <a:lstStyle/>
          <a:p>
            <a:pPr algn="l" indent="0" marL="0">
              <a:lnSpc>
                <a:spcPts val="1813"/>
              </a:lnSpc>
              <a:buNone/>
            </a:pPr>
            <a:r>
              <a:rPr lang="en-US" sz="1450" b="1" spc="-14" kern="0" dirty="0">
                <a:solidFill>
                  <a:srgbClr val="111111"/>
                </a:solidFill>
                <a:latin typeface="Space Grotesk" pitchFamily="34" charset="0"/>
                <a:ea typeface="Space Grotesk" pitchFamily="34" charset="-122"/>
                <a:cs typeface="Space Grotesk" pitchFamily="34" charset="-120"/>
              </a:rPr>
              <a:t>Chuẩn định dạng</a:t>
            </a:r>
            <a:endParaRPr lang="en-US" sz="1450" dirty="0"/>
          </a:p>
        </p:txBody>
      </p:sp>
      <p:sp>
        <p:nvSpPr>
          <p:cNvPr id="17" name="A_3_0_fade_876"/>
          <p:cNvSpPr txBox="1"/>
          <p:nvPr/>
        </p:nvSpPr>
        <p:spPr>
          <a:xfrm>
            <a:off x="3930640" y="3639586"/>
            <a:ext cx="6545732" cy="221010"/>
          </a:xfrm>
          <a:prstGeom prst="rect">
            <a:avLst/>
          </a:prstGeom>
          <a:noFill/>
          <a:ln/>
        </p:spPr>
        <p:txBody>
          <a:bodyPr wrap="square" lIns="0" tIns="0" rIns="0" bIns="0" rtlCol="0" anchor="t"/>
          <a:lstStyle/>
          <a:p>
            <a:pPr algn="l" indent="0" marL="0">
              <a:lnSpc>
                <a:spcPts val="1740"/>
              </a:lnSpc>
              <a:buNone/>
            </a:pPr>
            <a:r>
              <a:rPr lang="en-US" sz="1200" dirty="0">
                <a:solidFill>
                  <a:srgbClr val="6B6B6B"/>
                </a:solidFill>
                <a:latin typeface="Inter" pitchFamily="34" charset="0"/>
                <a:ea typeface="Inter" pitchFamily="34" charset="-122"/>
                <a:cs typeface="Inter" pitchFamily="34" charset="-120"/>
              </a:rPr>
              <a:t>MCP cho connector;</a:t>
            </a:r>
            <a:pPr algn="l" indent="0" marL="0">
              <a:lnSpc>
                <a:spcPts val="1740"/>
              </a:lnSpc>
              <a:buNone/>
            </a:pPr>
            <a:r>
              <a:rPr lang="en-US" sz="1200" dirty="0">
                <a:solidFill>
                  <a:srgbClr val="111111"/>
                </a:solidFill>
                <a:latin typeface="Inter" pitchFamily="34" charset="0"/>
                <a:ea typeface="Inter" pitchFamily="34" charset="-122"/>
                <a:cs typeface="Inter" pitchFamily="34" charset="-120"/>
              </a:rPr>
              <a:t> SKILL.md</a:t>
            </a:r>
            <a:pPr algn="l" indent="0" marL="0">
              <a:lnSpc>
                <a:spcPts val="1740"/>
              </a:lnSpc>
              <a:buNone/>
            </a:pPr>
            <a:r>
              <a:rPr lang="en-US" sz="1200" dirty="0">
                <a:solidFill>
                  <a:srgbClr val="6B6B6B"/>
                </a:solidFill>
                <a:latin typeface="Inter" pitchFamily="34" charset="0"/>
                <a:ea typeface="Inter" pitchFamily="34" charset="-122"/>
                <a:cs typeface="Inter" pitchFamily="34" charset="-120"/>
              </a:rPr>
              <a:t> và</a:t>
            </a:r>
            <a:pPr algn="l" indent="0" marL="0">
              <a:lnSpc>
                <a:spcPts val="1740"/>
              </a:lnSpc>
              <a:buNone/>
            </a:pPr>
            <a:r>
              <a:rPr lang="en-US" sz="1200" dirty="0">
                <a:solidFill>
                  <a:srgbClr val="111111"/>
                </a:solidFill>
                <a:latin typeface="Inter" pitchFamily="34" charset="0"/>
                <a:ea typeface="Inter" pitchFamily="34" charset="-122"/>
                <a:cs typeface="Inter" pitchFamily="34" charset="-120"/>
              </a:rPr>
              <a:t> AGENTS.md</a:t>
            </a:r>
            <a:pPr algn="l" indent="0" marL="0">
              <a:lnSpc>
                <a:spcPts val="1740"/>
              </a:lnSpc>
              <a:buNone/>
            </a:pPr>
            <a:r>
              <a:rPr lang="en-US" sz="1200" dirty="0">
                <a:solidFill>
                  <a:srgbClr val="6B6B6B"/>
                </a:solidFill>
                <a:latin typeface="Inter" pitchFamily="34" charset="0"/>
                <a:ea typeface="Inter" pitchFamily="34" charset="-122"/>
                <a:cs typeface="Inter" pitchFamily="34" charset="-120"/>
              </a:rPr>
              <a:t> cho kit; kit tách core trung lập và adapter</a:t>
            </a:r>
            <a:endParaRPr lang="en-US" sz="1200" dirty="0"/>
          </a:p>
        </p:txBody>
      </p:sp>
      <p:sp>
        <p:nvSpPr>
          <p:cNvPr id="18" name="A_4_0_fade_877"/>
          <p:cNvSpPr/>
          <p:nvPr/>
        </p:nvSpPr>
        <p:spPr>
          <a:xfrm>
            <a:off x="612008" y="4141135"/>
            <a:ext cx="10968045" cy="583204"/>
          </a:xfrm>
          <a:prstGeom prst="roundRect">
            <a:avLst>
              <a:gd name="adj" fmla="val 15240"/>
            </a:avLst>
          </a:prstGeom>
          <a:solidFill>
            <a:srgbClr val="DCDBEA"/>
          </a:solidFill>
          <a:ln w="9525">
            <a:solidFill>
              <a:srgbClr val="1E2BFA"/>
            </a:solidFill>
            <a:prstDash val="solid"/>
          </a:ln>
        </p:spPr>
      </p:sp>
      <p:sp>
        <p:nvSpPr>
          <p:cNvPr id="19" name="A_4_0_fade_878"/>
          <p:cNvSpPr txBox="1"/>
          <p:nvPr/>
        </p:nvSpPr>
        <p:spPr>
          <a:xfrm>
            <a:off x="819120" y="4270157"/>
            <a:ext cx="423824" cy="321320"/>
          </a:xfrm>
          <a:prstGeom prst="rect">
            <a:avLst/>
          </a:prstGeom>
          <a:noFill/>
          <a:ln/>
        </p:spPr>
        <p:txBody>
          <a:bodyPr wrap="square" lIns="0" tIns="0" rIns="0" bIns="0" rtlCol="0" anchor="t"/>
          <a:lstStyle/>
          <a:p>
            <a:pPr algn="l" indent="0" marL="0">
              <a:lnSpc>
                <a:spcPts val="2530"/>
              </a:lnSpc>
              <a:buNone/>
            </a:pPr>
            <a:r>
              <a:rPr lang="en-US" sz="2200" b="1" spc="-44" kern="0" dirty="0">
                <a:solidFill>
                  <a:srgbClr val="1E2BFA"/>
                </a:solidFill>
                <a:latin typeface="Space Grotesk" pitchFamily="34" charset="0"/>
                <a:ea typeface="Space Grotesk" pitchFamily="34" charset="-122"/>
                <a:cs typeface="Space Grotesk" pitchFamily="34" charset="-120"/>
              </a:rPr>
              <a:t>04</a:t>
            </a:r>
            <a:endParaRPr lang="en-US" sz="2200" dirty="0"/>
          </a:p>
        </p:txBody>
      </p:sp>
      <p:sp>
        <p:nvSpPr>
          <p:cNvPr id="20" name="A_4_0_fade_879"/>
          <p:cNvSpPr txBox="1"/>
          <p:nvPr/>
        </p:nvSpPr>
        <p:spPr>
          <a:xfrm>
            <a:off x="1454170" y="4313591"/>
            <a:ext cx="1700418" cy="230154"/>
          </a:xfrm>
          <a:prstGeom prst="rect">
            <a:avLst/>
          </a:prstGeom>
          <a:noFill/>
          <a:ln/>
        </p:spPr>
        <p:txBody>
          <a:bodyPr wrap="square" lIns="0" tIns="0" rIns="0" bIns="0" rtlCol="0" anchor="t"/>
          <a:lstStyle/>
          <a:p>
            <a:pPr algn="l" indent="0" marL="0">
              <a:lnSpc>
                <a:spcPts val="1813"/>
              </a:lnSpc>
              <a:buNone/>
            </a:pPr>
            <a:r>
              <a:rPr lang="en-US" sz="1450" b="1" spc="-14" kern="0" dirty="0">
                <a:solidFill>
                  <a:srgbClr val="111111"/>
                </a:solidFill>
                <a:latin typeface="Space Grotesk" pitchFamily="34" charset="0"/>
                <a:ea typeface="Space Grotesk" pitchFamily="34" charset="-122"/>
                <a:cs typeface="Space Grotesk" pitchFamily="34" charset="-120"/>
              </a:rPr>
              <a:t>Ràng buộc dữ liệu</a:t>
            </a:r>
            <a:endParaRPr lang="en-US" sz="1450" dirty="0"/>
          </a:p>
        </p:txBody>
      </p:sp>
      <p:sp>
        <p:nvSpPr>
          <p:cNvPr id="21" name="A_4_0_fade_880"/>
          <p:cNvSpPr txBox="1"/>
          <p:nvPr/>
        </p:nvSpPr>
        <p:spPr>
          <a:xfrm>
            <a:off x="3930640" y="4316425"/>
            <a:ext cx="7192305" cy="221010"/>
          </a:xfrm>
          <a:prstGeom prst="rect">
            <a:avLst/>
          </a:prstGeom>
          <a:noFill/>
          <a:ln/>
        </p:spPr>
        <p:txBody>
          <a:bodyPr wrap="square" lIns="0" tIns="0" rIns="0" bIns="0" rtlCol="0" anchor="t"/>
          <a:lstStyle/>
          <a:p>
            <a:pPr algn="l" indent="0" marL="0">
              <a:lnSpc>
                <a:spcPts val="1740"/>
              </a:lnSpc>
              <a:buNone/>
            </a:pPr>
            <a:r>
              <a:rPr lang="en-US" sz="1200" dirty="0">
                <a:solidFill>
                  <a:srgbClr val="111111"/>
                </a:solidFill>
                <a:latin typeface="Inter" pitchFamily="34" charset="0"/>
                <a:ea typeface="Inter" pitchFamily="34" charset="-122"/>
                <a:cs typeface="Inter" pitchFamily="34" charset="-120"/>
              </a:rPr>
              <a:t>Model nào được xem dữ liệu nào, dữ liệu phải ở lại vùng nào.</a:t>
            </a:r>
            <a:pPr algn="l" indent="0" marL="0">
              <a:lnSpc>
                <a:spcPts val="1740"/>
              </a:lnSpc>
              <a:buNone/>
            </a:pPr>
            <a:r>
              <a:rPr lang="en-US" sz="1200" b="1" dirty="0">
                <a:solidFill>
                  <a:srgbClr val="111111"/>
                </a:solidFill>
                <a:latin typeface="Inter" pitchFamily="34" charset="0"/>
                <a:ea typeface="Inter" pitchFamily="34" charset="-122"/>
                <a:cs typeface="Inter" pitchFamily="34" charset="-120"/>
              </a:rPr>
              <a:t> Quyết định trước khi chọn harness.</a:t>
            </a:r>
            <a:endParaRPr lang="en-US" sz="1200" dirty="0"/>
          </a:p>
        </p:txBody>
      </p:sp>
      <p:sp>
        <p:nvSpPr>
          <p:cNvPr id="22" name="A_5_0_fade_881"/>
          <p:cNvSpPr/>
          <p:nvPr/>
        </p:nvSpPr>
        <p:spPr>
          <a:xfrm>
            <a:off x="612008" y="4817974"/>
            <a:ext cx="10968045" cy="583204"/>
          </a:xfrm>
          <a:prstGeom prst="roundRect">
            <a:avLst>
              <a:gd name="adj" fmla="val 15240"/>
            </a:avLst>
          </a:prstGeom>
          <a:solidFill>
            <a:srgbClr val="F4F2E8"/>
          </a:solidFill>
          <a:ln w="9525">
            <a:solidFill>
              <a:srgbClr val="C9CAEB"/>
            </a:solidFill>
            <a:prstDash val="solid"/>
          </a:ln>
        </p:spPr>
      </p:sp>
      <p:sp>
        <p:nvSpPr>
          <p:cNvPr id="23" name="A_5_0_fade_882"/>
          <p:cNvSpPr txBox="1"/>
          <p:nvPr/>
        </p:nvSpPr>
        <p:spPr>
          <a:xfrm>
            <a:off x="819120" y="4946995"/>
            <a:ext cx="413766" cy="321320"/>
          </a:xfrm>
          <a:prstGeom prst="rect">
            <a:avLst/>
          </a:prstGeom>
          <a:noFill/>
          <a:ln/>
        </p:spPr>
        <p:txBody>
          <a:bodyPr wrap="square" lIns="0" tIns="0" rIns="0" bIns="0" rtlCol="0" anchor="t"/>
          <a:lstStyle/>
          <a:p>
            <a:pPr algn="l" indent="0" marL="0">
              <a:lnSpc>
                <a:spcPts val="2530"/>
              </a:lnSpc>
              <a:buNone/>
            </a:pPr>
            <a:r>
              <a:rPr lang="en-US" sz="2200" b="1" spc="-44" kern="0" dirty="0">
                <a:solidFill>
                  <a:srgbClr val="1E2BFA"/>
                </a:solidFill>
                <a:latin typeface="Space Grotesk" pitchFamily="34" charset="0"/>
                <a:ea typeface="Space Grotesk" pitchFamily="34" charset="-122"/>
                <a:cs typeface="Space Grotesk" pitchFamily="34" charset="-120"/>
              </a:rPr>
              <a:t>05</a:t>
            </a:r>
            <a:endParaRPr lang="en-US" sz="2200" dirty="0"/>
          </a:p>
        </p:txBody>
      </p:sp>
      <p:sp>
        <p:nvSpPr>
          <p:cNvPr id="24" name="A_5_0_fade_883"/>
          <p:cNvSpPr txBox="1"/>
          <p:nvPr/>
        </p:nvSpPr>
        <p:spPr>
          <a:xfrm>
            <a:off x="1454170" y="4990521"/>
            <a:ext cx="468173" cy="230154"/>
          </a:xfrm>
          <a:prstGeom prst="rect">
            <a:avLst/>
          </a:prstGeom>
          <a:noFill/>
          <a:ln/>
        </p:spPr>
        <p:txBody>
          <a:bodyPr wrap="square" lIns="0" tIns="0" rIns="0" bIns="0" rtlCol="0" anchor="t"/>
          <a:lstStyle/>
          <a:p>
            <a:pPr algn="l" indent="0" marL="0">
              <a:lnSpc>
                <a:spcPts val="1813"/>
              </a:lnSpc>
              <a:buNone/>
            </a:pPr>
            <a:r>
              <a:rPr lang="en-US" sz="1450" b="1" spc="-14" kern="0" dirty="0">
                <a:solidFill>
                  <a:srgbClr val="111111"/>
                </a:solidFill>
                <a:latin typeface="Space Grotesk" pitchFamily="34" charset="0"/>
                <a:ea typeface="Space Grotesk" pitchFamily="34" charset="-122"/>
                <a:cs typeface="Space Grotesk" pitchFamily="34" charset="-120"/>
              </a:rPr>
              <a:t>Pilot</a:t>
            </a:r>
            <a:endParaRPr lang="en-US" sz="1450" dirty="0"/>
          </a:p>
        </p:txBody>
      </p:sp>
      <p:sp>
        <p:nvSpPr>
          <p:cNvPr id="25" name="A_5_0_fade_884"/>
          <p:cNvSpPr txBox="1"/>
          <p:nvPr/>
        </p:nvSpPr>
        <p:spPr>
          <a:xfrm>
            <a:off x="3930640" y="4993356"/>
            <a:ext cx="4185757" cy="221010"/>
          </a:xfrm>
          <a:prstGeom prst="rect">
            <a:avLst/>
          </a:prstGeom>
          <a:noFill/>
          <a:ln/>
        </p:spPr>
        <p:txBody>
          <a:bodyPr wrap="square" lIns="0" tIns="0" rIns="0" bIns="0" rtlCol="0" anchor="t"/>
          <a:lstStyle/>
          <a:p>
            <a:pPr algn="l" indent="0" marL="0">
              <a:lnSpc>
                <a:spcPts val="1740"/>
              </a:lnSpc>
              <a:buNone/>
            </a:pPr>
            <a:r>
              <a:rPr lang="en-US" sz="1200" dirty="0">
                <a:solidFill>
                  <a:srgbClr val="6B6B6B"/>
                </a:solidFill>
                <a:latin typeface="Inter" pitchFamily="34" charset="0"/>
                <a:ea typeface="Inter" pitchFamily="34" charset="-122"/>
                <a:cs typeface="Inter" pitchFamily="34" charset="-120"/>
              </a:rPr>
              <a:t>Chọn quy trình và nguồn dữ liệu nào, đo bằng chỉ số nào</a:t>
            </a:r>
            <a:endParaRPr lang="en-US" sz="1200" dirty="0"/>
          </a:p>
        </p:txBody>
      </p:sp>
      <p:sp>
        <p:nvSpPr>
          <p:cNvPr id="26" name="S_885"/>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27" name="S_886"/>
          <p:cNvSpPr txBox="1"/>
          <p:nvPr/>
        </p:nvSpPr>
        <p:spPr>
          <a:xfrm>
            <a:off x="11165921" y="6517660"/>
            <a:ext cx="492679"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24 / 25</a:t>
            </a:r>
            <a:endParaRPr lang="en-US" sz="900" dirty="0"/>
          </a:p>
        </p:txBody>
      </p:sp>
      <p:sp>
        <p:nvSpPr>
          <p:cNvPr id="28" name="S_887"/>
          <p:cNvSpPr/>
          <p:nvPr/>
        </p:nvSpPr>
        <p:spPr>
          <a:xfrm>
            <a:off x="0" y="6838980"/>
            <a:ext cx="1170432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67" fill="hold">
                      <p:stCondLst>
                        <p:cond delay="indefinite"/>
                        <p:cond evt="onBegin" delay="0">
                          <p:tn val="2"/>
                        </p:cond>
                      </p:stCondLst>
                      <p:childTnLst>
                        <p:par>
                          <p:cTn id="66"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11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22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22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22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33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33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3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33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44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44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44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44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55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55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55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55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DFAE7"/>
        </a:solidFill>
      </p:bgPr>
    </p:bg>
    <p:spTree>
      <p:nvGrpSpPr>
        <p:cNvPr id="1" name=""/>
        <p:cNvGrpSpPr/>
        <p:nvPr/>
      </p:nvGrpSpPr>
      <p:grpSpPr>
        <a:xfrm>
          <a:off x="0" y="0"/>
          <a:ext cx="0" cy="0"/>
          <a:chOff x="0" y="0"/>
          <a:chExt cx="0" cy="0"/>
        </a:xfrm>
      </p:grpSpPr>
      <p:sp>
        <p:nvSpPr>
          <p:cNvPr id="2" name="S_888"/>
          <p:cNvSpPr txBox="1"/>
          <p:nvPr/>
        </p:nvSpPr>
        <p:spPr>
          <a:xfrm>
            <a:off x="609630" y="466070"/>
            <a:ext cx="599206" cy="181600"/>
          </a:xfrm>
          <a:prstGeom prst="rect">
            <a:avLst/>
          </a:prstGeom>
          <a:noFill/>
          <a:ln/>
        </p:spPr>
        <p:txBody>
          <a:bodyPr wrap="square" lIns="0" tIns="0" rIns="0" bIns="0" rtlCol="0" anchor="t"/>
          <a:lstStyle/>
          <a:p>
            <a:pPr algn="l" indent="0" marL="0">
              <a:lnSpc>
                <a:spcPts val="1430"/>
              </a:lnSpc>
              <a:buNone/>
            </a:pPr>
            <a:r>
              <a:rPr lang="en-US" sz="1100" b="1" spc="88" kern="0" dirty="0">
                <a:solidFill>
                  <a:srgbClr val="1E2BFA"/>
                </a:solidFill>
                <a:latin typeface="Space Grotesk" pitchFamily="34" charset="0"/>
                <a:ea typeface="Space Grotesk" pitchFamily="34" charset="-122"/>
                <a:cs typeface="Space Grotesk" pitchFamily="34" charset="-120"/>
              </a:rPr>
              <a:t>NGUỒN</a:t>
            </a:r>
            <a:endParaRPr lang="en-US" sz="1100" dirty="0"/>
          </a:p>
        </p:txBody>
      </p:sp>
      <p:sp>
        <p:nvSpPr>
          <p:cNvPr id="3" name="S_889"/>
          <p:cNvSpPr/>
          <p:nvPr/>
        </p:nvSpPr>
        <p:spPr>
          <a:xfrm>
            <a:off x="10646999" y="412760"/>
            <a:ext cx="935431" cy="292059"/>
          </a:xfrm>
          <a:prstGeom prst="roundRect">
            <a:avLst>
              <a:gd name="adj" fmla="val 50000"/>
            </a:avLst>
          </a:prstGeom>
          <a:solidFill>
            <a:srgbClr val="EBE9E9"/>
          </a:solidFill>
          <a:ln/>
        </p:spPr>
      </p:sp>
      <p:sp>
        <p:nvSpPr>
          <p:cNvPr id="4" name="S_890"/>
          <p:cNvSpPr txBox="1"/>
          <p:nvPr/>
        </p:nvSpPr>
        <p:spPr>
          <a:xfrm>
            <a:off x="10812048" y="476220"/>
            <a:ext cx="681411" cy="165141"/>
          </a:xfrm>
          <a:prstGeom prst="rect">
            <a:avLst/>
          </a:prstGeom>
          <a:noFill/>
          <a:ln/>
        </p:spPr>
        <p:txBody>
          <a:bodyPr wrap="square" lIns="0" tIns="0" rIns="0" bIns="0" rtlCol="0" anchor="t"/>
          <a:lstStyle/>
          <a:p>
            <a:pPr algn="l" indent="0" marL="0">
              <a:lnSpc>
                <a:spcPts val="1300"/>
              </a:lnSpc>
              <a:buNone/>
            </a:pPr>
            <a:r>
              <a:rPr lang="en-US" sz="1000" dirty="0">
                <a:solidFill>
                  <a:srgbClr val="1E2BFA"/>
                </a:solidFill>
                <a:latin typeface="Space Grotesk" pitchFamily="34" charset="0"/>
                <a:ea typeface="Space Grotesk" pitchFamily="34" charset="-122"/>
                <a:cs typeface="Space Grotesk" pitchFamily="34" charset="-120"/>
              </a:rPr>
              <a:t>Công khai</a:t>
            </a:r>
            <a:endParaRPr lang="en-US" sz="1000" dirty="0"/>
          </a:p>
        </p:txBody>
      </p:sp>
      <p:sp>
        <p:nvSpPr>
          <p:cNvPr id="5" name="A_0_0_fade_891"/>
          <p:cNvSpPr txBox="1"/>
          <p:nvPr/>
        </p:nvSpPr>
        <p:spPr>
          <a:xfrm>
            <a:off x="609630" y="806592"/>
            <a:ext cx="1171895" cy="412486"/>
          </a:xfrm>
          <a:prstGeom prst="rect">
            <a:avLst/>
          </a:prstGeom>
          <a:noFill/>
          <a:ln/>
        </p:spPr>
        <p:txBody>
          <a:bodyPr wrap="square" lIns="0" tIns="0" rIns="0" bIns="0" rtlCol="0" anchor="t"/>
          <a:lstStyle/>
          <a:p>
            <a:pPr algn="l" indent="0" marL="0">
              <a:lnSpc>
                <a:spcPts val="3248"/>
              </a:lnSpc>
              <a:buNone/>
            </a:pPr>
            <a:r>
              <a:rPr lang="en-US" sz="2800" b="1" spc="-56" kern="0" dirty="0">
                <a:solidFill>
                  <a:srgbClr val="111111"/>
                </a:solidFill>
                <a:latin typeface="Space Grotesk" pitchFamily="34" charset="0"/>
                <a:ea typeface="Space Grotesk" pitchFamily="34" charset="-122"/>
                <a:cs typeface="Space Grotesk" pitchFamily="34" charset="-120"/>
              </a:rPr>
              <a:t>Nguồn</a:t>
            </a:r>
            <a:endParaRPr lang="en-US" sz="2800" dirty="0"/>
          </a:p>
        </p:txBody>
      </p:sp>
      <p:sp>
        <p:nvSpPr>
          <p:cNvPr id="6" name="A_1_0_fade_892"/>
          <p:cNvSpPr/>
          <p:nvPr/>
        </p:nvSpPr>
        <p:spPr>
          <a:xfrm>
            <a:off x="612008" y="1796064"/>
            <a:ext cx="10968045" cy="585765"/>
          </a:xfrm>
          <a:prstGeom prst="roundRect">
            <a:avLst>
              <a:gd name="adj" fmla="val 15173"/>
            </a:avLst>
          </a:prstGeom>
          <a:solidFill>
            <a:srgbClr val="F4F2E8"/>
          </a:solidFill>
          <a:ln w="9525">
            <a:solidFill>
              <a:srgbClr val="C9CAEB"/>
            </a:solidFill>
            <a:prstDash val="solid"/>
          </a:ln>
        </p:spPr>
      </p:sp>
      <p:sp>
        <p:nvSpPr>
          <p:cNvPr id="7" name="A_1_0_fade_893"/>
          <p:cNvSpPr txBox="1"/>
          <p:nvPr/>
        </p:nvSpPr>
        <p:spPr>
          <a:xfrm>
            <a:off x="793791" y="2005188"/>
            <a:ext cx="1338956"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LINUX FOUNDATION</a:t>
            </a:r>
            <a:endParaRPr lang="en-US" sz="950" dirty="0"/>
          </a:p>
        </p:txBody>
      </p:sp>
      <p:sp>
        <p:nvSpPr>
          <p:cNvPr id="8" name="A_1_0_fade_894"/>
          <p:cNvSpPr txBox="1"/>
          <p:nvPr/>
        </p:nvSpPr>
        <p:spPr>
          <a:xfrm>
            <a:off x="2571750" y="1898477"/>
            <a:ext cx="6168725" cy="190470"/>
          </a:xfrm>
          <a:prstGeom prst="rect">
            <a:avLst/>
          </a:prstGeom>
          <a:noFill/>
          <a:ln/>
        </p:spPr>
        <p:txBody>
          <a:bodyPr wrap="square" lIns="0" tIns="0" rIns="0" bIns="0" rtlCol="0" anchor="t"/>
          <a:lstStyle/>
          <a:p>
            <a:pPr algn="l" indent="0" marL="0">
              <a:lnSpc>
                <a:spcPts val="1500"/>
              </a:lnSpc>
              <a:buNone/>
            </a:pPr>
            <a:r>
              <a:rPr lang="en-US" sz="1200" b="1" spc="-12" kern="0" dirty="0">
                <a:solidFill>
                  <a:srgbClr val="111111"/>
                </a:solidFill>
                <a:latin typeface="Space Grotesk" pitchFamily="34" charset="0"/>
                <a:ea typeface="Space Grotesk" pitchFamily="34" charset="-122"/>
                <a:cs typeface="Space Grotesk" pitchFamily="34" charset="-120"/>
              </a:rPr>
              <a:t>Linux Foundation Announces the Formation of the Agentic AI Foundation (AAIF)</a:t>
            </a:r>
            <a:endParaRPr lang="en-US" sz="1200" dirty="0"/>
          </a:p>
        </p:txBody>
      </p:sp>
      <p:sp>
        <p:nvSpPr>
          <p:cNvPr id="9" name="A_1_0_fade_895"/>
          <p:cNvSpPr txBox="1"/>
          <p:nvPr/>
        </p:nvSpPr>
        <p:spPr>
          <a:xfrm>
            <a:off x="2571750" y="2088947"/>
            <a:ext cx="6250107" cy="184160"/>
          </a:xfrm>
          <a:prstGeom prst="rect">
            <a:avLst/>
          </a:prstGeom>
          <a:noFill/>
          <a:ln/>
        </p:spPr>
        <p:txBody>
          <a:bodyPr wrap="square" lIns="0" tIns="0" rIns="0" bIns="0" rtlCol="0" anchor="t"/>
          <a:lstStyle/>
          <a:p>
            <a:pPr algn="l" indent="0" marL="0">
              <a:lnSpc>
                <a:spcPts val="1450"/>
              </a:lnSpc>
              <a:buNone/>
            </a:pPr>
            <a:r>
              <a:rPr lang="en-US" sz="1000" u="sng" dirty="0">
                <a:solidFill>
                  <a:srgbClr val="1E2BFA"/>
                </a:solidFill>
                <a:latin typeface="Inter" pitchFamily="34" charset="0"/>
                <a:ea typeface="Inter" pitchFamily="34" charset="-122"/>
                <a:cs typeface="Inter"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linuxfoundation.org/press/linux-foundation-announces-the-formation-of-the-agentic-ai-foundation</a:t>
            </a:r>
            <a:endParaRPr lang="en-US" sz="1000" dirty="0"/>
          </a:p>
        </p:txBody>
      </p:sp>
      <p:sp>
        <p:nvSpPr>
          <p:cNvPr id="10" name="A_1_0_fade_896"/>
          <p:cNvSpPr txBox="1"/>
          <p:nvPr/>
        </p:nvSpPr>
        <p:spPr>
          <a:xfrm>
            <a:off x="10782971" y="1978762"/>
            <a:ext cx="615300" cy="211775"/>
          </a:xfrm>
          <a:prstGeom prst="rect">
            <a:avLst/>
          </a:prstGeom>
          <a:noFill/>
          <a:ln/>
        </p:spPr>
        <p:txBody>
          <a:bodyPr wrap="square" lIns="0" tIns="0" rIns="0" bIns="0" rtlCol="0" anchor="t"/>
          <a:lstStyle/>
          <a:p>
            <a:pPr algn="r" indent="0" marL="0">
              <a:lnSpc>
                <a:spcPts val="1668"/>
              </a:lnSpc>
              <a:buNone/>
            </a:pPr>
            <a:r>
              <a:rPr lang="en-US" sz="1150" dirty="0">
                <a:solidFill>
                  <a:srgbClr val="6B6B6B"/>
                </a:solidFill>
                <a:latin typeface="Inter" pitchFamily="34" charset="0"/>
                <a:ea typeface="Inter" pitchFamily="34" charset="-122"/>
                <a:cs typeface="Inter" pitchFamily="34" charset="-120"/>
              </a:rPr>
              <a:t>12/2025</a:t>
            </a:r>
            <a:endParaRPr lang="en-US" sz="1150" dirty="0"/>
          </a:p>
        </p:txBody>
      </p:sp>
      <p:sp>
        <p:nvSpPr>
          <p:cNvPr id="11" name="A_2_0_fade_897"/>
          <p:cNvSpPr/>
          <p:nvPr/>
        </p:nvSpPr>
        <p:spPr>
          <a:xfrm>
            <a:off x="612008" y="2462845"/>
            <a:ext cx="10968045" cy="585765"/>
          </a:xfrm>
          <a:prstGeom prst="roundRect">
            <a:avLst>
              <a:gd name="adj" fmla="val 15173"/>
            </a:avLst>
          </a:prstGeom>
          <a:solidFill>
            <a:srgbClr val="F4F2E8"/>
          </a:solidFill>
          <a:ln w="9525">
            <a:solidFill>
              <a:srgbClr val="C9CAEB"/>
            </a:solidFill>
            <a:prstDash val="solid"/>
          </a:ln>
        </p:spPr>
      </p:sp>
      <p:sp>
        <p:nvSpPr>
          <p:cNvPr id="12" name="A_2_0_fade_898"/>
          <p:cNvSpPr txBox="1"/>
          <p:nvPr/>
        </p:nvSpPr>
        <p:spPr>
          <a:xfrm>
            <a:off x="793791" y="2671877"/>
            <a:ext cx="939820"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TECHCRUNCH</a:t>
            </a:r>
            <a:endParaRPr lang="en-US" sz="950" dirty="0"/>
          </a:p>
        </p:txBody>
      </p:sp>
      <p:sp>
        <p:nvSpPr>
          <p:cNvPr id="13" name="A_2_0_fade_899"/>
          <p:cNvSpPr txBox="1"/>
          <p:nvPr/>
        </p:nvSpPr>
        <p:spPr>
          <a:xfrm>
            <a:off x="2571750" y="2565166"/>
            <a:ext cx="7267468" cy="190470"/>
          </a:xfrm>
          <a:prstGeom prst="rect">
            <a:avLst/>
          </a:prstGeom>
          <a:noFill/>
          <a:ln/>
        </p:spPr>
        <p:txBody>
          <a:bodyPr wrap="square" lIns="0" tIns="0" rIns="0" bIns="0" rtlCol="0" anchor="t"/>
          <a:lstStyle/>
          <a:p>
            <a:pPr algn="l" indent="0" marL="0">
              <a:lnSpc>
                <a:spcPts val="1500"/>
              </a:lnSpc>
              <a:buNone/>
            </a:pPr>
            <a:r>
              <a:rPr lang="en-US" sz="1200" b="1" spc="-12" kern="0" dirty="0">
                <a:solidFill>
                  <a:srgbClr val="111111"/>
                </a:solidFill>
                <a:latin typeface="Space Grotesk" pitchFamily="34" charset="0"/>
                <a:ea typeface="Space Grotesk" pitchFamily="34" charset="-122"/>
                <a:cs typeface="Space Grotesk" pitchFamily="34" charset="-120"/>
              </a:rPr>
              <a:t>OpenAI, Anthropic, and Block join new Linux Foundation effort to standardize the AI agent era</a:t>
            </a:r>
            <a:endParaRPr lang="en-US" sz="1200" dirty="0"/>
          </a:p>
        </p:txBody>
      </p:sp>
      <p:sp>
        <p:nvSpPr>
          <p:cNvPr id="14" name="A_2_0_fade_900"/>
          <p:cNvSpPr txBox="1"/>
          <p:nvPr/>
        </p:nvSpPr>
        <p:spPr>
          <a:xfrm>
            <a:off x="2571750" y="2755727"/>
            <a:ext cx="5895228" cy="184160"/>
          </a:xfrm>
          <a:prstGeom prst="rect">
            <a:avLst/>
          </a:prstGeom>
          <a:noFill/>
          <a:ln/>
        </p:spPr>
        <p:txBody>
          <a:bodyPr wrap="square" lIns="0" tIns="0" rIns="0" bIns="0" rtlCol="0" anchor="t"/>
          <a:lstStyle/>
          <a:p>
            <a:pPr algn="l" indent="0" marL="0">
              <a:lnSpc>
                <a:spcPts val="1450"/>
              </a:lnSpc>
              <a:buNone/>
            </a:pPr>
            <a:r>
              <a:rPr lang="en-US" sz="1000" u="sng" dirty="0">
                <a:solidFill>
                  <a:srgbClr val="1E2BFA"/>
                </a:solidFill>
                <a:latin typeface="Inter" pitchFamily="34" charset="0"/>
                <a:ea typeface="Inter" pitchFamily="34" charset="-122"/>
                <a:cs typeface="Inter" pitchFamily="34" charset="-120"/>
                <a:hlinkClick r:id="rId2" invalidUrl="" action="" tgtFrame="" tooltip="" history="1" highlightClick="0" endSnd="0">
                  <a:extLst>
                    <a:ext uri="{A12FA001-AC4F-418D-AE19-62706E023703}">
                      <ahyp:hlinkClr xmlns:ahyp="http://schemas.microsoft.com/office/drawing/2018/hyperlinkcolor" val="tx"/>
                    </a:ext>
                  </a:extLst>
                </a:hlinkClick>
              </a:rPr>
              <a:t>techcrunch.com/2025/12/09/openai-anthropic-and-block-join-new-linux-foundation-effort-…</a:t>
            </a:r>
            <a:endParaRPr lang="en-US" sz="1000" dirty="0"/>
          </a:p>
        </p:txBody>
      </p:sp>
      <p:sp>
        <p:nvSpPr>
          <p:cNvPr id="15" name="A_2_0_fade_901"/>
          <p:cNvSpPr txBox="1"/>
          <p:nvPr/>
        </p:nvSpPr>
        <p:spPr>
          <a:xfrm>
            <a:off x="10782971" y="2645542"/>
            <a:ext cx="615300" cy="211775"/>
          </a:xfrm>
          <a:prstGeom prst="rect">
            <a:avLst/>
          </a:prstGeom>
          <a:noFill/>
          <a:ln/>
        </p:spPr>
        <p:txBody>
          <a:bodyPr wrap="square" lIns="0" tIns="0" rIns="0" bIns="0" rtlCol="0" anchor="t"/>
          <a:lstStyle/>
          <a:p>
            <a:pPr algn="r" indent="0" marL="0">
              <a:lnSpc>
                <a:spcPts val="1668"/>
              </a:lnSpc>
              <a:buNone/>
            </a:pPr>
            <a:r>
              <a:rPr lang="en-US" sz="1150" dirty="0">
                <a:solidFill>
                  <a:srgbClr val="6B6B6B"/>
                </a:solidFill>
                <a:latin typeface="Inter" pitchFamily="34" charset="0"/>
                <a:ea typeface="Inter" pitchFamily="34" charset="-122"/>
                <a:cs typeface="Inter" pitchFamily="34" charset="-120"/>
              </a:rPr>
              <a:t>12/2025</a:t>
            </a:r>
            <a:endParaRPr lang="en-US" sz="1150" dirty="0"/>
          </a:p>
        </p:txBody>
      </p:sp>
      <p:sp>
        <p:nvSpPr>
          <p:cNvPr id="16" name="A_3_0_fade_902"/>
          <p:cNvSpPr/>
          <p:nvPr/>
        </p:nvSpPr>
        <p:spPr>
          <a:xfrm>
            <a:off x="612008" y="3129534"/>
            <a:ext cx="10968045" cy="585765"/>
          </a:xfrm>
          <a:prstGeom prst="roundRect">
            <a:avLst>
              <a:gd name="adj" fmla="val 15173"/>
            </a:avLst>
          </a:prstGeom>
          <a:solidFill>
            <a:srgbClr val="F4F2E8"/>
          </a:solidFill>
          <a:ln w="9525">
            <a:solidFill>
              <a:srgbClr val="C9CAEB"/>
            </a:solidFill>
            <a:prstDash val="solid"/>
          </a:ln>
        </p:spPr>
      </p:sp>
      <p:sp>
        <p:nvSpPr>
          <p:cNvPr id="17" name="A_3_0_fade_903"/>
          <p:cNvSpPr txBox="1"/>
          <p:nvPr/>
        </p:nvSpPr>
        <p:spPr>
          <a:xfrm>
            <a:off x="793791" y="3338657"/>
            <a:ext cx="977311"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AGENT SKILLS</a:t>
            </a:r>
            <a:endParaRPr lang="en-US" sz="950" dirty="0"/>
          </a:p>
        </p:txBody>
      </p:sp>
      <p:sp>
        <p:nvSpPr>
          <p:cNvPr id="18" name="A_3_0_fade_904"/>
          <p:cNvSpPr txBox="1"/>
          <p:nvPr/>
        </p:nvSpPr>
        <p:spPr>
          <a:xfrm>
            <a:off x="2571750" y="3231947"/>
            <a:ext cx="5468569" cy="190470"/>
          </a:xfrm>
          <a:prstGeom prst="rect">
            <a:avLst/>
          </a:prstGeom>
          <a:noFill/>
          <a:ln/>
        </p:spPr>
        <p:txBody>
          <a:bodyPr wrap="square" lIns="0" tIns="0" rIns="0" bIns="0" rtlCol="0" anchor="t"/>
          <a:lstStyle/>
          <a:p>
            <a:pPr algn="l" indent="0" marL="0">
              <a:lnSpc>
                <a:spcPts val="1500"/>
              </a:lnSpc>
              <a:buNone/>
            </a:pPr>
            <a:r>
              <a:rPr lang="en-US" sz="1200" b="1" spc="-12" kern="0" dirty="0">
                <a:solidFill>
                  <a:srgbClr val="111111"/>
                </a:solidFill>
                <a:latin typeface="Space Grotesk" pitchFamily="34" charset="0"/>
                <a:ea typeface="Space Grotesk" pitchFamily="34" charset="-122"/>
                <a:cs typeface="Space Grotesk" pitchFamily="34" charset="-120"/>
              </a:rPr>
              <a:t>Agent Skills specification · tổng quan: Firecrawl, Agent Skills Explained</a:t>
            </a:r>
            <a:endParaRPr lang="en-US" sz="1200" dirty="0"/>
          </a:p>
        </p:txBody>
      </p:sp>
      <p:sp>
        <p:nvSpPr>
          <p:cNvPr id="19" name="A_3_0_fade_905"/>
          <p:cNvSpPr txBox="1"/>
          <p:nvPr/>
        </p:nvSpPr>
        <p:spPr>
          <a:xfrm>
            <a:off x="2571750" y="3422416"/>
            <a:ext cx="828538" cy="184160"/>
          </a:xfrm>
          <a:prstGeom prst="rect">
            <a:avLst/>
          </a:prstGeom>
          <a:noFill/>
          <a:ln/>
        </p:spPr>
        <p:txBody>
          <a:bodyPr wrap="square" lIns="0" tIns="0" rIns="0" bIns="0" rtlCol="0" anchor="t"/>
          <a:lstStyle/>
          <a:p>
            <a:pPr algn="l" indent="0" marL="0">
              <a:lnSpc>
                <a:spcPts val="1450"/>
              </a:lnSpc>
              <a:buNone/>
            </a:pPr>
            <a:r>
              <a:rPr lang="en-US" sz="1000" u="sng" dirty="0">
                <a:solidFill>
                  <a:srgbClr val="1E2BFA"/>
                </a:solidFill>
                <a:latin typeface="Inter" pitchFamily="34" charset="0"/>
                <a:ea typeface="Inter" pitchFamily="34" charset="-122"/>
                <a:cs typeface="Inter" pitchFamily="34" charset="-120"/>
                <a:hlinkClick r:id="rId3" invalidUrl="" action="" tgtFrame="" tooltip="" history="1" highlightClick="0" endSnd="0">
                  <a:extLst>
                    <a:ext uri="{A12FA001-AC4F-418D-AE19-62706E023703}">
                      <ahyp:hlinkClr xmlns:ahyp="http://schemas.microsoft.com/office/drawing/2018/hyperlinkcolor" val="tx"/>
                    </a:ext>
                  </a:extLst>
                </a:hlinkClick>
              </a:rPr>
              <a:t>agentskills.io</a:t>
            </a:r>
            <a:endParaRPr lang="en-US" sz="1000" dirty="0"/>
          </a:p>
        </p:txBody>
      </p:sp>
      <p:sp>
        <p:nvSpPr>
          <p:cNvPr id="20" name="A_3_0_fade_906"/>
          <p:cNvSpPr txBox="1"/>
          <p:nvPr/>
        </p:nvSpPr>
        <p:spPr>
          <a:xfrm>
            <a:off x="3358500" y="3422416"/>
            <a:ext cx="110002" cy="184160"/>
          </a:xfrm>
          <a:prstGeom prst="rect">
            <a:avLst/>
          </a:prstGeom>
          <a:noFill/>
          <a:ln/>
        </p:spPr>
        <p:txBody>
          <a:bodyPr wrap="square" lIns="0" tIns="0" rIns="0" bIns="0" rtlCol="0" anchor="t"/>
          <a:lstStyle/>
          <a:p>
            <a:pPr algn="l" indent="0" marL="0">
              <a:lnSpc>
                <a:spcPts val="1450"/>
              </a:lnSpc>
              <a:buNone/>
            </a:pPr>
            <a:r>
              <a:rPr lang="en-US" sz="1000" dirty="0">
                <a:solidFill>
                  <a:srgbClr val="6B6B6B"/>
                </a:solidFill>
                <a:latin typeface="Inter" pitchFamily="34" charset="0"/>
                <a:ea typeface="Inter" pitchFamily="34" charset="-122"/>
                <a:cs typeface="Inter" pitchFamily="34" charset="-120"/>
              </a:rPr>
              <a:t>·</a:t>
            </a:r>
            <a:endParaRPr lang="en-US" sz="1000" dirty="0"/>
          </a:p>
        </p:txBody>
      </p:sp>
      <p:sp>
        <p:nvSpPr>
          <p:cNvPr id="21" name="A_3_0_fade_907"/>
          <p:cNvSpPr txBox="1"/>
          <p:nvPr/>
        </p:nvSpPr>
        <p:spPr>
          <a:xfrm>
            <a:off x="3426623" y="3422416"/>
            <a:ext cx="1901038" cy="184160"/>
          </a:xfrm>
          <a:prstGeom prst="rect">
            <a:avLst/>
          </a:prstGeom>
          <a:noFill/>
          <a:ln/>
        </p:spPr>
        <p:txBody>
          <a:bodyPr wrap="square" lIns="0" tIns="0" rIns="0" bIns="0" rtlCol="0" anchor="t"/>
          <a:lstStyle/>
          <a:p>
            <a:pPr algn="l" indent="0" marL="0">
              <a:lnSpc>
                <a:spcPts val="1450"/>
              </a:lnSpc>
              <a:buNone/>
            </a:pPr>
            <a:r>
              <a:rPr lang="en-US" sz="1000" u="sng" dirty="0">
                <a:solidFill>
                  <a:srgbClr val="1E2BFA"/>
                </a:solidFill>
                <a:latin typeface="Inter" pitchFamily="34" charset="0"/>
                <a:ea typeface="Inter" pitchFamily="34" charset="-122"/>
                <a:cs typeface="Inter" pitchFamily="34" charset="-120"/>
                <a:hlinkClick r:id="rId4" invalidUrl="" action="" tgtFrame="" tooltip="" history="1" highlightClick="0" endSnd="0">
                  <a:extLst>
                    <a:ext uri="{A12FA001-AC4F-418D-AE19-62706E023703}">
                      <ahyp:hlinkClr xmlns:ahyp="http://schemas.microsoft.com/office/drawing/2018/hyperlinkcolor" val="tx"/>
                    </a:ext>
                  </a:extLst>
                </a:hlinkClick>
              </a:rPr>
              <a:t>firecrawl.dev/blog/agent-skills</a:t>
            </a:r>
            <a:endParaRPr lang="en-US" sz="1000" dirty="0"/>
          </a:p>
        </p:txBody>
      </p:sp>
      <p:sp>
        <p:nvSpPr>
          <p:cNvPr id="22" name="A_4_0_fade_908"/>
          <p:cNvSpPr/>
          <p:nvPr/>
        </p:nvSpPr>
        <p:spPr>
          <a:xfrm>
            <a:off x="612008" y="3796314"/>
            <a:ext cx="10968045" cy="585765"/>
          </a:xfrm>
          <a:prstGeom prst="roundRect">
            <a:avLst>
              <a:gd name="adj" fmla="val 15173"/>
            </a:avLst>
          </a:prstGeom>
          <a:solidFill>
            <a:srgbClr val="F4F2E8"/>
          </a:solidFill>
          <a:ln w="9525">
            <a:solidFill>
              <a:srgbClr val="C9CAEB"/>
            </a:solidFill>
            <a:prstDash val="solid"/>
          </a:ln>
        </p:spPr>
      </p:sp>
      <p:sp>
        <p:nvSpPr>
          <p:cNvPr id="23" name="A_4_0_fade_909"/>
          <p:cNvSpPr txBox="1"/>
          <p:nvPr/>
        </p:nvSpPr>
        <p:spPr>
          <a:xfrm>
            <a:off x="793791" y="4005438"/>
            <a:ext cx="1688988"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VIRTUALIZATION REVIEW</a:t>
            </a:r>
            <a:endParaRPr lang="en-US" sz="950" dirty="0"/>
          </a:p>
        </p:txBody>
      </p:sp>
      <p:sp>
        <p:nvSpPr>
          <p:cNvPr id="24" name="A_4_0_fade_910"/>
          <p:cNvSpPr txBox="1"/>
          <p:nvPr/>
        </p:nvSpPr>
        <p:spPr>
          <a:xfrm>
            <a:off x="2571750" y="3898727"/>
            <a:ext cx="5727162" cy="190470"/>
          </a:xfrm>
          <a:prstGeom prst="rect">
            <a:avLst/>
          </a:prstGeom>
          <a:noFill/>
          <a:ln/>
        </p:spPr>
        <p:txBody>
          <a:bodyPr wrap="square" lIns="0" tIns="0" rIns="0" bIns="0" rtlCol="0" anchor="t"/>
          <a:lstStyle/>
          <a:p>
            <a:pPr algn="l" indent="0" marL="0">
              <a:lnSpc>
                <a:spcPts val="1500"/>
              </a:lnSpc>
              <a:buNone/>
            </a:pPr>
            <a:r>
              <a:rPr lang="en-US" sz="1200" b="1" spc="-12" kern="0" dirty="0">
                <a:solidFill>
                  <a:srgbClr val="111111"/>
                </a:solidFill>
                <a:latin typeface="Space Grotesk" pitchFamily="34" charset="0"/>
                <a:ea typeface="Space Grotesk" pitchFamily="34" charset="-122"/>
                <a:cs typeface="Space Grotesk" pitchFamily="34" charset="-120"/>
              </a:rPr>
              <a:t>MIT Report Finds Most AI Business Investments Fail, Reveals ‘GenAI Divide’</a:t>
            </a:r>
            <a:endParaRPr lang="en-US" sz="1200" dirty="0"/>
          </a:p>
        </p:txBody>
      </p:sp>
      <p:sp>
        <p:nvSpPr>
          <p:cNvPr id="25" name="A_4_0_fade_911"/>
          <p:cNvSpPr txBox="1"/>
          <p:nvPr/>
        </p:nvSpPr>
        <p:spPr>
          <a:xfrm>
            <a:off x="2571750" y="4089197"/>
            <a:ext cx="5183825" cy="184160"/>
          </a:xfrm>
          <a:prstGeom prst="rect">
            <a:avLst/>
          </a:prstGeom>
          <a:noFill/>
          <a:ln/>
        </p:spPr>
        <p:txBody>
          <a:bodyPr wrap="square" lIns="0" tIns="0" rIns="0" bIns="0" rtlCol="0" anchor="t"/>
          <a:lstStyle/>
          <a:p>
            <a:pPr algn="l" indent="0" marL="0">
              <a:lnSpc>
                <a:spcPts val="1450"/>
              </a:lnSpc>
              <a:buNone/>
            </a:pPr>
            <a:r>
              <a:rPr lang="en-US" sz="1000" u="sng" dirty="0">
                <a:solidFill>
                  <a:srgbClr val="1E2BFA"/>
                </a:solidFill>
                <a:latin typeface="Inter" pitchFamily="34" charset="0"/>
                <a:ea typeface="Inter" pitchFamily="34" charset="-122"/>
                <a:cs typeface="Inter" pitchFamily="34" charset="-120"/>
                <a:hlinkClick r:id="rId5" invalidUrl="" action="" tgtFrame="" tooltip="" history="1" highlightClick="0" endSnd="0">
                  <a:extLst>
                    <a:ext uri="{A12FA001-AC4F-418D-AE19-62706E023703}">
                      <ahyp:hlinkClr xmlns:ahyp="http://schemas.microsoft.com/office/drawing/2018/hyperlinkcolor" val="tx"/>
                    </a:ext>
                  </a:extLst>
                </a:hlinkClick>
              </a:rPr>
              <a:t>virtualizationreview.com/articles/2025/08/19/mit-report-finds-most-ai-business-…</a:t>
            </a:r>
            <a:endParaRPr lang="en-US" sz="1000" dirty="0"/>
          </a:p>
        </p:txBody>
      </p:sp>
      <p:sp>
        <p:nvSpPr>
          <p:cNvPr id="26" name="A_4_0_fade_912"/>
          <p:cNvSpPr txBox="1"/>
          <p:nvPr/>
        </p:nvSpPr>
        <p:spPr>
          <a:xfrm>
            <a:off x="10746120" y="3979012"/>
            <a:ext cx="652150" cy="211775"/>
          </a:xfrm>
          <a:prstGeom prst="rect">
            <a:avLst/>
          </a:prstGeom>
          <a:noFill/>
          <a:ln/>
        </p:spPr>
        <p:txBody>
          <a:bodyPr wrap="square" lIns="0" tIns="0" rIns="0" bIns="0" rtlCol="0" anchor="t"/>
          <a:lstStyle/>
          <a:p>
            <a:pPr algn="r" indent="0" marL="0">
              <a:lnSpc>
                <a:spcPts val="1668"/>
              </a:lnSpc>
              <a:buNone/>
            </a:pPr>
            <a:r>
              <a:rPr lang="en-US" sz="1150" dirty="0">
                <a:solidFill>
                  <a:srgbClr val="6B6B6B"/>
                </a:solidFill>
                <a:latin typeface="Inter" pitchFamily="34" charset="0"/>
                <a:ea typeface="Inter" pitchFamily="34" charset="-122"/>
                <a:cs typeface="Inter" pitchFamily="34" charset="-120"/>
              </a:rPr>
              <a:t>08/2025</a:t>
            </a:r>
            <a:endParaRPr lang="en-US" sz="1150" dirty="0"/>
          </a:p>
        </p:txBody>
      </p:sp>
      <p:sp>
        <p:nvSpPr>
          <p:cNvPr id="27" name="A_5_0_fade_913"/>
          <p:cNvSpPr/>
          <p:nvPr/>
        </p:nvSpPr>
        <p:spPr>
          <a:xfrm>
            <a:off x="612008" y="4463095"/>
            <a:ext cx="10968045" cy="585765"/>
          </a:xfrm>
          <a:prstGeom prst="roundRect">
            <a:avLst>
              <a:gd name="adj" fmla="val 15173"/>
            </a:avLst>
          </a:prstGeom>
          <a:solidFill>
            <a:srgbClr val="F4F2E8"/>
          </a:solidFill>
          <a:ln w="9525">
            <a:solidFill>
              <a:srgbClr val="C9CAEB"/>
            </a:solidFill>
            <a:prstDash val="solid"/>
          </a:ln>
        </p:spPr>
      </p:sp>
      <p:sp>
        <p:nvSpPr>
          <p:cNvPr id="28" name="A_5_0_fade_914"/>
          <p:cNvSpPr txBox="1"/>
          <p:nvPr/>
        </p:nvSpPr>
        <p:spPr>
          <a:xfrm>
            <a:off x="793791" y="4672127"/>
            <a:ext cx="460492"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ARXIV</a:t>
            </a:r>
            <a:endParaRPr lang="en-US" sz="950" dirty="0"/>
          </a:p>
        </p:txBody>
      </p:sp>
      <p:sp>
        <p:nvSpPr>
          <p:cNvPr id="29" name="A_5_0_fade_915"/>
          <p:cNvSpPr txBox="1"/>
          <p:nvPr/>
        </p:nvSpPr>
        <p:spPr>
          <a:xfrm>
            <a:off x="2571750" y="4565416"/>
            <a:ext cx="4847783" cy="190470"/>
          </a:xfrm>
          <a:prstGeom prst="rect">
            <a:avLst/>
          </a:prstGeom>
          <a:noFill/>
          <a:ln/>
        </p:spPr>
        <p:txBody>
          <a:bodyPr wrap="square" lIns="0" tIns="0" rIns="0" bIns="0" rtlCol="0" anchor="t"/>
          <a:lstStyle/>
          <a:p>
            <a:pPr algn="l" indent="0" marL="0">
              <a:lnSpc>
                <a:spcPts val="1500"/>
              </a:lnSpc>
              <a:buNone/>
            </a:pPr>
            <a:r>
              <a:rPr lang="en-US" sz="1200" b="1" spc="-12" kern="0" dirty="0">
                <a:solidFill>
                  <a:srgbClr val="111111"/>
                </a:solidFill>
                <a:latin typeface="Space Grotesk" pitchFamily="34" charset="0"/>
                <a:ea typeface="Space Grotesk" pitchFamily="34" charset="-122"/>
                <a:cs typeface="Space Grotesk" pitchFamily="34" charset="-120"/>
              </a:rPr>
              <a:t>Formal Analysis and Supply Chain Security for Agentic AI Skills</a:t>
            </a:r>
            <a:endParaRPr lang="en-US" sz="1200" dirty="0"/>
          </a:p>
        </p:txBody>
      </p:sp>
      <p:sp>
        <p:nvSpPr>
          <p:cNvPr id="30" name="A_5_0_fade_916"/>
          <p:cNvSpPr txBox="1"/>
          <p:nvPr/>
        </p:nvSpPr>
        <p:spPr>
          <a:xfrm>
            <a:off x="2571750" y="4755977"/>
            <a:ext cx="1600291" cy="184160"/>
          </a:xfrm>
          <a:prstGeom prst="rect">
            <a:avLst/>
          </a:prstGeom>
          <a:noFill/>
          <a:ln/>
        </p:spPr>
        <p:txBody>
          <a:bodyPr wrap="square" lIns="0" tIns="0" rIns="0" bIns="0" rtlCol="0" anchor="t"/>
          <a:lstStyle/>
          <a:p>
            <a:pPr algn="l" indent="0" marL="0">
              <a:lnSpc>
                <a:spcPts val="1450"/>
              </a:lnSpc>
              <a:buNone/>
            </a:pPr>
            <a:r>
              <a:rPr lang="en-US" sz="1000" u="sng" dirty="0">
                <a:solidFill>
                  <a:srgbClr val="1E2BFA"/>
                </a:solidFill>
                <a:latin typeface="Inter" pitchFamily="34" charset="0"/>
                <a:ea typeface="Inter" pitchFamily="34" charset="-122"/>
                <a:cs typeface="Inter" pitchFamily="34" charset="-120"/>
                <a:hlinkClick r:id="rId6" invalidUrl="" action="" tgtFrame="" tooltip="" history="1" highlightClick="0" endSnd="0">
                  <a:extLst>
                    <a:ext uri="{A12FA001-AC4F-418D-AE19-62706E023703}">
                      <ahyp:hlinkClr xmlns:ahyp="http://schemas.microsoft.com/office/drawing/2018/hyperlinkcolor" val="tx"/>
                    </a:ext>
                  </a:extLst>
                </a:hlinkClick>
              </a:rPr>
              <a:t>arxiv.org/pdf/2603.00195</a:t>
            </a:r>
            <a:endParaRPr lang="en-US" sz="1000" dirty="0"/>
          </a:p>
        </p:txBody>
      </p:sp>
      <p:sp>
        <p:nvSpPr>
          <p:cNvPr id="31" name="A_5_0_fade_917"/>
          <p:cNvSpPr txBox="1"/>
          <p:nvPr/>
        </p:nvSpPr>
        <p:spPr>
          <a:xfrm>
            <a:off x="10972160" y="4645792"/>
            <a:ext cx="426019" cy="211775"/>
          </a:xfrm>
          <a:prstGeom prst="rect">
            <a:avLst/>
          </a:prstGeom>
          <a:noFill/>
          <a:ln/>
        </p:spPr>
        <p:txBody>
          <a:bodyPr wrap="square" lIns="0" tIns="0" rIns="0" bIns="0" rtlCol="0" anchor="t"/>
          <a:lstStyle/>
          <a:p>
            <a:pPr algn="r" indent="0" marL="0">
              <a:lnSpc>
                <a:spcPts val="1668"/>
              </a:lnSpc>
              <a:buNone/>
            </a:pPr>
            <a:r>
              <a:rPr lang="en-US" sz="1150" dirty="0">
                <a:solidFill>
                  <a:srgbClr val="6B6B6B"/>
                </a:solidFill>
                <a:latin typeface="Inter" pitchFamily="34" charset="0"/>
                <a:ea typeface="Inter" pitchFamily="34" charset="-122"/>
                <a:cs typeface="Inter" pitchFamily="34" charset="-120"/>
              </a:rPr>
              <a:t>2026</a:t>
            </a:r>
            <a:endParaRPr lang="en-US" sz="1150" dirty="0"/>
          </a:p>
        </p:txBody>
      </p:sp>
      <p:sp>
        <p:nvSpPr>
          <p:cNvPr id="32" name="A_6_0_fade_918"/>
          <p:cNvSpPr/>
          <p:nvPr/>
        </p:nvSpPr>
        <p:spPr>
          <a:xfrm>
            <a:off x="612008" y="5129784"/>
            <a:ext cx="10968045" cy="585765"/>
          </a:xfrm>
          <a:prstGeom prst="roundRect">
            <a:avLst>
              <a:gd name="adj" fmla="val 15173"/>
            </a:avLst>
          </a:prstGeom>
          <a:solidFill>
            <a:srgbClr val="F4F2E8"/>
          </a:solidFill>
          <a:ln w="9525">
            <a:solidFill>
              <a:srgbClr val="C9CAEB"/>
            </a:solidFill>
            <a:prstDash val="solid"/>
          </a:ln>
        </p:spPr>
      </p:sp>
      <p:sp>
        <p:nvSpPr>
          <p:cNvPr id="33" name="A_6_0_fade_919"/>
          <p:cNvSpPr txBox="1"/>
          <p:nvPr/>
        </p:nvSpPr>
        <p:spPr>
          <a:xfrm>
            <a:off x="793791" y="5338907"/>
            <a:ext cx="460492" cy="156820"/>
          </a:xfrm>
          <a:prstGeom prst="rect">
            <a:avLst/>
          </a:prstGeom>
          <a:noFill/>
          <a:ln/>
        </p:spPr>
        <p:txBody>
          <a:bodyPr wrap="square" lIns="0" tIns="0" rIns="0" bIns="0" rtlCol="0" anchor="t"/>
          <a:lstStyle/>
          <a:p>
            <a:pPr algn="l" indent="0" marL="0">
              <a:lnSpc>
                <a:spcPts val="1235"/>
              </a:lnSpc>
              <a:buNone/>
            </a:pPr>
            <a:r>
              <a:rPr lang="en-US" sz="950" b="1" spc="76" kern="0" dirty="0">
                <a:solidFill>
                  <a:srgbClr val="1E2BFA"/>
                </a:solidFill>
                <a:latin typeface="Space Grotesk" pitchFamily="34" charset="0"/>
                <a:ea typeface="Space Grotesk" pitchFamily="34" charset="-122"/>
                <a:cs typeface="Space Grotesk" pitchFamily="34" charset="-120"/>
              </a:rPr>
              <a:t>ARXIV</a:t>
            </a:r>
            <a:endParaRPr lang="en-US" sz="950" dirty="0"/>
          </a:p>
        </p:txBody>
      </p:sp>
      <p:sp>
        <p:nvSpPr>
          <p:cNvPr id="34" name="A_6_0_fade_920"/>
          <p:cNvSpPr txBox="1"/>
          <p:nvPr/>
        </p:nvSpPr>
        <p:spPr>
          <a:xfrm>
            <a:off x="2571750" y="5232197"/>
            <a:ext cx="7518105" cy="190470"/>
          </a:xfrm>
          <a:prstGeom prst="rect">
            <a:avLst/>
          </a:prstGeom>
          <a:noFill/>
          <a:ln/>
        </p:spPr>
        <p:txBody>
          <a:bodyPr wrap="square" lIns="0" tIns="0" rIns="0" bIns="0" rtlCol="0" anchor="t"/>
          <a:lstStyle/>
          <a:p>
            <a:pPr algn="l" indent="0" marL="0">
              <a:lnSpc>
                <a:spcPts val="1500"/>
              </a:lnSpc>
              <a:buNone/>
            </a:pPr>
            <a:r>
              <a:rPr lang="en-US" sz="1200" b="1" spc="-12" kern="0" dirty="0">
                <a:solidFill>
                  <a:srgbClr val="111111"/>
                </a:solidFill>
                <a:latin typeface="Space Grotesk" pitchFamily="34" charset="0"/>
                <a:ea typeface="Space Grotesk" pitchFamily="34" charset="-122"/>
                <a:cs typeface="Space Grotesk" pitchFamily="34" charset="-120"/>
              </a:rPr>
              <a:t>CompoSkill: Compositional Skill Chain Attacks from Individually Scanner-Passing LLM Agent Skills</a:t>
            </a:r>
            <a:endParaRPr lang="en-US" sz="1200" dirty="0"/>
          </a:p>
        </p:txBody>
      </p:sp>
      <p:sp>
        <p:nvSpPr>
          <p:cNvPr id="35" name="A_6_0_fade_921"/>
          <p:cNvSpPr txBox="1"/>
          <p:nvPr/>
        </p:nvSpPr>
        <p:spPr>
          <a:xfrm>
            <a:off x="2571750" y="5422666"/>
            <a:ext cx="1588679" cy="184160"/>
          </a:xfrm>
          <a:prstGeom prst="rect">
            <a:avLst/>
          </a:prstGeom>
          <a:noFill/>
          <a:ln/>
        </p:spPr>
        <p:txBody>
          <a:bodyPr wrap="square" lIns="0" tIns="0" rIns="0" bIns="0" rtlCol="0" anchor="t"/>
          <a:lstStyle/>
          <a:p>
            <a:pPr algn="l" indent="0" marL="0">
              <a:lnSpc>
                <a:spcPts val="1450"/>
              </a:lnSpc>
              <a:buNone/>
            </a:pPr>
            <a:r>
              <a:rPr lang="en-US" sz="1000" u="sng" dirty="0">
                <a:solidFill>
                  <a:srgbClr val="1E2BFA"/>
                </a:solidFill>
                <a:latin typeface="Inter" pitchFamily="34" charset="0"/>
                <a:ea typeface="Inter" pitchFamily="34" charset="-122"/>
                <a:cs typeface="Inter" pitchFamily="34" charset="-120"/>
                <a:hlinkClick r:id="rId7" invalidUrl="" action="" tgtFrame="" tooltip="" history="1" highlightClick="0" endSnd="0">
                  <a:extLst>
                    <a:ext uri="{A12FA001-AC4F-418D-AE19-62706E023703}">
                      <ahyp:hlinkClr xmlns:ahyp="http://schemas.microsoft.com/office/drawing/2018/hyperlinkcolor" val="tx"/>
                    </a:ext>
                  </a:extLst>
                </a:hlinkClick>
              </a:rPr>
              <a:t>arxiv.org/pdf/2608.16246</a:t>
            </a:r>
            <a:endParaRPr lang="en-US" sz="1000" dirty="0"/>
          </a:p>
        </p:txBody>
      </p:sp>
      <p:sp>
        <p:nvSpPr>
          <p:cNvPr id="36" name="A_6_0_fade_922"/>
          <p:cNvSpPr txBox="1"/>
          <p:nvPr/>
        </p:nvSpPr>
        <p:spPr>
          <a:xfrm>
            <a:off x="10972160" y="5312573"/>
            <a:ext cx="426019" cy="211775"/>
          </a:xfrm>
          <a:prstGeom prst="rect">
            <a:avLst/>
          </a:prstGeom>
          <a:noFill/>
          <a:ln/>
        </p:spPr>
        <p:txBody>
          <a:bodyPr wrap="square" lIns="0" tIns="0" rIns="0" bIns="0" rtlCol="0" anchor="t"/>
          <a:lstStyle/>
          <a:p>
            <a:pPr algn="r" indent="0" marL="0">
              <a:lnSpc>
                <a:spcPts val="1668"/>
              </a:lnSpc>
              <a:buNone/>
            </a:pPr>
            <a:r>
              <a:rPr lang="en-US" sz="1150" dirty="0">
                <a:solidFill>
                  <a:srgbClr val="6B6B6B"/>
                </a:solidFill>
                <a:latin typeface="Inter" pitchFamily="34" charset="0"/>
                <a:ea typeface="Inter" pitchFamily="34" charset="-122"/>
                <a:cs typeface="Inter" pitchFamily="34" charset="-120"/>
              </a:rPr>
              <a:t>2026</a:t>
            </a:r>
            <a:endParaRPr lang="en-US" sz="1150" dirty="0"/>
          </a:p>
        </p:txBody>
      </p:sp>
      <p:sp>
        <p:nvSpPr>
          <p:cNvPr id="37" name="S_923"/>
          <p:cNvSpPr txBox="1"/>
          <p:nvPr/>
        </p:nvSpPr>
        <p:spPr>
          <a:xfrm>
            <a:off x="609630" y="6517660"/>
            <a:ext cx="2915930"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9A9A9A"/>
                </a:solidFill>
                <a:latin typeface="Space Grotesk" pitchFamily="34" charset="0"/>
                <a:ea typeface="Space Grotesk" pitchFamily="34" charset="-122"/>
                <a:cs typeface="Space Grotesk" pitchFamily="34" charset="-120"/>
              </a:rPr>
              <a:t>Chuẩn hoá và kết nối, thay vì xây AI platform</a:t>
            </a:r>
            <a:endParaRPr lang="en-US" sz="900" dirty="0"/>
          </a:p>
        </p:txBody>
      </p:sp>
      <p:sp>
        <p:nvSpPr>
          <p:cNvPr id="38" name="S_924"/>
          <p:cNvSpPr txBox="1"/>
          <p:nvPr/>
        </p:nvSpPr>
        <p:spPr>
          <a:xfrm>
            <a:off x="11166836" y="6517660"/>
            <a:ext cx="491764" cy="148590"/>
          </a:xfrm>
          <a:prstGeom prst="rect">
            <a:avLst/>
          </a:prstGeom>
          <a:noFill/>
          <a:ln/>
        </p:spPr>
        <p:txBody>
          <a:bodyPr wrap="square" lIns="0" tIns="0" rIns="0" bIns="0" rtlCol="0" anchor="t"/>
          <a:lstStyle/>
          <a:p>
            <a:pPr algn="l" indent="0" marL="0">
              <a:lnSpc>
                <a:spcPts val="1170"/>
              </a:lnSpc>
              <a:buNone/>
            </a:pPr>
            <a:r>
              <a:rPr lang="en-US" sz="900" spc="45" kern="0" dirty="0">
                <a:solidFill>
                  <a:srgbClr val="6B6B6B"/>
                </a:solidFill>
                <a:latin typeface="Space Grotesk" pitchFamily="34" charset="0"/>
                <a:ea typeface="Space Grotesk" pitchFamily="34" charset="-122"/>
                <a:cs typeface="Space Grotesk" pitchFamily="34" charset="-120"/>
              </a:rPr>
              <a:t>25 / 25</a:t>
            </a:r>
            <a:endParaRPr lang="en-US" sz="900" dirty="0"/>
          </a:p>
        </p:txBody>
      </p:sp>
      <p:sp>
        <p:nvSpPr>
          <p:cNvPr id="39" name="S_925"/>
          <p:cNvSpPr/>
          <p:nvPr/>
        </p:nvSpPr>
        <p:spPr>
          <a:xfrm>
            <a:off x="0" y="6838980"/>
            <a:ext cx="12191970" cy="19020"/>
          </a:xfrm>
          <a:prstGeom prst="rect">
            <a:avLst/>
          </a:prstGeom>
          <a:solidFill>
            <a:srgbClr val="1E2BFA"/>
          </a:solidFill>
          <a:ln/>
        </p:spPr>
      </p:sp>
    </p:spTree>
  </p:cSld>
  <p:clrMapOvr>
    <a:masterClrMapping/>
  </p:clrMapOvr>
  <p:transition spd="med">
    <p:fade/>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99" fill="hold">
                            <p:stCondLst>
                              <p:cond delay="0"/>
                            </p:stCondLst>
                            <p:childTnLst>
                              <p:par>
                                <p:cTn id="3" presetID="10" presetClass="entr" presetSubtype="0" fill="hold" grpId="0" nodeType="after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par>
                                <p:cTn id="6" presetID="10" presetClass="entr" presetSubtype="0" fill="hold" grpId="0" nodeType="withEffect">
                                  <p:stCondLst>
                                    <p:cond delay="11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500"/>
                                        <p:tgtEl>
                                          <p:spTgt spid="6"/>
                                        </p:tgtEl>
                                      </p:cBhvr>
                                    </p:animEffect>
                                  </p:childTnLst>
                                </p:cTn>
                              </p:par>
                              <p:par>
                                <p:cTn id="9" presetID="10" presetClass="entr" presetSubtype="0" fill="hold" grpId="0" nodeType="withEffect">
                                  <p:stCondLst>
                                    <p:cond delay="11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par>
                                <p:cTn id="12" presetID="10" presetClass="entr" presetSubtype="0" fill="hold" grpId="0" nodeType="withEffect">
                                  <p:stCondLst>
                                    <p:cond delay="11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11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par>
                                <p:cTn id="18" presetID="10" presetClass="entr" presetSubtype="0" fill="hold" grpId="0" nodeType="withEffect">
                                  <p:stCondLst>
                                    <p:cond delay="11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500"/>
                                        <p:tgtEl>
                                          <p:spTgt spid="10"/>
                                        </p:tgtEl>
                                      </p:cBhvr>
                                    </p:animEffect>
                                  </p:childTnLst>
                                </p:cTn>
                              </p:par>
                              <p:par>
                                <p:cTn id="21" presetID="10" presetClass="entr" presetSubtype="0" fill="hold" grpId="0" nodeType="withEffect">
                                  <p:stCondLst>
                                    <p:cond delay="22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22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27" presetID="10" presetClass="entr" presetSubtype="0" fill="hold" grpId="0" nodeType="withEffect">
                                  <p:stCondLst>
                                    <p:cond delay="22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grpId="0" nodeType="withEffect">
                                  <p:stCondLst>
                                    <p:cond delay="22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22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33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33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33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par>
                                <p:cTn id="45" presetID="10" presetClass="entr" presetSubtype="0" fill="hold" grpId="0" nodeType="withEffect">
                                  <p:stCondLst>
                                    <p:cond delay="33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33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1" presetID="10" presetClass="entr" presetSubtype="0" fill="hold" grpId="0" nodeType="withEffect">
                                  <p:stCondLst>
                                    <p:cond delay="33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4" presetID="10" presetClass="entr" presetSubtype="0" fill="hold" grpId="0" nodeType="withEffect">
                                  <p:stCondLst>
                                    <p:cond delay="44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44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par>
                                <p:cTn id="60" presetID="10" presetClass="entr" presetSubtype="0" fill="hold" grpId="0" nodeType="withEffect">
                                  <p:stCondLst>
                                    <p:cond delay="44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500"/>
                                        <p:tgtEl>
                                          <p:spTgt spid="24"/>
                                        </p:tgtEl>
                                      </p:cBhvr>
                                    </p:animEffect>
                                  </p:childTnLst>
                                </p:cTn>
                              </p:par>
                              <p:par>
                                <p:cTn id="63" presetID="10" presetClass="entr" presetSubtype="0" fill="hold" grpId="0" nodeType="withEffect">
                                  <p:stCondLst>
                                    <p:cond delay="440"/>
                                  </p:stCondLst>
                                  <p:childTnLst>
                                    <p:set>
                                      <p:cBhvr>
                                        <p:cTn id="64" dur="1" fill="hold">
                                          <p:stCondLst>
                                            <p:cond delay="0"/>
                                          </p:stCondLst>
                                        </p:cTn>
                                        <p:tgtEl>
                                          <p:spTgt spid="25"/>
                                        </p:tgtEl>
                                        <p:attrNameLst>
                                          <p:attrName>style.visibility</p:attrName>
                                        </p:attrNameLst>
                                      </p:cBhvr>
                                      <p:to>
                                        <p:strVal val="visible"/>
                                      </p:to>
                                    </p:set>
                                    <p:animEffect transition="in" filter="fade">
                                      <p:cBhvr>
                                        <p:cTn id="65" dur="500"/>
                                        <p:tgtEl>
                                          <p:spTgt spid="25"/>
                                        </p:tgtEl>
                                      </p:cBhvr>
                                    </p:animEffect>
                                  </p:childTnLst>
                                </p:cTn>
                              </p:par>
                              <p:par>
                                <p:cTn id="66" presetID="10" presetClass="entr" presetSubtype="0" fill="hold" grpId="0" nodeType="withEffect">
                                  <p:stCondLst>
                                    <p:cond delay="44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par>
                                <p:cTn id="69" presetID="10" presetClass="entr" presetSubtype="0" fill="hold" grpId="0" nodeType="withEffect">
                                  <p:stCondLst>
                                    <p:cond delay="55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500"/>
                                        <p:tgtEl>
                                          <p:spTgt spid="27"/>
                                        </p:tgtEl>
                                      </p:cBhvr>
                                    </p:animEffect>
                                  </p:childTnLst>
                                </p:cTn>
                              </p:par>
                              <p:par>
                                <p:cTn id="72" presetID="10" presetClass="entr" presetSubtype="0" fill="hold" grpId="0" nodeType="withEffect">
                                  <p:stCondLst>
                                    <p:cond delay="55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500"/>
                                        <p:tgtEl>
                                          <p:spTgt spid="28"/>
                                        </p:tgtEl>
                                      </p:cBhvr>
                                    </p:animEffect>
                                  </p:childTnLst>
                                </p:cTn>
                              </p:par>
                              <p:par>
                                <p:cTn id="75" presetID="10" presetClass="entr" presetSubtype="0" fill="hold" grpId="0" nodeType="withEffect">
                                  <p:stCondLst>
                                    <p:cond delay="55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grpId="0" nodeType="withEffect">
                                  <p:stCondLst>
                                    <p:cond delay="55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grpId="0" nodeType="withEffect">
                                  <p:stCondLst>
                                    <p:cond delay="55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par>
                                <p:cTn id="84" presetID="10" presetClass="entr" presetSubtype="0" fill="hold" grpId="0" nodeType="withEffect">
                                  <p:stCondLst>
                                    <p:cond delay="66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500"/>
                                        <p:tgtEl>
                                          <p:spTgt spid="32"/>
                                        </p:tgtEl>
                                      </p:cBhvr>
                                    </p:animEffect>
                                  </p:childTnLst>
                                </p:cTn>
                              </p:par>
                              <p:par>
                                <p:cTn id="87" presetID="10" presetClass="entr" presetSubtype="0" fill="hold" grpId="0" nodeType="withEffect">
                                  <p:stCondLst>
                                    <p:cond delay="66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500"/>
                                        <p:tgtEl>
                                          <p:spTgt spid="33"/>
                                        </p:tgtEl>
                                      </p:cBhvr>
                                    </p:animEffect>
                                  </p:childTnLst>
                                </p:cTn>
                              </p:par>
                              <p:par>
                                <p:cTn id="90" presetID="10" presetClass="entr" presetSubtype="0" fill="hold" grpId="0" nodeType="withEffect">
                                  <p:stCondLst>
                                    <p:cond delay="660"/>
                                  </p:stCondLst>
                                  <p:childTnLst>
                                    <p:set>
                                      <p:cBhvr>
                                        <p:cTn id="91" dur="1" fill="hold">
                                          <p:stCondLst>
                                            <p:cond delay="0"/>
                                          </p:stCondLst>
                                        </p:cTn>
                                        <p:tgtEl>
                                          <p:spTgt spid="34"/>
                                        </p:tgtEl>
                                        <p:attrNameLst>
                                          <p:attrName>style.visibility</p:attrName>
                                        </p:attrNameLst>
                                      </p:cBhvr>
                                      <p:to>
                                        <p:strVal val="visible"/>
                                      </p:to>
                                    </p:set>
                                    <p:animEffect transition="in" filter="fade">
                                      <p:cBhvr>
                                        <p:cTn id="92" dur="500"/>
                                        <p:tgtEl>
                                          <p:spTgt spid="34"/>
                                        </p:tgtEl>
                                      </p:cBhvr>
                                    </p:animEffect>
                                  </p:childTnLst>
                                </p:cTn>
                              </p:par>
                              <p:par>
                                <p:cTn id="93" presetID="10" presetClass="entr" presetSubtype="0" fill="hold" grpId="0" nodeType="withEffect">
                                  <p:stCondLst>
                                    <p:cond delay="660"/>
                                  </p:stCondLst>
                                  <p:childTnLst>
                                    <p:set>
                                      <p:cBhvr>
                                        <p:cTn id="94" dur="1" fill="hold">
                                          <p:stCondLst>
                                            <p:cond delay="0"/>
                                          </p:stCondLst>
                                        </p:cTn>
                                        <p:tgtEl>
                                          <p:spTgt spid="35"/>
                                        </p:tgtEl>
                                        <p:attrNameLst>
                                          <p:attrName>style.visibility</p:attrName>
                                        </p:attrNameLst>
                                      </p:cBhvr>
                                      <p:to>
                                        <p:strVal val="visible"/>
                                      </p:to>
                                    </p:set>
                                    <p:animEffect transition="in" filter="fade">
                                      <p:cBhvr>
                                        <p:cTn id="95" dur="500"/>
                                        <p:tgtEl>
                                          <p:spTgt spid="35"/>
                                        </p:tgtEl>
                                      </p:cBhvr>
                                    </p:animEffect>
                                  </p:childTnLst>
                                </p:cTn>
                              </p:par>
                              <p:par>
                                <p:cTn id="96" presetID="10" presetClass="entr" presetSubtype="0" fill="hold" grpId="0" nodeType="withEffect">
                                  <p:stCondLst>
                                    <p:cond delay="660"/>
                                  </p:stCondLst>
                                  <p:childTnLst>
                                    <p:set>
                                      <p:cBhvr>
                                        <p:cTn id="97" dur="1" fill="hold">
                                          <p:stCondLst>
                                            <p:cond delay="0"/>
                                          </p:stCondLst>
                                        </p:cTn>
                                        <p:tgtEl>
                                          <p:spTgt spid="36"/>
                                        </p:tgtEl>
                                        <p:attrNameLst>
                                          <p:attrName>style.visibility</p:attrName>
                                        </p:attrNameLst>
                                      </p:cBhvr>
                                      <p:to>
                                        <p:strVal val="visible"/>
                                      </p:to>
                                    </p:set>
                                    <p:animEffect transition="in" filter="fade">
                                      <p:cBhvr>
                                        <p:cTn id="9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Chuẩn hoá và kết nối, thay vì xây AI platform</dc:title>
  <dc:subject>Đề xuất: chuẩn hoá dữ liệu và quy trình, nối vào harness có sẵn qua chuẩn mở</dc:subject>
  <dc:creator>PptxGenJS</dc:creator>
  <cp:lastModifiedBy>PptxGenJS</cp:lastModifiedBy>
  <cp:revision>1</cp:revision>
  <dcterms:created xsi:type="dcterms:W3CDTF">2026-09-28T16:24:54Z</dcterms:created>
  <dcterms:modified xsi:type="dcterms:W3CDTF">2026-09-28T16:24:54Z</dcterms:modified>
</cp:coreProperties>
</file>