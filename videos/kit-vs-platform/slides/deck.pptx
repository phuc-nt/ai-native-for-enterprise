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đề xuất chưa được duyệt: tổ chức nên đầu tư vào đâu khi muốn nâng automation level của AI trong phát triển phần mềm. Người nghe dự kiến là người quyết định phân bổ nguồn lực giữa các team AI của tổ chức, cùng chính team kit. Tên riêng của sản phẩm, hệ thống, chuẩn tài liệu và công cụ nội bộ đã được thay bằng mô tả 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điểm chính: harness và LLM thì mua; tổ chức đầu tư vào kit và dữ liệu AI-ready, thứ bên ngoài không có. Một agent làm việc thật gồm harness, LLM, kit và infrastructure; platform cũng là bốn phần này, chỉ khác ở chỗ tự viết lại harness. Bốn ý bên phải là bốn điểm của đề xuất, trình bày chi tiết ở phần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 chức đặt mục tiêu “AI-First” cho cả Ops và Dev, và đo automation level trên thang năm mức từ L1 Assistive tới L5 Autonomous. Với phía Dev, kỳ sau basic design và detail design cần đạt L3 (AI cùng viết, cùng review nội dung), còn coding/unit test và testing cần đạt L4 (AI tự sinh draft, tự chạy, người approve). Planning và requirements definition giữ ở mức thấp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có hai team được giao hai hướng khác nhau. Team platform xây một Centralized AI Dev Platform chạy trên cloud, phục vụ toàn tổ chức; team kit làm kit — skill, workflow, connector — cho các harness phổ biến như Claude Code, Kiro. Câu hỏi của đề xuất là tổ chức nên đầu tư vào đâu để nâng automation level của AI trong phát triển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tài liệu của platform, kiến trúc gồm bốn layer: context engine và knowledge base, multi-agent orchestration, integration qua MCP, và governance cùng quality gate. Mười ba feature chia hai nhóm: năm feature common và tám feature theo development lifecycle, trong đó có giao trọn một feature bằng một lệnh (spec → ticket → code → test → draft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liệu của platform lập luận rằng một IDE harness như Kiro, kể cả khi đã nối knowledge base, vẫn khác về bản chất trên sáu tiêu chí này. Kết luận của tài liệu đó: IDE harness là “trợ lý cá nhân của lập trình viên”, còn platform là “dây chuyền sản xuất phần mềm tự động”. Phần 04 sẽ xem lại từng dòng của bảng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agent làm việc thật gồm bốn phần: harness + LLM + kit + infrastructure. Platform, xét cho cùng, cũng là bốn phần này: LLM, kit và hạ tầng giống nhau, chỉ khác ở chỗ tự viết lại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xuất có bốn ý: harness và LLM thì mua; đầu tư vào kit và data source AI-ready; viết chúng trung lập với harness; và platform thu hẹp lại, không dừng hẳn — giữ data layer và governance layer, bỏ phần tự viết lại orchestration layer. Hướng này khớp với thứ tự đầu tư data → interface → harness trong proposal ba trụ cột: model đổi được trong một dòng cấu hình; dữ liệu và dây nối thì không ai làm thay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harness lớn và cộng đồng open source ra feature theo tháng: subagent, skill, hook, sandbox, chạy headless, SDK. Một harness tự viết phải đuổi theo mãi, và mỗi lần đuổi là công sức không tạo ra khác biệt. Phép thử mất giá: nếu quý sau vendor ra đúng feature này, khoản đầu tư có mất trắng không? Orchestration layer và chat UI thì mất; code graph nội bộ, template theo chuẩn tổ chức, checklist review và connector tới tool nội bộ thì không, vì bên ngoài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level là tính chất của workflow, không phải của tool. Cùng một harness, cho dừng hỏi người ở mỗi bước thì là L3; cho chạy trọn một chuỗi skill rồi trình draft ở approval gate cuối thì là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của platform đặt harness dùng tương tác trong IDE cạnh một platform chạy trên server, tức là so hai cách triển khai chứ không so harness với platform. Nếu so harness chạy headless kèm kit với platform tự viết: automation level do workflow quyết định; harness chạy được trên server (Claude Code có chế độ non-interactive, Agent SDK, tích hợp GitHub Actions; Kiro CLI có --no-interactive, đã chạy thử); và giao trọn feature bằng một lệnh là một skill chain, tức phần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Multi-repo là vấn đề dữ liệu: code graph nhiều repo phơi ra qua CLI hoặc MCP thì harness nào cũng dùng được, nên dòng này ủng hộ đề xuất. Human gate đã có qua PR review, branch protection và hook; audit tập trung là khoảng trống thật vì Kiro lưu session log local, nhưng lấp được bằng một layer mỏng như LLM gateway và telemetry. Vì vậy kết luận “trợ lý cá nhân” so với “dây chuyền sản xuất” không đứng vững.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Tách bốn layer của platform theo bản chất: layer 1 là data source AI-ready, nên làm vì đó là tài sản bên ngoài không có; layer 3 là connector trong kit, làm trung lập với harness; layer 4 là shared infrastructure, mua hoặc cấu hình. Chỉ layer 2, multi-agent orchestration, là viết lại harness và không nên làm. Ba trên bốn layer của chính platform đã trùng với đề xuất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Xếp mười ba feature theo loại công việc: sáu feature là skill hoặc workflow do team kit làm; ba feature là data source kèm skill, team platform làm data và team kit làm skill dùng data; bốn feature thuộc governance và CI, mua hoặc cấu hình. Không feature nào bắt buộc phải có harness tự viết. Kit tài liệu waterfall hiện có đã có bản đầu cho basic design, detail design, API spec, test case và unit test cho code có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xuất có năm điểm yếu, và mỗi điểm có cách bù. “Gắn vào harness nào cũng được” chỉ đúng phần lớn, nên kit tách core trung lập và adapter mỏng; governance tập trung là nhu cầu thật của cấp quản lý, nên cần phương án LLM gateway cụ thể. License cho L4 trên server, guardrail khi chạy tự động không người giám sát, và bằng chứng còn mỏng đều phải xử lý từ đầu — trong đó có PoC trên một hệ thống có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phân vai giữ việc cho cả hai team: team platform làm spec index, code graph, RBAC dữ liệu và expose qua CLI hoặc MCP; team kit làm skill, workflow, connector, guardrail và adapter cho từng harness. Harness, LLM và LLM gateway thì mua hoặc cấu hình; human gate và evidence pack chạy trên GitHub và CI. Không ai viết lại harness, và cả hai team cùng tạo ra thứ dùng lại được ở mọi harness, kể cả khi lên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trình cần bốn bằng chứng. Thứ nhất, chạy chuỗi basic design → detail design → unit test trên một hệ thống có sẵn của team dự án, ghi thời gian và số lỗi review so với làm tay. Thứ hai, chạy cùng chuỗi đó headless một lần, có approval gate cuối, để chứng minh mức L4 không cần harness tự viết; thứ ba, chạy cùng kit trên hai harness; thứ tư, dựng thử một LLM gateway ghi cost và log theo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Còn bốn câu hỏi mở cần làm rõ trước khi quyết định. Thứ nhất, team platform đã đầu tư tới đâu ở orchestration layer, và nếu đã nhiều thì phần nào chuyển sang data layer được. Thứ hai, điều khoản license của harness có cho chạy headless trong CI không; thứ ba, yêu cầu data residency và LLM được phép dùng của phía khách có loại trừ harness nào không. Cuối cùng, ai sở hữu LLM gateway và dữ liệu audit: team platform, team infra, hay đơn vị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đổi được trong một dòng cấu hình. Dữ liệu và dây nối thì không ai làm thay được. Vì vậy đề xuất là harness và LLM thì mua, còn tổ chức đầu tư vào kit và dữ liệu AI-ready — thứ bên ngoài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AE7"/>
        </a:solidFill>
      </p:bgPr>
    </p:bg>
    <p:spTree>
      <p:nvGrpSpPr>
        <p:cNvPr id="1" name=""/>
        <p:cNvGrpSpPr/>
        <p:nvPr/>
      </p:nvGrpSpPr>
      <p:grpSpPr>
        <a:xfrm>
          <a:off x="0" y="0"/>
          <a:ext cx="0" cy="0"/>
          <a:chOff x="0" y="0"/>
          <a:chExt cx="0" cy="0"/>
        </a:xfrm>
      </p:grpSpPr>
      <p:sp>
        <p:nvSpPr>
          <p:cNvPr id="2" name="Shape 0"/>
          <p:cNvSpPr/>
          <p:nvPr/>
        </p:nvSpPr>
        <p:spPr>
          <a:xfrm>
            <a:off x="7804150" y="0"/>
            <a:ext cx="4387850" cy="6858000"/>
          </a:xfrm>
          <a:custGeom>
            <a:avLst/>
            <a:gdLst/>
            <a:ahLst/>
            <a:cxnLst/>
            <a:rect l="l" t="t" r="r" b="b"/>
            <a:pathLst>
              <a:path w="4387850" h="6858000">
                <a:moveTo>
                  <a:pt x="1314450" y="0"/>
                </a:moveTo>
                <a:lnTo>
                  <a:pt x="4387850" y="0"/>
                </a:lnTo>
                <a:lnTo>
                  <a:pt x="4387850" y="6858000"/>
                </a:lnTo>
                <a:lnTo>
                  <a:pt x="0" y="6858000"/>
                </a:lnTo>
                <a:close/>
              </a:path>
            </a:pathLst>
          </a:custGeom>
          <a:solidFill>
            <a:srgbClr val="EBE9E8"/>
          </a:solidFill>
          <a:ln/>
        </p:spPr>
      </p:sp>
      <p:sp>
        <p:nvSpPr>
          <p:cNvPr id="3" name="Shape 1"/>
          <p:cNvSpPr/>
          <p:nvPr/>
        </p:nvSpPr>
        <p:spPr>
          <a:xfrm>
            <a:off x="12192000" y="6858000"/>
            <a:ext cx="3302000" cy="3302000"/>
          </a:xfrm>
          <a:prstGeom prst="ellipse">
            <a:avLst/>
          </a:prstGeom>
          <a:ln w="9525">
            <a:solidFill>
              <a:srgbClr val="D0D1EB"/>
            </a:solidFill>
            <a:prstDash val="solid"/>
          </a:ln>
        </p:spPr>
      </p:sp>
      <p:sp>
        <p:nvSpPr>
          <p:cNvPr id="4" name="Shape 2"/>
          <p:cNvSpPr/>
          <p:nvPr/>
        </p:nvSpPr>
        <p:spPr>
          <a:xfrm>
            <a:off x="11430000" y="6096000"/>
            <a:ext cx="4826000" cy="4826000"/>
          </a:xfrm>
          <a:prstGeom prst="ellipse">
            <a:avLst/>
          </a:prstGeom>
          <a:ln w="9525">
            <a:solidFill>
              <a:srgbClr val="D0D1EB"/>
            </a:solidFill>
            <a:prstDash val="solid"/>
          </a:ln>
        </p:spPr>
      </p:sp>
      <p:sp>
        <p:nvSpPr>
          <p:cNvPr id="5" name="Shape 3"/>
          <p:cNvSpPr/>
          <p:nvPr/>
        </p:nvSpPr>
        <p:spPr>
          <a:xfrm>
            <a:off x="10668000" y="5334000"/>
            <a:ext cx="6350000" cy="6350000"/>
          </a:xfrm>
          <a:prstGeom prst="ellipse">
            <a:avLst/>
          </a:prstGeom>
          <a:ln w="9525">
            <a:solidFill>
              <a:srgbClr val="D0D1EB"/>
            </a:solidFill>
            <a:prstDash val="solid"/>
          </a:ln>
        </p:spPr>
      </p:sp>
      <p:sp>
        <p:nvSpPr>
          <p:cNvPr id="6" name="Shape 4"/>
          <p:cNvSpPr/>
          <p:nvPr/>
        </p:nvSpPr>
        <p:spPr>
          <a:xfrm>
            <a:off x="10464800" y="1079500"/>
            <a:ext cx="88900" cy="88900"/>
          </a:xfrm>
          <a:prstGeom prst="ellipse">
            <a:avLst/>
          </a:prstGeom>
          <a:solidFill>
            <a:srgbClr val="1E2BFA"/>
          </a:solidFill>
          <a:ln/>
        </p:spPr>
      </p:sp>
      <p:sp>
        <p:nvSpPr>
          <p:cNvPr id="7" name="Shape 5"/>
          <p:cNvSpPr/>
          <p:nvPr/>
        </p:nvSpPr>
        <p:spPr>
          <a:xfrm>
            <a:off x="10744200" y="1079500"/>
            <a:ext cx="88900" cy="88900"/>
          </a:xfrm>
          <a:prstGeom prst="ellipse">
            <a:avLst/>
          </a:prstGeom>
          <a:solidFill>
            <a:srgbClr val="1E2BFA"/>
          </a:solidFill>
          <a:ln/>
        </p:spPr>
      </p:sp>
      <p:sp>
        <p:nvSpPr>
          <p:cNvPr id="8" name="Shape 6"/>
          <p:cNvSpPr/>
          <p:nvPr/>
        </p:nvSpPr>
        <p:spPr>
          <a:xfrm>
            <a:off x="11023600" y="1079500"/>
            <a:ext cx="88900" cy="88900"/>
          </a:xfrm>
          <a:prstGeom prst="ellipse">
            <a:avLst/>
          </a:prstGeom>
          <a:solidFill>
            <a:srgbClr val="1E2BFA"/>
          </a:solidFill>
          <a:ln/>
        </p:spPr>
      </p:sp>
      <p:sp>
        <p:nvSpPr>
          <p:cNvPr id="9" name="Shape 7"/>
          <p:cNvSpPr/>
          <p:nvPr/>
        </p:nvSpPr>
        <p:spPr>
          <a:xfrm>
            <a:off x="10464800" y="1358900"/>
            <a:ext cx="88900" cy="88900"/>
          </a:xfrm>
          <a:prstGeom prst="ellipse">
            <a:avLst/>
          </a:prstGeom>
          <a:solidFill>
            <a:srgbClr val="1E2BFA"/>
          </a:solidFill>
          <a:ln/>
        </p:spPr>
      </p:sp>
      <p:sp>
        <p:nvSpPr>
          <p:cNvPr id="10" name="Shape 8"/>
          <p:cNvSpPr/>
          <p:nvPr/>
        </p:nvSpPr>
        <p:spPr>
          <a:xfrm>
            <a:off x="10744200" y="1358900"/>
            <a:ext cx="88900" cy="88900"/>
          </a:xfrm>
          <a:prstGeom prst="ellipse">
            <a:avLst/>
          </a:prstGeom>
          <a:solidFill>
            <a:srgbClr val="1E2BFA"/>
          </a:solidFill>
          <a:ln/>
        </p:spPr>
      </p:sp>
      <p:sp>
        <p:nvSpPr>
          <p:cNvPr id="11" name="Shape 9"/>
          <p:cNvSpPr/>
          <p:nvPr/>
        </p:nvSpPr>
        <p:spPr>
          <a:xfrm>
            <a:off x="11023600" y="1358900"/>
            <a:ext cx="88900" cy="88900"/>
          </a:xfrm>
          <a:prstGeom prst="ellipse">
            <a:avLst/>
          </a:prstGeom>
          <a:solidFill>
            <a:srgbClr val="1E2BFA"/>
          </a:solidFill>
          <a:ln/>
        </p:spPr>
      </p:sp>
      <p:sp>
        <p:nvSpPr>
          <p:cNvPr id="12" name="Shape 10"/>
          <p:cNvSpPr/>
          <p:nvPr/>
        </p:nvSpPr>
        <p:spPr>
          <a:xfrm>
            <a:off x="10464800" y="1638300"/>
            <a:ext cx="88900" cy="88900"/>
          </a:xfrm>
          <a:prstGeom prst="ellipse">
            <a:avLst/>
          </a:prstGeom>
          <a:solidFill>
            <a:srgbClr val="1E2BFA"/>
          </a:solidFill>
          <a:ln/>
        </p:spPr>
      </p:sp>
      <p:sp>
        <p:nvSpPr>
          <p:cNvPr id="13" name="Shape 11"/>
          <p:cNvSpPr/>
          <p:nvPr/>
        </p:nvSpPr>
        <p:spPr>
          <a:xfrm>
            <a:off x="10744200" y="1638300"/>
            <a:ext cx="88900" cy="88900"/>
          </a:xfrm>
          <a:prstGeom prst="ellipse">
            <a:avLst/>
          </a:prstGeom>
          <a:solidFill>
            <a:srgbClr val="1E2BFA"/>
          </a:solidFill>
          <a:ln/>
        </p:spPr>
      </p:sp>
      <p:sp>
        <p:nvSpPr>
          <p:cNvPr id="14" name="Shape 12"/>
          <p:cNvSpPr/>
          <p:nvPr/>
        </p:nvSpPr>
        <p:spPr>
          <a:xfrm>
            <a:off x="11023600" y="1638300"/>
            <a:ext cx="88900" cy="88900"/>
          </a:xfrm>
          <a:prstGeom prst="ellipse">
            <a:avLst/>
          </a:prstGeom>
          <a:solidFill>
            <a:srgbClr val="1E2BFA"/>
          </a:solidFill>
          <a:ln/>
        </p:spPr>
      </p:sp>
      <p:sp>
        <p:nvSpPr>
          <p:cNvPr id="15" name="Shape 13"/>
          <p:cNvSpPr/>
          <p:nvPr/>
        </p:nvSpPr>
        <p:spPr>
          <a:xfrm>
            <a:off x="609600" y="1739900"/>
            <a:ext cx="381000" cy="25400"/>
          </a:xfrm>
          <a:prstGeom prst="roundRect">
            <a:avLst>
              <a:gd name="adj" fmla="val 50000"/>
            </a:avLst>
          </a:prstGeom>
          <a:solidFill>
            <a:srgbClr val="1E2BFA"/>
          </a:solidFill>
          <a:ln/>
        </p:spPr>
      </p:sp>
      <p:sp>
        <p:nvSpPr>
          <p:cNvPr id="16" name="Text 14"/>
          <p:cNvSpPr txBox="1"/>
          <p:nvPr/>
        </p:nvSpPr>
        <p:spPr>
          <a:xfrm>
            <a:off x="609600" y="1930400"/>
            <a:ext cx="5715000" cy="228600"/>
          </a:xfrm>
          <a:prstGeom prst="rect">
            <a:avLst/>
          </a:prstGeom>
          <a:noFill/>
          <a:ln/>
        </p:spPr>
        <p:txBody>
          <a:bodyPr wrap="square" lIns="0" tIns="0" rIns="0" bIns="0" rtlCol="0" anchor="t"/>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TỔ CHỨC · 28/09/2026</a:t>
            </a:r>
            <a:endParaRPr lang="en-US" sz="1100" dirty="0"/>
          </a:p>
        </p:txBody>
      </p:sp>
      <p:sp>
        <p:nvSpPr>
          <p:cNvPr id="17" name="Text 15"/>
          <p:cNvSpPr txBox="1"/>
          <p:nvPr/>
        </p:nvSpPr>
        <p:spPr>
          <a:xfrm>
            <a:off x="609600" y="2273300"/>
            <a:ext cx="7874000" cy="1460500"/>
          </a:xfrm>
          <a:prstGeom prst="rect">
            <a:avLst/>
          </a:prstGeom>
          <a:noFill/>
          <a:ln/>
        </p:spPr>
        <p:txBody>
          <a:bodyPr wrap="square" lIns="0" tIns="0" rIns="0" bIns="0" rtlCol="0" anchor="t"/>
          <a:lstStyle/>
          <a:p>
            <a:pPr algn="l" indent="0" marL="0">
              <a:lnSpc>
                <a:spcPts val="5382"/>
              </a:lnSpc>
              <a:buNone/>
            </a:pPr>
            <a:r>
              <a:rPr lang="en-US" sz="4600" b="1" dirty="0">
                <a:solidFill>
                  <a:srgbClr val="111111"/>
                </a:solidFill>
                <a:latin typeface="Space Grotesk" pitchFamily="34" charset="0"/>
                <a:ea typeface="Space Grotesk" pitchFamily="34" charset="-122"/>
                <a:cs typeface="Space Grotesk" pitchFamily="34" charset="-120"/>
              </a:rPr>
              <a:t>Đầu tư vào kit và dữ liệu,</a:t>
            </a:r>
            <a:endParaRPr lang="en-US" sz="4600" dirty="0"/>
          </a:p>
          <a:p>
            <a:pPr algn="l" indent="0" marL="0">
              <a:lnSpc>
                <a:spcPts val="5382"/>
              </a:lnSpc>
              <a:buNone/>
            </a:pPr>
            <a:r>
              <a:rPr lang="en-US" sz="4600" b="1" dirty="0">
                <a:solidFill>
                  <a:srgbClr val="111111"/>
                </a:solidFill>
                <a:latin typeface="Space Grotesk" pitchFamily="34" charset="0"/>
                <a:ea typeface="Space Grotesk" pitchFamily="34" charset="-122"/>
                <a:cs typeface="Space Grotesk" pitchFamily="34" charset="-120"/>
              </a:rPr>
              <a:t>không viết harness mới</a:t>
            </a:r>
            <a:endParaRPr lang="en-US" sz="4600" dirty="0"/>
          </a:p>
        </p:txBody>
      </p:sp>
      <p:sp>
        <p:nvSpPr>
          <p:cNvPr id="18" name="Text 16"/>
          <p:cNvSpPr txBox="1"/>
          <p:nvPr/>
        </p:nvSpPr>
        <p:spPr>
          <a:xfrm>
            <a:off x="609600" y="3797300"/>
            <a:ext cx="7112000" cy="355600"/>
          </a:xfrm>
          <a:prstGeom prst="rect">
            <a:avLst/>
          </a:prstGeom>
          <a:noFill/>
          <a:ln/>
        </p:spPr>
        <p:txBody>
          <a:bodyPr wrap="square" lIns="0" tIns="0" rIns="0" bIns="0" rtlCol="0" anchor="t"/>
          <a:lstStyle/>
          <a:p>
            <a:pPr algn="l" indent="0" marL="0">
              <a:buNone/>
            </a:pPr>
            <a:r>
              <a:rPr lang="en-US" sz="1700" dirty="0">
                <a:solidFill>
                  <a:srgbClr val="6B6B6B"/>
                </a:solidFill>
                <a:latin typeface="Inter" pitchFamily="34" charset="0"/>
                <a:ea typeface="Inter" pitchFamily="34" charset="-122"/>
                <a:cs typeface="Inter" pitchFamily="34" charset="-120"/>
              </a:rPr>
              <a:t>Đề xuất định hướng đầu tư AI trong phát triển phần mềm — Tổ chức</a:t>
            </a:r>
            <a:endParaRPr lang="en-US" sz="1700" dirty="0"/>
          </a:p>
        </p:txBody>
      </p:sp>
      <p:sp>
        <p:nvSpPr>
          <p:cNvPr id="19" name="Text 17"/>
          <p:cNvSpPr txBox="1"/>
          <p:nvPr/>
        </p:nvSpPr>
        <p:spPr>
          <a:xfrm>
            <a:off x="609600" y="4381500"/>
            <a:ext cx="23749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Đề xuất · chưa được duyệt</a:t>
            </a:r>
            <a:endParaRPr lang="en-US" sz="1100" dirty="0"/>
          </a:p>
        </p:txBody>
      </p:sp>
      <p:sp>
        <p:nvSpPr>
          <p:cNvPr id="20" name="Text 18"/>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01 / 19</a:t>
            </a:r>
            <a:endParaRPr lang="en-US" sz="900" dirty="0"/>
          </a:p>
        </p:txBody>
      </p:sp>
      <p:sp>
        <p:nvSpPr>
          <p:cNvPr id="21" name="Shape 19"/>
          <p:cNvSpPr/>
          <p:nvPr/>
        </p:nvSpPr>
        <p:spPr>
          <a:xfrm>
            <a:off x="0" y="6838950"/>
            <a:ext cx="641684" cy="19050"/>
          </a:xfrm>
          <a:prstGeom prst="rect">
            <a:avLst/>
          </a:prstGeom>
          <a:solidFill>
            <a:srgbClr val="1E2BF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EXECUTIVE SUMMARY</a:t>
            </a:r>
            <a:endParaRPr lang="en-US" sz="1100" dirty="0"/>
          </a:p>
        </p:txBody>
      </p:sp>
      <p:sp>
        <p:nvSpPr>
          <p:cNvPr id="3" name="Text 1"/>
          <p:cNvSpPr txBox="1"/>
          <p:nvPr/>
        </p:nvSpPr>
        <p:spPr>
          <a:xfrm>
            <a:off x="9442450" y="412750"/>
            <a:ext cx="21399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Đề xuất · chưa được duyệt</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Mua harness và LLM; đầu tư vào kit và dữ liệu AI-ready</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02 / 19</a:t>
            </a:r>
            <a:endParaRPr lang="en-US" sz="900" dirty="0"/>
          </a:p>
        </p:txBody>
      </p:sp>
      <p:sp>
        <p:nvSpPr>
          <p:cNvPr id="7" name="Shape 5"/>
          <p:cNvSpPr/>
          <p:nvPr/>
        </p:nvSpPr>
        <p:spPr>
          <a:xfrm>
            <a:off x="0" y="6838950"/>
            <a:ext cx="1283368" cy="19050"/>
          </a:xfrm>
          <a:prstGeom prst="rect">
            <a:avLst/>
          </a:prstGeom>
          <a:solidFill>
            <a:srgbClr val="1E2BFA"/>
          </a:solidFill>
          <a:ln/>
        </p:spPr>
      </p:sp>
      <p:sp>
        <p:nvSpPr>
          <p:cNvPr id="8" name="Shape 6"/>
          <p:cNvSpPr/>
          <p:nvPr/>
        </p:nvSpPr>
        <p:spPr>
          <a:xfrm>
            <a:off x="609600" y="1816100"/>
            <a:ext cx="4762500" cy="4064000"/>
          </a:xfrm>
          <a:prstGeom prst="roundRect">
            <a:avLst>
              <a:gd name="adj" fmla="val 1875"/>
            </a:avLst>
          </a:prstGeom>
          <a:solidFill>
            <a:srgbClr val="EBE9E8"/>
          </a:solidFill>
          <a:ln/>
        </p:spPr>
      </p:sp>
      <p:sp>
        <p:nvSpPr>
          <p:cNvPr id="9" name="Text 7"/>
          <p:cNvSpPr txBox="1"/>
          <p:nvPr/>
        </p:nvSpPr>
        <p:spPr>
          <a:xfrm>
            <a:off x="863600" y="2095500"/>
            <a:ext cx="42545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LUẬN ĐIỂM</a:t>
            </a:r>
            <a:endParaRPr lang="en-US" sz="1000" dirty="0"/>
          </a:p>
        </p:txBody>
      </p:sp>
      <p:sp>
        <p:nvSpPr>
          <p:cNvPr id="10" name="Text 8"/>
          <p:cNvSpPr txBox="1"/>
          <p:nvPr/>
        </p:nvSpPr>
        <p:spPr>
          <a:xfrm>
            <a:off x="863600" y="2400300"/>
            <a:ext cx="4254500" cy="1968500"/>
          </a:xfrm>
          <a:prstGeom prst="rect">
            <a:avLst/>
          </a:prstGeom>
          <a:noFill/>
          <a:ln/>
        </p:spPr>
        <p:txBody>
          <a:bodyPr wrap="square" lIns="0" tIns="0" rIns="0" bIns="0" rtlCol="0" anchor="t"/>
          <a:lstStyle/>
          <a:p>
            <a:pPr algn="l" indent="0" marL="0">
              <a:lnSpc>
                <a:spcPts val="2990"/>
              </a:lnSpc>
              <a:buNone/>
            </a:pPr>
            <a:r>
              <a:rPr lang="en-US" sz="2300" dirty="0">
                <a:solidFill>
                  <a:srgbClr val="111111"/>
                </a:solidFill>
                <a:latin typeface="Space Grotesk" pitchFamily="34" charset="0"/>
                <a:ea typeface="Space Grotesk" pitchFamily="34" charset="-122"/>
                <a:cs typeface="Space Grotesk" pitchFamily="34" charset="-120"/>
              </a:rPr>
              <a:t>Harness và LLM thì mua. Đầu tư vào kit và dữ liệu AI-ready — thứ bên ngoài không có.</a:t>
            </a:r>
            <a:endParaRPr lang="en-US" sz="2300" dirty="0"/>
          </a:p>
        </p:txBody>
      </p:sp>
      <p:sp>
        <p:nvSpPr>
          <p:cNvPr id="11" name="Text 9"/>
          <p:cNvSpPr txBox="1"/>
          <p:nvPr/>
        </p:nvSpPr>
        <p:spPr>
          <a:xfrm>
            <a:off x="863600" y="4546600"/>
            <a:ext cx="4254500" cy="1079500"/>
          </a:xfrm>
          <a:prstGeom prst="rect">
            <a:avLst/>
          </a:prstGeom>
          <a:noFill/>
          <a:ln/>
        </p:spPr>
        <p:txBody>
          <a:bodyPr wrap="square" lIns="0" tIns="0" rIns="0" bIns="0" rtlCol="0" anchor="t"/>
          <a:lstStyle/>
          <a:p>
            <a:pPr algn="l" indent="0" marL="0">
              <a:lnSpc>
                <a:spcPts val="1875"/>
              </a:lnSpc>
              <a:buNone/>
            </a:pPr>
            <a:r>
              <a:rPr lang="en-US" sz="1250" dirty="0">
                <a:solidFill>
                  <a:srgbClr val="6B6B6B"/>
                </a:solidFill>
                <a:latin typeface="Inter" pitchFamily="34" charset="0"/>
                <a:ea typeface="Inter" pitchFamily="34" charset="-122"/>
                <a:cs typeface="Inter" pitchFamily="34" charset="-120"/>
              </a:rPr>
              <a:t>Một agent làm việc thật = harness + LLM + kit + infrastructure. Platform cũng là bốn phần này, chỉ khác ở chỗ tự viết lại harness.</a:t>
            </a:r>
            <a:endParaRPr lang="en-US" sz="1250" dirty="0"/>
          </a:p>
        </p:txBody>
      </p:sp>
      <p:sp>
        <p:nvSpPr>
          <p:cNvPr id="12" name="Text 10"/>
          <p:cNvSpPr txBox="1"/>
          <p:nvPr/>
        </p:nvSpPr>
        <p:spPr>
          <a:xfrm>
            <a:off x="5778500" y="1905000"/>
            <a:ext cx="533400" cy="368300"/>
          </a:xfrm>
          <a:prstGeom prst="rect">
            <a:avLst/>
          </a:prstGeom>
          <a:noFill/>
          <a:ln/>
        </p:spPr>
        <p:txBody>
          <a:bodyPr wrap="square" lIns="0" tIns="0" rIns="0" bIns="0" rtlCol="0" anchor="t"/>
          <a:lstStyle/>
          <a:p>
            <a:pPr algn="l" indent="0" marL="0">
              <a:buNone/>
            </a:pPr>
            <a:r>
              <a:rPr lang="en-US" sz="2200" b="1" dirty="0">
                <a:solidFill>
                  <a:srgbClr val="1E2BFA"/>
                </a:solidFill>
                <a:latin typeface="Space Grotesk" pitchFamily="34" charset="0"/>
                <a:ea typeface="Space Grotesk" pitchFamily="34" charset="-122"/>
                <a:cs typeface="Space Grotesk" pitchFamily="34" charset="-120"/>
              </a:rPr>
              <a:t>01</a:t>
            </a:r>
            <a:endParaRPr lang="en-US" sz="2200" dirty="0"/>
          </a:p>
        </p:txBody>
      </p:sp>
      <p:sp>
        <p:nvSpPr>
          <p:cNvPr id="13" name="Text 11"/>
          <p:cNvSpPr txBox="1"/>
          <p:nvPr/>
        </p:nvSpPr>
        <p:spPr>
          <a:xfrm>
            <a:off x="6426200" y="1917700"/>
            <a:ext cx="515620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Harness và LLM thì mua</a:t>
            </a:r>
            <a:endParaRPr lang="en-US" sz="1600" dirty="0"/>
          </a:p>
        </p:txBody>
      </p:sp>
      <p:sp>
        <p:nvSpPr>
          <p:cNvPr id="14" name="Text 12"/>
          <p:cNvSpPr txBox="1"/>
          <p:nvPr/>
        </p:nvSpPr>
        <p:spPr>
          <a:xfrm>
            <a:off x="6426200" y="2222500"/>
            <a:ext cx="5156200" cy="5334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Chọn từ vendor lớn hoặc open source đang phát triển nhanh.</a:t>
            </a:r>
            <a:endParaRPr lang="en-US" sz="1300" dirty="0"/>
          </a:p>
        </p:txBody>
      </p:sp>
      <p:sp>
        <p:nvSpPr>
          <p:cNvPr id="15" name="Text 13"/>
          <p:cNvSpPr txBox="1"/>
          <p:nvPr/>
        </p:nvSpPr>
        <p:spPr>
          <a:xfrm>
            <a:off x="5778500" y="2908300"/>
            <a:ext cx="533400" cy="368300"/>
          </a:xfrm>
          <a:prstGeom prst="rect">
            <a:avLst/>
          </a:prstGeom>
          <a:noFill/>
          <a:ln/>
        </p:spPr>
        <p:txBody>
          <a:bodyPr wrap="square" lIns="0" tIns="0" rIns="0" bIns="0" rtlCol="0" anchor="t"/>
          <a:lstStyle/>
          <a:p>
            <a:pPr algn="l" indent="0" marL="0">
              <a:buNone/>
            </a:pPr>
            <a:r>
              <a:rPr lang="en-US" sz="2200" b="1" dirty="0">
                <a:solidFill>
                  <a:srgbClr val="1E2BFA"/>
                </a:solidFill>
                <a:latin typeface="Space Grotesk" pitchFamily="34" charset="0"/>
                <a:ea typeface="Space Grotesk" pitchFamily="34" charset="-122"/>
                <a:cs typeface="Space Grotesk" pitchFamily="34" charset="-120"/>
              </a:rPr>
              <a:t>02</a:t>
            </a:r>
            <a:endParaRPr lang="en-US" sz="2200" dirty="0"/>
          </a:p>
        </p:txBody>
      </p:sp>
      <p:sp>
        <p:nvSpPr>
          <p:cNvPr id="16" name="Text 14"/>
          <p:cNvSpPr txBox="1"/>
          <p:nvPr/>
        </p:nvSpPr>
        <p:spPr>
          <a:xfrm>
            <a:off x="6426200" y="2921000"/>
            <a:ext cx="515620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Đầu tư vào kit và data source AI-ready</a:t>
            </a:r>
            <a:endParaRPr lang="en-US" sz="1600" dirty="0"/>
          </a:p>
        </p:txBody>
      </p:sp>
      <p:sp>
        <p:nvSpPr>
          <p:cNvPr id="17" name="Text 15"/>
          <p:cNvSpPr txBox="1"/>
          <p:nvPr/>
        </p:nvSpPr>
        <p:spPr>
          <a:xfrm>
            <a:off x="6426200" y="3225800"/>
            <a:ext cx="5156200" cy="5334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Trích xuất tài nguyên nội bộ — thứ bên ngoài không có.</a:t>
            </a:r>
            <a:endParaRPr lang="en-US" sz="1300" dirty="0"/>
          </a:p>
        </p:txBody>
      </p:sp>
      <p:sp>
        <p:nvSpPr>
          <p:cNvPr id="18" name="Text 16"/>
          <p:cNvSpPr txBox="1"/>
          <p:nvPr/>
        </p:nvSpPr>
        <p:spPr>
          <a:xfrm>
            <a:off x="5778500" y="3911600"/>
            <a:ext cx="533400" cy="368300"/>
          </a:xfrm>
          <a:prstGeom prst="rect">
            <a:avLst/>
          </a:prstGeom>
          <a:noFill/>
          <a:ln/>
        </p:spPr>
        <p:txBody>
          <a:bodyPr wrap="square" lIns="0" tIns="0" rIns="0" bIns="0" rtlCol="0" anchor="t"/>
          <a:lstStyle/>
          <a:p>
            <a:pPr algn="l" indent="0" marL="0">
              <a:buNone/>
            </a:pPr>
            <a:r>
              <a:rPr lang="en-US" sz="2200" b="1" dirty="0">
                <a:solidFill>
                  <a:srgbClr val="1E2BFA"/>
                </a:solidFill>
                <a:latin typeface="Space Grotesk" pitchFamily="34" charset="0"/>
                <a:ea typeface="Space Grotesk" pitchFamily="34" charset="-122"/>
                <a:cs typeface="Space Grotesk" pitchFamily="34" charset="-120"/>
              </a:rPr>
              <a:t>03</a:t>
            </a:r>
            <a:endParaRPr lang="en-US" sz="2200" dirty="0"/>
          </a:p>
        </p:txBody>
      </p:sp>
      <p:sp>
        <p:nvSpPr>
          <p:cNvPr id="19" name="Text 17"/>
          <p:cNvSpPr txBox="1"/>
          <p:nvPr/>
        </p:nvSpPr>
        <p:spPr>
          <a:xfrm>
            <a:off x="6426200" y="3924300"/>
            <a:ext cx="515620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Viết trung lập với harness</a:t>
            </a:r>
            <a:endParaRPr lang="en-US" sz="1600" dirty="0"/>
          </a:p>
        </p:txBody>
      </p:sp>
      <p:sp>
        <p:nvSpPr>
          <p:cNvPr id="20" name="Text 18"/>
          <p:cNvSpPr txBox="1"/>
          <p:nvPr/>
        </p:nvSpPr>
        <p:spPr>
          <a:xfrm>
            <a:off x="6426200" y="4229100"/>
            <a:ext cx="5156200" cy="5334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Gắn vào harness nào cũng được, kể cả khi chạy headless trên cloud.</a:t>
            </a:r>
            <a:endParaRPr lang="en-US" sz="1300" dirty="0"/>
          </a:p>
        </p:txBody>
      </p:sp>
      <p:sp>
        <p:nvSpPr>
          <p:cNvPr id="21" name="Text 19"/>
          <p:cNvSpPr txBox="1"/>
          <p:nvPr/>
        </p:nvSpPr>
        <p:spPr>
          <a:xfrm>
            <a:off x="5778500" y="4914900"/>
            <a:ext cx="533400" cy="368300"/>
          </a:xfrm>
          <a:prstGeom prst="rect">
            <a:avLst/>
          </a:prstGeom>
          <a:noFill/>
          <a:ln/>
        </p:spPr>
        <p:txBody>
          <a:bodyPr wrap="square" lIns="0" tIns="0" rIns="0" bIns="0" rtlCol="0" anchor="t"/>
          <a:lstStyle/>
          <a:p>
            <a:pPr algn="l" indent="0" marL="0">
              <a:buNone/>
            </a:pPr>
            <a:r>
              <a:rPr lang="en-US" sz="2200" b="1" dirty="0">
                <a:solidFill>
                  <a:srgbClr val="1E2BFA"/>
                </a:solidFill>
                <a:latin typeface="Space Grotesk" pitchFamily="34" charset="0"/>
                <a:ea typeface="Space Grotesk" pitchFamily="34" charset="-122"/>
                <a:cs typeface="Space Grotesk" pitchFamily="34" charset="-120"/>
              </a:rPr>
              <a:t>04</a:t>
            </a:r>
            <a:endParaRPr lang="en-US" sz="2200" dirty="0"/>
          </a:p>
        </p:txBody>
      </p:sp>
      <p:sp>
        <p:nvSpPr>
          <p:cNvPr id="22" name="Text 20"/>
          <p:cNvSpPr txBox="1"/>
          <p:nvPr/>
        </p:nvSpPr>
        <p:spPr>
          <a:xfrm>
            <a:off x="6426200" y="4927600"/>
            <a:ext cx="515620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Platform thu hẹp lại, không dừng hẳn</a:t>
            </a:r>
            <a:endParaRPr lang="en-US" sz="1600" dirty="0"/>
          </a:p>
        </p:txBody>
      </p:sp>
      <p:sp>
        <p:nvSpPr>
          <p:cNvPr id="23" name="Text 21"/>
          <p:cNvSpPr txBox="1"/>
          <p:nvPr/>
        </p:nvSpPr>
        <p:spPr>
          <a:xfrm>
            <a:off x="6426200" y="5232400"/>
            <a:ext cx="5156200" cy="5334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Giữ data layer và governance layer, bỏ phần tự viết lại orchestration.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01 · BỐI CẢNH</a:t>
            </a:r>
            <a:endParaRPr lang="en-US" sz="1100" dirty="0"/>
          </a:p>
        </p:txBody>
      </p:sp>
      <p:sp>
        <p:nvSpPr>
          <p:cNvPr id="3" name="Text 1"/>
          <p:cNvSpPr txBox="1"/>
          <p:nvPr/>
        </p:nvSpPr>
        <p:spPr>
          <a:xfrm>
            <a:off x="9658350" y="412750"/>
            <a:ext cx="1924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Thang automation L1–L5</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Mục tiêu kỳ sau: thiết kế đạt L3, coding và testing đạt L4</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03 / 19</a:t>
            </a:r>
            <a:endParaRPr lang="en-US" sz="900" dirty="0"/>
          </a:p>
        </p:txBody>
      </p:sp>
      <p:sp>
        <p:nvSpPr>
          <p:cNvPr id="7" name="Shape 5"/>
          <p:cNvSpPr/>
          <p:nvPr/>
        </p:nvSpPr>
        <p:spPr>
          <a:xfrm>
            <a:off x="0" y="6838950"/>
            <a:ext cx="1925053" cy="19050"/>
          </a:xfrm>
          <a:prstGeom prst="rect">
            <a:avLst/>
          </a:prstGeom>
          <a:solidFill>
            <a:srgbClr val="1E2BFA"/>
          </a:solidFill>
          <a:ln/>
        </p:spPr>
      </p:sp>
      <p:sp>
        <p:nvSpPr>
          <p:cNvPr id="8" name="Shape 6"/>
          <p:cNvSpPr/>
          <p:nvPr/>
        </p:nvSpPr>
        <p:spPr>
          <a:xfrm>
            <a:off x="609600" y="1905000"/>
            <a:ext cx="5956300" cy="660400"/>
          </a:xfrm>
          <a:prstGeom prst="roundRect">
            <a:avLst>
              <a:gd name="adj" fmla="val 13462"/>
            </a:avLst>
          </a:prstGeom>
          <a:solidFill>
            <a:srgbClr val="F4F2E8"/>
          </a:solidFill>
          <a:ln w="9525">
            <a:solidFill>
              <a:srgbClr val="D0D1EB"/>
            </a:solidFill>
            <a:prstDash val="solid"/>
          </a:ln>
        </p:spPr>
      </p:sp>
      <p:sp>
        <p:nvSpPr>
          <p:cNvPr id="9" name="Text 7"/>
          <p:cNvSpPr txBox="1"/>
          <p:nvPr/>
        </p:nvSpPr>
        <p:spPr>
          <a:xfrm>
            <a:off x="774700" y="1905000"/>
            <a:ext cx="571500" cy="660400"/>
          </a:xfrm>
          <a:prstGeom prst="rect">
            <a:avLst/>
          </a:prstGeom>
          <a:noFill/>
          <a:ln/>
        </p:spPr>
        <p:txBody>
          <a:bodyPr wrap="square" lIns="0" tIns="0" rIns="0" bIns="0" rtlCol="0" anchor="ctr"/>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L5</a:t>
            </a:r>
            <a:endParaRPr lang="en-US" sz="2000" dirty="0"/>
          </a:p>
        </p:txBody>
      </p:sp>
      <p:sp>
        <p:nvSpPr>
          <p:cNvPr id="10" name="Text 8"/>
          <p:cNvSpPr txBox="1"/>
          <p:nvPr/>
        </p:nvSpPr>
        <p:spPr>
          <a:xfrm>
            <a:off x="1403350" y="2006600"/>
            <a:ext cx="4064000" cy="2413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Autonomous</a:t>
            </a:r>
            <a:endParaRPr lang="en-US" sz="1400" dirty="0"/>
          </a:p>
        </p:txBody>
      </p:sp>
      <p:sp>
        <p:nvSpPr>
          <p:cNvPr id="11" name="Text 9"/>
          <p:cNvSpPr txBox="1"/>
          <p:nvPr/>
        </p:nvSpPr>
        <p:spPr>
          <a:xfrm>
            <a:off x="1403350" y="2260600"/>
            <a:ext cx="4318000" cy="2286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Nhận mục tiêu, AI tự lập kế hoạch, tự làm, tự báo cáo</a:t>
            </a:r>
            <a:endParaRPr lang="en-US" sz="1200" dirty="0"/>
          </a:p>
        </p:txBody>
      </p:sp>
      <p:sp>
        <p:nvSpPr>
          <p:cNvPr id="12" name="Text 10"/>
          <p:cNvSpPr txBox="1"/>
          <p:nvPr/>
        </p:nvSpPr>
        <p:spPr>
          <a:xfrm>
            <a:off x="5524500" y="1905000"/>
            <a:ext cx="876300" cy="660400"/>
          </a:xfrm>
          <a:prstGeom prst="rect">
            <a:avLst/>
          </a:prstGeom>
          <a:noFill/>
          <a:ln/>
        </p:spPr>
        <p:txBody>
          <a:bodyPr wrap="square" lIns="0" tIns="0" rIns="0" bIns="0" rtlCol="0" anchor="ctr"/>
          <a:lstStyle/>
          <a:p>
            <a:pPr algn="r" indent="0" marL="0">
              <a:buNone/>
            </a:pPr>
            <a:r>
              <a:rPr lang="en-US" sz="900" b="1" spc="100" kern="0" dirty="0">
                <a:solidFill>
                  <a:srgbClr val="1E2BFA"/>
                </a:solidFill>
                <a:latin typeface="Space Grotesk" pitchFamily="34" charset="0"/>
                <a:ea typeface="Space Grotesk" pitchFamily="34" charset="-122"/>
                <a:cs typeface="Space Grotesk" pitchFamily="34" charset="-120"/>
              </a:rPr>
              <a:t>AI</a:t>
            </a:r>
            <a:endParaRPr lang="en-US" sz="900" dirty="0"/>
          </a:p>
        </p:txBody>
      </p:sp>
      <p:sp>
        <p:nvSpPr>
          <p:cNvPr id="13" name="Shape 11"/>
          <p:cNvSpPr/>
          <p:nvPr/>
        </p:nvSpPr>
        <p:spPr>
          <a:xfrm>
            <a:off x="609600" y="2654300"/>
            <a:ext cx="5956300" cy="660400"/>
          </a:xfrm>
          <a:prstGeom prst="roundRect">
            <a:avLst>
              <a:gd name="adj" fmla="val 13462"/>
            </a:avLst>
          </a:prstGeom>
          <a:solidFill>
            <a:srgbClr val="DCDBEA"/>
          </a:solidFill>
          <a:ln w="9525">
            <a:solidFill>
              <a:srgbClr val="D0D1EB"/>
            </a:solidFill>
            <a:prstDash val="solid"/>
          </a:ln>
        </p:spPr>
      </p:sp>
      <p:sp>
        <p:nvSpPr>
          <p:cNvPr id="14" name="Text 12"/>
          <p:cNvSpPr txBox="1"/>
          <p:nvPr/>
        </p:nvSpPr>
        <p:spPr>
          <a:xfrm>
            <a:off x="774700" y="2654300"/>
            <a:ext cx="571500" cy="660400"/>
          </a:xfrm>
          <a:prstGeom prst="rect">
            <a:avLst/>
          </a:prstGeom>
          <a:noFill/>
          <a:ln/>
        </p:spPr>
        <p:txBody>
          <a:bodyPr wrap="square" lIns="0" tIns="0" rIns="0" bIns="0" rtlCol="0" anchor="ctr"/>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L4</a:t>
            </a:r>
            <a:endParaRPr lang="en-US" sz="2000" dirty="0"/>
          </a:p>
        </p:txBody>
      </p:sp>
      <p:sp>
        <p:nvSpPr>
          <p:cNvPr id="15" name="Text 13"/>
          <p:cNvSpPr txBox="1"/>
          <p:nvPr/>
        </p:nvSpPr>
        <p:spPr>
          <a:xfrm>
            <a:off x="1403350" y="2755900"/>
            <a:ext cx="4064000" cy="2413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Approval</a:t>
            </a:r>
            <a:endParaRPr lang="en-US" sz="1400" dirty="0"/>
          </a:p>
        </p:txBody>
      </p:sp>
      <p:sp>
        <p:nvSpPr>
          <p:cNvPr id="16" name="Text 14"/>
          <p:cNvSpPr txBox="1"/>
          <p:nvPr/>
        </p:nvSpPr>
        <p:spPr>
          <a:xfrm>
            <a:off x="1403350" y="3009900"/>
            <a:ext cx="4318000" cy="2286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AI tự đề xuất và làm cả chuỗi việc, người chỉ duyệt</a:t>
            </a:r>
            <a:endParaRPr lang="en-US" sz="1200" dirty="0"/>
          </a:p>
        </p:txBody>
      </p:sp>
      <p:sp>
        <p:nvSpPr>
          <p:cNvPr id="17" name="Text 15"/>
          <p:cNvSpPr txBox="1"/>
          <p:nvPr/>
        </p:nvSpPr>
        <p:spPr>
          <a:xfrm>
            <a:off x="5524500" y="2654300"/>
            <a:ext cx="876300" cy="660400"/>
          </a:xfrm>
          <a:prstGeom prst="rect">
            <a:avLst/>
          </a:prstGeom>
          <a:noFill/>
          <a:ln/>
        </p:spPr>
        <p:txBody>
          <a:bodyPr wrap="square" lIns="0" tIns="0" rIns="0" bIns="0" rtlCol="0" anchor="ctr"/>
          <a:lstStyle/>
          <a:p>
            <a:pPr algn="r" indent="0" marL="0">
              <a:buNone/>
            </a:pPr>
            <a:r>
              <a:rPr lang="en-US" sz="900" b="1" spc="100" kern="0" dirty="0">
                <a:solidFill>
                  <a:srgbClr val="1E2BFA"/>
                </a:solidFill>
                <a:latin typeface="Space Grotesk" pitchFamily="34" charset="0"/>
                <a:ea typeface="Space Grotesk" pitchFamily="34" charset="-122"/>
                <a:cs typeface="Space Grotesk" pitchFamily="34" charset="-120"/>
              </a:rPr>
              <a:t>AI</a:t>
            </a:r>
            <a:endParaRPr lang="en-US" sz="900" dirty="0"/>
          </a:p>
        </p:txBody>
      </p:sp>
      <p:sp>
        <p:nvSpPr>
          <p:cNvPr id="18" name="Shape 16"/>
          <p:cNvSpPr/>
          <p:nvPr/>
        </p:nvSpPr>
        <p:spPr>
          <a:xfrm>
            <a:off x="609600" y="3403600"/>
            <a:ext cx="5956300" cy="660400"/>
          </a:xfrm>
          <a:prstGeom prst="roundRect">
            <a:avLst>
              <a:gd name="adj" fmla="val 13462"/>
            </a:avLst>
          </a:prstGeom>
          <a:solidFill>
            <a:srgbClr val="DCDBEA"/>
          </a:solidFill>
          <a:ln w="9525">
            <a:solidFill>
              <a:srgbClr val="D0D1EB"/>
            </a:solidFill>
            <a:prstDash val="solid"/>
          </a:ln>
        </p:spPr>
      </p:sp>
      <p:sp>
        <p:nvSpPr>
          <p:cNvPr id="19" name="Text 17"/>
          <p:cNvSpPr txBox="1"/>
          <p:nvPr/>
        </p:nvSpPr>
        <p:spPr>
          <a:xfrm>
            <a:off x="774700" y="3403600"/>
            <a:ext cx="571500" cy="660400"/>
          </a:xfrm>
          <a:prstGeom prst="rect">
            <a:avLst/>
          </a:prstGeom>
          <a:noFill/>
          <a:ln/>
        </p:spPr>
        <p:txBody>
          <a:bodyPr wrap="square" lIns="0" tIns="0" rIns="0" bIns="0" rtlCol="0" anchor="ctr"/>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L3</a:t>
            </a:r>
            <a:endParaRPr lang="en-US" sz="2000" dirty="0"/>
          </a:p>
        </p:txBody>
      </p:sp>
      <p:sp>
        <p:nvSpPr>
          <p:cNvPr id="20" name="Text 18"/>
          <p:cNvSpPr txBox="1"/>
          <p:nvPr/>
        </p:nvSpPr>
        <p:spPr>
          <a:xfrm>
            <a:off x="1403350" y="3505200"/>
            <a:ext cx="4064000" cy="2413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Collaborative</a:t>
            </a:r>
            <a:endParaRPr lang="en-US" sz="1400" dirty="0"/>
          </a:p>
        </p:txBody>
      </p:sp>
      <p:sp>
        <p:nvSpPr>
          <p:cNvPr id="21" name="Text 19"/>
          <p:cNvSpPr txBox="1"/>
          <p:nvPr/>
        </p:nvSpPr>
        <p:spPr>
          <a:xfrm>
            <a:off x="1403350" y="3759200"/>
            <a:ext cx="4318000" cy="2286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AI vừa làm vừa hỏi người, ra sản phẩm từ mục tiêu còn mơ hồ</a:t>
            </a:r>
            <a:endParaRPr lang="en-US" sz="1200" dirty="0"/>
          </a:p>
        </p:txBody>
      </p:sp>
      <p:sp>
        <p:nvSpPr>
          <p:cNvPr id="22" name="Text 20"/>
          <p:cNvSpPr txBox="1"/>
          <p:nvPr/>
        </p:nvSpPr>
        <p:spPr>
          <a:xfrm>
            <a:off x="5524500" y="3403600"/>
            <a:ext cx="876300" cy="660400"/>
          </a:xfrm>
          <a:prstGeom prst="rect">
            <a:avLst/>
          </a:prstGeom>
          <a:noFill/>
          <a:ln/>
        </p:spPr>
        <p:txBody>
          <a:bodyPr wrap="square" lIns="0" tIns="0" rIns="0" bIns="0" rtlCol="0" anchor="ctr"/>
          <a:lstStyle/>
          <a:p>
            <a:pPr algn="r" indent="0" marL="0">
              <a:buNone/>
            </a:pPr>
            <a:r>
              <a:rPr lang="en-US" sz="900" b="1" spc="100" kern="0" dirty="0">
                <a:solidFill>
                  <a:srgbClr val="1E2BFA"/>
                </a:solidFill>
                <a:latin typeface="Space Grotesk" pitchFamily="34" charset="0"/>
                <a:ea typeface="Space Grotesk" pitchFamily="34" charset="-122"/>
                <a:cs typeface="Space Grotesk" pitchFamily="34" charset="-120"/>
              </a:rPr>
              <a:t>RANH GIỚI</a:t>
            </a:r>
            <a:endParaRPr lang="en-US" sz="900" dirty="0"/>
          </a:p>
        </p:txBody>
      </p:sp>
      <p:sp>
        <p:nvSpPr>
          <p:cNvPr id="23" name="Shape 21"/>
          <p:cNvSpPr/>
          <p:nvPr/>
        </p:nvSpPr>
        <p:spPr>
          <a:xfrm>
            <a:off x="609600" y="4152900"/>
            <a:ext cx="5956300" cy="660400"/>
          </a:xfrm>
          <a:prstGeom prst="roundRect">
            <a:avLst>
              <a:gd name="adj" fmla="val 13462"/>
            </a:avLst>
          </a:prstGeom>
          <a:solidFill>
            <a:srgbClr val="F4F2E8"/>
          </a:solidFill>
          <a:ln w="9525">
            <a:solidFill>
              <a:srgbClr val="D0D1EB"/>
            </a:solidFill>
            <a:prstDash val="solid"/>
          </a:ln>
        </p:spPr>
      </p:sp>
      <p:sp>
        <p:nvSpPr>
          <p:cNvPr id="24" name="Text 22"/>
          <p:cNvSpPr txBox="1"/>
          <p:nvPr/>
        </p:nvSpPr>
        <p:spPr>
          <a:xfrm>
            <a:off x="774700" y="4152900"/>
            <a:ext cx="571500" cy="660400"/>
          </a:xfrm>
          <a:prstGeom prst="rect">
            <a:avLst/>
          </a:prstGeom>
          <a:noFill/>
          <a:ln/>
        </p:spPr>
        <p:txBody>
          <a:bodyPr wrap="square" lIns="0" tIns="0" rIns="0" bIns="0" rtlCol="0" anchor="ctr"/>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L2</a:t>
            </a:r>
            <a:endParaRPr lang="en-US" sz="2000" dirty="0"/>
          </a:p>
        </p:txBody>
      </p:sp>
      <p:sp>
        <p:nvSpPr>
          <p:cNvPr id="25" name="Text 23"/>
          <p:cNvSpPr txBox="1"/>
          <p:nvPr/>
        </p:nvSpPr>
        <p:spPr>
          <a:xfrm>
            <a:off x="1403350" y="4254500"/>
            <a:ext cx="4064000" cy="2413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Instructed</a:t>
            </a:r>
            <a:endParaRPr lang="en-US" sz="1400" dirty="0"/>
          </a:p>
        </p:txBody>
      </p:sp>
      <p:sp>
        <p:nvSpPr>
          <p:cNvPr id="26" name="Text 24"/>
          <p:cNvSpPr txBox="1"/>
          <p:nvPr/>
        </p:nvSpPr>
        <p:spPr>
          <a:xfrm>
            <a:off x="1403350" y="4508500"/>
            <a:ext cx="4318000" cy="2286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AI làm theo chỉ thị cụ thể</a:t>
            </a:r>
            <a:endParaRPr lang="en-US" sz="1200" dirty="0"/>
          </a:p>
        </p:txBody>
      </p:sp>
      <p:sp>
        <p:nvSpPr>
          <p:cNvPr id="27" name="Text 25"/>
          <p:cNvSpPr txBox="1"/>
          <p:nvPr/>
        </p:nvSpPr>
        <p:spPr>
          <a:xfrm>
            <a:off x="5524500" y="4152900"/>
            <a:ext cx="876300" cy="660400"/>
          </a:xfrm>
          <a:prstGeom prst="rect">
            <a:avLst/>
          </a:prstGeom>
          <a:noFill/>
          <a:ln/>
        </p:spPr>
        <p:txBody>
          <a:bodyPr wrap="square" lIns="0" tIns="0" rIns="0" bIns="0" rtlCol="0" anchor="ctr"/>
          <a:lstStyle/>
          <a:p>
            <a:pPr algn="r" indent="0" marL="0">
              <a:buNone/>
            </a:pPr>
            <a:r>
              <a:rPr lang="en-US" sz="900" b="1" spc="100" kern="0" dirty="0">
                <a:solidFill>
                  <a:srgbClr val="6B6B6B"/>
                </a:solidFill>
                <a:latin typeface="Space Grotesk" pitchFamily="34" charset="0"/>
                <a:ea typeface="Space Grotesk" pitchFamily="34" charset="-122"/>
                <a:cs typeface="Space Grotesk" pitchFamily="34" charset="-120"/>
              </a:rPr>
              <a:t>NGƯỜI</a:t>
            </a:r>
            <a:endParaRPr lang="en-US" sz="900" dirty="0"/>
          </a:p>
        </p:txBody>
      </p:sp>
      <p:sp>
        <p:nvSpPr>
          <p:cNvPr id="28" name="Shape 26"/>
          <p:cNvSpPr/>
          <p:nvPr/>
        </p:nvSpPr>
        <p:spPr>
          <a:xfrm>
            <a:off x="609600" y="4902200"/>
            <a:ext cx="5956300" cy="660400"/>
          </a:xfrm>
          <a:prstGeom prst="roundRect">
            <a:avLst>
              <a:gd name="adj" fmla="val 13462"/>
            </a:avLst>
          </a:prstGeom>
          <a:solidFill>
            <a:srgbClr val="F4F2E8"/>
          </a:solidFill>
          <a:ln w="9525">
            <a:solidFill>
              <a:srgbClr val="D0D1EB"/>
            </a:solidFill>
            <a:prstDash val="solid"/>
          </a:ln>
        </p:spPr>
      </p:sp>
      <p:sp>
        <p:nvSpPr>
          <p:cNvPr id="29" name="Text 27"/>
          <p:cNvSpPr txBox="1"/>
          <p:nvPr/>
        </p:nvSpPr>
        <p:spPr>
          <a:xfrm>
            <a:off x="774700" y="4902200"/>
            <a:ext cx="571500" cy="660400"/>
          </a:xfrm>
          <a:prstGeom prst="rect">
            <a:avLst/>
          </a:prstGeom>
          <a:noFill/>
          <a:ln/>
        </p:spPr>
        <p:txBody>
          <a:bodyPr wrap="square" lIns="0" tIns="0" rIns="0" bIns="0" rtlCol="0" anchor="ctr"/>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L1</a:t>
            </a:r>
            <a:endParaRPr lang="en-US" sz="2000" dirty="0"/>
          </a:p>
        </p:txBody>
      </p:sp>
      <p:sp>
        <p:nvSpPr>
          <p:cNvPr id="30" name="Text 28"/>
          <p:cNvSpPr txBox="1"/>
          <p:nvPr/>
        </p:nvSpPr>
        <p:spPr>
          <a:xfrm>
            <a:off x="1403350" y="5003800"/>
            <a:ext cx="4064000" cy="2413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Assistive</a:t>
            </a:r>
            <a:endParaRPr lang="en-US" sz="1400" dirty="0"/>
          </a:p>
        </p:txBody>
      </p:sp>
      <p:sp>
        <p:nvSpPr>
          <p:cNvPr id="31" name="Text 29"/>
          <p:cNvSpPr txBox="1"/>
          <p:nvPr/>
        </p:nvSpPr>
        <p:spPr>
          <a:xfrm>
            <a:off x="1403350" y="5257800"/>
            <a:ext cx="4318000" cy="2286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AI hỗ trợ từng thao tác nhỏ</a:t>
            </a:r>
            <a:endParaRPr lang="en-US" sz="1200" dirty="0"/>
          </a:p>
        </p:txBody>
      </p:sp>
      <p:sp>
        <p:nvSpPr>
          <p:cNvPr id="32" name="Text 30"/>
          <p:cNvSpPr txBox="1"/>
          <p:nvPr/>
        </p:nvSpPr>
        <p:spPr>
          <a:xfrm>
            <a:off x="5524500" y="4902200"/>
            <a:ext cx="876300" cy="660400"/>
          </a:xfrm>
          <a:prstGeom prst="rect">
            <a:avLst/>
          </a:prstGeom>
          <a:noFill/>
          <a:ln/>
        </p:spPr>
        <p:txBody>
          <a:bodyPr wrap="square" lIns="0" tIns="0" rIns="0" bIns="0" rtlCol="0" anchor="ctr"/>
          <a:lstStyle/>
          <a:p>
            <a:pPr algn="r" indent="0" marL="0">
              <a:buNone/>
            </a:pPr>
            <a:r>
              <a:rPr lang="en-US" sz="900" b="1" spc="100" kern="0" dirty="0">
                <a:solidFill>
                  <a:srgbClr val="6B6B6B"/>
                </a:solidFill>
                <a:latin typeface="Space Grotesk" pitchFamily="34" charset="0"/>
                <a:ea typeface="Space Grotesk" pitchFamily="34" charset="-122"/>
                <a:cs typeface="Space Grotesk" pitchFamily="34" charset="-120"/>
              </a:rPr>
              <a:t>NGƯỜI</a:t>
            </a:r>
            <a:endParaRPr lang="en-US" sz="900" dirty="0"/>
          </a:p>
        </p:txBody>
      </p:sp>
      <p:sp>
        <p:nvSpPr>
          <p:cNvPr id="33" name="Text 31"/>
          <p:cNvSpPr txBox="1"/>
          <p:nvPr/>
        </p:nvSpPr>
        <p:spPr>
          <a:xfrm>
            <a:off x="6927850" y="2489200"/>
            <a:ext cx="465455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MỤC TIÊU PHÍA DEV · KỲ SAU</a:t>
            </a:r>
            <a:endParaRPr lang="en-US" sz="1000" dirty="0"/>
          </a:p>
        </p:txBody>
      </p:sp>
      <p:sp>
        <p:nvSpPr>
          <p:cNvPr id="34" name="Text 32"/>
          <p:cNvSpPr txBox="1"/>
          <p:nvPr/>
        </p:nvSpPr>
        <p:spPr>
          <a:xfrm>
            <a:off x="6927850" y="2768600"/>
            <a:ext cx="762000" cy="533400"/>
          </a:xfrm>
          <a:prstGeom prst="rect">
            <a:avLst/>
          </a:prstGeom>
          <a:noFill/>
          <a:ln/>
        </p:spPr>
        <p:txBody>
          <a:bodyPr wrap="square" lIns="0" tIns="0" rIns="0" bIns="0" rtlCol="0" anchor="t"/>
          <a:lstStyle/>
          <a:p>
            <a:pPr algn="l" indent="0" marL="0">
              <a:buNone/>
            </a:pPr>
            <a:r>
              <a:rPr lang="en-US" sz="3200" b="1" dirty="0">
                <a:solidFill>
                  <a:srgbClr val="1E2BFA"/>
                </a:solidFill>
                <a:latin typeface="Space Grotesk" pitchFamily="34" charset="0"/>
                <a:ea typeface="Space Grotesk" pitchFamily="34" charset="-122"/>
                <a:cs typeface="Space Grotesk" pitchFamily="34" charset="-120"/>
              </a:rPr>
              <a:t>L4</a:t>
            </a:r>
            <a:endParaRPr lang="en-US" sz="3200" dirty="0"/>
          </a:p>
        </p:txBody>
      </p:sp>
      <p:sp>
        <p:nvSpPr>
          <p:cNvPr id="35" name="Text 33"/>
          <p:cNvSpPr txBox="1"/>
          <p:nvPr/>
        </p:nvSpPr>
        <p:spPr>
          <a:xfrm>
            <a:off x="7753350" y="2794000"/>
            <a:ext cx="3829050" cy="254000"/>
          </a:xfrm>
          <a:prstGeom prst="rect">
            <a:avLst/>
          </a:prstGeom>
          <a:noFill/>
          <a:ln/>
        </p:spPr>
        <p:txBody>
          <a:bodyPr wrap="square" lIns="0" tIns="0" rIns="0" bIns="0" rtlCol="0" anchor="t"/>
          <a:lstStyle/>
          <a:p>
            <a:pPr algn="l" indent="0" marL="0">
              <a:buNone/>
            </a:pPr>
            <a:r>
              <a:rPr lang="en-US" sz="1500" b="1" dirty="0">
                <a:solidFill>
                  <a:srgbClr val="111111"/>
                </a:solidFill>
                <a:latin typeface="Space Grotesk" pitchFamily="34" charset="0"/>
                <a:ea typeface="Space Grotesk" pitchFamily="34" charset="-122"/>
                <a:cs typeface="Space Grotesk" pitchFamily="34" charset="-120"/>
              </a:rPr>
              <a:t>Coding/unit test, testing</a:t>
            </a:r>
            <a:endParaRPr lang="en-US" sz="1500" dirty="0"/>
          </a:p>
        </p:txBody>
      </p:sp>
      <p:sp>
        <p:nvSpPr>
          <p:cNvPr id="36" name="Text 34"/>
          <p:cNvSpPr txBox="1"/>
          <p:nvPr/>
        </p:nvSpPr>
        <p:spPr>
          <a:xfrm>
            <a:off x="7753350" y="3060700"/>
            <a:ext cx="3829050" cy="241300"/>
          </a:xfrm>
          <a:prstGeom prst="rect">
            <a:avLst/>
          </a:prstGeom>
          <a:noFill/>
          <a:ln/>
        </p:spPr>
        <p:txBody>
          <a:bodyPr wrap="square" lIns="0" tIns="0" rIns="0" bIns="0" rtlCol="0" anchor="t"/>
          <a:lstStyle/>
          <a:p>
            <a:pPr algn="l" indent="0" marL="0">
              <a:buNone/>
            </a:pPr>
            <a:r>
              <a:rPr lang="en-US" sz="1250" dirty="0">
                <a:solidFill>
                  <a:srgbClr val="6B6B6B"/>
                </a:solidFill>
                <a:latin typeface="Inter" pitchFamily="34" charset="0"/>
                <a:ea typeface="Inter" pitchFamily="34" charset="-122"/>
                <a:cs typeface="Inter" pitchFamily="34" charset="-120"/>
              </a:rPr>
              <a:t>AI tự sinh draft, tự chạy, người approve</a:t>
            </a:r>
            <a:endParaRPr lang="en-US" sz="1250" dirty="0"/>
          </a:p>
        </p:txBody>
      </p:sp>
      <p:sp>
        <p:nvSpPr>
          <p:cNvPr id="37" name="Text 35"/>
          <p:cNvSpPr txBox="1"/>
          <p:nvPr/>
        </p:nvSpPr>
        <p:spPr>
          <a:xfrm>
            <a:off x="6927850" y="3390900"/>
            <a:ext cx="762000" cy="533400"/>
          </a:xfrm>
          <a:prstGeom prst="rect">
            <a:avLst/>
          </a:prstGeom>
          <a:noFill/>
          <a:ln/>
        </p:spPr>
        <p:txBody>
          <a:bodyPr wrap="square" lIns="0" tIns="0" rIns="0" bIns="0" rtlCol="0" anchor="t"/>
          <a:lstStyle/>
          <a:p>
            <a:pPr algn="l" indent="0" marL="0">
              <a:buNone/>
            </a:pPr>
            <a:r>
              <a:rPr lang="en-US" sz="3200" b="1" dirty="0">
                <a:solidFill>
                  <a:srgbClr val="1E2BFA"/>
                </a:solidFill>
                <a:latin typeface="Space Grotesk" pitchFamily="34" charset="0"/>
                <a:ea typeface="Space Grotesk" pitchFamily="34" charset="-122"/>
                <a:cs typeface="Space Grotesk" pitchFamily="34" charset="-120"/>
              </a:rPr>
              <a:t>L3</a:t>
            </a:r>
            <a:endParaRPr lang="en-US" sz="3200" dirty="0"/>
          </a:p>
        </p:txBody>
      </p:sp>
      <p:sp>
        <p:nvSpPr>
          <p:cNvPr id="38" name="Text 36"/>
          <p:cNvSpPr txBox="1"/>
          <p:nvPr/>
        </p:nvSpPr>
        <p:spPr>
          <a:xfrm>
            <a:off x="7753350" y="3416300"/>
            <a:ext cx="3829050" cy="254000"/>
          </a:xfrm>
          <a:prstGeom prst="rect">
            <a:avLst/>
          </a:prstGeom>
          <a:noFill/>
          <a:ln/>
        </p:spPr>
        <p:txBody>
          <a:bodyPr wrap="square" lIns="0" tIns="0" rIns="0" bIns="0" rtlCol="0" anchor="t"/>
          <a:lstStyle/>
          <a:p>
            <a:pPr algn="l" indent="0" marL="0">
              <a:buNone/>
            </a:pPr>
            <a:r>
              <a:rPr lang="en-US" sz="1500" b="1" dirty="0">
                <a:solidFill>
                  <a:srgbClr val="111111"/>
                </a:solidFill>
                <a:latin typeface="Space Grotesk" pitchFamily="34" charset="0"/>
                <a:ea typeface="Space Grotesk" pitchFamily="34" charset="-122"/>
                <a:cs typeface="Space Grotesk" pitchFamily="34" charset="-120"/>
              </a:rPr>
              <a:t>Basic design, detail design</a:t>
            </a:r>
            <a:endParaRPr lang="en-US" sz="1500" dirty="0"/>
          </a:p>
        </p:txBody>
      </p:sp>
      <p:sp>
        <p:nvSpPr>
          <p:cNvPr id="39" name="Text 37"/>
          <p:cNvSpPr txBox="1"/>
          <p:nvPr/>
        </p:nvSpPr>
        <p:spPr>
          <a:xfrm>
            <a:off x="7753350" y="3683000"/>
            <a:ext cx="3829050" cy="241300"/>
          </a:xfrm>
          <a:prstGeom prst="rect">
            <a:avLst/>
          </a:prstGeom>
          <a:noFill/>
          <a:ln/>
        </p:spPr>
        <p:txBody>
          <a:bodyPr wrap="square" lIns="0" tIns="0" rIns="0" bIns="0" rtlCol="0" anchor="t"/>
          <a:lstStyle/>
          <a:p>
            <a:pPr algn="l" indent="0" marL="0">
              <a:buNone/>
            </a:pPr>
            <a:r>
              <a:rPr lang="en-US" sz="1250" dirty="0">
                <a:solidFill>
                  <a:srgbClr val="6B6B6B"/>
                </a:solidFill>
                <a:latin typeface="Inter" pitchFamily="34" charset="0"/>
                <a:ea typeface="Inter" pitchFamily="34" charset="-122"/>
                <a:cs typeface="Inter" pitchFamily="34" charset="-120"/>
              </a:rPr>
              <a:t>AI cùng viết, cùng review nội dung</a:t>
            </a:r>
            <a:endParaRPr lang="en-US" sz="1250" dirty="0"/>
          </a:p>
        </p:txBody>
      </p:sp>
      <p:sp>
        <p:nvSpPr>
          <p:cNvPr id="40" name="Text 38"/>
          <p:cNvSpPr txBox="1"/>
          <p:nvPr/>
        </p:nvSpPr>
        <p:spPr>
          <a:xfrm>
            <a:off x="6927850" y="4013200"/>
            <a:ext cx="762000" cy="533400"/>
          </a:xfrm>
          <a:prstGeom prst="rect">
            <a:avLst/>
          </a:prstGeom>
          <a:noFill/>
          <a:ln/>
        </p:spPr>
        <p:txBody>
          <a:bodyPr wrap="square" lIns="0" tIns="0" rIns="0" bIns="0" rtlCol="0" anchor="t"/>
          <a:lstStyle/>
          <a:p>
            <a:pPr algn="l" indent="0" marL="0">
              <a:buNone/>
            </a:pPr>
            <a:r>
              <a:rPr lang="en-US" sz="3200" b="1" dirty="0">
                <a:solidFill>
                  <a:srgbClr val="9A9A9A"/>
                </a:solidFill>
                <a:latin typeface="Space Grotesk" pitchFamily="34" charset="0"/>
                <a:ea typeface="Space Grotesk" pitchFamily="34" charset="-122"/>
                <a:cs typeface="Space Grotesk" pitchFamily="34" charset="-120"/>
              </a:rPr>
              <a:t>&lt;</a:t>
            </a:r>
            <a:endParaRPr lang="en-US" sz="3200" dirty="0"/>
          </a:p>
        </p:txBody>
      </p:sp>
      <p:sp>
        <p:nvSpPr>
          <p:cNvPr id="41" name="Text 39"/>
          <p:cNvSpPr txBox="1"/>
          <p:nvPr/>
        </p:nvSpPr>
        <p:spPr>
          <a:xfrm>
            <a:off x="7753350" y="4038600"/>
            <a:ext cx="3829050" cy="254000"/>
          </a:xfrm>
          <a:prstGeom prst="rect">
            <a:avLst/>
          </a:prstGeom>
          <a:noFill/>
          <a:ln/>
        </p:spPr>
        <p:txBody>
          <a:bodyPr wrap="square" lIns="0" tIns="0" rIns="0" bIns="0" rtlCol="0" anchor="t"/>
          <a:lstStyle/>
          <a:p>
            <a:pPr algn="l" indent="0" marL="0">
              <a:buNone/>
            </a:pPr>
            <a:r>
              <a:rPr lang="en-US" sz="1500" b="1" dirty="0">
                <a:solidFill>
                  <a:srgbClr val="111111"/>
                </a:solidFill>
                <a:latin typeface="Space Grotesk" pitchFamily="34" charset="0"/>
                <a:ea typeface="Space Grotesk" pitchFamily="34" charset="-122"/>
                <a:cs typeface="Space Grotesk" pitchFamily="34" charset="-120"/>
              </a:rPr>
              <a:t>Planning, requirements definition</a:t>
            </a:r>
            <a:endParaRPr lang="en-US" sz="1500" dirty="0"/>
          </a:p>
        </p:txBody>
      </p:sp>
      <p:sp>
        <p:nvSpPr>
          <p:cNvPr id="42" name="Text 40"/>
          <p:cNvSpPr txBox="1"/>
          <p:nvPr/>
        </p:nvSpPr>
        <p:spPr>
          <a:xfrm>
            <a:off x="7753350" y="4305300"/>
            <a:ext cx="3829050" cy="241300"/>
          </a:xfrm>
          <a:prstGeom prst="rect">
            <a:avLst/>
          </a:prstGeom>
          <a:noFill/>
          <a:ln/>
        </p:spPr>
        <p:txBody>
          <a:bodyPr wrap="square" lIns="0" tIns="0" rIns="0" bIns="0" rtlCol="0" anchor="t"/>
          <a:lstStyle/>
          <a:p>
            <a:pPr algn="l" indent="0" marL="0">
              <a:buNone/>
            </a:pPr>
            <a:r>
              <a:rPr lang="en-US" sz="1250" dirty="0">
                <a:solidFill>
                  <a:srgbClr val="6B6B6B"/>
                </a:solidFill>
                <a:latin typeface="Inter" pitchFamily="34" charset="0"/>
                <a:ea typeface="Inter" pitchFamily="34" charset="-122"/>
                <a:cs typeface="Inter" pitchFamily="34" charset="-120"/>
              </a:rPr>
              <a:t>Giữ ở mức thấp hơn</a:t>
            </a:r>
            <a:endParaRPr lang="en-US" sz="1250" dirty="0"/>
          </a:p>
        </p:txBody>
      </p:sp>
      <p:sp>
        <p:nvSpPr>
          <p:cNvPr id="43" name="Shape 41"/>
          <p:cNvSpPr/>
          <p:nvPr/>
        </p:nvSpPr>
        <p:spPr>
          <a:xfrm>
            <a:off x="6927850" y="4711700"/>
            <a:ext cx="4654550" cy="0"/>
          </a:xfrm>
          <a:prstGeom prst="line">
            <a:avLst/>
          </a:prstGeom>
          <a:noFill/>
          <a:ln w="9525">
            <a:solidFill>
              <a:srgbClr val="D0D1EB"/>
            </a:solidFill>
            <a:prstDash val="solid"/>
          </a:ln>
        </p:spPr>
      </p:sp>
      <p:sp>
        <p:nvSpPr>
          <p:cNvPr id="44" name="Text 42"/>
          <p:cNvSpPr txBox="1"/>
          <p:nvPr/>
        </p:nvSpPr>
        <p:spPr>
          <a:xfrm>
            <a:off x="6927850" y="4826000"/>
            <a:ext cx="4654550" cy="482600"/>
          </a:xfrm>
          <a:prstGeom prst="rect">
            <a:avLst/>
          </a:prstGeom>
          <a:noFill/>
          <a:ln/>
        </p:spPr>
        <p:txBody>
          <a:bodyPr wrap="square" lIns="0" tIns="0" rIns="0" bIns="0" rtlCol="0" anchor="t"/>
          <a:lstStyle/>
          <a:p>
            <a:pPr algn="l" indent="0" marL="0">
              <a:lnSpc>
                <a:spcPts val="1800"/>
              </a:lnSpc>
              <a:buNone/>
            </a:pPr>
            <a:r>
              <a:rPr lang="en-US" sz="1200" dirty="0">
                <a:solidFill>
                  <a:srgbClr val="6B6B6B"/>
                </a:solidFill>
                <a:latin typeface="Inter" pitchFamily="34" charset="0"/>
                <a:ea typeface="Inter" pitchFamily="34" charset="-122"/>
                <a:cs typeface="Inter" pitchFamily="34" charset="-120"/>
              </a:rPr>
              <a:t>Mục tiêu “AI-First” cho cả Ops và Dev, đo trên thang năm mức.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01 · BỐI CẢNH</a:t>
            </a:r>
            <a:endParaRPr lang="en-US" sz="1100" dirty="0"/>
          </a:p>
        </p:txBody>
      </p:sp>
      <p:sp>
        <p:nvSpPr>
          <p:cNvPr id="3" name="Text 1"/>
          <p:cNvSpPr txBox="1"/>
          <p:nvPr/>
        </p:nvSpPr>
        <p:spPr>
          <a:xfrm>
            <a:off x="9950450" y="412750"/>
            <a:ext cx="16319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Phân công hiện tại</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Hai team được giao hai hướng khác nhau</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04 / 19</a:t>
            </a:r>
            <a:endParaRPr lang="en-US" sz="900" dirty="0"/>
          </a:p>
        </p:txBody>
      </p:sp>
      <p:sp>
        <p:nvSpPr>
          <p:cNvPr id="7" name="Shape 5"/>
          <p:cNvSpPr/>
          <p:nvPr/>
        </p:nvSpPr>
        <p:spPr>
          <a:xfrm>
            <a:off x="0" y="6838950"/>
            <a:ext cx="2566737" cy="19050"/>
          </a:xfrm>
          <a:prstGeom prst="rect">
            <a:avLst/>
          </a:prstGeom>
          <a:solidFill>
            <a:srgbClr val="1E2BFA"/>
          </a:solidFill>
          <a:ln/>
        </p:spPr>
      </p:sp>
      <p:sp>
        <p:nvSpPr>
          <p:cNvPr id="8" name="Shape 6"/>
          <p:cNvSpPr/>
          <p:nvPr/>
        </p:nvSpPr>
        <p:spPr>
          <a:xfrm>
            <a:off x="609600" y="1841500"/>
            <a:ext cx="5359400" cy="2540000"/>
          </a:xfrm>
          <a:prstGeom prst="roundRect">
            <a:avLst>
              <a:gd name="adj" fmla="val 3500"/>
            </a:avLst>
          </a:prstGeom>
          <a:solidFill>
            <a:srgbClr val="F4F2E8"/>
          </a:solidFill>
          <a:ln w="9525">
            <a:solidFill>
              <a:srgbClr val="D0D1EB"/>
            </a:solidFill>
            <a:prstDash val="solid"/>
          </a:ln>
        </p:spPr>
      </p:sp>
      <p:sp>
        <p:nvSpPr>
          <p:cNvPr id="9" name="Text 7"/>
          <p:cNvSpPr txBox="1"/>
          <p:nvPr/>
        </p:nvSpPr>
        <p:spPr>
          <a:xfrm>
            <a:off x="914400" y="2120900"/>
            <a:ext cx="47498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TEAM PLATFORM</a:t>
            </a:r>
            <a:endParaRPr lang="en-US" sz="1000" dirty="0"/>
          </a:p>
        </p:txBody>
      </p:sp>
      <p:sp>
        <p:nvSpPr>
          <p:cNvPr id="10" name="Text 8"/>
          <p:cNvSpPr txBox="1"/>
          <p:nvPr/>
        </p:nvSpPr>
        <p:spPr>
          <a:xfrm>
            <a:off x="914400" y="2387600"/>
            <a:ext cx="4749800" cy="381000"/>
          </a:xfrm>
          <a:prstGeom prst="rect">
            <a:avLst/>
          </a:prstGeom>
          <a:noFill/>
          <a:ln/>
        </p:spPr>
        <p:txBody>
          <a:bodyPr wrap="square" lIns="0" tIns="0" rIns="0" bIns="0" rtlCol="0" anchor="t"/>
          <a:lstStyle/>
          <a:p>
            <a:pPr algn="l" indent="0" marL="0">
              <a:buNone/>
            </a:pPr>
            <a:r>
              <a:rPr lang="en-US" sz="2200" b="1" dirty="0">
                <a:solidFill>
                  <a:srgbClr val="111111"/>
                </a:solidFill>
                <a:latin typeface="Space Grotesk" pitchFamily="34" charset="0"/>
                <a:ea typeface="Space Grotesk" pitchFamily="34" charset="-122"/>
                <a:cs typeface="Space Grotesk" pitchFamily="34" charset="-120"/>
              </a:rPr>
              <a:t>Centralized AI Dev Platform</a:t>
            </a:r>
            <a:endParaRPr lang="en-US" sz="2200" dirty="0"/>
          </a:p>
        </p:txBody>
      </p:sp>
      <p:sp>
        <p:nvSpPr>
          <p:cNvPr id="11" name="Text 9"/>
          <p:cNvSpPr txBox="1"/>
          <p:nvPr/>
        </p:nvSpPr>
        <p:spPr>
          <a:xfrm>
            <a:off x="914400" y="2870200"/>
            <a:ext cx="4749800" cy="825500"/>
          </a:xfrm>
          <a:prstGeom prst="rect">
            <a:avLst/>
          </a:prstGeom>
          <a:noFill/>
          <a:ln/>
        </p:spPr>
        <p:txBody>
          <a:bodyPr wrap="square" lIns="0" tIns="0" rIns="0" bIns="0" rtlCol="0" anchor="t"/>
          <a:lstStyle/>
          <a:p>
            <a:pPr algn="l" indent="0" marL="0">
              <a:lnSpc>
                <a:spcPts val="2100"/>
              </a:lnSpc>
              <a:buNone/>
            </a:pPr>
            <a:r>
              <a:rPr lang="en-US" sz="1400" dirty="0">
                <a:solidFill>
                  <a:srgbClr val="6B6B6B"/>
                </a:solidFill>
                <a:latin typeface="Inter" pitchFamily="34" charset="0"/>
                <a:ea typeface="Inter" pitchFamily="34" charset="-122"/>
                <a:cs typeface="Inter" pitchFamily="34" charset="-120"/>
              </a:rPr>
              <a:t>Xây một nền tảng AI tập trung (gọi tắt: </a:t>
            </a:r>
            <a:pPr algn="l" indent="0" marL="0">
              <a:lnSpc>
                <a:spcPts val="2100"/>
              </a:lnSpc>
              <a:buNone/>
            </a:pPr>
            <a:r>
              <a:rPr lang="en-US" sz="1400" b="1" dirty="0">
                <a:solidFill>
                  <a:srgbClr val="111111"/>
                </a:solidFill>
                <a:latin typeface="Inter" pitchFamily="34" charset="0"/>
                <a:ea typeface="Inter" pitchFamily="34" charset="-122"/>
                <a:cs typeface="Inter" pitchFamily="34" charset="-120"/>
              </a:rPr>
              <a:t>platform</a:t>
            </a:r>
            <a:pPr algn="l" indent="0" marL="0">
              <a:lnSpc>
                <a:spcPts val="2100"/>
              </a:lnSpc>
              <a:buNone/>
            </a:pPr>
            <a:r>
              <a:rPr lang="en-US" sz="1400" dirty="0">
                <a:solidFill>
                  <a:srgbClr val="6B6B6B"/>
                </a:solidFill>
                <a:latin typeface="Inter" pitchFamily="34" charset="0"/>
                <a:ea typeface="Inter" pitchFamily="34" charset="-122"/>
                <a:cs typeface="Inter" pitchFamily="34" charset="-120"/>
              </a:rPr>
              <a:t>) chạy trên cloud, phục vụ toàn tổ chức.</a:t>
            </a:r>
            <a:endParaRPr lang="en-US" sz="1400" dirty="0"/>
          </a:p>
        </p:txBody>
      </p:sp>
      <p:sp>
        <p:nvSpPr>
          <p:cNvPr id="12" name="Text 10"/>
          <p:cNvSpPr txBox="1"/>
          <p:nvPr/>
        </p:nvSpPr>
        <p:spPr>
          <a:xfrm>
            <a:off x="914400" y="3848100"/>
            <a:ext cx="6477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cloud</a:t>
            </a:r>
            <a:endParaRPr lang="en-US" sz="1150" dirty="0"/>
          </a:p>
        </p:txBody>
      </p:sp>
      <p:sp>
        <p:nvSpPr>
          <p:cNvPr id="13" name="Text 11"/>
          <p:cNvSpPr txBox="1"/>
          <p:nvPr/>
        </p:nvSpPr>
        <p:spPr>
          <a:xfrm>
            <a:off x="1625600" y="3848100"/>
            <a:ext cx="9779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tập trung</a:t>
            </a:r>
            <a:endParaRPr lang="en-US" sz="1150" dirty="0"/>
          </a:p>
        </p:txBody>
      </p:sp>
      <p:sp>
        <p:nvSpPr>
          <p:cNvPr id="14" name="Text 12"/>
          <p:cNvSpPr txBox="1"/>
          <p:nvPr/>
        </p:nvSpPr>
        <p:spPr>
          <a:xfrm>
            <a:off x="2667000" y="3848100"/>
            <a:ext cx="12255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toàn tổ chức</a:t>
            </a:r>
            <a:endParaRPr lang="en-US" sz="1150" dirty="0"/>
          </a:p>
        </p:txBody>
      </p:sp>
      <p:sp>
        <p:nvSpPr>
          <p:cNvPr id="15" name="Shape 13"/>
          <p:cNvSpPr/>
          <p:nvPr/>
        </p:nvSpPr>
        <p:spPr>
          <a:xfrm>
            <a:off x="6223000" y="1841500"/>
            <a:ext cx="5359400" cy="2540000"/>
          </a:xfrm>
          <a:prstGeom prst="roundRect">
            <a:avLst>
              <a:gd name="adj" fmla="val 3500"/>
            </a:avLst>
          </a:prstGeom>
          <a:solidFill>
            <a:srgbClr val="F4F2E8"/>
          </a:solidFill>
          <a:ln w="9525">
            <a:solidFill>
              <a:srgbClr val="D0D1EB"/>
            </a:solidFill>
            <a:prstDash val="solid"/>
          </a:ln>
        </p:spPr>
      </p:sp>
      <p:sp>
        <p:nvSpPr>
          <p:cNvPr id="16" name="Text 14"/>
          <p:cNvSpPr txBox="1"/>
          <p:nvPr/>
        </p:nvSpPr>
        <p:spPr>
          <a:xfrm>
            <a:off x="6527800" y="2120900"/>
            <a:ext cx="47498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TEAM KIT</a:t>
            </a:r>
            <a:endParaRPr lang="en-US" sz="1000" dirty="0"/>
          </a:p>
        </p:txBody>
      </p:sp>
      <p:sp>
        <p:nvSpPr>
          <p:cNvPr id="17" name="Text 15"/>
          <p:cNvSpPr txBox="1"/>
          <p:nvPr/>
        </p:nvSpPr>
        <p:spPr>
          <a:xfrm>
            <a:off x="6527800" y="2387600"/>
            <a:ext cx="4749800" cy="381000"/>
          </a:xfrm>
          <a:prstGeom prst="rect">
            <a:avLst/>
          </a:prstGeom>
          <a:noFill/>
          <a:ln/>
        </p:spPr>
        <p:txBody>
          <a:bodyPr wrap="square" lIns="0" tIns="0" rIns="0" bIns="0" rtlCol="0" anchor="t"/>
          <a:lstStyle/>
          <a:p>
            <a:pPr algn="l" indent="0" marL="0">
              <a:buNone/>
            </a:pPr>
            <a:r>
              <a:rPr lang="en-US" sz="2200" b="1" dirty="0">
                <a:solidFill>
                  <a:srgbClr val="111111"/>
                </a:solidFill>
                <a:latin typeface="Space Grotesk" pitchFamily="34" charset="0"/>
                <a:ea typeface="Space Grotesk" pitchFamily="34" charset="-122"/>
                <a:cs typeface="Space Grotesk" pitchFamily="34" charset="-120"/>
              </a:rPr>
              <a:t>Kit cho harness phổ biến</a:t>
            </a:r>
            <a:endParaRPr lang="en-US" sz="2200" dirty="0"/>
          </a:p>
        </p:txBody>
      </p:sp>
      <p:sp>
        <p:nvSpPr>
          <p:cNvPr id="18" name="Text 16"/>
          <p:cNvSpPr txBox="1"/>
          <p:nvPr/>
        </p:nvSpPr>
        <p:spPr>
          <a:xfrm>
            <a:off x="6527800" y="2870200"/>
            <a:ext cx="4749800" cy="825500"/>
          </a:xfrm>
          <a:prstGeom prst="rect">
            <a:avLst/>
          </a:prstGeom>
          <a:noFill/>
          <a:ln/>
        </p:spPr>
        <p:txBody>
          <a:bodyPr wrap="square" lIns="0" tIns="0" rIns="0" bIns="0" rtlCol="0" anchor="t"/>
          <a:lstStyle/>
          <a:p>
            <a:pPr algn="l" indent="0" marL="0">
              <a:lnSpc>
                <a:spcPts val="2100"/>
              </a:lnSpc>
              <a:buNone/>
            </a:pPr>
            <a:r>
              <a:rPr lang="en-US" sz="1400" dirty="0">
                <a:solidFill>
                  <a:srgbClr val="6B6B6B"/>
                </a:solidFill>
                <a:latin typeface="Inter" pitchFamily="34" charset="0"/>
                <a:ea typeface="Inter" pitchFamily="34" charset="-122"/>
                <a:cs typeface="Inter" pitchFamily="34" charset="-120"/>
              </a:rPr>
              <a:t>Làm </a:t>
            </a:r>
            <a:pPr algn="l" indent="0" marL="0">
              <a:lnSpc>
                <a:spcPts val="2100"/>
              </a:lnSpc>
              <a:buNone/>
            </a:pPr>
            <a:r>
              <a:rPr lang="en-US" sz="1400" b="1" dirty="0">
                <a:solidFill>
                  <a:srgbClr val="111111"/>
                </a:solidFill>
                <a:latin typeface="Inter" pitchFamily="34" charset="0"/>
                <a:ea typeface="Inter" pitchFamily="34" charset="-122"/>
                <a:cs typeface="Inter" pitchFamily="34" charset="-120"/>
              </a:rPr>
              <a:t>kit</a:t>
            </a:r>
            <a:pPr algn="l" indent="0" marL="0">
              <a:lnSpc>
                <a:spcPts val="2100"/>
              </a:lnSpc>
              <a:buNone/>
            </a:pPr>
            <a:r>
              <a:rPr lang="en-US" sz="1400" dirty="0">
                <a:solidFill>
                  <a:srgbClr val="6B6B6B"/>
                </a:solidFill>
                <a:latin typeface="Inter" pitchFamily="34" charset="0"/>
                <a:ea typeface="Inter" pitchFamily="34" charset="-122"/>
                <a:cs typeface="Inter" pitchFamily="34" charset="-120"/>
              </a:rPr>
              <a:t> — skill, workflow, connector — cho các harness phổ biến như Claude Code, Kiro.</a:t>
            </a:r>
            <a:endParaRPr lang="en-US" sz="1400" dirty="0"/>
          </a:p>
        </p:txBody>
      </p:sp>
      <p:sp>
        <p:nvSpPr>
          <p:cNvPr id="19" name="Text 17"/>
          <p:cNvSpPr txBox="1"/>
          <p:nvPr/>
        </p:nvSpPr>
        <p:spPr>
          <a:xfrm>
            <a:off x="6527800" y="3848100"/>
            <a:ext cx="6477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skill</a:t>
            </a:r>
            <a:endParaRPr lang="en-US" sz="1150" dirty="0"/>
          </a:p>
        </p:txBody>
      </p:sp>
      <p:sp>
        <p:nvSpPr>
          <p:cNvPr id="20" name="Text 18"/>
          <p:cNvSpPr txBox="1"/>
          <p:nvPr/>
        </p:nvSpPr>
        <p:spPr>
          <a:xfrm>
            <a:off x="7239000" y="3848100"/>
            <a:ext cx="8953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workflow</a:t>
            </a:r>
            <a:endParaRPr lang="en-US" sz="1150" dirty="0"/>
          </a:p>
        </p:txBody>
      </p:sp>
      <p:sp>
        <p:nvSpPr>
          <p:cNvPr id="21" name="Text 19"/>
          <p:cNvSpPr txBox="1"/>
          <p:nvPr/>
        </p:nvSpPr>
        <p:spPr>
          <a:xfrm>
            <a:off x="8197850" y="3848100"/>
            <a:ext cx="9779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50" dirty="0">
                <a:solidFill>
                  <a:srgbClr val="1E2BFA"/>
                </a:solidFill>
                <a:latin typeface="Space Grotesk" pitchFamily="34" charset="0"/>
                <a:ea typeface="Space Grotesk" pitchFamily="34" charset="-122"/>
                <a:cs typeface="Space Grotesk" pitchFamily="34" charset="-120"/>
              </a:rPr>
              <a:t>connector</a:t>
            </a:r>
            <a:endParaRPr lang="en-US" sz="1150" dirty="0"/>
          </a:p>
        </p:txBody>
      </p:sp>
      <p:sp>
        <p:nvSpPr>
          <p:cNvPr id="22" name="Shape 20"/>
          <p:cNvSpPr/>
          <p:nvPr/>
        </p:nvSpPr>
        <p:spPr>
          <a:xfrm>
            <a:off x="609600" y="4635500"/>
            <a:ext cx="10972800" cy="812800"/>
          </a:xfrm>
          <a:prstGeom prst="roundRect">
            <a:avLst>
              <a:gd name="adj" fmla="val 9375"/>
            </a:avLst>
          </a:prstGeom>
          <a:solidFill>
            <a:srgbClr val="EBE9E8"/>
          </a:solidFill>
          <a:ln/>
        </p:spPr>
      </p:sp>
      <p:sp>
        <p:nvSpPr>
          <p:cNvPr id="23" name="Text 21"/>
          <p:cNvSpPr txBox="1"/>
          <p:nvPr/>
        </p:nvSpPr>
        <p:spPr>
          <a:xfrm>
            <a:off x="863600" y="4635500"/>
            <a:ext cx="10464800" cy="812800"/>
          </a:xfrm>
          <a:prstGeom prst="rect">
            <a:avLst/>
          </a:prstGeom>
          <a:noFill/>
          <a:ln/>
        </p:spPr>
        <p:txBody>
          <a:bodyPr wrap="square" lIns="0" tIns="0" rIns="0" bIns="0" rtlCol="0" anchor="ctr"/>
          <a:lstStyle/>
          <a:p>
            <a:pPr algn="l" indent="0" marL="0">
              <a:lnSpc>
                <a:spcPts val="2100"/>
              </a:lnSpc>
              <a:buNone/>
            </a:pPr>
            <a:r>
              <a:rPr lang="en-US" sz="1400" dirty="0">
                <a:solidFill>
                  <a:srgbClr val="111111"/>
                </a:solidFill>
                <a:latin typeface="Inter" pitchFamily="34" charset="0"/>
                <a:ea typeface="Inter" pitchFamily="34" charset="-122"/>
                <a:cs typeface="Inter" pitchFamily="34" charset="-120"/>
              </a:rPr>
              <a:t>Câu hỏi của đề xuất: tổ chức nên đầu tư vào đâu khi muốn nâng automation level của AI trong phát triển phần mềm?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01 · BỐI CẢNH</a:t>
            </a:r>
            <a:endParaRPr lang="en-US" sz="1100" dirty="0"/>
          </a:p>
        </p:txBody>
      </p:sp>
      <p:sp>
        <p:nvSpPr>
          <p:cNvPr id="3" name="Text 1"/>
          <p:cNvSpPr txBox="1"/>
          <p:nvPr/>
        </p:nvSpPr>
        <p:spPr>
          <a:xfrm>
            <a:off x="9658350" y="412750"/>
            <a:ext cx="1924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Theo tài liệu platform</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Platform được mô tả với bốn layer và mười ba feature</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05 / 19</a:t>
            </a:r>
            <a:endParaRPr lang="en-US" sz="900" dirty="0"/>
          </a:p>
        </p:txBody>
      </p:sp>
      <p:sp>
        <p:nvSpPr>
          <p:cNvPr id="7" name="Shape 5"/>
          <p:cNvSpPr/>
          <p:nvPr/>
        </p:nvSpPr>
        <p:spPr>
          <a:xfrm>
            <a:off x="0" y="6838950"/>
            <a:ext cx="3208421" cy="19050"/>
          </a:xfrm>
          <a:prstGeom prst="rect">
            <a:avLst/>
          </a:prstGeom>
          <a:solidFill>
            <a:srgbClr val="1E2BFA"/>
          </a:solidFill>
          <a:ln/>
        </p:spPr>
      </p:sp>
      <p:sp>
        <p:nvSpPr>
          <p:cNvPr id="8" name="Text 6"/>
          <p:cNvSpPr txBox="1"/>
          <p:nvPr/>
        </p:nvSpPr>
        <p:spPr>
          <a:xfrm>
            <a:off x="609600" y="1790700"/>
            <a:ext cx="54610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BỐN LAYER KIẾN TRÚC</a:t>
            </a:r>
            <a:endParaRPr lang="en-US" sz="1000" dirty="0"/>
          </a:p>
        </p:txBody>
      </p:sp>
      <p:sp>
        <p:nvSpPr>
          <p:cNvPr id="9" name="Shape 7"/>
          <p:cNvSpPr/>
          <p:nvPr/>
        </p:nvSpPr>
        <p:spPr>
          <a:xfrm>
            <a:off x="609600" y="2044700"/>
            <a:ext cx="5461000" cy="819150"/>
          </a:xfrm>
          <a:prstGeom prst="roundRect">
            <a:avLst>
              <a:gd name="adj" fmla="val 10853"/>
            </a:avLst>
          </a:prstGeom>
          <a:solidFill>
            <a:srgbClr val="F4F2E8"/>
          </a:solidFill>
          <a:ln w="9525">
            <a:solidFill>
              <a:srgbClr val="D0D1EB"/>
            </a:solidFill>
            <a:prstDash val="solid"/>
          </a:ln>
        </p:spPr>
      </p:sp>
      <p:sp>
        <p:nvSpPr>
          <p:cNvPr id="10" name="Text 8"/>
          <p:cNvSpPr txBox="1"/>
          <p:nvPr/>
        </p:nvSpPr>
        <p:spPr>
          <a:xfrm>
            <a:off x="774700" y="2146300"/>
            <a:ext cx="330200" cy="279400"/>
          </a:xfrm>
          <a:prstGeom prst="rect">
            <a:avLst/>
          </a:prstGeom>
          <a:noFill/>
          <a:ln/>
        </p:spPr>
        <p:txBody>
          <a:bodyPr wrap="square" lIns="0" tIns="0" rIns="0" bIns="0" rtlCol="0" anchor="t"/>
          <a:lstStyle/>
          <a:p>
            <a:pPr algn="l" indent="0" marL="0">
              <a:buNone/>
            </a:pPr>
            <a:r>
              <a:rPr lang="en-US" sz="1800" b="1" dirty="0">
                <a:solidFill>
                  <a:srgbClr val="1E2BFA"/>
                </a:solidFill>
                <a:latin typeface="Space Grotesk" pitchFamily="34" charset="0"/>
                <a:ea typeface="Space Grotesk" pitchFamily="34" charset="-122"/>
                <a:cs typeface="Space Grotesk" pitchFamily="34" charset="-120"/>
              </a:rPr>
              <a:t>1</a:t>
            </a:r>
            <a:endParaRPr lang="en-US" sz="1800" dirty="0"/>
          </a:p>
        </p:txBody>
      </p:sp>
      <p:sp>
        <p:nvSpPr>
          <p:cNvPr id="11" name="Text 9"/>
          <p:cNvSpPr txBox="1"/>
          <p:nvPr/>
        </p:nvSpPr>
        <p:spPr>
          <a:xfrm>
            <a:off x="1200150" y="2146300"/>
            <a:ext cx="4699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Context engine và knowledge base</a:t>
            </a:r>
            <a:endParaRPr lang="en-US" sz="1350" dirty="0"/>
          </a:p>
        </p:txBody>
      </p:sp>
      <p:sp>
        <p:nvSpPr>
          <p:cNvPr id="12" name="Text 10"/>
          <p:cNvSpPr txBox="1"/>
          <p:nvPr/>
        </p:nvSpPr>
        <p:spPr>
          <a:xfrm>
            <a:off x="1200150" y="2387600"/>
            <a:ext cx="4699000" cy="44450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RAG, vector DB; index spec; code knowledge graph nhiều chục repo, hàng triệu LOC; RBAC</a:t>
            </a:r>
            <a:endParaRPr lang="en-US" sz="1200" dirty="0"/>
          </a:p>
        </p:txBody>
      </p:sp>
      <p:sp>
        <p:nvSpPr>
          <p:cNvPr id="13" name="Shape 11"/>
          <p:cNvSpPr/>
          <p:nvPr/>
        </p:nvSpPr>
        <p:spPr>
          <a:xfrm>
            <a:off x="609600" y="2940050"/>
            <a:ext cx="5461000" cy="819150"/>
          </a:xfrm>
          <a:prstGeom prst="roundRect">
            <a:avLst>
              <a:gd name="adj" fmla="val 10853"/>
            </a:avLst>
          </a:prstGeom>
          <a:solidFill>
            <a:srgbClr val="F4F2E8"/>
          </a:solidFill>
          <a:ln w="9525">
            <a:solidFill>
              <a:srgbClr val="D0D1EB"/>
            </a:solidFill>
            <a:prstDash val="solid"/>
          </a:ln>
        </p:spPr>
      </p:sp>
      <p:sp>
        <p:nvSpPr>
          <p:cNvPr id="14" name="Text 12"/>
          <p:cNvSpPr txBox="1"/>
          <p:nvPr/>
        </p:nvSpPr>
        <p:spPr>
          <a:xfrm>
            <a:off x="774700" y="3041650"/>
            <a:ext cx="330200" cy="279400"/>
          </a:xfrm>
          <a:prstGeom prst="rect">
            <a:avLst/>
          </a:prstGeom>
          <a:noFill/>
          <a:ln/>
        </p:spPr>
        <p:txBody>
          <a:bodyPr wrap="square" lIns="0" tIns="0" rIns="0" bIns="0" rtlCol="0" anchor="t"/>
          <a:lstStyle/>
          <a:p>
            <a:pPr algn="l" indent="0" marL="0">
              <a:buNone/>
            </a:pPr>
            <a:r>
              <a:rPr lang="en-US" sz="1800" b="1" dirty="0">
                <a:solidFill>
                  <a:srgbClr val="1E2BFA"/>
                </a:solidFill>
                <a:latin typeface="Space Grotesk" pitchFamily="34" charset="0"/>
                <a:ea typeface="Space Grotesk" pitchFamily="34" charset="-122"/>
                <a:cs typeface="Space Grotesk" pitchFamily="34" charset="-120"/>
              </a:rPr>
              <a:t>2</a:t>
            </a:r>
            <a:endParaRPr lang="en-US" sz="1800" dirty="0"/>
          </a:p>
        </p:txBody>
      </p:sp>
      <p:sp>
        <p:nvSpPr>
          <p:cNvPr id="15" name="Text 13"/>
          <p:cNvSpPr txBox="1"/>
          <p:nvPr/>
        </p:nvSpPr>
        <p:spPr>
          <a:xfrm>
            <a:off x="1200150" y="3041650"/>
            <a:ext cx="4699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Multi-agent orchestration</a:t>
            </a:r>
            <a:endParaRPr lang="en-US" sz="1350" dirty="0"/>
          </a:p>
        </p:txBody>
      </p:sp>
      <p:sp>
        <p:nvSpPr>
          <p:cNvPr id="16" name="Text 14"/>
          <p:cNvSpPr txBox="1"/>
          <p:nvPr/>
        </p:nvSpPr>
        <p:spPr>
          <a:xfrm>
            <a:off x="1200150" y="3282950"/>
            <a:ext cx="4699000" cy="44450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Chuỗi agent: requirements → design → code → review → test</a:t>
            </a:r>
            <a:endParaRPr lang="en-US" sz="1200" dirty="0"/>
          </a:p>
        </p:txBody>
      </p:sp>
      <p:sp>
        <p:nvSpPr>
          <p:cNvPr id="17" name="Shape 15"/>
          <p:cNvSpPr/>
          <p:nvPr/>
        </p:nvSpPr>
        <p:spPr>
          <a:xfrm>
            <a:off x="609600" y="3835400"/>
            <a:ext cx="5461000" cy="819150"/>
          </a:xfrm>
          <a:prstGeom prst="roundRect">
            <a:avLst>
              <a:gd name="adj" fmla="val 10853"/>
            </a:avLst>
          </a:prstGeom>
          <a:solidFill>
            <a:srgbClr val="F4F2E8"/>
          </a:solidFill>
          <a:ln w="9525">
            <a:solidFill>
              <a:srgbClr val="D0D1EB"/>
            </a:solidFill>
            <a:prstDash val="solid"/>
          </a:ln>
        </p:spPr>
      </p:sp>
      <p:sp>
        <p:nvSpPr>
          <p:cNvPr id="18" name="Text 16"/>
          <p:cNvSpPr txBox="1"/>
          <p:nvPr/>
        </p:nvSpPr>
        <p:spPr>
          <a:xfrm>
            <a:off x="774700" y="3937000"/>
            <a:ext cx="330200" cy="279400"/>
          </a:xfrm>
          <a:prstGeom prst="rect">
            <a:avLst/>
          </a:prstGeom>
          <a:noFill/>
          <a:ln/>
        </p:spPr>
        <p:txBody>
          <a:bodyPr wrap="square" lIns="0" tIns="0" rIns="0" bIns="0" rtlCol="0" anchor="t"/>
          <a:lstStyle/>
          <a:p>
            <a:pPr algn="l" indent="0" marL="0">
              <a:buNone/>
            </a:pPr>
            <a:r>
              <a:rPr lang="en-US" sz="1800" b="1" dirty="0">
                <a:solidFill>
                  <a:srgbClr val="1E2BFA"/>
                </a:solidFill>
                <a:latin typeface="Space Grotesk" pitchFamily="34" charset="0"/>
                <a:ea typeface="Space Grotesk" pitchFamily="34" charset="-122"/>
                <a:cs typeface="Space Grotesk" pitchFamily="34" charset="-120"/>
              </a:rPr>
              <a:t>3</a:t>
            </a:r>
            <a:endParaRPr lang="en-US" sz="1800" dirty="0"/>
          </a:p>
        </p:txBody>
      </p:sp>
      <p:sp>
        <p:nvSpPr>
          <p:cNvPr id="19" name="Text 17"/>
          <p:cNvSpPr txBox="1"/>
          <p:nvPr/>
        </p:nvSpPr>
        <p:spPr>
          <a:xfrm>
            <a:off x="1200150" y="3937000"/>
            <a:ext cx="4699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Integration qua MCP</a:t>
            </a:r>
            <a:endParaRPr lang="en-US" sz="1350" dirty="0"/>
          </a:p>
        </p:txBody>
      </p:sp>
      <p:sp>
        <p:nvSpPr>
          <p:cNvPr id="20" name="Text 18"/>
          <p:cNvSpPr txBox="1"/>
          <p:nvPr/>
        </p:nvSpPr>
        <p:spPr>
          <a:xfrm>
            <a:off x="1200150" y="4178300"/>
            <a:ext cx="4699000" cy="44450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Hai chiều với Jira, GitHub, Confluence, tool design, monitoring, test automation</a:t>
            </a:r>
            <a:endParaRPr lang="en-US" sz="1200" dirty="0"/>
          </a:p>
        </p:txBody>
      </p:sp>
      <p:sp>
        <p:nvSpPr>
          <p:cNvPr id="21" name="Shape 19"/>
          <p:cNvSpPr/>
          <p:nvPr/>
        </p:nvSpPr>
        <p:spPr>
          <a:xfrm>
            <a:off x="609600" y="4730750"/>
            <a:ext cx="5461000" cy="819150"/>
          </a:xfrm>
          <a:prstGeom prst="roundRect">
            <a:avLst>
              <a:gd name="adj" fmla="val 10853"/>
            </a:avLst>
          </a:prstGeom>
          <a:solidFill>
            <a:srgbClr val="F4F2E8"/>
          </a:solidFill>
          <a:ln w="9525">
            <a:solidFill>
              <a:srgbClr val="D0D1EB"/>
            </a:solidFill>
            <a:prstDash val="solid"/>
          </a:ln>
        </p:spPr>
      </p:sp>
      <p:sp>
        <p:nvSpPr>
          <p:cNvPr id="22" name="Text 20"/>
          <p:cNvSpPr txBox="1"/>
          <p:nvPr/>
        </p:nvSpPr>
        <p:spPr>
          <a:xfrm>
            <a:off x="774700" y="4832350"/>
            <a:ext cx="330200" cy="279400"/>
          </a:xfrm>
          <a:prstGeom prst="rect">
            <a:avLst/>
          </a:prstGeom>
          <a:noFill/>
          <a:ln/>
        </p:spPr>
        <p:txBody>
          <a:bodyPr wrap="square" lIns="0" tIns="0" rIns="0" bIns="0" rtlCol="0" anchor="t"/>
          <a:lstStyle/>
          <a:p>
            <a:pPr algn="l" indent="0" marL="0">
              <a:buNone/>
            </a:pPr>
            <a:r>
              <a:rPr lang="en-US" sz="1800" b="1" dirty="0">
                <a:solidFill>
                  <a:srgbClr val="1E2BFA"/>
                </a:solidFill>
                <a:latin typeface="Space Grotesk" pitchFamily="34" charset="0"/>
                <a:ea typeface="Space Grotesk" pitchFamily="34" charset="-122"/>
                <a:cs typeface="Space Grotesk" pitchFamily="34" charset="-120"/>
              </a:rPr>
              <a:t>4</a:t>
            </a:r>
            <a:endParaRPr lang="en-US" sz="1800" dirty="0"/>
          </a:p>
        </p:txBody>
      </p:sp>
      <p:sp>
        <p:nvSpPr>
          <p:cNvPr id="23" name="Text 21"/>
          <p:cNvSpPr txBox="1"/>
          <p:nvPr/>
        </p:nvSpPr>
        <p:spPr>
          <a:xfrm>
            <a:off x="1200150" y="4832350"/>
            <a:ext cx="4699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Governance và quality gate</a:t>
            </a:r>
            <a:endParaRPr lang="en-US" sz="1350" dirty="0"/>
          </a:p>
        </p:txBody>
      </p:sp>
      <p:sp>
        <p:nvSpPr>
          <p:cNvPr id="24" name="Text 22"/>
          <p:cNvSpPr txBox="1"/>
          <p:nvPr/>
        </p:nvSpPr>
        <p:spPr>
          <a:xfrm>
            <a:off x="1200150" y="5073650"/>
            <a:ext cx="4699000" cy="44450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Generate → Verify → Approve; guardrail, sandbox; audit trail; cost dashboard</a:t>
            </a:r>
            <a:endParaRPr lang="en-US" sz="1200" dirty="0"/>
          </a:p>
        </p:txBody>
      </p:sp>
      <p:sp>
        <p:nvSpPr>
          <p:cNvPr id="25" name="Text 23"/>
          <p:cNvSpPr txBox="1"/>
          <p:nvPr/>
        </p:nvSpPr>
        <p:spPr>
          <a:xfrm>
            <a:off x="6375400" y="1790700"/>
            <a:ext cx="52070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MƯỜI BA FEATURE · HAI NHÓM</a:t>
            </a:r>
            <a:endParaRPr lang="en-US" sz="1000" dirty="0"/>
          </a:p>
        </p:txBody>
      </p:sp>
      <p:sp>
        <p:nvSpPr>
          <p:cNvPr id="26" name="Shape 24"/>
          <p:cNvSpPr/>
          <p:nvPr/>
        </p:nvSpPr>
        <p:spPr>
          <a:xfrm>
            <a:off x="6375400" y="2044700"/>
            <a:ext cx="5207000" cy="1346200"/>
          </a:xfrm>
          <a:prstGeom prst="roundRect">
            <a:avLst>
              <a:gd name="adj" fmla="val 6604"/>
            </a:avLst>
          </a:prstGeom>
          <a:solidFill>
            <a:srgbClr val="F4F2E8"/>
          </a:solidFill>
          <a:ln w="9525">
            <a:solidFill>
              <a:srgbClr val="D0D1EB"/>
            </a:solidFill>
            <a:prstDash val="solid"/>
          </a:ln>
        </p:spPr>
      </p:sp>
      <p:sp>
        <p:nvSpPr>
          <p:cNvPr id="27" name="Text 25"/>
          <p:cNvSpPr txBox="1"/>
          <p:nvPr/>
        </p:nvSpPr>
        <p:spPr>
          <a:xfrm>
            <a:off x="6559550" y="2184400"/>
            <a:ext cx="254000" cy="304800"/>
          </a:xfrm>
          <a:prstGeom prst="rect">
            <a:avLst/>
          </a:prstGeom>
          <a:noFill/>
          <a:ln/>
        </p:spPr>
        <p:txBody>
          <a:bodyPr wrap="square" lIns="0" tIns="0" rIns="0" bIns="0" rtlCol="0" anchor="t"/>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5</a:t>
            </a:r>
            <a:endParaRPr lang="en-US" sz="2000" dirty="0"/>
          </a:p>
        </p:txBody>
      </p:sp>
      <p:sp>
        <p:nvSpPr>
          <p:cNvPr id="28" name="Text 26"/>
          <p:cNvSpPr txBox="1"/>
          <p:nvPr/>
        </p:nvSpPr>
        <p:spPr>
          <a:xfrm>
            <a:off x="6832600" y="2235200"/>
            <a:ext cx="4445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Nhóm common</a:t>
            </a:r>
            <a:endParaRPr lang="en-US" sz="1350" dirty="0"/>
          </a:p>
        </p:txBody>
      </p:sp>
      <p:sp>
        <p:nvSpPr>
          <p:cNvPr id="29" name="Text 27"/>
          <p:cNvSpPr txBox="1"/>
          <p:nvPr/>
        </p:nvSpPr>
        <p:spPr>
          <a:xfrm>
            <a:off x="6559550" y="2578100"/>
            <a:ext cx="13970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Q&amp;A có citation</a:t>
            </a:r>
            <a:endParaRPr lang="en-US" sz="1100" dirty="0"/>
          </a:p>
        </p:txBody>
      </p:sp>
      <p:sp>
        <p:nvSpPr>
          <p:cNvPr id="30" name="Text 28"/>
          <p:cNvSpPr txBox="1"/>
          <p:nvPr/>
        </p:nvSpPr>
        <p:spPr>
          <a:xfrm>
            <a:off x="8020050" y="2578100"/>
            <a:ext cx="33083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Code search, reverse engineering legacy</a:t>
            </a:r>
            <a:endParaRPr lang="en-US" sz="1100" dirty="0"/>
          </a:p>
        </p:txBody>
      </p:sp>
      <p:sp>
        <p:nvSpPr>
          <p:cNvPr id="31" name="Text 29"/>
          <p:cNvSpPr txBox="1"/>
          <p:nvPr/>
        </p:nvSpPr>
        <p:spPr>
          <a:xfrm>
            <a:off x="6559550" y="2933700"/>
            <a:ext cx="9969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Human gate</a:t>
            </a:r>
            <a:endParaRPr lang="en-US" sz="1100" dirty="0"/>
          </a:p>
        </p:txBody>
      </p:sp>
      <p:sp>
        <p:nvSpPr>
          <p:cNvPr id="32" name="Text 30"/>
          <p:cNvSpPr txBox="1"/>
          <p:nvPr/>
        </p:nvSpPr>
        <p:spPr>
          <a:xfrm>
            <a:off x="7620000" y="2933700"/>
            <a:ext cx="5207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RBAC</a:t>
            </a:r>
            <a:endParaRPr lang="en-US" sz="1100" dirty="0"/>
          </a:p>
        </p:txBody>
      </p:sp>
      <p:sp>
        <p:nvSpPr>
          <p:cNvPr id="33" name="Text 31"/>
          <p:cNvSpPr txBox="1"/>
          <p:nvPr/>
        </p:nvSpPr>
        <p:spPr>
          <a:xfrm>
            <a:off x="8204200" y="2933700"/>
            <a:ext cx="13208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Cost dashboard</a:t>
            </a:r>
            <a:endParaRPr lang="en-US" sz="1100" dirty="0"/>
          </a:p>
        </p:txBody>
      </p:sp>
      <p:sp>
        <p:nvSpPr>
          <p:cNvPr id="34" name="Shape 32"/>
          <p:cNvSpPr/>
          <p:nvPr/>
        </p:nvSpPr>
        <p:spPr>
          <a:xfrm>
            <a:off x="6375400" y="3492500"/>
            <a:ext cx="5207000" cy="2057400"/>
          </a:xfrm>
          <a:prstGeom prst="roundRect">
            <a:avLst>
              <a:gd name="adj" fmla="val 4321"/>
            </a:avLst>
          </a:prstGeom>
          <a:solidFill>
            <a:srgbClr val="F4F2E8"/>
          </a:solidFill>
          <a:ln w="9525">
            <a:solidFill>
              <a:srgbClr val="D0D1EB"/>
            </a:solidFill>
            <a:prstDash val="solid"/>
          </a:ln>
        </p:spPr>
      </p:sp>
      <p:sp>
        <p:nvSpPr>
          <p:cNvPr id="35" name="Text 33"/>
          <p:cNvSpPr txBox="1"/>
          <p:nvPr/>
        </p:nvSpPr>
        <p:spPr>
          <a:xfrm>
            <a:off x="6559550" y="3632200"/>
            <a:ext cx="254000" cy="304800"/>
          </a:xfrm>
          <a:prstGeom prst="rect">
            <a:avLst/>
          </a:prstGeom>
          <a:noFill/>
          <a:ln/>
        </p:spPr>
        <p:txBody>
          <a:bodyPr wrap="square" lIns="0" tIns="0" rIns="0" bIns="0" rtlCol="0" anchor="t"/>
          <a:lstStyle/>
          <a:p>
            <a:pPr algn="l" indent="0" marL="0">
              <a:buNone/>
            </a:pPr>
            <a:r>
              <a:rPr lang="en-US" sz="2000" b="1" dirty="0">
                <a:solidFill>
                  <a:srgbClr val="1E2BFA"/>
                </a:solidFill>
                <a:latin typeface="Space Grotesk" pitchFamily="34" charset="0"/>
                <a:ea typeface="Space Grotesk" pitchFamily="34" charset="-122"/>
                <a:cs typeface="Space Grotesk" pitchFamily="34" charset="-120"/>
              </a:rPr>
              <a:t>8</a:t>
            </a:r>
            <a:endParaRPr lang="en-US" sz="2000" dirty="0"/>
          </a:p>
        </p:txBody>
      </p:sp>
      <p:sp>
        <p:nvSpPr>
          <p:cNvPr id="36" name="Text 34"/>
          <p:cNvSpPr txBox="1"/>
          <p:nvPr/>
        </p:nvSpPr>
        <p:spPr>
          <a:xfrm>
            <a:off x="6832600" y="3683000"/>
            <a:ext cx="4445000" cy="241300"/>
          </a:xfrm>
          <a:prstGeom prst="rect">
            <a:avLst/>
          </a:prstGeom>
          <a:noFill/>
          <a:ln/>
        </p:spPr>
        <p:txBody>
          <a:bodyPr wrap="square" lIns="0" tIns="0" rIns="0" bIns="0" rtlCol="0" anchor="t"/>
          <a:lstStyle/>
          <a:p>
            <a:pPr algn="l" indent="0" marL="0">
              <a:buNone/>
            </a:pPr>
            <a:r>
              <a:rPr lang="en-US" sz="1350" b="1" dirty="0">
                <a:solidFill>
                  <a:srgbClr val="111111"/>
                </a:solidFill>
                <a:latin typeface="Space Grotesk" pitchFamily="34" charset="0"/>
                <a:ea typeface="Space Grotesk" pitchFamily="34" charset="-122"/>
                <a:cs typeface="Space Grotesk" pitchFamily="34" charset="-120"/>
              </a:rPr>
              <a:t>Nhóm development lifecycle</a:t>
            </a:r>
            <a:endParaRPr lang="en-US" sz="1350" dirty="0"/>
          </a:p>
        </p:txBody>
      </p:sp>
      <p:sp>
        <p:nvSpPr>
          <p:cNvPr id="37" name="Text 35"/>
          <p:cNvSpPr txBox="1"/>
          <p:nvPr/>
        </p:nvSpPr>
        <p:spPr>
          <a:xfrm>
            <a:off x="6559550" y="4025900"/>
            <a:ext cx="25146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Requirements definition (SRS)</a:t>
            </a:r>
            <a:endParaRPr lang="en-US" sz="1100" dirty="0"/>
          </a:p>
        </p:txBody>
      </p:sp>
      <p:sp>
        <p:nvSpPr>
          <p:cNvPr id="38" name="Text 36"/>
          <p:cNvSpPr txBox="1"/>
          <p:nvPr/>
        </p:nvSpPr>
        <p:spPr>
          <a:xfrm>
            <a:off x="9137650" y="4025900"/>
            <a:ext cx="18732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Basic &amp; detail design</a:t>
            </a:r>
            <a:endParaRPr lang="en-US" sz="1100" dirty="0"/>
          </a:p>
        </p:txBody>
      </p:sp>
      <p:sp>
        <p:nvSpPr>
          <p:cNvPr id="39" name="Text 37"/>
          <p:cNvSpPr txBox="1"/>
          <p:nvPr/>
        </p:nvSpPr>
        <p:spPr>
          <a:xfrm>
            <a:off x="6559550" y="4381500"/>
            <a:ext cx="19558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Code gen kèm unit test</a:t>
            </a:r>
            <a:endParaRPr lang="en-US" sz="1100" dirty="0"/>
          </a:p>
        </p:txBody>
      </p:sp>
      <p:sp>
        <p:nvSpPr>
          <p:cNvPr id="40" name="Text 38"/>
          <p:cNvSpPr txBox="1"/>
          <p:nvPr/>
        </p:nvSpPr>
        <p:spPr>
          <a:xfrm>
            <a:off x="8578850" y="4381500"/>
            <a:ext cx="18732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Automated code review</a:t>
            </a:r>
            <a:endParaRPr lang="en-US" sz="1100" dirty="0"/>
          </a:p>
        </p:txBody>
      </p:sp>
      <p:sp>
        <p:nvSpPr>
          <p:cNvPr id="41" name="Text 39"/>
          <p:cNvSpPr txBox="1"/>
          <p:nvPr/>
        </p:nvSpPr>
        <p:spPr>
          <a:xfrm>
            <a:off x="6559550" y="4737100"/>
            <a:ext cx="14795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Test case design</a:t>
            </a:r>
            <a:endParaRPr lang="en-US" sz="1100" dirty="0"/>
          </a:p>
        </p:txBody>
      </p:sp>
      <p:sp>
        <p:nvSpPr>
          <p:cNvPr id="42" name="Text 40"/>
          <p:cNvSpPr txBox="1"/>
          <p:nvPr/>
        </p:nvSpPr>
        <p:spPr>
          <a:xfrm>
            <a:off x="8102600" y="4737100"/>
            <a:ext cx="27495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Test execution kèm evidence pack</a:t>
            </a:r>
            <a:endParaRPr lang="en-US" sz="1100" dirty="0"/>
          </a:p>
        </p:txBody>
      </p:sp>
      <p:sp>
        <p:nvSpPr>
          <p:cNvPr id="43" name="Text 41"/>
          <p:cNvSpPr txBox="1"/>
          <p:nvPr/>
        </p:nvSpPr>
        <p:spPr>
          <a:xfrm>
            <a:off x="6559550" y="5092700"/>
            <a:ext cx="267335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Giao trọn feature bằng một lệnh</a:t>
            </a:r>
            <a:endParaRPr lang="en-US" sz="1100" dirty="0"/>
          </a:p>
        </p:txBody>
      </p:sp>
      <p:sp>
        <p:nvSpPr>
          <p:cNvPr id="44" name="Text 42"/>
          <p:cNvSpPr txBox="1"/>
          <p:nvPr/>
        </p:nvSpPr>
        <p:spPr>
          <a:xfrm>
            <a:off x="9296400" y="5092700"/>
            <a:ext cx="1955800" cy="279400"/>
          </a:xfrm>
          <a:prstGeom prst="roundRect">
            <a:avLst>
              <a:gd name="adj" fmla="val 50000"/>
            </a:avLst>
          </a:prstGeom>
          <a:solidFill>
            <a:srgbClr val="EBE9E8"/>
          </a:solidFill>
          <a:ln/>
        </p:spPr>
        <p:txBody>
          <a:bodyPr wrap="square" lIns="0" tIns="0" rIns="0" bIns="0" rtlCol="0" anchor="ctr"/>
          <a:lstStyle/>
          <a:p>
            <a:pPr algn="ctr" indent="0" marL="0">
              <a:buNone/>
            </a:pPr>
            <a:r>
              <a:rPr lang="en-US" sz="1100" dirty="0">
                <a:solidFill>
                  <a:srgbClr val="1E2BFA"/>
                </a:solidFill>
                <a:latin typeface="Space Grotesk" pitchFamily="34" charset="0"/>
                <a:ea typeface="Space Grotesk" pitchFamily="34" charset="-122"/>
                <a:cs typeface="Space Grotesk" pitchFamily="34" charset="-120"/>
              </a:rPr>
              <a:t>Change impact analysis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01 · BỐI CẢNH</a:t>
            </a:r>
            <a:endParaRPr lang="en-US" sz="1100" dirty="0"/>
          </a:p>
        </p:txBody>
      </p:sp>
      <p:sp>
        <p:nvSpPr>
          <p:cNvPr id="3" name="Text 1"/>
          <p:cNvSpPr txBox="1"/>
          <p:nvPr/>
        </p:nvSpPr>
        <p:spPr>
          <a:xfrm>
            <a:off x="9658350" y="412750"/>
            <a:ext cx="1924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Theo tài liệu platform</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Lập luận của platform: IDE harness khác về bản chất</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06 / 19</a:t>
            </a:r>
            <a:endParaRPr lang="en-US" sz="900" dirty="0"/>
          </a:p>
        </p:txBody>
      </p:sp>
      <p:sp>
        <p:nvSpPr>
          <p:cNvPr id="7" name="Shape 5"/>
          <p:cNvSpPr/>
          <p:nvPr/>
        </p:nvSpPr>
        <p:spPr>
          <a:xfrm>
            <a:off x="0" y="6838950"/>
            <a:ext cx="3850105" cy="19050"/>
          </a:xfrm>
          <a:prstGeom prst="rect">
            <a:avLst/>
          </a:prstGeom>
          <a:solidFill>
            <a:srgbClr val="1E2BFA"/>
          </a:solidFill>
          <a:ln/>
        </p:spPr>
      </p:sp>
      <p:sp>
        <p:nvSpPr>
          <p:cNvPr id="8" name="Shape 6"/>
          <p:cNvSpPr/>
          <p:nvPr/>
        </p:nvSpPr>
        <p:spPr>
          <a:xfrm>
            <a:off x="609600" y="1663700"/>
            <a:ext cx="10972800" cy="3619500"/>
          </a:xfrm>
          <a:prstGeom prst="roundRect">
            <a:avLst>
              <a:gd name="adj" fmla="val 2456"/>
            </a:avLst>
          </a:prstGeom>
          <a:solidFill>
            <a:srgbClr val="F4F2E8"/>
          </a:solidFill>
          <a:ln/>
        </p:spPr>
      </p:sp>
      <p:sp>
        <p:nvSpPr>
          <p:cNvPr id="9" name="Shape 7"/>
          <p:cNvSpPr/>
          <p:nvPr/>
        </p:nvSpPr>
        <p:spPr>
          <a:xfrm>
            <a:off x="609600" y="1663700"/>
            <a:ext cx="10972800" cy="393700"/>
          </a:xfrm>
          <a:prstGeom prst="roundRect">
            <a:avLst>
              <a:gd name="adj" fmla="val 22581"/>
            </a:avLst>
          </a:prstGeom>
          <a:solidFill>
            <a:srgbClr val="E2E1E9"/>
          </a:solidFill>
          <a:ln/>
        </p:spPr>
      </p:sp>
      <p:sp>
        <p:nvSpPr>
          <p:cNvPr id="10" name="Shape 8"/>
          <p:cNvSpPr/>
          <p:nvPr/>
        </p:nvSpPr>
        <p:spPr>
          <a:xfrm>
            <a:off x="609600" y="1860550"/>
            <a:ext cx="10972800" cy="196850"/>
          </a:xfrm>
          <a:prstGeom prst="rect">
            <a:avLst/>
          </a:prstGeom>
          <a:solidFill>
            <a:srgbClr val="E2E1E9"/>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9600" y="1663700"/>
          <a:ext cx="10972800" cy="914400"/>
        </p:xfrm>
        <a:graphic>
          <a:graphicData uri="http://schemas.openxmlformats.org/drawingml/2006/table">
            <a:tbl>
              <a:tblPr/>
              <a:tblGrid>
                <a:gridCol w="2413000"/>
                <a:gridCol w="3949700"/>
                <a:gridCol w="4610100"/>
              </a:tblGrid>
              <a:tr h="3937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TIÊU CHÍ</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IDE HARNESS</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PLATFORM</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6985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Automation level</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L3: interactive, dev prompt từng bước</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L4: tự chain SRS → code → test → PR, người review/approve</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572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Deployment</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Tool cá nhân, phụ thuộc kỹ năng prompt</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Tập trung trên cloud, gắn CI/CD, Jira, GitHub</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572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Task scope</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Task rời rạc</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End-to-end delivery</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572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System scope</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Single repo, active files</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Multi-repo, change impact map giữa các service</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6985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Quality gate</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Không có human gate bắt buộc, thiếu audit log tập trung</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3-layer quality gate, audit trail, RBAC</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572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Tích hợp tool</a:t>
                      </a:r>
                      <a:endParaRPr lang="en-US" sz="1400" dirty="0">
                        <a:latin typeface="Space Grotesk" charset="0"/>
                        <a:ea typeface="Space Grotesk" charset="0"/>
                        <a:cs typeface="Space Grotesk"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Giới hạn trong môi trường test local</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Điều phối module test automation của doanh nghiệp</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2" name="Shape 9"/>
          <p:cNvSpPr/>
          <p:nvPr/>
        </p:nvSpPr>
        <p:spPr>
          <a:xfrm>
            <a:off x="609600" y="1663700"/>
            <a:ext cx="10972800" cy="3619500"/>
          </a:xfrm>
          <a:prstGeom prst="roundRect">
            <a:avLst>
              <a:gd name="adj" fmla="val 2456"/>
            </a:avLst>
          </a:prstGeom>
          <a:ln w="9525">
            <a:solidFill>
              <a:srgbClr val="D0D1EB"/>
            </a:solidFill>
            <a:prstDash val="solid"/>
          </a:ln>
        </p:spPr>
      </p:sp>
      <p:sp>
        <p:nvSpPr>
          <p:cNvPr id="13" name="Text 10"/>
          <p:cNvSpPr txBox="1"/>
          <p:nvPr/>
        </p:nvSpPr>
        <p:spPr>
          <a:xfrm>
            <a:off x="609600" y="5575300"/>
            <a:ext cx="21590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KẾT LUẬN CỦA TÀI LIỆU ĐÓ</a:t>
            </a:r>
            <a:endParaRPr lang="en-US" sz="1000" dirty="0"/>
          </a:p>
        </p:txBody>
      </p:sp>
      <p:sp>
        <p:nvSpPr>
          <p:cNvPr id="14" name="Text 11"/>
          <p:cNvSpPr txBox="1"/>
          <p:nvPr/>
        </p:nvSpPr>
        <p:spPr>
          <a:xfrm>
            <a:off x="2857500" y="5499100"/>
            <a:ext cx="8724900" cy="533400"/>
          </a:xfrm>
          <a:prstGeom prst="rect">
            <a:avLst/>
          </a:prstGeom>
          <a:noFill/>
          <a:ln/>
        </p:spPr>
        <p:txBody>
          <a:bodyPr wrap="square" lIns="0" tIns="0" rIns="0" bIns="0" rtlCol="0" anchor="t"/>
          <a:lstStyle/>
          <a:p>
            <a:pPr algn="l" indent="0" marL="0">
              <a:lnSpc>
                <a:spcPts val="1958"/>
              </a:lnSpc>
              <a:buNone/>
            </a:pPr>
            <a:r>
              <a:rPr lang="en-US" sz="1350" dirty="0">
                <a:solidFill>
                  <a:srgbClr val="6B6B6B"/>
                </a:solidFill>
                <a:latin typeface="Inter" pitchFamily="34" charset="0"/>
                <a:ea typeface="Inter" pitchFamily="34" charset="-122"/>
                <a:cs typeface="Inter" pitchFamily="34" charset="-120"/>
              </a:rPr>
              <a:t>IDE harness (kể cả khi đã nối knowledge base) là </a:t>
            </a:r>
            <a:pPr algn="l" indent="0" marL="0">
              <a:lnSpc>
                <a:spcPts val="1958"/>
              </a:lnSpc>
              <a:buNone/>
            </a:pPr>
            <a:r>
              <a:rPr lang="en-US" sz="1350" b="1" dirty="0">
                <a:solidFill>
                  <a:srgbClr val="111111"/>
                </a:solidFill>
                <a:latin typeface="Inter" pitchFamily="34" charset="0"/>
                <a:ea typeface="Inter" pitchFamily="34" charset="-122"/>
                <a:cs typeface="Inter" pitchFamily="34" charset="-120"/>
              </a:rPr>
              <a:t>“trợ lý cá nhân của lập trình viên”</a:t>
            </a:r>
            <a:pPr algn="l" indent="0" marL="0">
              <a:lnSpc>
                <a:spcPts val="1958"/>
              </a:lnSpc>
              <a:buNone/>
            </a:pPr>
            <a:r>
              <a:rPr lang="en-US" sz="1350" dirty="0">
                <a:solidFill>
                  <a:srgbClr val="6B6B6B"/>
                </a:solidFill>
                <a:latin typeface="Inter" pitchFamily="34" charset="0"/>
                <a:ea typeface="Inter" pitchFamily="34" charset="-122"/>
                <a:cs typeface="Inter" pitchFamily="34" charset="-120"/>
              </a:rPr>
              <a:t>; platform là </a:t>
            </a:r>
            <a:pPr algn="l" indent="0" marL="0">
              <a:lnSpc>
                <a:spcPts val="1958"/>
              </a:lnSpc>
              <a:buNone/>
            </a:pPr>
            <a:r>
              <a:rPr lang="en-US" sz="1350" b="1" dirty="0">
                <a:solidFill>
                  <a:srgbClr val="111111"/>
                </a:solidFill>
                <a:latin typeface="Inter" pitchFamily="34" charset="0"/>
                <a:ea typeface="Inter" pitchFamily="34" charset="-122"/>
                <a:cs typeface="Inter" pitchFamily="34" charset="-120"/>
              </a:rPr>
              <a:t>“dây chuyền sản xuất phần mềm tự động”</a:t>
            </a:r>
            <a:pPr algn="l" indent="0" marL="0">
              <a:lnSpc>
                <a:spcPts val="1958"/>
              </a:lnSpc>
              <a:buNone/>
            </a:pPr>
            <a:r>
              <a:rPr lang="en-US" sz="1350" dirty="0">
                <a:solidFill>
                  <a:srgbClr val="6B6B6B"/>
                </a:solidFill>
                <a:latin typeface="Inter" pitchFamily="34" charset="0"/>
                <a:ea typeface="Inter" pitchFamily="34" charset="-122"/>
                <a:cs typeface="Inter" pitchFamily="34" charset="-120"/>
              </a:rPr>
              <a: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02 · ĐỀ XUẤT</a:t>
            </a:r>
            <a:endParaRPr lang="en-US" sz="1100" dirty="0"/>
          </a:p>
        </p:txBody>
      </p:sp>
      <p:sp>
        <p:nvSpPr>
          <p:cNvPr id="3" name="Text 1"/>
          <p:cNvSpPr txBox="1"/>
          <p:nvPr/>
        </p:nvSpPr>
        <p:spPr>
          <a:xfrm>
            <a:off x="10166350" y="412750"/>
            <a:ext cx="1416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Khung phân tích</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Một agent làm việc thật luôn gồm bốn phần</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07 / 19</a:t>
            </a:r>
            <a:endParaRPr lang="en-US" sz="900" dirty="0"/>
          </a:p>
        </p:txBody>
      </p:sp>
      <p:sp>
        <p:nvSpPr>
          <p:cNvPr id="7" name="Shape 5"/>
          <p:cNvSpPr/>
          <p:nvPr/>
        </p:nvSpPr>
        <p:spPr>
          <a:xfrm>
            <a:off x="0" y="6838950"/>
            <a:ext cx="4491789" cy="19050"/>
          </a:xfrm>
          <a:prstGeom prst="rect">
            <a:avLst/>
          </a:prstGeom>
          <a:solidFill>
            <a:srgbClr val="1E2BFA"/>
          </a:solidFill>
          <a:ln/>
        </p:spPr>
      </p:sp>
      <p:sp>
        <p:nvSpPr>
          <p:cNvPr id="8" name="Text 6"/>
          <p:cNvSpPr txBox="1"/>
          <p:nvPr/>
        </p:nvSpPr>
        <p:spPr>
          <a:xfrm>
            <a:off x="609600" y="2095500"/>
            <a:ext cx="1397000" cy="952500"/>
          </a:xfrm>
          <a:prstGeom prst="rect">
            <a:avLst/>
          </a:prstGeom>
          <a:noFill/>
          <a:ln/>
        </p:spPr>
        <p:txBody>
          <a:bodyPr wrap="square" lIns="0" tIns="0" rIns="0" bIns="0" rtlCol="0" anchor="ct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AGENT</a:t>
            </a:r>
            <a:endParaRPr lang="en-US" sz="1000" dirty="0"/>
          </a:p>
        </p:txBody>
      </p:sp>
      <p:sp>
        <p:nvSpPr>
          <p:cNvPr id="9" name="Shape 7"/>
          <p:cNvSpPr/>
          <p:nvPr/>
        </p:nvSpPr>
        <p:spPr>
          <a:xfrm>
            <a:off x="2070100" y="2095500"/>
            <a:ext cx="2139950" cy="952500"/>
          </a:xfrm>
          <a:prstGeom prst="roundRect">
            <a:avLst>
              <a:gd name="adj" fmla="val 9333"/>
            </a:avLst>
          </a:prstGeom>
          <a:solidFill>
            <a:srgbClr val="F4F2E8"/>
          </a:solidFill>
          <a:ln w="9525">
            <a:solidFill>
              <a:srgbClr val="D0D1EB"/>
            </a:solidFill>
            <a:prstDash val="solid"/>
          </a:ln>
        </p:spPr>
      </p:sp>
      <p:sp>
        <p:nvSpPr>
          <p:cNvPr id="10" name="Text 8"/>
          <p:cNvSpPr txBox="1"/>
          <p:nvPr/>
        </p:nvSpPr>
        <p:spPr>
          <a:xfrm>
            <a:off x="2146300" y="2286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Harness</a:t>
            </a:r>
            <a:endParaRPr lang="en-US" sz="1800" dirty="0"/>
          </a:p>
        </p:txBody>
      </p:sp>
      <p:sp>
        <p:nvSpPr>
          <p:cNvPr id="11" name="Text 9"/>
          <p:cNvSpPr txBox="1"/>
          <p:nvPr/>
        </p:nvSpPr>
        <p:spPr>
          <a:xfrm>
            <a:off x="2146300" y="2654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Claude Code, Kiro…</a:t>
            </a:r>
            <a:endParaRPr lang="en-US" sz="1100" dirty="0"/>
          </a:p>
        </p:txBody>
      </p:sp>
      <p:sp>
        <p:nvSpPr>
          <p:cNvPr id="12" name="Text 10"/>
          <p:cNvSpPr txBox="1"/>
          <p:nvPr/>
        </p:nvSpPr>
        <p:spPr>
          <a:xfrm>
            <a:off x="4210050" y="2095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13" name="Shape 11"/>
          <p:cNvSpPr/>
          <p:nvPr/>
        </p:nvSpPr>
        <p:spPr>
          <a:xfrm>
            <a:off x="4527550" y="2095500"/>
            <a:ext cx="2139950" cy="952500"/>
          </a:xfrm>
          <a:prstGeom prst="roundRect">
            <a:avLst>
              <a:gd name="adj" fmla="val 9333"/>
            </a:avLst>
          </a:prstGeom>
          <a:solidFill>
            <a:srgbClr val="F4F2E8"/>
          </a:solidFill>
          <a:ln w="9525">
            <a:solidFill>
              <a:srgbClr val="D0D1EB"/>
            </a:solidFill>
            <a:prstDash val="solid"/>
          </a:ln>
        </p:spPr>
      </p:sp>
      <p:sp>
        <p:nvSpPr>
          <p:cNvPr id="14" name="Text 12"/>
          <p:cNvSpPr txBox="1"/>
          <p:nvPr/>
        </p:nvSpPr>
        <p:spPr>
          <a:xfrm>
            <a:off x="4603750" y="2286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LLM</a:t>
            </a:r>
            <a:endParaRPr lang="en-US" sz="1800" dirty="0"/>
          </a:p>
        </p:txBody>
      </p:sp>
      <p:sp>
        <p:nvSpPr>
          <p:cNvPr id="15" name="Text 13"/>
          <p:cNvSpPr txBox="1"/>
          <p:nvPr/>
        </p:nvSpPr>
        <p:spPr>
          <a:xfrm>
            <a:off x="4603750" y="2654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vendor hoặc open source</a:t>
            </a:r>
            <a:endParaRPr lang="en-US" sz="1100" dirty="0"/>
          </a:p>
        </p:txBody>
      </p:sp>
      <p:sp>
        <p:nvSpPr>
          <p:cNvPr id="16" name="Text 14"/>
          <p:cNvSpPr txBox="1"/>
          <p:nvPr/>
        </p:nvSpPr>
        <p:spPr>
          <a:xfrm>
            <a:off x="6667500" y="2095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17" name="Shape 15"/>
          <p:cNvSpPr/>
          <p:nvPr/>
        </p:nvSpPr>
        <p:spPr>
          <a:xfrm>
            <a:off x="6985000" y="2095500"/>
            <a:ext cx="2139950" cy="952500"/>
          </a:xfrm>
          <a:prstGeom prst="roundRect">
            <a:avLst>
              <a:gd name="adj" fmla="val 9333"/>
            </a:avLst>
          </a:prstGeom>
          <a:solidFill>
            <a:srgbClr val="F4F2E8"/>
          </a:solidFill>
          <a:ln w="9525">
            <a:solidFill>
              <a:srgbClr val="D0D1EB"/>
            </a:solidFill>
            <a:prstDash val="solid"/>
          </a:ln>
        </p:spPr>
      </p:sp>
      <p:sp>
        <p:nvSpPr>
          <p:cNvPr id="18" name="Text 16"/>
          <p:cNvSpPr txBox="1"/>
          <p:nvPr/>
        </p:nvSpPr>
        <p:spPr>
          <a:xfrm>
            <a:off x="7061200" y="2286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Kit</a:t>
            </a:r>
            <a:endParaRPr lang="en-US" sz="1800" dirty="0"/>
          </a:p>
        </p:txBody>
      </p:sp>
      <p:sp>
        <p:nvSpPr>
          <p:cNvPr id="19" name="Text 17"/>
          <p:cNvSpPr txBox="1"/>
          <p:nvPr/>
        </p:nvSpPr>
        <p:spPr>
          <a:xfrm>
            <a:off x="7061200" y="2654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skill, workflow, connector</a:t>
            </a:r>
            <a:endParaRPr lang="en-US" sz="1100" dirty="0"/>
          </a:p>
        </p:txBody>
      </p:sp>
      <p:sp>
        <p:nvSpPr>
          <p:cNvPr id="20" name="Text 18"/>
          <p:cNvSpPr txBox="1"/>
          <p:nvPr/>
        </p:nvSpPr>
        <p:spPr>
          <a:xfrm>
            <a:off x="9124950" y="2095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21" name="Shape 19"/>
          <p:cNvSpPr/>
          <p:nvPr/>
        </p:nvSpPr>
        <p:spPr>
          <a:xfrm>
            <a:off x="9442450" y="2095500"/>
            <a:ext cx="2139950" cy="952500"/>
          </a:xfrm>
          <a:prstGeom prst="roundRect">
            <a:avLst>
              <a:gd name="adj" fmla="val 9333"/>
            </a:avLst>
          </a:prstGeom>
          <a:solidFill>
            <a:srgbClr val="F4F2E8"/>
          </a:solidFill>
          <a:ln w="9525">
            <a:solidFill>
              <a:srgbClr val="D0D1EB"/>
            </a:solidFill>
            <a:prstDash val="solid"/>
          </a:ln>
        </p:spPr>
      </p:sp>
      <p:sp>
        <p:nvSpPr>
          <p:cNvPr id="22" name="Text 20"/>
          <p:cNvSpPr txBox="1"/>
          <p:nvPr/>
        </p:nvSpPr>
        <p:spPr>
          <a:xfrm>
            <a:off x="9518650" y="2286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Infrastructure</a:t>
            </a:r>
            <a:endParaRPr lang="en-US" sz="1800" dirty="0"/>
          </a:p>
        </p:txBody>
      </p:sp>
      <p:sp>
        <p:nvSpPr>
          <p:cNvPr id="23" name="Text 21"/>
          <p:cNvSpPr txBox="1"/>
          <p:nvPr/>
        </p:nvSpPr>
        <p:spPr>
          <a:xfrm>
            <a:off x="9518650" y="2654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hạ tầng</a:t>
            </a:r>
            <a:endParaRPr lang="en-US" sz="1100" dirty="0"/>
          </a:p>
        </p:txBody>
      </p:sp>
      <p:sp>
        <p:nvSpPr>
          <p:cNvPr id="24" name="Text 22"/>
          <p:cNvSpPr txBox="1"/>
          <p:nvPr/>
        </p:nvSpPr>
        <p:spPr>
          <a:xfrm>
            <a:off x="609600" y="3238500"/>
            <a:ext cx="1397000" cy="952500"/>
          </a:xfrm>
          <a:prstGeom prst="rect">
            <a:avLst/>
          </a:prstGeom>
          <a:noFill/>
          <a:ln/>
        </p:spPr>
        <p:txBody>
          <a:bodyPr wrap="square" lIns="0" tIns="0" rIns="0" bIns="0" rtlCol="0" anchor="ct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PLATFORM</a:t>
            </a:r>
            <a:endParaRPr lang="en-US" sz="1000" dirty="0"/>
          </a:p>
        </p:txBody>
      </p:sp>
      <p:sp>
        <p:nvSpPr>
          <p:cNvPr id="25" name="Shape 23"/>
          <p:cNvSpPr/>
          <p:nvPr/>
        </p:nvSpPr>
        <p:spPr>
          <a:xfrm>
            <a:off x="2070100" y="3238500"/>
            <a:ext cx="2139950" cy="952500"/>
          </a:xfrm>
          <a:prstGeom prst="roundRect">
            <a:avLst>
              <a:gd name="adj" fmla="val 9333"/>
            </a:avLst>
          </a:prstGeom>
          <a:solidFill>
            <a:srgbClr val="DCDBEA"/>
          </a:solidFill>
          <a:ln w="9525">
            <a:solidFill>
              <a:srgbClr val="1E2BFA"/>
            </a:solidFill>
            <a:prstDash val="solid"/>
          </a:ln>
        </p:spPr>
      </p:sp>
      <p:sp>
        <p:nvSpPr>
          <p:cNvPr id="26" name="Text 24"/>
          <p:cNvSpPr txBox="1"/>
          <p:nvPr/>
        </p:nvSpPr>
        <p:spPr>
          <a:xfrm>
            <a:off x="2146300" y="3429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Harness</a:t>
            </a:r>
            <a:endParaRPr lang="en-US" sz="1800" dirty="0"/>
          </a:p>
        </p:txBody>
      </p:sp>
      <p:sp>
        <p:nvSpPr>
          <p:cNvPr id="27" name="Text 25"/>
          <p:cNvSpPr txBox="1"/>
          <p:nvPr/>
        </p:nvSpPr>
        <p:spPr>
          <a:xfrm>
            <a:off x="2146300" y="3797300"/>
            <a:ext cx="1987550" cy="203200"/>
          </a:xfrm>
          <a:prstGeom prst="rect">
            <a:avLst/>
          </a:prstGeom>
          <a:noFill/>
          <a:ln/>
        </p:spPr>
        <p:txBody>
          <a:bodyPr wrap="square" lIns="0" tIns="0" rIns="0" bIns="0" rtlCol="0" anchor="t"/>
          <a:lstStyle/>
          <a:p>
            <a:pPr algn="ctr" indent="0" marL="0">
              <a:buNone/>
            </a:pPr>
            <a:r>
              <a:rPr lang="en-US" sz="950" b="1" spc="100" kern="0" dirty="0">
                <a:solidFill>
                  <a:srgbClr val="1E2BFA"/>
                </a:solidFill>
                <a:latin typeface="Space Grotesk" pitchFamily="34" charset="0"/>
                <a:ea typeface="Space Grotesk" pitchFamily="34" charset="-122"/>
                <a:cs typeface="Space Grotesk" pitchFamily="34" charset="-120"/>
              </a:rPr>
              <a:t>TỰ VIẾT LẠI</a:t>
            </a:r>
            <a:endParaRPr lang="en-US" sz="950" dirty="0"/>
          </a:p>
        </p:txBody>
      </p:sp>
      <p:sp>
        <p:nvSpPr>
          <p:cNvPr id="28" name="Text 26"/>
          <p:cNvSpPr txBox="1"/>
          <p:nvPr/>
        </p:nvSpPr>
        <p:spPr>
          <a:xfrm>
            <a:off x="4210050" y="3238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29" name="Shape 27"/>
          <p:cNvSpPr/>
          <p:nvPr/>
        </p:nvSpPr>
        <p:spPr>
          <a:xfrm>
            <a:off x="4527550" y="3238500"/>
            <a:ext cx="2139950" cy="952500"/>
          </a:xfrm>
          <a:prstGeom prst="roundRect">
            <a:avLst>
              <a:gd name="adj" fmla="val 9333"/>
            </a:avLst>
          </a:prstGeom>
          <a:solidFill>
            <a:srgbClr val="F4F2E8"/>
          </a:solidFill>
          <a:ln w="9525">
            <a:solidFill>
              <a:srgbClr val="D0D1EB"/>
            </a:solidFill>
            <a:prstDash val="solid"/>
          </a:ln>
        </p:spPr>
      </p:sp>
      <p:sp>
        <p:nvSpPr>
          <p:cNvPr id="30" name="Text 28"/>
          <p:cNvSpPr txBox="1"/>
          <p:nvPr/>
        </p:nvSpPr>
        <p:spPr>
          <a:xfrm>
            <a:off x="4603750" y="3429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LLM</a:t>
            </a:r>
            <a:endParaRPr lang="en-US" sz="1800" dirty="0"/>
          </a:p>
        </p:txBody>
      </p:sp>
      <p:sp>
        <p:nvSpPr>
          <p:cNvPr id="31" name="Text 29"/>
          <p:cNvSpPr txBox="1"/>
          <p:nvPr/>
        </p:nvSpPr>
        <p:spPr>
          <a:xfrm>
            <a:off x="4603750" y="3797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giống</a:t>
            </a:r>
            <a:endParaRPr lang="en-US" sz="1100" dirty="0"/>
          </a:p>
        </p:txBody>
      </p:sp>
      <p:sp>
        <p:nvSpPr>
          <p:cNvPr id="32" name="Text 30"/>
          <p:cNvSpPr txBox="1"/>
          <p:nvPr/>
        </p:nvSpPr>
        <p:spPr>
          <a:xfrm>
            <a:off x="6667500" y="3238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33" name="Shape 31"/>
          <p:cNvSpPr/>
          <p:nvPr/>
        </p:nvSpPr>
        <p:spPr>
          <a:xfrm>
            <a:off x="6985000" y="3238500"/>
            <a:ext cx="2139950" cy="952500"/>
          </a:xfrm>
          <a:prstGeom prst="roundRect">
            <a:avLst>
              <a:gd name="adj" fmla="val 9333"/>
            </a:avLst>
          </a:prstGeom>
          <a:solidFill>
            <a:srgbClr val="F4F2E8"/>
          </a:solidFill>
          <a:ln w="9525">
            <a:solidFill>
              <a:srgbClr val="D0D1EB"/>
            </a:solidFill>
            <a:prstDash val="solid"/>
          </a:ln>
        </p:spPr>
      </p:sp>
      <p:sp>
        <p:nvSpPr>
          <p:cNvPr id="34" name="Text 32"/>
          <p:cNvSpPr txBox="1"/>
          <p:nvPr/>
        </p:nvSpPr>
        <p:spPr>
          <a:xfrm>
            <a:off x="7061200" y="3429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Kit</a:t>
            </a:r>
            <a:endParaRPr lang="en-US" sz="1800" dirty="0"/>
          </a:p>
        </p:txBody>
      </p:sp>
      <p:sp>
        <p:nvSpPr>
          <p:cNvPr id="35" name="Text 33"/>
          <p:cNvSpPr txBox="1"/>
          <p:nvPr/>
        </p:nvSpPr>
        <p:spPr>
          <a:xfrm>
            <a:off x="7061200" y="3797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giống</a:t>
            </a:r>
            <a:endParaRPr lang="en-US" sz="1100" dirty="0"/>
          </a:p>
        </p:txBody>
      </p:sp>
      <p:sp>
        <p:nvSpPr>
          <p:cNvPr id="36" name="Text 34"/>
          <p:cNvSpPr txBox="1"/>
          <p:nvPr/>
        </p:nvSpPr>
        <p:spPr>
          <a:xfrm>
            <a:off x="9124950" y="3238500"/>
            <a:ext cx="317500" cy="952500"/>
          </a:xfrm>
          <a:prstGeom prst="rect">
            <a:avLst/>
          </a:prstGeom>
          <a:noFill/>
          <a:ln/>
        </p:spPr>
        <p:txBody>
          <a:bodyPr wrap="square" lIns="0" tIns="0" rIns="0" bIns="0" rtlCol="0" anchor="ctr"/>
          <a:lstStyle/>
          <a:p>
            <a:pPr algn="ctr" indent="0" marL="0">
              <a:buNone/>
            </a:pPr>
            <a:r>
              <a:rPr lang="en-US" sz="2200" b="1" dirty="0">
                <a:solidFill>
                  <a:srgbClr val="1E2BFA"/>
                </a:solidFill>
                <a:latin typeface="Space Grotesk" pitchFamily="34" charset="0"/>
                <a:ea typeface="Space Grotesk" pitchFamily="34" charset="-122"/>
                <a:cs typeface="Space Grotesk" pitchFamily="34" charset="-120"/>
              </a:rPr>
              <a:t>+</a:t>
            </a:r>
            <a:endParaRPr lang="en-US" sz="2200" dirty="0"/>
          </a:p>
        </p:txBody>
      </p:sp>
      <p:sp>
        <p:nvSpPr>
          <p:cNvPr id="37" name="Shape 35"/>
          <p:cNvSpPr/>
          <p:nvPr/>
        </p:nvSpPr>
        <p:spPr>
          <a:xfrm>
            <a:off x="9442450" y="3238500"/>
            <a:ext cx="2139950" cy="952500"/>
          </a:xfrm>
          <a:prstGeom prst="roundRect">
            <a:avLst>
              <a:gd name="adj" fmla="val 9333"/>
            </a:avLst>
          </a:prstGeom>
          <a:solidFill>
            <a:srgbClr val="F4F2E8"/>
          </a:solidFill>
          <a:ln w="9525">
            <a:solidFill>
              <a:srgbClr val="D0D1EB"/>
            </a:solidFill>
            <a:prstDash val="solid"/>
          </a:ln>
        </p:spPr>
      </p:sp>
      <p:sp>
        <p:nvSpPr>
          <p:cNvPr id="38" name="Text 36"/>
          <p:cNvSpPr txBox="1"/>
          <p:nvPr/>
        </p:nvSpPr>
        <p:spPr>
          <a:xfrm>
            <a:off x="9518650" y="3429000"/>
            <a:ext cx="1987550" cy="317500"/>
          </a:xfrm>
          <a:prstGeom prst="rect">
            <a:avLst/>
          </a:prstGeom>
          <a:noFill/>
          <a:ln/>
        </p:spPr>
        <p:txBody>
          <a:bodyPr wrap="square" lIns="0" tIns="0" rIns="0" bIns="0" rtlCol="0" anchor="t"/>
          <a:lstStyle/>
          <a:p>
            <a:pPr algn="ctr" indent="0" marL="0">
              <a:buNone/>
            </a:pPr>
            <a:r>
              <a:rPr lang="en-US" sz="1800" b="1" dirty="0">
                <a:solidFill>
                  <a:srgbClr val="111111"/>
                </a:solidFill>
                <a:latin typeface="Space Grotesk" pitchFamily="34" charset="0"/>
                <a:ea typeface="Space Grotesk" pitchFamily="34" charset="-122"/>
                <a:cs typeface="Space Grotesk" pitchFamily="34" charset="-120"/>
              </a:rPr>
              <a:t>Infrastructure</a:t>
            </a:r>
            <a:endParaRPr lang="en-US" sz="1800" dirty="0"/>
          </a:p>
        </p:txBody>
      </p:sp>
      <p:sp>
        <p:nvSpPr>
          <p:cNvPr id="39" name="Text 37"/>
          <p:cNvSpPr txBox="1"/>
          <p:nvPr/>
        </p:nvSpPr>
        <p:spPr>
          <a:xfrm>
            <a:off x="9518650" y="3797300"/>
            <a:ext cx="1987550" cy="203200"/>
          </a:xfrm>
          <a:prstGeom prst="rect">
            <a:avLst/>
          </a:prstGeom>
          <a:noFill/>
          <a:ln/>
        </p:spPr>
        <p:txBody>
          <a:bodyPr wrap="square" lIns="0" tIns="0" rIns="0" bIns="0" rtlCol="0" anchor="t"/>
          <a:lstStyle/>
          <a:p>
            <a:pPr algn="ctr" indent="0" marL="0">
              <a:buNone/>
            </a:pPr>
            <a:r>
              <a:rPr lang="en-US" sz="1100" dirty="0">
                <a:solidFill>
                  <a:srgbClr val="6B6B6B"/>
                </a:solidFill>
                <a:latin typeface="Inter" pitchFamily="34" charset="0"/>
                <a:ea typeface="Inter" pitchFamily="34" charset="-122"/>
                <a:cs typeface="Inter" pitchFamily="34" charset="-120"/>
              </a:rPr>
              <a:t>giống</a:t>
            </a:r>
            <a:endParaRPr lang="en-US" sz="1100" dirty="0"/>
          </a:p>
        </p:txBody>
      </p:sp>
      <p:sp>
        <p:nvSpPr>
          <p:cNvPr id="40" name="Shape 38"/>
          <p:cNvSpPr/>
          <p:nvPr/>
        </p:nvSpPr>
        <p:spPr>
          <a:xfrm>
            <a:off x="609600" y="4533900"/>
            <a:ext cx="10972800" cy="698500"/>
          </a:xfrm>
          <a:prstGeom prst="roundRect">
            <a:avLst>
              <a:gd name="adj" fmla="val 10909"/>
            </a:avLst>
          </a:prstGeom>
          <a:solidFill>
            <a:srgbClr val="EBE9E8"/>
          </a:solidFill>
          <a:ln/>
        </p:spPr>
      </p:sp>
      <p:sp>
        <p:nvSpPr>
          <p:cNvPr id="41" name="Text 39"/>
          <p:cNvSpPr txBox="1"/>
          <p:nvPr/>
        </p:nvSpPr>
        <p:spPr>
          <a:xfrm>
            <a:off x="863600" y="4533900"/>
            <a:ext cx="10464800" cy="698500"/>
          </a:xfrm>
          <a:prstGeom prst="rect">
            <a:avLst/>
          </a:prstGeom>
          <a:noFill/>
          <a:ln/>
        </p:spPr>
        <p:txBody>
          <a:bodyPr wrap="square" lIns="0" tIns="0" rIns="0" bIns="0" rtlCol="0" anchor="ctr"/>
          <a:lstStyle/>
          <a:p>
            <a:pPr algn="l" indent="0" marL="0">
              <a:buNone/>
            </a:pPr>
            <a:r>
              <a:rPr lang="en-US" sz="1700" dirty="0">
                <a:solidFill>
                  <a:srgbClr val="111111"/>
                </a:solidFill>
                <a:latin typeface="Space Grotesk" pitchFamily="34" charset="0"/>
                <a:ea typeface="Space Grotesk" pitchFamily="34" charset="-122"/>
                <a:cs typeface="Space Grotesk" pitchFamily="34" charset="-120"/>
              </a:rPr>
              <a:t>Platform, xét cho cùng, cũng là bốn phần này — chỉ khác ở chỗ tự viết lại harness.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02 · ĐỀ XUẤT</a:t>
            </a:r>
            <a:endParaRPr lang="en-US" sz="1100" dirty="0"/>
          </a:p>
        </p:txBody>
      </p:sp>
      <p:sp>
        <p:nvSpPr>
          <p:cNvPr id="3" name="Text 1"/>
          <p:cNvSpPr txBox="1"/>
          <p:nvPr/>
        </p:nvSpPr>
        <p:spPr>
          <a:xfrm>
            <a:off x="10312400" y="412750"/>
            <a:ext cx="127000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Bốn ý đề xuất</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Mua phần chung, đầu tư vào phần bên ngoài không có</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08 / 19</a:t>
            </a:r>
            <a:endParaRPr lang="en-US" sz="900" dirty="0"/>
          </a:p>
        </p:txBody>
      </p:sp>
      <p:sp>
        <p:nvSpPr>
          <p:cNvPr id="7" name="Shape 5"/>
          <p:cNvSpPr/>
          <p:nvPr/>
        </p:nvSpPr>
        <p:spPr>
          <a:xfrm>
            <a:off x="0" y="6838950"/>
            <a:ext cx="5133474" cy="19050"/>
          </a:xfrm>
          <a:prstGeom prst="rect">
            <a:avLst/>
          </a:prstGeom>
          <a:solidFill>
            <a:srgbClr val="1E2BFA"/>
          </a:solidFill>
          <a:ln/>
        </p:spPr>
      </p:sp>
      <p:sp>
        <p:nvSpPr>
          <p:cNvPr id="8" name="Shape 6"/>
          <p:cNvSpPr/>
          <p:nvPr/>
        </p:nvSpPr>
        <p:spPr>
          <a:xfrm>
            <a:off x="609600" y="1714500"/>
            <a:ext cx="5403850" cy="1562100"/>
          </a:xfrm>
          <a:prstGeom prst="roundRect">
            <a:avLst>
              <a:gd name="adj" fmla="val 5691"/>
            </a:avLst>
          </a:prstGeom>
          <a:solidFill>
            <a:srgbClr val="F4F2E8"/>
          </a:solidFill>
          <a:ln w="9525">
            <a:solidFill>
              <a:srgbClr val="D0D1EB"/>
            </a:solidFill>
            <a:prstDash val="solid"/>
          </a:ln>
        </p:spPr>
      </p:sp>
      <p:sp>
        <p:nvSpPr>
          <p:cNvPr id="9" name="Text 7"/>
          <p:cNvSpPr txBox="1"/>
          <p:nvPr/>
        </p:nvSpPr>
        <p:spPr>
          <a:xfrm>
            <a:off x="825500" y="1905000"/>
            <a:ext cx="546100" cy="4191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01</a:t>
            </a:r>
            <a:endParaRPr lang="en-US" sz="2600" dirty="0"/>
          </a:p>
        </p:txBody>
      </p:sp>
      <p:sp>
        <p:nvSpPr>
          <p:cNvPr id="10" name="Text 8"/>
          <p:cNvSpPr txBox="1"/>
          <p:nvPr/>
        </p:nvSpPr>
        <p:spPr>
          <a:xfrm>
            <a:off x="1473200" y="1930400"/>
            <a:ext cx="432435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Harness và LLM thì mua</a:t>
            </a:r>
            <a:endParaRPr lang="en-US" sz="1600" dirty="0"/>
          </a:p>
        </p:txBody>
      </p:sp>
      <p:sp>
        <p:nvSpPr>
          <p:cNvPr id="11" name="Text 9"/>
          <p:cNvSpPr txBox="1"/>
          <p:nvPr/>
        </p:nvSpPr>
        <p:spPr>
          <a:xfrm>
            <a:off x="1473200" y="2260600"/>
            <a:ext cx="4324350" cy="889000"/>
          </a:xfrm>
          <a:prstGeom prst="rect">
            <a:avLst/>
          </a:prstGeom>
          <a:noFill/>
          <a:ln/>
        </p:spPr>
        <p:txBody>
          <a:bodyPr wrap="square" lIns="0" tIns="0" rIns="0" bIns="0" rtlCol="0" anchor="t"/>
          <a:lstStyle/>
          <a:p>
            <a:pPr algn="l" indent="0" marL="0">
              <a:lnSpc>
                <a:spcPts val="1885"/>
              </a:lnSpc>
              <a:buNone/>
            </a:pPr>
            <a:r>
              <a:rPr lang="en-US" sz="1300" dirty="0">
                <a:solidFill>
                  <a:srgbClr val="6B6B6B"/>
                </a:solidFill>
                <a:latin typeface="Inter" pitchFamily="34" charset="0"/>
                <a:ea typeface="Inter" pitchFamily="34" charset="-122"/>
                <a:cs typeface="Inter" pitchFamily="34" charset="-120"/>
              </a:rPr>
              <a:t>Chọn harness tốt, LLM tốt từ vendor lớn hoặc open source đang phát triển nhanh.</a:t>
            </a:r>
            <a:endParaRPr lang="en-US" sz="1300" dirty="0"/>
          </a:p>
        </p:txBody>
      </p:sp>
      <p:sp>
        <p:nvSpPr>
          <p:cNvPr id="12" name="Shape 10"/>
          <p:cNvSpPr/>
          <p:nvPr/>
        </p:nvSpPr>
        <p:spPr>
          <a:xfrm>
            <a:off x="6178550" y="1714500"/>
            <a:ext cx="5403850" cy="1562100"/>
          </a:xfrm>
          <a:prstGeom prst="roundRect">
            <a:avLst>
              <a:gd name="adj" fmla="val 5691"/>
            </a:avLst>
          </a:prstGeom>
          <a:solidFill>
            <a:srgbClr val="F4F2E8"/>
          </a:solidFill>
          <a:ln w="9525">
            <a:solidFill>
              <a:srgbClr val="D0D1EB"/>
            </a:solidFill>
            <a:prstDash val="solid"/>
          </a:ln>
        </p:spPr>
      </p:sp>
      <p:sp>
        <p:nvSpPr>
          <p:cNvPr id="13" name="Text 11"/>
          <p:cNvSpPr txBox="1"/>
          <p:nvPr/>
        </p:nvSpPr>
        <p:spPr>
          <a:xfrm>
            <a:off x="6394450" y="1905000"/>
            <a:ext cx="546100" cy="4191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02</a:t>
            </a:r>
            <a:endParaRPr lang="en-US" sz="2600" dirty="0"/>
          </a:p>
        </p:txBody>
      </p:sp>
      <p:sp>
        <p:nvSpPr>
          <p:cNvPr id="14" name="Text 12"/>
          <p:cNvSpPr txBox="1"/>
          <p:nvPr/>
        </p:nvSpPr>
        <p:spPr>
          <a:xfrm>
            <a:off x="7042150" y="1930400"/>
            <a:ext cx="432435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Đầu tư vào thứ bên ngoài không có</a:t>
            </a:r>
            <a:endParaRPr lang="en-US" sz="1600" dirty="0"/>
          </a:p>
        </p:txBody>
      </p:sp>
      <p:sp>
        <p:nvSpPr>
          <p:cNvPr id="15" name="Text 13"/>
          <p:cNvSpPr txBox="1"/>
          <p:nvPr/>
        </p:nvSpPr>
        <p:spPr>
          <a:xfrm>
            <a:off x="7042150" y="2260600"/>
            <a:ext cx="4324350" cy="889000"/>
          </a:xfrm>
          <a:prstGeom prst="rect">
            <a:avLst/>
          </a:prstGeom>
          <a:noFill/>
          <a:ln/>
        </p:spPr>
        <p:txBody>
          <a:bodyPr wrap="square" lIns="0" tIns="0" rIns="0" bIns="0" rtlCol="0" anchor="t"/>
          <a:lstStyle/>
          <a:p>
            <a:pPr algn="l" indent="0" marL="0">
              <a:lnSpc>
                <a:spcPts val="1885"/>
              </a:lnSpc>
              <a:buNone/>
            </a:pPr>
            <a:r>
              <a:rPr lang="en-US" sz="1300" b="1" dirty="0">
                <a:solidFill>
                  <a:srgbClr val="111111"/>
                </a:solidFill>
                <a:latin typeface="Inter" pitchFamily="34" charset="0"/>
                <a:ea typeface="Inter" pitchFamily="34" charset="-122"/>
                <a:cs typeface="Inter" pitchFamily="34" charset="-120"/>
              </a:rPr>
              <a:t>Kit AI-ready</a:t>
            </a:r>
            <a:pPr algn="l" indent="0" marL="0">
              <a:lnSpc>
                <a:spcPts val="1885"/>
              </a:lnSpc>
              <a:buNone/>
            </a:pPr>
            <a:r>
              <a:rPr lang="en-US" sz="1300" dirty="0">
                <a:solidFill>
                  <a:srgbClr val="6B6B6B"/>
                </a:solidFill>
                <a:latin typeface="Inter" pitchFamily="34" charset="0"/>
                <a:ea typeface="Inter" pitchFamily="34" charset="-122"/>
                <a:cs typeface="Inter" pitchFamily="34" charset="-120"/>
              </a:rPr>
              <a:t>: skill, workflow, template, checklist, connector, guardrail. </a:t>
            </a:r>
            <a:pPr algn="l" indent="0" marL="0">
              <a:lnSpc>
                <a:spcPts val="1885"/>
              </a:lnSpc>
              <a:buNone/>
            </a:pPr>
            <a:r>
              <a:rPr lang="en-US" sz="1300" b="1" dirty="0">
                <a:solidFill>
                  <a:srgbClr val="111111"/>
                </a:solidFill>
                <a:latin typeface="Inter" pitchFamily="34" charset="0"/>
                <a:ea typeface="Inter" pitchFamily="34" charset="-122"/>
                <a:cs typeface="Inter" pitchFamily="34" charset="-120"/>
              </a:rPr>
              <a:t>Data source AI-ready</a:t>
            </a:r>
            <a:pPr algn="l" indent="0" marL="0">
              <a:lnSpc>
                <a:spcPts val="1885"/>
              </a:lnSpc>
              <a:buNone/>
            </a:pPr>
            <a:r>
              <a:rPr lang="en-US" sz="1300" dirty="0">
                <a:solidFill>
                  <a:srgbClr val="6B6B6B"/>
                </a:solidFill>
                <a:latin typeface="Inter" pitchFamily="34" charset="0"/>
                <a:ea typeface="Inter" pitchFamily="34" charset="-122"/>
                <a:cs typeface="Inter" pitchFamily="34" charset="-120"/>
              </a:rPr>
              <a:t>: document index, code graph, dữ liệu dự án có RBAC.</a:t>
            </a:r>
            <a:endParaRPr lang="en-US" sz="1300" dirty="0"/>
          </a:p>
        </p:txBody>
      </p:sp>
      <p:sp>
        <p:nvSpPr>
          <p:cNvPr id="16" name="Shape 14"/>
          <p:cNvSpPr/>
          <p:nvPr/>
        </p:nvSpPr>
        <p:spPr>
          <a:xfrm>
            <a:off x="609600" y="3441700"/>
            <a:ext cx="5403850" cy="1562100"/>
          </a:xfrm>
          <a:prstGeom prst="roundRect">
            <a:avLst>
              <a:gd name="adj" fmla="val 5691"/>
            </a:avLst>
          </a:prstGeom>
          <a:solidFill>
            <a:srgbClr val="F4F2E8"/>
          </a:solidFill>
          <a:ln w="9525">
            <a:solidFill>
              <a:srgbClr val="D0D1EB"/>
            </a:solidFill>
            <a:prstDash val="solid"/>
          </a:ln>
        </p:spPr>
      </p:sp>
      <p:sp>
        <p:nvSpPr>
          <p:cNvPr id="17" name="Text 15"/>
          <p:cNvSpPr txBox="1"/>
          <p:nvPr/>
        </p:nvSpPr>
        <p:spPr>
          <a:xfrm>
            <a:off x="825500" y="3632200"/>
            <a:ext cx="546100" cy="4191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03</a:t>
            </a:r>
            <a:endParaRPr lang="en-US" sz="2600" dirty="0"/>
          </a:p>
        </p:txBody>
      </p:sp>
      <p:sp>
        <p:nvSpPr>
          <p:cNvPr id="18" name="Text 16"/>
          <p:cNvSpPr txBox="1"/>
          <p:nvPr/>
        </p:nvSpPr>
        <p:spPr>
          <a:xfrm>
            <a:off x="1473200" y="3657600"/>
            <a:ext cx="432435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Viết trung lập với harness</a:t>
            </a:r>
            <a:endParaRPr lang="en-US" sz="1600" dirty="0"/>
          </a:p>
        </p:txBody>
      </p:sp>
      <p:sp>
        <p:nvSpPr>
          <p:cNvPr id="19" name="Text 17"/>
          <p:cNvSpPr txBox="1"/>
          <p:nvPr/>
        </p:nvSpPr>
        <p:spPr>
          <a:xfrm>
            <a:off x="1473200" y="3987800"/>
            <a:ext cx="4324350" cy="889000"/>
          </a:xfrm>
          <a:prstGeom prst="rect">
            <a:avLst/>
          </a:prstGeom>
          <a:noFill/>
          <a:ln/>
        </p:spPr>
        <p:txBody>
          <a:bodyPr wrap="square" lIns="0" tIns="0" rIns="0" bIns="0" rtlCol="0" anchor="t"/>
          <a:lstStyle/>
          <a:p>
            <a:pPr algn="l" indent="0" marL="0">
              <a:lnSpc>
                <a:spcPts val="1885"/>
              </a:lnSpc>
              <a:buNone/>
            </a:pPr>
            <a:r>
              <a:rPr lang="en-US" sz="1300" dirty="0">
                <a:solidFill>
                  <a:srgbClr val="6B6B6B"/>
                </a:solidFill>
                <a:latin typeface="Inter" pitchFamily="34" charset="0"/>
                <a:ea typeface="Inter" pitchFamily="34" charset="-122"/>
                <a:cs typeface="Inter" pitchFamily="34" charset="-120"/>
              </a:rPr>
              <a:t>Gắn vào harness nào cũng được. Khi lên cloud, chính harness đó chạy headless trên server, dùng lại nguyên các tài nguyên này.</a:t>
            </a:r>
            <a:endParaRPr lang="en-US" sz="1300" dirty="0"/>
          </a:p>
        </p:txBody>
      </p:sp>
      <p:sp>
        <p:nvSpPr>
          <p:cNvPr id="20" name="Shape 18"/>
          <p:cNvSpPr/>
          <p:nvPr/>
        </p:nvSpPr>
        <p:spPr>
          <a:xfrm>
            <a:off x="6178550" y="3441700"/>
            <a:ext cx="5403850" cy="1562100"/>
          </a:xfrm>
          <a:prstGeom prst="roundRect">
            <a:avLst>
              <a:gd name="adj" fmla="val 5691"/>
            </a:avLst>
          </a:prstGeom>
          <a:solidFill>
            <a:srgbClr val="F4F2E8"/>
          </a:solidFill>
          <a:ln w="9525">
            <a:solidFill>
              <a:srgbClr val="D0D1EB"/>
            </a:solidFill>
            <a:prstDash val="solid"/>
          </a:ln>
        </p:spPr>
      </p:sp>
      <p:sp>
        <p:nvSpPr>
          <p:cNvPr id="21" name="Text 19"/>
          <p:cNvSpPr txBox="1"/>
          <p:nvPr/>
        </p:nvSpPr>
        <p:spPr>
          <a:xfrm>
            <a:off x="6394450" y="3632200"/>
            <a:ext cx="546100" cy="4191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04</a:t>
            </a:r>
            <a:endParaRPr lang="en-US" sz="2600" dirty="0"/>
          </a:p>
        </p:txBody>
      </p:sp>
      <p:sp>
        <p:nvSpPr>
          <p:cNvPr id="22" name="Text 20"/>
          <p:cNvSpPr txBox="1"/>
          <p:nvPr/>
        </p:nvSpPr>
        <p:spPr>
          <a:xfrm>
            <a:off x="7042150" y="3657600"/>
            <a:ext cx="4324350" cy="279400"/>
          </a:xfrm>
          <a:prstGeom prst="rect">
            <a:avLst/>
          </a:prstGeom>
          <a:noFill/>
          <a:ln/>
        </p:spPr>
        <p:txBody>
          <a:bodyPr wrap="square" lIns="0" tIns="0" rIns="0" bIns="0" rtlCol="0" anchor="t"/>
          <a:lstStyle/>
          <a:p>
            <a:pPr algn="l" indent="0" marL="0">
              <a:buNone/>
            </a:pPr>
            <a:r>
              <a:rPr lang="en-US" sz="1600" b="1" dirty="0">
                <a:solidFill>
                  <a:srgbClr val="111111"/>
                </a:solidFill>
                <a:latin typeface="Space Grotesk" pitchFamily="34" charset="0"/>
                <a:ea typeface="Space Grotesk" pitchFamily="34" charset="-122"/>
                <a:cs typeface="Space Grotesk" pitchFamily="34" charset="-120"/>
              </a:rPr>
              <a:t>Platform thu hẹp lại, không dừng hẳn</a:t>
            </a:r>
            <a:endParaRPr lang="en-US" sz="1600" dirty="0"/>
          </a:p>
        </p:txBody>
      </p:sp>
      <p:sp>
        <p:nvSpPr>
          <p:cNvPr id="23" name="Text 21"/>
          <p:cNvSpPr txBox="1"/>
          <p:nvPr/>
        </p:nvSpPr>
        <p:spPr>
          <a:xfrm>
            <a:off x="7042150" y="3987800"/>
            <a:ext cx="4324350" cy="889000"/>
          </a:xfrm>
          <a:prstGeom prst="rect">
            <a:avLst/>
          </a:prstGeom>
          <a:noFill/>
          <a:ln/>
        </p:spPr>
        <p:txBody>
          <a:bodyPr wrap="square" lIns="0" tIns="0" rIns="0" bIns="0" rtlCol="0" anchor="t"/>
          <a:lstStyle/>
          <a:p>
            <a:pPr algn="l" indent="0" marL="0">
              <a:lnSpc>
                <a:spcPts val="1885"/>
              </a:lnSpc>
              <a:buNone/>
            </a:pPr>
            <a:r>
              <a:rPr lang="en-US" sz="1300" dirty="0">
                <a:solidFill>
                  <a:srgbClr val="6B6B6B"/>
                </a:solidFill>
                <a:latin typeface="Inter" pitchFamily="34" charset="0"/>
                <a:ea typeface="Inter" pitchFamily="34" charset="-122"/>
                <a:cs typeface="Inter" pitchFamily="34" charset="-120"/>
              </a:rPr>
              <a:t>Giữ data layer và governance layer, bỏ phần tự viết lại orchestration layer.</a:t>
            </a:r>
            <a:endParaRPr lang="en-US" sz="1300" dirty="0"/>
          </a:p>
        </p:txBody>
      </p:sp>
      <p:sp>
        <p:nvSpPr>
          <p:cNvPr id="24" name="Text 22"/>
          <p:cNvSpPr txBox="1"/>
          <p:nvPr/>
        </p:nvSpPr>
        <p:spPr>
          <a:xfrm>
            <a:off x="609600" y="5295900"/>
            <a:ext cx="10972800" cy="5334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Khớp thứ tự đầu tư </a:t>
            </a:r>
            <a:pPr algn="l" indent="0" marL="0">
              <a:lnSpc>
                <a:spcPts val="1950"/>
              </a:lnSpc>
              <a:buNone/>
            </a:pPr>
            <a:r>
              <a:rPr lang="en-US" sz="1300" b="1" dirty="0">
                <a:solidFill>
                  <a:srgbClr val="111111"/>
                </a:solidFill>
                <a:latin typeface="Inter" pitchFamily="34" charset="0"/>
                <a:ea typeface="Inter" pitchFamily="34" charset="-122"/>
                <a:cs typeface="Inter" pitchFamily="34" charset="-120"/>
              </a:rPr>
              <a:t>data → interface → harness</a:t>
            </a:r>
            <a:pPr algn="l" indent="0" marL="0">
              <a:lnSpc>
                <a:spcPts val="1950"/>
              </a:lnSpc>
              <a:buNone/>
            </a:pPr>
            <a:r>
              <a:rPr lang="en-US" sz="1300" dirty="0">
                <a:solidFill>
                  <a:srgbClr val="6B6B6B"/>
                </a:solidFill>
                <a:latin typeface="Inter" pitchFamily="34" charset="0"/>
                <a:ea typeface="Inter" pitchFamily="34" charset="-122"/>
                <a:cs typeface="Inter" pitchFamily="34" charset="-120"/>
              </a:rPr>
              <a:t> trong proposal ba trụ cột: model đổi được trong một dòng cấu hình; dữ liệu và dây nối thì không ai làm thay được.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03 · VÌ SAO KHÔNG TỰ VIẾT HARNESS</a:t>
            </a:r>
            <a:endParaRPr lang="en-US" sz="1100" dirty="0"/>
          </a:p>
        </p:txBody>
      </p:sp>
      <p:sp>
        <p:nvSpPr>
          <p:cNvPr id="3" name="Text 1"/>
          <p:cNvSpPr txBox="1"/>
          <p:nvPr/>
        </p:nvSpPr>
        <p:spPr>
          <a:xfrm>
            <a:off x="9442450" y="412750"/>
            <a:ext cx="21399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Tốc độ · Phép thử mất giá</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Phần tự viết harness mất giá; phần nội bộ thì không</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09 / 19</a:t>
            </a:r>
            <a:endParaRPr lang="en-US" sz="900" dirty="0"/>
          </a:p>
        </p:txBody>
      </p:sp>
      <p:sp>
        <p:nvSpPr>
          <p:cNvPr id="7" name="Shape 5"/>
          <p:cNvSpPr/>
          <p:nvPr/>
        </p:nvSpPr>
        <p:spPr>
          <a:xfrm>
            <a:off x="0" y="6838950"/>
            <a:ext cx="5775158" cy="19050"/>
          </a:xfrm>
          <a:prstGeom prst="rect">
            <a:avLst/>
          </a:prstGeom>
          <a:solidFill>
            <a:srgbClr val="1E2BFA"/>
          </a:solidFill>
          <a:ln/>
        </p:spPr>
      </p:sp>
      <p:sp>
        <p:nvSpPr>
          <p:cNvPr id="8" name="Shape 6"/>
          <p:cNvSpPr/>
          <p:nvPr/>
        </p:nvSpPr>
        <p:spPr>
          <a:xfrm>
            <a:off x="609600" y="2095500"/>
            <a:ext cx="3790950" cy="3175000"/>
          </a:xfrm>
          <a:prstGeom prst="roundRect">
            <a:avLst>
              <a:gd name="adj" fmla="val 2800"/>
            </a:avLst>
          </a:prstGeom>
          <a:solidFill>
            <a:srgbClr val="F4F2E8"/>
          </a:solidFill>
          <a:ln w="9525">
            <a:solidFill>
              <a:srgbClr val="D0D1EB"/>
            </a:solidFill>
            <a:prstDash val="solid"/>
          </a:ln>
        </p:spPr>
      </p:sp>
      <p:sp>
        <p:nvSpPr>
          <p:cNvPr id="9" name="Text 7"/>
          <p:cNvSpPr txBox="1"/>
          <p:nvPr/>
        </p:nvSpPr>
        <p:spPr>
          <a:xfrm>
            <a:off x="857250" y="2362200"/>
            <a:ext cx="33020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TỐC ĐỘ</a:t>
            </a:r>
            <a:endParaRPr lang="en-US" sz="1000" dirty="0"/>
          </a:p>
        </p:txBody>
      </p:sp>
      <p:sp>
        <p:nvSpPr>
          <p:cNvPr id="10" name="Text 8"/>
          <p:cNvSpPr txBox="1"/>
          <p:nvPr/>
        </p:nvSpPr>
        <p:spPr>
          <a:xfrm>
            <a:off x="857250" y="2641600"/>
            <a:ext cx="3302000" cy="609600"/>
          </a:xfrm>
          <a:prstGeom prst="rect">
            <a:avLst/>
          </a:prstGeom>
          <a:noFill/>
          <a:ln/>
        </p:spPr>
        <p:txBody>
          <a:bodyPr wrap="square" lIns="0" tIns="0" rIns="0" bIns="0" rtlCol="0" anchor="t"/>
          <a:lstStyle/>
          <a:p>
            <a:pPr algn="l" indent="0" marL="0">
              <a:lnSpc>
                <a:spcPts val="2125"/>
              </a:lnSpc>
              <a:buNone/>
            </a:pPr>
            <a:r>
              <a:rPr lang="en-US" sz="1700" b="1" dirty="0">
                <a:solidFill>
                  <a:srgbClr val="111111"/>
                </a:solidFill>
                <a:latin typeface="Space Grotesk" pitchFamily="34" charset="0"/>
                <a:ea typeface="Space Grotesk" pitchFamily="34" charset="-122"/>
                <a:cs typeface="Space Grotesk" pitchFamily="34" charset="-120"/>
              </a:rPr>
              <a:t>Vendor và open source ra feature theo tháng</a:t>
            </a:r>
            <a:endParaRPr lang="en-US" sz="1700" dirty="0"/>
          </a:p>
        </p:txBody>
      </p:sp>
      <p:sp>
        <p:nvSpPr>
          <p:cNvPr id="11" name="Text 9"/>
          <p:cNvSpPr txBox="1"/>
          <p:nvPr/>
        </p:nvSpPr>
        <p:spPr>
          <a:xfrm>
            <a:off x="857250" y="3365500"/>
            <a:ext cx="3302000" cy="12700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Subagent, skill, hook, sandbox, chạy headless, SDK. Harness tự viết phải đuổi theo mãi — mỗi lần đuổi là công sức không tạo ra khác biệt.</a:t>
            </a:r>
            <a:endParaRPr lang="en-US" sz="1300" dirty="0"/>
          </a:p>
        </p:txBody>
      </p:sp>
      <p:sp>
        <p:nvSpPr>
          <p:cNvPr id="12" name="Shape 10"/>
          <p:cNvSpPr/>
          <p:nvPr/>
        </p:nvSpPr>
        <p:spPr>
          <a:xfrm>
            <a:off x="4654550" y="2095500"/>
            <a:ext cx="6927850" cy="3175000"/>
          </a:xfrm>
          <a:prstGeom prst="roundRect">
            <a:avLst>
              <a:gd name="adj" fmla="val 2800"/>
            </a:avLst>
          </a:prstGeom>
          <a:solidFill>
            <a:srgbClr val="F4F2E8"/>
          </a:solidFill>
          <a:ln w="9525">
            <a:solidFill>
              <a:srgbClr val="D0D1EB"/>
            </a:solidFill>
            <a:prstDash val="solid"/>
          </a:ln>
        </p:spPr>
      </p:sp>
      <p:sp>
        <p:nvSpPr>
          <p:cNvPr id="13" name="Text 11"/>
          <p:cNvSpPr txBox="1"/>
          <p:nvPr/>
        </p:nvSpPr>
        <p:spPr>
          <a:xfrm>
            <a:off x="4914900" y="2362200"/>
            <a:ext cx="6413500" cy="190500"/>
          </a:xfrm>
          <a:prstGeom prst="rect">
            <a:avLst/>
          </a:prstGeom>
          <a:noFill/>
          <a:ln/>
        </p:spPr>
        <p:txBody>
          <a:bodyPr wrap="square" lIns="0" tIns="0" rIns="0" bIns="0" rtlCol="0" anchor="t"/>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PHÉP THỬ MẤT GIÁ</a:t>
            </a:r>
            <a:endParaRPr lang="en-US" sz="1000" dirty="0"/>
          </a:p>
        </p:txBody>
      </p:sp>
      <p:sp>
        <p:nvSpPr>
          <p:cNvPr id="14" name="Text 12"/>
          <p:cNvSpPr txBox="1"/>
          <p:nvPr/>
        </p:nvSpPr>
        <p:spPr>
          <a:xfrm>
            <a:off x="4914900" y="2641600"/>
            <a:ext cx="6413500" cy="635000"/>
          </a:xfrm>
          <a:prstGeom prst="rect">
            <a:avLst/>
          </a:prstGeom>
          <a:noFill/>
          <a:ln/>
        </p:spPr>
        <p:txBody>
          <a:bodyPr wrap="square" lIns="0" tIns="0" rIns="0" bIns="0" rtlCol="0" anchor="t"/>
          <a:lstStyle/>
          <a:p>
            <a:pPr algn="l" indent="0" marL="0">
              <a:lnSpc>
                <a:spcPts val="2228"/>
              </a:lnSpc>
              <a:buNone/>
            </a:pPr>
            <a:r>
              <a:rPr lang="en-US" sz="1650" dirty="0">
                <a:solidFill>
                  <a:srgbClr val="111111"/>
                </a:solidFill>
                <a:latin typeface="Space Grotesk" pitchFamily="34" charset="0"/>
                <a:ea typeface="Space Grotesk" pitchFamily="34" charset="-122"/>
                <a:cs typeface="Space Grotesk" pitchFamily="34" charset="-120"/>
              </a:rPr>
              <a:t>“Nếu quý sau vendor ra đúng feature này, khoản đầu tư của mình có mất trắng không?”</a:t>
            </a:r>
            <a:endParaRPr lang="en-US" sz="1650" dirty="0"/>
          </a:p>
        </p:txBody>
      </p:sp>
      <p:sp>
        <p:nvSpPr>
          <p:cNvPr id="15" name="Shape 13"/>
          <p:cNvSpPr/>
          <p:nvPr/>
        </p:nvSpPr>
        <p:spPr>
          <a:xfrm>
            <a:off x="4914900" y="3429000"/>
            <a:ext cx="6413500" cy="0"/>
          </a:xfrm>
          <a:prstGeom prst="line">
            <a:avLst/>
          </a:prstGeom>
          <a:noFill/>
          <a:ln w="9525">
            <a:solidFill>
              <a:srgbClr val="D0D1EB"/>
            </a:solidFill>
            <a:prstDash val="solid"/>
          </a:ln>
        </p:spPr>
      </p:sp>
      <p:sp>
        <p:nvSpPr>
          <p:cNvPr id="16" name="Text 14"/>
          <p:cNvSpPr txBox="1"/>
          <p:nvPr/>
        </p:nvSpPr>
        <p:spPr>
          <a:xfrm>
            <a:off x="4914900" y="3581400"/>
            <a:ext cx="2540000" cy="279400"/>
          </a:xfrm>
          <a:prstGeom prst="rect">
            <a:avLst/>
          </a:prstGeom>
          <a:noFill/>
          <a:ln/>
        </p:spPr>
        <p:txBody>
          <a:bodyPr wrap="square" lIns="0" tIns="0" rIns="0" bIns="0" rtlCol="0" anchor="t"/>
          <a:lstStyle/>
          <a:p>
            <a:pPr algn="l" indent="0" marL="0">
              <a:buNone/>
            </a:pPr>
            <a:r>
              <a:rPr lang="en-US" sz="1500" b="1" dirty="0">
                <a:solidFill>
                  <a:srgbClr val="DC2626"/>
                </a:solidFill>
                <a:latin typeface="Inter" pitchFamily="34" charset="0"/>
                <a:ea typeface="Inter" pitchFamily="34" charset="-122"/>
                <a:cs typeface="Inter" pitchFamily="34" charset="-120"/>
              </a:rPr>
              <a:t>✗ </a:t>
            </a:r>
            <a:pPr algn="l" indent="0" marL="0">
              <a:buNone/>
            </a:pPr>
            <a:r>
              <a:rPr lang="en-US" sz="1500" b="1" dirty="0">
                <a:solidFill>
                  <a:srgbClr val="DC2626"/>
                </a:solidFill>
                <a:latin typeface="Space Grotesk" pitchFamily="34" charset="0"/>
                <a:ea typeface="Space Grotesk" pitchFamily="34" charset="-122"/>
                <a:cs typeface="Space Grotesk" pitchFamily="34" charset="-120"/>
              </a:rPr>
              <a:t>Mất</a:t>
            </a:r>
            <a:endParaRPr lang="en-US" sz="1500" dirty="0"/>
          </a:p>
        </p:txBody>
      </p:sp>
      <p:sp>
        <p:nvSpPr>
          <p:cNvPr id="17" name="Text 15"/>
          <p:cNvSpPr txBox="1"/>
          <p:nvPr/>
        </p:nvSpPr>
        <p:spPr>
          <a:xfrm>
            <a:off x="4914900" y="3898900"/>
            <a:ext cx="2540000" cy="7620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Agent orchestration layer, chat UI</a:t>
            </a:r>
            <a:endParaRPr lang="en-US" sz="1300" dirty="0"/>
          </a:p>
        </p:txBody>
      </p:sp>
      <p:sp>
        <p:nvSpPr>
          <p:cNvPr id="18" name="Text 16"/>
          <p:cNvSpPr txBox="1"/>
          <p:nvPr/>
        </p:nvSpPr>
        <p:spPr>
          <a:xfrm>
            <a:off x="7689850" y="3581400"/>
            <a:ext cx="3638550" cy="279400"/>
          </a:xfrm>
          <a:prstGeom prst="rect">
            <a:avLst/>
          </a:prstGeom>
          <a:noFill/>
          <a:ln/>
        </p:spPr>
        <p:txBody>
          <a:bodyPr wrap="square" lIns="0" tIns="0" rIns="0" bIns="0" rtlCol="0" anchor="t"/>
          <a:lstStyle/>
          <a:p>
            <a:pPr algn="l" indent="0" marL="0">
              <a:buNone/>
            </a:pPr>
            <a:r>
              <a:rPr lang="en-US" sz="1500" b="1" dirty="0">
                <a:solidFill>
                  <a:srgbClr val="059669"/>
                </a:solidFill>
                <a:latin typeface="Inter" pitchFamily="34" charset="0"/>
                <a:ea typeface="Inter" pitchFamily="34" charset="-122"/>
                <a:cs typeface="Inter" pitchFamily="34" charset="-120"/>
              </a:rPr>
              <a:t>✓ </a:t>
            </a:r>
            <a:pPr algn="l" indent="0" marL="0">
              <a:buNone/>
            </a:pPr>
            <a:r>
              <a:rPr lang="en-US" sz="1500" b="1" dirty="0">
                <a:solidFill>
                  <a:srgbClr val="059669"/>
                </a:solidFill>
                <a:latin typeface="Space Grotesk" pitchFamily="34" charset="0"/>
                <a:ea typeface="Space Grotesk" pitchFamily="34" charset="-122"/>
                <a:cs typeface="Space Grotesk" pitchFamily="34" charset="-120"/>
              </a:rPr>
              <a:t>Không mất</a:t>
            </a:r>
            <a:endParaRPr lang="en-US" sz="1500" dirty="0"/>
          </a:p>
        </p:txBody>
      </p:sp>
      <p:sp>
        <p:nvSpPr>
          <p:cNvPr id="19" name="Text 17"/>
          <p:cNvSpPr txBox="1"/>
          <p:nvPr/>
        </p:nvSpPr>
        <p:spPr>
          <a:xfrm>
            <a:off x="7689850" y="3898900"/>
            <a:ext cx="3638550" cy="127000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Code graph hệ thống nội bộ, template theo chuẩn tài liệu của tổ chức, checklist review, connector tới tool nội bộ — vì bên ngoài không có</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03 · VÌ SAO KHÔNG TỰ VIẾT HARNESS</a:t>
            </a:r>
            <a:endParaRPr lang="en-US" sz="1100" dirty="0"/>
          </a:p>
        </p:txBody>
      </p:sp>
      <p:sp>
        <p:nvSpPr>
          <p:cNvPr id="3" name="Text 1"/>
          <p:cNvSpPr txBox="1"/>
          <p:nvPr/>
        </p:nvSpPr>
        <p:spPr>
          <a:xfrm>
            <a:off x="10674350" y="412750"/>
            <a:ext cx="908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L3 và L4</a:t>
            </a:r>
            <a:endParaRPr lang="en-US" sz="1000" dirty="0"/>
          </a:p>
        </p:txBody>
      </p:sp>
      <p:sp>
        <p:nvSpPr>
          <p:cNvPr id="4" name="Text 2"/>
          <p:cNvSpPr txBox="1"/>
          <p:nvPr/>
        </p:nvSpPr>
        <p:spPr>
          <a:xfrm>
            <a:off x="609600" y="812800"/>
            <a:ext cx="10414000" cy="9652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Automation level là tính chất của workflow, không phải của tool</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10 / 19</a:t>
            </a:r>
            <a:endParaRPr lang="en-US" sz="900" dirty="0"/>
          </a:p>
        </p:txBody>
      </p:sp>
      <p:sp>
        <p:nvSpPr>
          <p:cNvPr id="7" name="Shape 5"/>
          <p:cNvSpPr/>
          <p:nvPr/>
        </p:nvSpPr>
        <p:spPr>
          <a:xfrm>
            <a:off x="0" y="6838950"/>
            <a:ext cx="6416842" cy="19050"/>
          </a:xfrm>
          <a:prstGeom prst="rect">
            <a:avLst/>
          </a:prstGeom>
          <a:solidFill>
            <a:srgbClr val="1E2BFA"/>
          </a:solidFill>
          <a:ln/>
        </p:spPr>
      </p:sp>
      <p:sp>
        <p:nvSpPr>
          <p:cNvPr id="8" name="Text 6"/>
          <p:cNvSpPr txBox="1"/>
          <p:nvPr/>
        </p:nvSpPr>
        <p:spPr>
          <a:xfrm>
            <a:off x="609600" y="2095500"/>
            <a:ext cx="10972800" cy="279400"/>
          </a:xfrm>
          <a:prstGeom prst="rect">
            <a:avLst/>
          </a:prstGeom>
          <a:noFill/>
          <a:ln/>
        </p:spPr>
        <p:txBody>
          <a:bodyPr wrap="square" lIns="0" tIns="0" rIns="0" bIns="0" rtlCol="0" anchor="t"/>
          <a:lstStyle/>
          <a:p>
            <a:pPr algn="l" indent="0" marL="0">
              <a:buNone/>
            </a:pPr>
            <a:r>
              <a:rPr lang="en-US" sz="1400" dirty="0">
                <a:solidFill>
                  <a:srgbClr val="6B6B6B"/>
                </a:solidFill>
                <a:latin typeface="Inter" pitchFamily="34" charset="0"/>
                <a:ea typeface="Inter" pitchFamily="34" charset="-122"/>
                <a:cs typeface="Inter" pitchFamily="34" charset="-120"/>
              </a:rPr>
              <a:t>Cùng một harness, hai workflow khác nhau:</a:t>
            </a:r>
            <a:endParaRPr lang="en-US" sz="1400" dirty="0"/>
          </a:p>
        </p:txBody>
      </p:sp>
      <p:sp>
        <p:nvSpPr>
          <p:cNvPr id="9" name="Shape 7"/>
          <p:cNvSpPr/>
          <p:nvPr/>
        </p:nvSpPr>
        <p:spPr>
          <a:xfrm>
            <a:off x="609600" y="2540000"/>
            <a:ext cx="10972800" cy="1104900"/>
          </a:xfrm>
          <a:prstGeom prst="roundRect">
            <a:avLst>
              <a:gd name="adj" fmla="val 8046"/>
            </a:avLst>
          </a:prstGeom>
          <a:solidFill>
            <a:srgbClr val="F4F2E8"/>
          </a:solidFill>
          <a:ln w="9525">
            <a:solidFill>
              <a:srgbClr val="D0D1EB"/>
            </a:solidFill>
            <a:prstDash val="solid"/>
          </a:ln>
        </p:spPr>
      </p:sp>
      <p:sp>
        <p:nvSpPr>
          <p:cNvPr id="10" name="Text 8"/>
          <p:cNvSpPr txBox="1"/>
          <p:nvPr/>
        </p:nvSpPr>
        <p:spPr>
          <a:xfrm>
            <a:off x="838200" y="2540000"/>
            <a:ext cx="762000" cy="1104900"/>
          </a:xfrm>
          <a:prstGeom prst="rect">
            <a:avLst/>
          </a:prstGeom>
          <a:noFill/>
          <a:ln/>
        </p:spPr>
        <p:txBody>
          <a:bodyPr wrap="square" lIns="0" tIns="0" rIns="0" bIns="0" rtlCol="0" anchor="ctr"/>
          <a:lstStyle/>
          <a:p>
            <a:pPr algn="l" indent="0" marL="0">
              <a:buNone/>
            </a:pPr>
            <a:r>
              <a:rPr lang="en-US" sz="3200" b="1" dirty="0">
                <a:solidFill>
                  <a:srgbClr val="1E2BFA"/>
                </a:solidFill>
                <a:latin typeface="Space Grotesk" pitchFamily="34" charset="0"/>
                <a:ea typeface="Space Grotesk" pitchFamily="34" charset="-122"/>
                <a:cs typeface="Space Grotesk" pitchFamily="34" charset="-120"/>
              </a:rPr>
              <a:t>L3</a:t>
            </a:r>
            <a:endParaRPr lang="en-US" sz="3200" dirty="0"/>
          </a:p>
        </p:txBody>
      </p:sp>
      <p:sp>
        <p:nvSpPr>
          <p:cNvPr id="11" name="Text 9"/>
          <p:cNvSpPr txBox="1"/>
          <p:nvPr/>
        </p:nvSpPr>
        <p:spPr>
          <a:xfrm>
            <a:off x="1784350" y="2730500"/>
            <a:ext cx="8890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bước 1</a:t>
            </a:r>
            <a:endParaRPr lang="en-US" sz="1400" dirty="0"/>
          </a:p>
        </p:txBody>
      </p:sp>
      <p:sp>
        <p:nvSpPr>
          <p:cNvPr id="12" name="Text 10"/>
          <p:cNvSpPr txBox="1"/>
          <p:nvPr/>
        </p:nvSpPr>
        <p:spPr>
          <a:xfrm>
            <a:off x="2698750" y="273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13" name="Text 11"/>
          <p:cNvSpPr txBox="1"/>
          <p:nvPr/>
        </p:nvSpPr>
        <p:spPr>
          <a:xfrm>
            <a:off x="2978150" y="2730500"/>
            <a:ext cx="1193800" cy="342900"/>
          </a:xfrm>
          <a:prstGeom prst="roundRect">
            <a:avLst>
              <a:gd name="adj" fmla="val 50000"/>
            </a:avLst>
          </a:prstGeom>
          <a:solidFill>
            <a:srgbClr val="F4F2E8"/>
          </a:solidFill>
          <a:ln w="9525">
            <a:solidFill>
              <a:srgbClr val="D0D1EB"/>
            </a:solidFill>
          </a:ln>
        </p:spPr>
        <p:txBody>
          <a:bodyPr wrap="square" lIns="0" tIns="0" rIns="0" bIns="0" rtlCol="0" anchor="ctr"/>
          <a:lstStyle/>
          <a:p>
            <a:pPr algn="ctr" indent="0" marL="0">
              <a:buNone/>
            </a:pPr>
            <a:r>
              <a:rPr lang="en-US" sz="1400" dirty="0">
                <a:solidFill>
                  <a:srgbClr val="6B6B6B"/>
                </a:solidFill>
                <a:latin typeface="Space Grotesk" pitchFamily="34" charset="0"/>
                <a:ea typeface="Space Grotesk" pitchFamily="34" charset="-122"/>
                <a:cs typeface="Space Grotesk" pitchFamily="34" charset="-120"/>
              </a:rPr>
              <a:t>hỏi người</a:t>
            </a:r>
            <a:endParaRPr lang="en-US" sz="1400" dirty="0"/>
          </a:p>
        </p:txBody>
      </p:sp>
      <p:sp>
        <p:nvSpPr>
          <p:cNvPr id="14" name="Text 12"/>
          <p:cNvSpPr txBox="1"/>
          <p:nvPr/>
        </p:nvSpPr>
        <p:spPr>
          <a:xfrm>
            <a:off x="4197350" y="273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15" name="Text 13"/>
          <p:cNvSpPr txBox="1"/>
          <p:nvPr/>
        </p:nvSpPr>
        <p:spPr>
          <a:xfrm>
            <a:off x="4476750" y="2730500"/>
            <a:ext cx="8890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bước 2</a:t>
            </a:r>
            <a:endParaRPr lang="en-US" sz="1400" dirty="0"/>
          </a:p>
        </p:txBody>
      </p:sp>
      <p:sp>
        <p:nvSpPr>
          <p:cNvPr id="16" name="Text 14"/>
          <p:cNvSpPr txBox="1"/>
          <p:nvPr/>
        </p:nvSpPr>
        <p:spPr>
          <a:xfrm>
            <a:off x="5391150" y="273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17" name="Text 15"/>
          <p:cNvSpPr txBox="1"/>
          <p:nvPr/>
        </p:nvSpPr>
        <p:spPr>
          <a:xfrm>
            <a:off x="5670550" y="2730500"/>
            <a:ext cx="1193800" cy="342900"/>
          </a:xfrm>
          <a:prstGeom prst="roundRect">
            <a:avLst>
              <a:gd name="adj" fmla="val 50000"/>
            </a:avLst>
          </a:prstGeom>
          <a:solidFill>
            <a:srgbClr val="F4F2E8"/>
          </a:solidFill>
          <a:ln w="9525">
            <a:solidFill>
              <a:srgbClr val="D0D1EB"/>
            </a:solidFill>
          </a:ln>
        </p:spPr>
        <p:txBody>
          <a:bodyPr wrap="square" lIns="0" tIns="0" rIns="0" bIns="0" rtlCol="0" anchor="ctr"/>
          <a:lstStyle/>
          <a:p>
            <a:pPr algn="ctr" indent="0" marL="0">
              <a:buNone/>
            </a:pPr>
            <a:r>
              <a:rPr lang="en-US" sz="1400" dirty="0">
                <a:solidFill>
                  <a:srgbClr val="6B6B6B"/>
                </a:solidFill>
                <a:latin typeface="Space Grotesk" pitchFamily="34" charset="0"/>
                <a:ea typeface="Space Grotesk" pitchFamily="34" charset="-122"/>
                <a:cs typeface="Space Grotesk" pitchFamily="34" charset="-120"/>
              </a:rPr>
              <a:t>hỏi người</a:t>
            </a:r>
            <a:endParaRPr lang="en-US" sz="1400" dirty="0"/>
          </a:p>
        </p:txBody>
      </p:sp>
      <p:sp>
        <p:nvSpPr>
          <p:cNvPr id="18" name="Text 16"/>
          <p:cNvSpPr txBox="1"/>
          <p:nvPr/>
        </p:nvSpPr>
        <p:spPr>
          <a:xfrm>
            <a:off x="6889750" y="273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19" name="Text 17"/>
          <p:cNvSpPr txBox="1"/>
          <p:nvPr/>
        </p:nvSpPr>
        <p:spPr>
          <a:xfrm>
            <a:off x="7169150" y="2730500"/>
            <a:ext cx="8890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bước 3</a:t>
            </a:r>
            <a:endParaRPr lang="en-US" sz="1400" dirty="0"/>
          </a:p>
        </p:txBody>
      </p:sp>
      <p:sp>
        <p:nvSpPr>
          <p:cNvPr id="20" name="Text 18"/>
          <p:cNvSpPr txBox="1"/>
          <p:nvPr/>
        </p:nvSpPr>
        <p:spPr>
          <a:xfrm>
            <a:off x="8083550" y="273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21" name="Text 19"/>
          <p:cNvSpPr txBox="1"/>
          <p:nvPr/>
        </p:nvSpPr>
        <p:spPr>
          <a:xfrm>
            <a:off x="8362950" y="2730500"/>
            <a:ext cx="1193800" cy="342900"/>
          </a:xfrm>
          <a:prstGeom prst="roundRect">
            <a:avLst>
              <a:gd name="adj" fmla="val 50000"/>
            </a:avLst>
          </a:prstGeom>
          <a:solidFill>
            <a:srgbClr val="F4F2E8"/>
          </a:solidFill>
          <a:ln w="9525">
            <a:solidFill>
              <a:srgbClr val="D0D1EB"/>
            </a:solidFill>
          </a:ln>
        </p:spPr>
        <p:txBody>
          <a:bodyPr wrap="square" lIns="0" tIns="0" rIns="0" bIns="0" rtlCol="0" anchor="ctr"/>
          <a:lstStyle/>
          <a:p>
            <a:pPr algn="ctr" indent="0" marL="0">
              <a:buNone/>
            </a:pPr>
            <a:r>
              <a:rPr lang="en-US" sz="1400" dirty="0">
                <a:solidFill>
                  <a:srgbClr val="6B6B6B"/>
                </a:solidFill>
                <a:latin typeface="Space Grotesk" pitchFamily="34" charset="0"/>
                <a:ea typeface="Space Grotesk" pitchFamily="34" charset="-122"/>
                <a:cs typeface="Space Grotesk" pitchFamily="34" charset="-120"/>
              </a:rPr>
              <a:t>hỏi người</a:t>
            </a:r>
            <a:endParaRPr lang="en-US" sz="1400" dirty="0"/>
          </a:p>
        </p:txBody>
      </p:sp>
      <p:sp>
        <p:nvSpPr>
          <p:cNvPr id="22" name="Text 20"/>
          <p:cNvSpPr txBox="1"/>
          <p:nvPr/>
        </p:nvSpPr>
        <p:spPr>
          <a:xfrm>
            <a:off x="1784350" y="3200400"/>
            <a:ext cx="9525000" cy="279400"/>
          </a:xfrm>
          <a:prstGeom prst="rect">
            <a:avLst/>
          </a:prstGeom>
          <a:noFill/>
          <a:ln/>
        </p:spPr>
        <p:txBody>
          <a:bodyPr wrap="square" lIns="0" tIns="0" rIns="0" bIns="0" rtlCol="0" anchor="t"/>
          <a:lstStyle/>
          <a:p>
            <a:pPr algn="l" indent="0" marL="0">
              <a:buNone/>
            </a:pPr>
            <a:r>
              <a:rPr lang="en-US" sz="1400" dirty="0">
                <a:solidFill>
                  <a:srgbClr val="6B6B6B"/>
                </a:solidFill>
                <a:latin typeface="Inter" pitchFamily="34" charset="0"/>
                <a:ea typeface="Inter" pitchFamily="34" charset="-122"/>
                <a:cs typeface="Inter" pitchFamily="34" charset="-120"/>
              </a:rPr>
              <a:t>Cho dừng hỏi người ở mỗi bước.</a:t>
            </a:r>
            <a:endParaRPr lang="en-US" sz="1400" dirty="0"/>
          </a:p>
        </p:txBody>
      </p:sp>
      <p:sp>
        <p:nvSpPr>
          <p:cNvPr id="23" name="Shape 21"/>
          <p:cNvSpPr/>
          <p:nvPr/>
        </p:nvSpPr>
        <p:spPr>
          <a:xfrm>
            <a:off x="609600" y="3810000"/>
            <a:ext cx="10972800" cy="1104900"/>
          </a:xfrm>
          <a:prstGeom prst="roundRect">
            <a:avLst>
              <a:gd name="adj" fmla="val 8046"/>
            </a:avLst>
          </a:prstGeom>
          <a:solidFill>
            <a:srgbClr val="F4F2E8"/>
          </a:solidFill>
          <a:ln w="9525">
            <a:solidFill>
              <a:srgbClr val="D0D1EB"/>
            </a:solidFill>
            <a:prstDash val="solid"/>
          </a:ln>
        </p:spPr>
      </p:sp>
      <p:sp>
        <p:nvSpPr>
          <p:cNvPr id="24" name="Text 22"/>
          <p:cNvSpPr txBox="1"/>
          <p:nvPr/>
        </p:nvSpPr>
        <p:spPr>
          <a:xfrm>
            <a:off x="838200" y="3810000"/>
            <a:ext cx="762000" cy="1104900"/>
          </a:xfrm>
          <a:prstGeom prst="rect">
            <a:avLst/>
          </a:prstGeom>
          <a:noFill/>
          <a:ln/>
        </p:spPr>
        <p:txBody>
          <a:bodyPr wrap="square" lIns="0" tIns="0" rIns="0" bIns="0" rtlCol="0" anchor="ctr"/>
          <a:lstStyle/>
          <a:p>
            <a:pPr algn="l" indent="0" marL="0">
              <a:buNone/>
            </a:pPr>
            <a:r>
              <a:rPr lang="en-US" sz="3200" b="1" dirty="0">
                <a:solidFill>
                  <a:srgbClr val="1E2BFA"/>
                </a:solidFill>
                <a:latin typeface="Space Grotesk" pitchFamily="34" charset="0"/>
                <a:ea typeface="Space Grotesk" pitchFamily="34" charset="-122"/>
                <a:cs typeface="Space Grotesk" pitchFamily="34" charset="-120"/>
              </a:rPr>
              <a:t>L4</a:t>
            </a:r>
            <a:endParaRPr lang="en-US" sz="3200" dirty="0"/>
          </a:p>
        </p:txBody>
      </p:sp>
      <p:sp>
        <p:nvSpPr>
          <p:cNvPr id="25" name="Text 23"/>
          <p:cNvSpPr txBox="1"/>
          <p:nvPr/>
        </p:nvSpPr>
        <p:spPr>
          <a:xfrm>
            <a:off x="1784350" y="4000500"/>
            <a:ext cx="7874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skill</a:t>
            </a:r>
            <a:endParaRPr lang="en-US" sz="1400" dirty="0"/>
          </a:p>
        </p:txBody>
      </p:sp>
      <p:sp>
        <p:nvSpPr>
          <p:cNvPr id="26" name="Text 24"/>
          <p:cNvSpPr txBox="1"/>
          <p:nvPr/>
        </p:nvSpPr>
        <p:spPr>
          <a:xfrm>
            <a:off x="2597150" y="400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27" name="Text 25"/>
          <p:cNvSpPr txBox="1"/>
          <p:nvPr/>
        </p:nvSpPr>
        <p:spPr>
          <a:xfrm>
            <a:off x="2876550" y="4000500"/>
            <a:ext cx="7874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skill</a:t>
            </a:r>
            <a:endParaRPr lang="en-US" sz="1400" dirty="0"/>
          </a:p>
        </p:txBody>
      </p:sp>
      <p:sp>
        <p:nvSpPr>
          <p:cNvPr id="28" name="Text 26"/>
          <p:cNvSpPr txBox="1"/>
          <p:nvPr/>
        </p:nvSpPr>
        <p:spPr>
          <a:xfrm>
            <a:off x="3689350" y="400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29" name="Text 27"/>
          <p:cNvSpPr txBox="1"/>
          <p:nvPr/>
        </p:nvSpPr>
        <p:spPr>
          <a:xfrm>
            <a:off x="3968750" y="4000500"/>
            <a:ext cx="7874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skill</a:t>
            </a:r>
            <a:endParaRPr lang="en-US" sz="1400" dirty="0"/>
          </a:p>
        </p:txBody>
      </p:sp>
      <p:sp>
        <p:nvSpPr>
          <p:cNvPr id="30" name="Text 28"/>
          <p:cNvSpPr txBox="1"/>
          <p:nvPr/>
        </p:nvSpPr>
        <p:spPr>
          <a:xfrm>
            <a:off x="4781550" y="400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31" name="Text 29"/>
          <p:cNvSpPr txBox="1"/>
          <p:nvPr/>
        </p:nvSpPr>
        <p:spPr>
          <a:xfrm>
            <a:off x="5060950" y="4000500"/>
            <a:ext cx="787400" cy="342900"/>
          </a:xfrm>
          <a:prstGeom prst="roundRect">
            <a:avLst>
              <a:gd name="adj" fmla="val 50000"/>
            </a:avLst>
          </a:prstGeom>
          <a:solidFill>
            <a:srgbClr val="EBE9E8"/>
          </a:solidFill>
          <a:ln/>
        </p:spPr>
        <p:txBody>
          <a:bodyPr wrap="square" lIns="0" tIns="0" rIns="0" bIns="0" rtlCol="0" anchor="ctr"/>
          <a:lstStyle/>
          <a:p>
            <a:pPr algn="ctr" indent="0" marL="0">
              <a:buNone/>
            </a:pPr>
            <a:r>
              <a:rPr lang="en-US" sz="1400" dirty="0">
                <a:solidFill>
                  <a:srgbClr val="1E2BFA"/>
                </a:solidFill>
                <a:latin typeface="Space Grotesk" pitchFamily="34" charset="0"/>
                <a:ea typeface="Space Grotesk" pitchFamily="34" charset="-122"/>
                <a:cs typeface="Space Grotesk" pitchFamily="34" charset="-120"/>
              </a:rPr>
              <a:t>draft</a:t>
            </a:r>
            <a:endParaRPr lang="en-US" sz="1400" dirty="0"/>
          </a:p>
        </p:txBody>
      </p:sp>
      <p:sp>
        <p:nvSpPr>
          <p:cNvPr id="32" name="Text 30"/>
          <p:cNvSpPr txBox="1"/>
          <p:nvPr/>
        </p:nvSpPr>
        <p:spPr>
          <a:xfrm>
            <a:off x="5873750" y="4000500"/>
            <a:ext cx="254000" cy="342900"/>
          </a:xfrm>
          <a:prstGeom prst="rect">
            <a:avLst/>
          </a:prstGeom>
          <a:noFill/>
          <a:ln/>
        </p:spPr>
        <p:txBody>
          <a:bodyPr wrap="square" lIns="0" tIns="0" rIns="0" bIns="0" rtlCol="0" anchor="ctr"/>
          <a:lstStyle/>
          <a:p>
            <a:pPr algn="ctr" indent="0" marL="0">
              <a:buNone/>
            </a:pPr>
            <a:r>
              <a:rPr lang="en-US" sz="1500" dirty="0">
                <a:solidFill>
                  <a:srgbClr val="1E2BFA"/>
                </a:solidFill>
                <a:latin typeface="Space Grotesk" pitchFamily="34" charset="0"/>
                <a:ea typeface="Space Grotesk" pitchFamily="34" charset="-122"/>
                <a:cs typeface="Space Grotesk" pitchFamily="34" charset="-120"/>
              </a:rPr>
              <a:t>→</a:t>
            </a:r>
            <a:endParaRPr lang="en-US" sz="1500" dirty="0"/>
          </a:p>
        </p:txBody>
      </p:sp>
      <p:sp>
        <p:nvSpPr>
          <p:cNvPr id="33" name="Text 31"/>
          <p:cNvSpPr txBox="1"/>
          <p:nvPr/>
        </p:nvSpPr>
        <p:spPr>
          <a:xfrm>
            <a:off x="6153150" y="4000500"/>
            <a:ext cx="1593850" cy="342900"/>
          </a:xfrm>
          <a:prstGeom prst="roundRect">
            <a:avLst>
              <a:gd name="adj" fmla="val 50000"/>
            </a:avLst>
          </a:prstGeom>
          <a:solidFill>
            <a:srgbClr val="1E2BFA"/>
          </a:solidFill>
          <a:ln/>
        </p:spPr>
        <p:txBody>
          <a:bodyPr wrap="square" lIns="0" tIns="0" rIns="0" bIns="0" rtlCol="0" anchor="ctr"/>
          <a:lstStyle/>
          <a:p>
            <a:pPr algn="ctr" indent="0" marL="0">
              <a:buNone/>
            </a:pPr>
            <a:r>
              <a:rPr lang="en-US" sz="1400" dirty="0">
                <a:solidFill>
                  <a:srgbClr val="FDFAE7"/>
                </a:solidFill>
                <a:latin typeface="Space Grotesk" pitchFamily="34" charset="0"/>
                <a:ea typeface="Space Grotesk" pitchFamily="34" charset="-122"/>
                <a:cs typeface="Space Grotesk" pitchFamily="34" charset="-120"/>
              </a:rPr>
              <a:t>approval gate</a:t>
            </a:r>
            <a:endParaRPr lang="en-US" sz="1400" dirty="0"/>
          </a:p>
        </p:txBody>
      </p:sp>
      <p:sp>
        <p:nvSpPr>
          <p:cNvPr id="34" name="Text 32"/>
          <p:cNvSpPr txBox="1"/>
          <p:nvPr/>
        </p:nvSpPr>
        <p:spPr>
          <a:xfrm>
            <a:off x="1784350" y="4470400"/>
            <a:ext cx="9525000" cy="279400"/>
          </a:xfrm>
          <a:prstGeom prst="rect">
            <a:avLst/>
          </a:prstGeom>
          <a:noFill/>
          <a:ln/>
        </p:spPr>
        <p:txBody>
          <a:bodyPr wrap="square" lIns="0" tIns="0" rIns="0" bIns="0" rtlCol="0" anchor="t"/>
          <a:lstStyle/>
          <a:p>
            <a:pPr algn="l" indent="0" marL="0">
              <a:buNone/>
            </a:pPr>
            <a:r>
              <a:rPr lang="en-US" sz="1400" dirty="0">
                <a:solidFill>
                  <a:srgbClr val="6B6B6B"/>
                </a:solidFill>
                <a:latin typeface="Inter" pitchFamily="34" charset="0"/>
                <a:ea typeface="Inter" pitchFamily="34" charset="-122"/>
                <a:cs typeface="Inter" pitchFamily="34" charset="-120"/>
              </a:rPr>
              <a:t>Cho chạy trọn một chuỗi skill rồi trình draft ở approval gate cuối.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04 · BẢNG SO SÁNH SO SAI ĐỐI TƯỢNG</a:t>
            </a:r>
            <a:endParaRPr lang="en-US" sz="1100" dirty="0"/>
          </a:p>
        </p:txBody>
      </p:sp>
      <p:sp>
        <p:nvSpPr>
          <p:cNvPr id="3" name="Text 1"/>
          <p:cNvSpPr txBox="1"/>
          <p:nvPr/>
        </p:nvSpPr>
        <p:spPr>
          <a:xfrm>
            <a:off x="10890250" y="412750"/>
            <a:ext cx="6921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1 / 2</a:t>
            </a:r>
            <a:endParaRPr lang="en-US" sz="1000" dirty="0"/>
          </a:p>
        </p:txBody>
      </p:sp>
      <p:sp>
        <p:nvSpPr>
          <p:cNvPr id="4" name="Text 2"/>
          <p:cNvSpPr txBox="1"/>
          <p:nvPr/>
        </p:nvSpPr>
        <p:spPr>
          <a:xfrm>
            <a:off x="609600" y="812800"/>
            <a:ext cx="10414000" cy="9652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Bảng so sánh đang so hai cách triển khai, không so harness với platform</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11 / 19</a:t>
            </a:r>
            <a:endParaRPr lang="en-US" sz="900" dirty="0"/>
          </a:p>
        </p:txBody>
      </p:sp>
      <p:sp>
        <p:nvSpPr>
          <p:cNvPr id="7" name="Shape 5"/>
          <p:cNvSpPr/>
          <p:nvPr/>
        </p:nvSpPr>
        <p:spPr>
          <a:xfrm>
            <a:off x="0" y="6838950"/>
            <a:ext cx="7058526" cy="19050"/>
          </a:xfrm>
          <a:prstGeom prst="rect">
            <a:avLst/>
          </a:prstGeom>
          <a:solidFill>
            <a:srgbClr val="1E2BFA"/>
          </a:solidFill>
          <a:ln/>
        </p:spPr>
      </p:sp>
      <p:sp>
        <p:nvSpPr>
          <p:cNvPr id="8" name="Text 6"/>
          <p:cNvSpPr txBox="1"/>
          <p:nvPr/>
        </p:nvSpPr>
        <p:spPr>
          <a:xfrm>
            <a:off x="609600" y="1841500"/>
            <a:ext cx="10160000" cy="533400"/>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Nó đặt harness dùng tương tác trong IDE cạnh một platform chạy trên server. So harness chạy headless kèm kit với platform tự viết thì từng dòng đổi như sau:</a:t>
            </a:r>
            <a:endParaRPr lang="en-US" sz="1350" dirty="0"/>
          </a:p>
        </p:txBody>
      </p:sp>
      <p:sp>
        <p:nvSpPr>
          <p:cNvPr id="9" name="Shape 7"/>
          <p:cNvSpPr/>
          <p:nvPr/>
        </p:nvSpPr>
        <p:spPr>
          <a:xfrm>
            <a:off x="609600" y="2540000"/>
            <a:ext cx="10972800" cy="2882900"/>
          </a:xfrm>
          <a:prstGeom prst="roundRect">
            <a:avLst>
              <a:gd name="adj" fmla="val 3084"/>
            </a:avLst>
          </a:prstGeom>
          <a:solidFill>
            <a:srgbClr val="F4F2E8"/>
          </a:solidFill>
          <a:ln/>
        </p:spPr>
      </p:sp>
      <p:sp>
        <p:nvSpPr>
          <p:cNvPr id="10" name="Shape 8"/>
          <p:cNvSpPr/>
          <p:nvPr/>
        </p:nvSpPr>
        <p:spPr>
          <a:xfrm>
            <a:off x="609600" y="2540000"/>
            <a:ext cx="10972800" cy="393700"/>
          </a:xfrm>
          <a:prstGeom prst="roundRect">
            <a:avLst>
              <a:gd name="adj" fmla="val 22581"/>
            </a:avLst>
          </a:prstGeom>
          <a:solidFill>
            <a:srgbClr val="E2E1E9"/>
          </a:solidFill>
          <a:ln/>
        </p:spPr>
      </p:sp>
      <p:sp>
        <p:nvSpPr>
          <p:cNvPr id="11" name="Shape 9"/>
          <p:cNvSpPr/>
          <p:nvPr/>
        </p:nvSpPr>
        <p:spPr>
          <a:xfrm>
            <a:off x="609600" y="2736850"/>
            <a:ext cx="10972800" cy="196850"/>
          </a:xfrm>
          <a:prstGeom prst="rect">
            <a:avLst/>
          </a:prstGeom>
          <a:solidFill>
            <a:srgbClr val="E2E1E9"/>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600" y="2540000"/>
          <a:ext cx="10972800" cy="914400"/>
        </p:xfrm>
        <a:graphic>
          <a:graphicData uri="http://schemas.openxmlformats.org/drawingml/2006/table">
            <a:tbl>
              <a:tblPr/>
              <a:tblGrid>
                <a:gridCol w="3073400"/>
                <a:gridCol w="7899400"/>
              </a:tblGrid>
              <a:tr h="3937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DÒNG TRONG BẢNG</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THỰC TẾ</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L3 so với L4</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Automation level do workflow quyết định. Kit tài liệu hiện chủ động dừng để hỏi người (L3) vì đó là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design choice</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không phải do harness giới hạn.</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9906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Tool cá nhân so với cloud</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Harness chạy được trên server: Claude Code có chế độ non-interactive, Agent SDK và tích hợp GitHub Actions; Kiro CLI có --no-interactive,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đã chạy thử thực tế</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Task rời so với end-to-end</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“Một lệnh giao trọn feature” là một skill chain workflow, tức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phần kit</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Kit hiện đã có lệnh slash cho từng loại tài liệu.</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3" name="Shape 10"/>
          <p:cNvSpPr/>
          <p:nvPr/>
        </p:nvSpPr>
        <p:spPr>
          <a:xfrm>
            <a:off x="609600" y="2540000"/>
            <a:ext cx="10972800" cy="2882900"/>
          </a:xfrm>
          <a:prstGeom prst="roundRect">
            <a:avLst>
              <a:gd name="adj" fmla="val 3084"/>
            </a:avLst>
          </a:prstGeom>
          <a:ln w="9525">
            <a:solidFill>
              <a:srgbClr val="D0D1EB"/>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04 · BẢNG SO SÁNH SO SAI ĐỐI TƯỢNG</a:t>
            </a:r>
            <a:endParaRPr lang="en-US" sz="1100" dirty="0"/>
          </a:p>
        </p:txBody>
      </p:sp>
      <p:sp>
        <p:nvSpPr>
          <p:cNvPr id="3" name="Text 1"/>
          <p:cNvSpPr txBox="1"/>
          <p:nvPr/>
        </p:nvSpPr>
        <p:spPr>
          <a:xfrm>
            <a:off x="10890250" y="412750"/>
            <a:ext cx="6921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2 / 2</a:t>
            </a:r>
            <a:endParaRPr lang="en-US" sz="1000" dirty="0"/>
          </a:p>
        </p:txBody>
      </p:sp>
      <p:sp>
        <p:nvSpPr>
          <p:cNvPr id="4" name="Text 2"/>
          <p:cNvSpPr txBox="1"/>
          <p:nvPr/>
        </p:nvSpPr>
        <p:spPr>
          <a:xfrm>
            <a:off x="609600" y="812800"/>
            <a:ext cx="10414000" cy="9652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Multi-repo là bài toán dữ liệu; chỉ audit tập trung là khoảng trống thật</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12 / 19</a:t>
            </a:r>
            <a:endParaRPr lang="en-US" sz="900" dirty="0"/>
          </a:p>
        </p:txBody>
      </p:sp>
      <p:sp>
        <p:nvSpPr>
          <p:cNvPr id="7" name="Shape 5"/>
          <p:cNvSpPr/>
          <p:nvPr/>
        </p:nvSpPr>
        <p:spPr>
          <a:xfrm>
            <a:off x="0" y="6838950"/>
            <a:ext cx="7700211" cy="19050"/>
          </a:xfrm>
          <a:prstGeom prst="rect">
            <a:avLst/>
          </a:prstGeom>
          <a:solidFill>
            <a:srgbClr val="1E2BFA"/>
          </a:solidFill>
          <a:ln/>
        </p:spPr>
      </p:sp>
      <p:sp>
        <p:nvSpPr>
          <p:cNvPr id="8" name="Shape 6"/>
          <p:cNvSpPr/>
          <p:nvPr/>
        </p:nvSpPr>
        <p:spPr>
          <a:xfrm>
            <a:off x="609600" y="1981200"/>
            <a:ext cx="10972800" cy="2882900"/>
          </a:xfrm>
          <a:prstGeom prst="roundRect">
            <a:avLst>
              <a:gd name="adj" fmla="val 3084"/>
            </a:avLst>
          </a:prstGeom>
          <a:solidFill>
            <a:srgbClr val="F4F2E8"/>
          </a:solidFill>
          <a:ln/>
        </p:spPr>
      </p:sp>
      <p:sp>
        <p:nvSpPr>
          <p:cNvPr id="9" name="Shape 7"/>
          <p:cNvSpPr/>
          <p:nvPr/>
        </p:nvSpPr>
        <p:spPr>
          <a:xfrm>
            <a:off x="609600" y="1981200"/>
            <a:ext cx="10972800" cy="393700"/>
          </a:xfrm>
          <a:prstGeom prst="roundRect">
            <a:avLst>
              <a:gd name="adj" fmla="val 22581"/>
            </a:avLst>
          </a:prstGeom>
          <a:solidFill>
            <a:srgbClr val="E2E1E9"/>
          </a:solidFill>
          <a:ln/>
        </p:spPr>
      </p:sp>
      <p:sp>
        <p:nvSpPr>
          <p:cNvPr id="10" name="Shape 8"/>
          <p:cNvSpPr/>
          <p:nvPr/>
        </p:nvSpPr>
        <p:spPr>
          <a:xfrm>
            <a:off x="609600" y="2178050"/>
            <a:ext cx="10972800" cy="196850"/>
          </a:xfrm>
          <a:prstGeom prst="rect">
            <a:avLst/>
          </a:prstGeom>
          <a:solidFill>
            <a:srgbClr val="E2E1E9"/>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600" y="1981200"/>
          <a:ext cx="10972800" cy="914400"/>
        </p:xfrm>
        <a:graphic>
          <a:graphicData uri="http://schemas.openxmlformats.org/drawingml/2006/table">
            <a:tbl>
              <a:tblPr/>
              <a:tblGrid>
                <a:gridCol w="3403600"/>
                <a:gridCol w="7569200"/>
              </a:tblGrid>
              <a:tr h="3937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DÒNG TRONG BẢNG</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THỰC TẾ</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Single repo so với multi-repo</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Đây là vấn đề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dữ liệu</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Code graph nhiều repo phơi ra qua CLI hoặc MCP thì harness nào cũng dùng được. Dòng này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ủng hộ</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đề xuất, không bác nó.</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9906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Không có gate, không có audit</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Human gate đã có: PR review, branch protection, hook của harness.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Audit tập trung là khoảng trống thật</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(Kiro lưu session log local trên máy từng người), lấp bằng một layer mỏng: LLM gateway, telemetry, thu log về một chỗ.</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Không tích hợp tool chuyên sâu</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Nối tool qua CLI hoặc MCP chính là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connector trong kit</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CLI cho Jira và Confluence đã chứng minh cách này khi MCP chưa được bật.</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2" name="Shape 9"/>
          <p:cNvSpPr/>
          <p:nvPr/>
        </p:nvSpPr>
        <p:spPr>
          <a:xfrm>
            <a:off x="609600" y="1981200"/>
            <a:ext cx="10972800" cy="2882900"/>
          </a:xfrm>
          <a:prstGeom prst="roundRect">
            <a:avLst>
              <a:gd name="adj" fmla="val 3084"/>
            </a:avLst>
          </a:prstGeom>
          <a:ln w="9525">
            <a:solidFill>
              <a:srgbClr val="D0D1EB"/>
            </a:solidFill>
            <a:prstDash val="solid"/>
          </a:ln>
        </p:spPr>
      </p:sp>
      <p:sp>
        <p:nvSpPr>
          <p:cNvPr id="13" name="Shape 10"/>
          <p:cNvSpPr/>
          <p:nvPr/>
        </p:nvSpPr>
        <p:spPr>
          <a:xfrm>
            <a:off x="609600" y="5080000"/>
            <a:ext cx="10972800" cy="863600"/>
          </a:xfrm>
          <a:prstGeom prst="roundRect">
            <a:avLst>
              <a:gd name="adj" fmla="val 8824"/>
            </a:avLst>
          </a:prstGeom>
          <a:solidFill>
            <a:srgbClr val="EBE9E8"/>
          </a:solidFill>
          <a:ln/>
        </p:spPr>
      </p:sp>
      <p:sp>
        <p:nvSpPr>
          <p:cNvPr id="14" name="Text 11"/>
          <p:cNvSpPr txBox="1"/>
          <p:nvPr/>
        </p:nvSpPr>
        <p:spPr>
          <a:xfrm>
            <a:off x="838200" y="5080000"/>
            <a:ext cx="10515600" cy="863600"/>
          </a:xfrm>
          <a:prstGeom prst="rect">
            <a:avLst/>
          </a:prstGeom>
          <a:noFill/>
          <a:ln/>
        </p:spPr>
        <p:txBody>
          <a:bodyPr wrap="square" lIns="0" tIns="0" rIns="0" bIns="0" rtlCol="0" anchor="ctr"/>
          <a:lstStyle/>
          <a:p>
            <a:pPr algn="l" indent="0" marL="0">
              <a:lnSpc>
                <a:spcPts val="2248"/>
              </a:lnSpc>
              <a:buNone/>
            </a:pPr>
            <a:r>
              <a:rPr lang="en-US" sz="1550" dirty="0">
                <a:solidFill>
                  <a:srgbClr val="111111"/>
                </a:solidFill>
                <a:latin typeface="Inter" pitchFamily="34" charset="0"/>
                <a:ea typeface="Inter" pitchFamily="34" charset="-122"/>
                <a:cs typeface="Inter" pitchFamily="34" charset="-120"/>
              </a:rPr>
              <a:t>“Trợ lý cá nhân” so với “dây chuyền sản xuất” không đứng vững: cùng một harness có thể là cả hai, tuỳ nó chạy ở đâu và chạy workflow nào.</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05 · BỐN LAYER CỦA PLATFORM</a:t>
            </a:r>
            <a:endParaRPr lang="en-US" sz="1100" dirty="0"/>
          </a:p>
        </p:txBody>
      </p:sp>
      <p:sp>
        <p:nvSpPr>
          <p:cNvPr id="3" name="Text 1"/>
          <p:cNvSpPr txBox="1"/>
          <p:nvPr/>
        </p:nvSpPr>
        <p:spPr>
          <a:xfrm>
            <a:off x="9950450" y="412750"/>
            <a:ext cx="16319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Tách theo bản chất</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Tách theo bản chất: chỉ layer 2 là viết lại harness</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13 / 19</a:t>
            </a:r>
            <a:endParaRPr lang="en-US" sz="900" dirty="0"/>
          </a:p>
        </p:txBody>
      </p:sp>
      <p:sp>
        <p:nvSpPr>
          <p:cNvPr id="7" name="Shape 5"/>
          <p:cNvSpPr/>
          <p:nvPr/>
        </p:nvSpPr>
        <p:spPr>
          <a:xfrm>
            <a:off x="0" y="6838950"/>
            <a:ext cx="8341895" cy="19050"/>
          </a:xfrm>
          <a:prstGeom prst="rect">
            <a:avLst/>
          </a:prstGeom>
          <a:solidFill>
            <a:srgbClr val="1E2BFA"/>
          </a:solidFill>
          <a:ln/>
        </p:spPr>
      </p:sp>
      <p:sp>
        <p:nvSpPr>
          <p:cNvPr id="8" name="Shape 6"/>
          <p:cNvSpPr/>
          <p:nvPr/>
        </p:nvSpPr>
        <p:spPr>
          <a:xfrm>
            <a:off x="609600" y="1841500"/>
            <a:ext cx="8458200" cy="3632200"/>
          </a:xfrm>
          <a:prstGeom prst="roundRect">
            <a:avLst>
              <a:gd name="adj" fmla="val 2448"/>
            </a:avLst>
          </a:prstGeom>
          <a:solidFill>
            <a:srgbClr val="F4F2E8"/>
          </a:solidFill>
          <a:ln/>
        </p:spPr>
      </p:sp>
      <p:sp>
        <p:nvSpPr>
          <p:cNvPr id="9" name="Shape 7"/>
          <p:cNvSpPr/>
          <p:nvPr/>
        </p:nvSpPr>
        <p:spPr>
          <a:xfrm>
            <a:off x="609600" y="1841500"/>
            <a:ext cx="8458200" cy="393700"/>
          </a:xfrm>
          <a:prstGeom prst="roundRect">
            <a:avLst>
              <a:gd name="adj" fmla="val 22581"/>
            </a:avLst>
          </a:prstGeom>
          <a:solidFill>
            <a:srgbClr val="E2E1E9"/>
          </a:solidFill>
          <a:ln/>
        </p:spPr>
      </p:sp>
      <p:sp>
        <p:nvSpPr>
          <p:cNvPr id="10" name="Shape 8"/>
          <p:cNvSpPr/>
          <p:nvPr/>
        </p:nvSpPr>
        <p:spPr>
          <a:xfrm>
            <a:off x="609600" y="2038350"/>
            <a:ext cx="8458200" cy="196850"/>
          </a:xfrm>
          <a:prstGeom prst="rect">
            <a:avLst/>
          </a:prstGeom>
          <a:solidFill>
            <a:srgbClr val="E2E1E9"/>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600" y="1841500"/>
          <a:ext cx="8458200" cy="914400"/>
        </p:xfrm>
        <a:graphic>
          <a:graphicData uri="http://schemas.openxmlformats.org/drawingml/2006/table">
            <a:tbl>
              <a:tblPr/>
              <a:tblGrid>
                <a:gridCol w="2622550"/>
                <a:gridCol w="2032000"/>
                <a:gridCol w="3803650"/>
              </a:tblGrid>
              <a:tr h="3937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LAYER</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BẢN CHẤT</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NÊN LÀM GÌ</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1 · Context engine, knowledge base</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Data source AI-ready</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b="1" dirty="0">
                          <a:solidFill>
                            <a:srgbClr val="059669"/>
                          </a:solidFill>
                          <a:latin typeface="Inter" pitchFamily="34" charset="0"/>
                          <a:ea typeface="Inter" pitchFamily="34" charset="-122"/>
                          <a:cs typeface="Inter" pitchFamily="34" charset="-120"/>
                        </a:rPr>
                        <a:t>✓ </a:t>
                      </a:r>
                      <a:pPr algn="l" indent="0" marL="0">
                        <a:lnSpc>
                          <a:spcPts val="1917"/>
                        </a:lnSpc>
                        <a:buNone/>
                      </a:pPr>
                      <a:r>
                        <a:rPr lang="en-US" sz="1350" b="1" dirty="0">
                          <a:solidFill>
                            <a:srgbClr val="059669"/>
                          </a:solidFill>
                          <a:latin typeface="Inter" pitchFamily="34" charset="0"/>
                          <a:ea typeface="Inter" pitchFamily="34" charset="-122"/>
                          <a:cs typeface="Inter" pitchFamily="34" charset="-120"/>
                        </a:rPr>
                        <a:t>Làm.</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Tài sản bên ngoài không có</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2 · Multi-agent orchestration</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Viết lại harness</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b="1" dirty="0">
                          <a:solidFill>
                            <a:srgbClr val="DC2626"/>
                          </a:solidFill>
                          <a:latin typeface="Inter" pitchFamily="34" charset="0"/>
                          <a:ea typeface="Inter" pitchFamily="34" charset="-122"/>
                          <a:cs typeface="Inter" pitchFamily="34" charset="-120"/>
                        </a:rPr>
                        <a:t>✗ </a:t>
                      </a:r>
                      <a:pPr algn="l" indent="0" marL="0">
                        <a:lnSpc>
                          <a:spcPts val="1917"/>
                        </a:lnSpc>
                        <a:buNone/>
                      </a:pPr>
                      <a:r>
                        <a:rPr lang="en-US" sz="1350" b="1" dirty="0">
                          <a:solidFill>
                            <a:srgbClr val="DC2626"/>
                          </a:solidFill>
                          <a:latin typeface="Inter" pitchFamily="34" charset="0"/>
                          <a:ea typeface="Inter" pitchFamily="34" charset="-122"/>
                          <a:cs typeface="Inter" pitchFamily="34" charset="-120"/>
                        </a:rPr>
                        <a:t>Không làm.</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Dùng subagent, skill chain, headless của harness có sẵn</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7493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3 · Integration</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Connector trong kit</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b="1" dirty="0">
                          <a:solidFill>
                            <a:srgbClr val="059669"/>
                          </a:solidFill>
                          <a:latin typeface="Inter" pitchFamily="34" charset="0"/>
                          <a:ea typeface="Inter" pitchFamily="34" charset="-122"/>
                          <a:cs typeface="Inter" pitchFamily="34" charset="-120"/>
                        </a:rPr>
                        <a:t>✓ </a:t>
                      </a:r>
                      <a:pPr algn="l" indent="0" marL="0">
                        <a:lnSpc>
                          <a:spcPts val="1917"/>
                        </a:lnSpc>
                        <a:buNone/>
                      </a:pPr>
                      <a:r>
                        <a:rPr lang="en-US" sz="1350" b="1" dirty="0">
                          <a:solidFill>
                            <a:srgbClr val="059669"/>
                          </a:solidFill>
                          <a:latin typeface="Inter" pitchFamily="34" charset="0"/>
                          <a:ea typeface="Inter" pitchFamily="34" charset="-122"/>
                          <a:cs typeface="Inter" pitchFamily="34" charset="-120"/>
                        </a:rPr>
                        <a:t>Làm</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trung lập với harness (CLI hoặc MCP)</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9906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4 · Governance, quality gate</a:t>
                      </a:r>
                      <a:endParaRPr lang="en-US" sz="1400" dirty="0">
                        <a:latin typeface="Space Grotesk" charset="0"/>
                        <a:ea typeface="Space Grotesk" charset="0"/>
                        <a:cs typeface="Space Grotesk"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Shared infrastructure</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Mua hoặc cấu hình</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gate qua GitHub, guardrail qua hook và sandbox, cost và audit qua LLM gateway</a:t>
                      </a:r>
                      <a:endParaRPr lang="en-US" sz="1350" dirty="0">
                        <a:latin typeface="Inter" charset="0"/>
                        <a:ea typeface="Inter" charset="0"/>
                        <a:cs typeface="Inter" charset="0"/>
                      </a:endParaRPr>
                    </a:p>
                  </a:txBody>
                  <a:tcPr marL="177800" marR="177800" marT="114300" marB="1143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2" name="Shape 9"/>
          <p:cNvSpPr/>
          <p:nvPr/>
        </p:nvSpPr>
        <p:spPr>
          <a:xfrm>
            <a:off x="609600" y="1841500"/>
            <a:ext cx="8458200" cy="3632200"/>
          </a:xfrm>
          <a:prstGeom prst="roundRect">
            <a:avLst>
              <a:gd name="adj" fmla="val 2448"/>
            </a:avLst>
          </a:prstGeom>
          <a:ln w="9525">
            <a:solidFill>
              <a:srgbClr val="D0D1EB"/>
            </a:solidFill>
            <a:prstDash val="solid"/>
          </a:ln>
        </p:spPr>
      </p:sp>
      <p:sp>
        <p:nvSpPr>
          <p:cNvPr id="13" name="Shape 10"/>
          <p:cNvSpPr/>
          <p:nvPr/>
        </p:nvSpPr>
        <p:spPr>
          <a:xfrm>
            <a:off x="9296400" y="1841500"/>
            <a:ext cx="2286000" cy="3632200"/>
          </a:xfrm>
          <a:prstGeom prst="roundRect">
            <a:avLst>
              <a:gd name="adj" fmla="val 3889"/>
            </a:avLst>
          </a:prstGeom>
          <a:solidFill>
            <a:srgbClr val="F4F2E8"/>
          </a:solidFill>
          <a:ln w="9525">
            <a:solidFill>
              <a:srgbClr val="D0D1EB"/>
            </a:solidFill>
            <a:prstDash val="solid"/>
          </a:ln>
        </p:spPr>
      </p:sp>
      <p:sp>
        <p:nvSpPr>
          <p:cNvPr id="14" name="Text 11"/>
          <p:cNvSpPr txBox="1"/>
          <p:nvPr/>
        </p:nvSpPr>
        <p:spPr>
          <a:xfrm>
            <a:off x="9512300" y="2387600"/>
            <a:ext cx="1968500" cy="977900"/>
          </a:xfrm>
          <a:prstGeom prst="rect">
            <a:avLst/>
          </a:prstGeom>
          <a:noFill/>
          <a:ln/>
        </p:spPr>
        <p:txBody>
          <a:bodyPr wrap="square" lIns="0" tIns="0" rIns="0" bIns="0" rtlCol="0" anchor="t"/>
          <a:lstStyle/>
          <a:p>
            <a:pPr algn="l" indent="0" marL="0">
              <a:buNone/>
            </a:pPr>
            <a:r>
              <a:rPr lang="en-US" sz="6000" b="1" dirty="0">
                <a:solidFill>
                  <a:srgbClr val="1E2BFA"/>
                </a:solidFill>
                <a:latin typeface="Space Grotesk" pitchFamily="34" charset="0"/>
                <a:ea typeface="Space Grotesk" pitchFamily="34" charset="-122"/>
                <a:cs typeface="Space Grotesk" pitchFamily="34" charset="-120"/>
              </a:rPr>
              <a:t>3/4</a:t>
            </a:r>
            <a:endParaRPr lang="en-US" sz="6000" dirty="0"/>
          </a:p>
        </p:txBody>
      </p:sp>
      <p:sp>
        <p:nvSpPr>
          <p:cNvPr id="15" name="Text 12"/>
          <p:cNvSpPr txBox="1"/>
          <p:nvPr/>
        </p:nvSpPr>
        <p:spPr>
          <a:xfrm>
            <a:off x="9512300" y="3429000"/>
            <a:ext cx="1905000" cy="825500"/>
          </a:xfrm>
          <a:prstGeom prst="rect">
            <a:avLst/>
          </a:prstGeom>
          <a:noFill/>
          <a:ln/>
        </p:spPr>
        <p:txBody>
          <a:bodyPr wrap="square" lIns="0" tIns="0" rIns="0" bIns="0" rtlCol="0" anchor="t"/>
          <a:lstStyle/>
          <a:p>
            <a:pPr algn="l" indent="0" marL="0">
              <a:lnSpc>
                <a:spcPts val="1875"/>
              </a:lnSpc>
              <a:buNone/>
            </a:pPr>
            <a:r>
              <a:rPr lang="en-US" sz="1500" b="1" dirty="0">
                <a:solidFill>
                  <a:srgbClr val="111111"/>
                </a:solidFill>
                <a:latin typeface="Space Grotesk" pitchFamily="34" charset="0"/>
                <a:ea typeface="Space Grotesk" pitchFamily="34" charset="-122"/>
                <a:cs typeface="Space Grotesk" pitchFamily="34" charset="-120"/>
              </a:rPr>
              <a:t>layer của chính platform đã trùng với đề xuất</a:t>
            </a:r>
            <a:endParaRPr lang="en-US" sz="1500" dirty="0"/>
          </a:p>
        </p:txBody>
      </p:sp>
      <p:sp>
        <p:nvSpPr>
          <p:cNvPr id="16" name="Text 13"/>
          <p:cNvSpPr txBox="1"/>
          <p:nvPr/>
        </p:nvSpPr>
        <p:spPr>
          <a:xfrm>
            <a:off x="9512300" y="4381500"/>
            <a:ext cx="1905000" cy="762000"/>
          </a:xfrm>
          <a:prstGeom prst="rect">
            <a:avLst/>
          </a:prstGeom>
          <a:noFill/>
          <a:ln/>
        </p:spPr>
        <p:txBody>
          <a:bodyPr wrap="square" lIns="0" tIns="0" rIns="0" bIns="0" rtlCol="0" anchor="t"/>
          <a:lstStyle/>
          <a:p>
            <a:pPr algn="l" indent="0" marL="0">
              <a:lnSpc>
                <a:spcPts val="1725"/>
              </a:lnSpc>
              <a:buNone/>
            </a:pPr>
            <a:r>
              <a:rPr lang="en-US" sz="1150" dirty="0">
                <a:solidFill>
                  <a:srgbClr val="6B6B6B"/>
                </a:solidFill>
                <a:latin typeface="Inter" pitchFamily="34" charset="0"/>
                <a:ea typeface="Inter" pitchFamily="34" charset="-122"/>
                <a:cs typeface="Inter" pitchFamily="34" charset="-120"/>
              </a:rPr>
              <a:t>Phần tự viết lại harness dồn vào layer 2, cộng thêm chat UI.</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06 · MƯỜI BA FEATURE</a:t>
            </a:r>
            <a:endParaRPr lang="en-US" sz="1100" dirty="0"/>
          </a:p>
        </p:txBody>
      </p:sp>
      <p:sp>
        <p:nvSpPr>
          <p:cNvPr id="3" name="Text 1"/>
          <p:cNvSpPr txBox="1"/>
          <p:nvPr/>
        </p:nvSpPr>
        <p:spPr>
          <a:xfrm>
            <a:off x="9874250" y="412750"/>
            <a:ext cx="17081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13 feature · 3 loại</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Không feature nào bắt buộc phải có harness tự viết</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14 / 19</a:t>
            </a:r>
            <a:endParaRPr lang="en-US" sz="900" dirty="0"/>
          </a:p>
        </p:txBody>
      </p:sp>
      <p:sp>
        <p:nvSpPr>
          <p:cNvPr id="7" name="Shape 5"/>
          <p:cNvSpPr/>
          <p:nvPr/>
        </p:nvSpPr>
        <p:spPr>
          <a:xfrm>
            <a:off x="0" y="6838950"/>
            <a:ext cx="8983579" cy="19050"/>
          </a:xfrm>
          <a:prstGeom prst="rect">
            <a:avLst/>
          </a:prstGeom>
          <a:solidFill>
            <a:srgbClr val="1E2BFA"/>
          </a:solidFill>
          <a:ln/>
        </p:spPr>
      </p:sp>
      <p:sp>
        <p:nvSpPr>
          <p:cNvPr id="8" name="Shape 6"/>
          <p:cNvSpPr/>
          <p:nvPr/>
        </p:nvSpPr>
        <p:spPr>
          <a:xfrm>
            <a:off x="609600" y="1841500"/>
            <a:ext cx="3771900" cy="3365500"/>
          </a:xfrm>
          <a:prstGeom prst="roundRect">
            <a:avLst>
              <a:gd name="adj" fmla="val 2642"/>
            </a:avLst>
          </a:prstGeom>
          <a:solidFill>
            <a:srgbClr val="F4F2E8"/>
          </a:solidFill>
          <a:ln w="9525">
            <a:solidFill>
              <a:srgbClr val="D0D1EB"/>
            </a:solidFill>
            <a:prstDash val="solid"/>
          </a:ln>
        </p:spPr>
      </p:sp>
      <p:sp>
        <p:nvSpPr>
          <p:cNvPr id="9" name="Text 7"/>
          <p:cNvSpPr txBox="1"/>
          <p:nvPr/>
        </p:nvSpPr>
        <p:spPr>
          <a:xfrm>
            <a:off x="812800" y="1981200"/>
            <a:ext cx="406400" cy="596900"/>
          </a:xfrm>
          <a:prstGeom prst="rect">
            <a:avLst/>
          </a:prstGeom>
          <a:noFill/>
          <a:ln/>
        </p:spPr>
        <p:txBody>
          <a:bodyPr wrap="square" lIns="0" tIns="0" rIns="0" bIns="0" rtlCol="0" anchor="t"/>
          <a:lstStyle/>
          <a:p>
            <a:pPr algn="l" indent="0" marL="0">
              <a:buNone/>
            </a:pPr>
            <a:r>
              <a:rPr lang="en-US" sz="3600" b="1" dirty="0">
                <a:solidFill>
                  <a:srgbClr val="1E2BFA"/>
                </a:solidFill>
                <a:latin typeface="Space Grotesk" pitchFamily="34" charset="0"/>
                <a:ea typeface="Space Grotesk" pitchFamily="34" charset="-122"/>
                <a:cs typeface="Space Grotesk" pitchFamily="34" charset="-120"/>
              </a:rPr>
              <a:t>6</a:t>
            </a:r>
            <a:endParaRPr lang="en-US" sz="3600" dirty="0"/>
          </a:p>
        </p:txBody>
      </p:sp>
      <p:sp>
        <p:nvSpPr>
          <p:cNvPr id="10" name="Text 8"/>
          <p:cNvSpPr txBox="1"/>
          <p:nvPr/>
        </p:nvSpPr>
        <p:spPr>
          <a:xfrm>
            <a:off x="1244600" y="2209800"/>
            <a:ext cx="2933700" cy="2540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Skill hoặc workflow</a:t>
            </a:r>
            <a:endParaRPr lang="en-US" sz="1400" dirty="0"/>
          </a:p>
        </p:txBody>
      </p:sp>
      <p:sp>
        <p:nvSpPr>
          <p:cNvPr id="11" name="Text 9"/>
          <p:cNvSpPr txBox="1"/>
          <p:nvPr/>
        </p:nvSpPr>
        <p:spPr>
          <a:xfrm>
            <a:off x="812800" y="2654300"/>
            <a:ext cx="3365500" cy="1587500"/>
          </a:xfrm>
          <a:prstGeom prst="rect">
            <a:avLst/>
          </a:prstGeom>
          <a:noFill/>
          <a:ln/>
        </p:spPr>
        <p:txBody>
          <a:bodyPr wrap="square" lIns="0" tIns="0" rIns="0" bIns="0" rtlCol="0" anchor="t"/>
          <a:lstStyle/>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Requirements definition (sinh SRS)</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Sinh basic design, detail design</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Code generation kèm unit test</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Automated code review</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Test case design</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Giao trọn feature bằng một lệnh</a:t>
            </a:r>
            <a:endParaRPr lang="en-US" sz="1200" dirty="0"/>
          </a:p>
        </p:txBody>
      </p:sp>
      <p:sp>
        <p:nvSpPr>
          <p:cNvPr id="12" name="Shape 10"/>
          <p:cNvSpPr/>
          <p:nvPr/>
        </p:nvSpPr>
        <p:spPr>
          <a:xfrm>
            <a:off x="812800" y="4318000"/>
            <a:ext cx="3365500" cy="0"/>
          </a:xfrm>
          <a:prstGeom prst="line">
            <a:avLst/>
          </a:prstGeom>
          <a:noFill/>
          <a:ln w="9525">
            <a:solidFill>
              <a:srgbClr val="D0D1EB"/>
            </a:solidFill>
            <a:prstDash val="solid"/>
          </a:ln>
        </p:spPr>
      </p:sp>
      <p:sp>
        <p:nvSpPr>
          <p:cNvPr id="13" name="Text 11"/>
          <p:cNvSpPr txBox="1"/>
          <p:nvPr/>
        </p:nvSpPr>
        <p:spPr>
          <a:xfrm>
            <a:off x="812800" y="4432300"/>
            <a:ext cx="3365500" cy="165100"/>
          </a:xfrm>
          <a:prstGeom prst="rect">
            <a:avLst/>
          </a:prstGeom>
          <a:noFill/>
          <a:ln/>
        </p:spPr>
        <p:txBody>
          <a:bodyPr wrap="square" lIns="0" tIns="0" rIns="0" bIns="0" rtlCol="0" anchor="t"/>
          <a:lstStyle/>
          <a:p>
            <a:pPr algn="l" indent="0" marL="0">
              <a:buNone/>
            </a:pPr>
            <a:r>
              <a:rPr lang="en-US" sz="900" b="1" spc="100" kern="0" dirty="0">
                <a:solidFill>
                  <a:srgbClr val="1E2BFA"/>
                </a:solidFill>
                <a:latin typeface="Space Grotesk" pitchFamily="34" charset="0"/>
                <a:ea typeface="Space Grotesk" pitchFamily="34" charset="-122"/>
                <a:cs typeface="Space Grotesk" pitchFamily="34" charset="-120"/>
              </a:rPr>
              <a:t>AI LÀM</a:t>
            </a:r>
            <a:endParaRPr lang="en-US" sz="900" dirty="0"/>
          </a:p>
        </p:txBody>
      </p:sp>
      <p:sp>
        <p:nvSpPr>
          <p:cNvPr id="14" name="Text 12"/>
          <p:cNvSpPr txBox="1"/>
          <p:nvPr/>
        </p:nvSpPr>
        <p:spPr>
          <a:xfrm>
            <a:off x="812800" y="4635500"/>
            <a:ext cx="3365500" cy="457200"/>
          </a:xfrm>
          <a:prstGeom prst="rect">
            <a:avLst/>
          </a:prstGeom>
          <a:noFill/>
          <a:ln/>
        </p:spPr>
        <p:txBody>
          <a:bodyPr wrap="square" lIns="0" tIns="0" rIns="0" bIns="0" rtlCol="0" anchor="t"/>
          <a:lstStyle/>
          <a:p>
            <a:pPr algn="l" indent="0" marL="0">
              <a:lnSpc>
                <a:spcPts val="1563"/>
              </a:lnSpc>
              <a:buNone/>
            </a:pPr>
            <a:r>
              <a:rPr lang="en-US" sz="1250" b="1" dirty="0">
                <a:solidFill>
                  <a:srgbClr val="111111"/>
                </a:solidFill>
                <a:latin typeface="Space Grotesk" pitchFamily="34" charset="0"/>
                <a:ea typeface="Space Grotesk" pitchFamily="34" charset="-122"/>
                <a:cs typeface="Space Grotesk" pitchFamily="34" charset="-120"/>
              </a:rPr>
              <a:t>Team kit</a:t>
            </a:r>
            <a:endParaRPr lang="en-US" sz="1250" dirty="0"/>
          </a:p>
        </p:txBody>
      </p:sp>
      <p:sp>
        <p:nvSpPr>
          <p:cNvPr id="15" name="Shape 13"/>
          <p:cNvSpPr/>
          <p:nvPr/>
        </p:nvSpPr>
        <p:spPr>
          <a:xfrm>
            <a:off x="4546600" y="1841500"/>
            <a:ext cx="3429000" cy="3365500"/>
          </a:xfrm>
          <a:prstGeom prst="roundRect">
            <a:avLst>
              <a:gd name="adj" fmla="val 2642"/>
            </a:avLst>
          </a:prstGeom>
          <a:solidFill>
            <a:srgbClr val="F4F2E8"/>
          </a:solidFill>
          <a:ln w="9525">
            <a:solidFill>
              <a:srgbClr val="D0D1EB"/>
            </a:solidFill>
            <a:prstDash val="solid"/>
          </a:ln>
        </p:spPr>
      </p:sp>
      <p:sp>
        <p:nvSpPr>
          <p:cNvPr id="16" name="Text 14"/>
          <p:cNvSpPr txBox="1"/>
          <p:nvPr/>
        </p:nvSpPr>
        <p:spPr>
          <a:xfrm>
            <a:off x="4749800" y="1981200"/>
            <a:ext cx="406400" cy="596900"/>
          </a:xfrm>
          <a:prstGeom prst="rect">
            <a:avLst/>
          </a:prstGeom>
          <a:noFill/>
          <a:ln/>
        </p:spPr>
        <p:txBody>
          <a:bodyPr wrap="square" lIns="0" tIns="0" rIns="0" bIns="0" rtlCol="0" anchor="t"/>
          <a:lstStyle/>
          <a:p>
            <a:pPr algn="l" indent="0" marL="0">
              <a:buNone/>
            </a:pPr>
            <a:r>
              <a:rPr lang="en-US" sz="3600" b="1" dirty="0">
                <a:solidFill>
                  <a:srgbClr val="1E2BFA"/>
                </a:solidFill>
                <a:latin typeface="Space Grotesk" pitchFamily="34" charset="0"/>
                <a:ea typeface="Space Grotesk" pitchFamily="34" charset="-122"/>
                <a:cs typeface="Space Grotesk" pitchFamily="34" charset="-120"/>
              </a:rPr>
              <a:t>3</a:t>
            </a:r>
            <a:endParaRPr lang="en-US" sz="3600" dirty="0"/>
          </a:p>
        </p:txBody>
      </p:sp>
      <p:sp>
        <p:nvSpPr>
          <p:cNvPr id="17" name="Text 15"/>
          <p:cNvSpPr txBox="1"/>
          <p:nvPr/>
        </p:nvSpPr>
        <p:spPr>
          <a:xfrm>
            <a:off x="5181600" y="2209800"/>
            <a:ext cx="2590800" cy="2540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Data source kèm skill</a:t>
            </a:r>
            <a:endParaRPr lang="en-US" sz="1400" dirty="0"/>
          </a:p>
        </p:txBody>
      </p:sp>
      <p:sp>
        <p:nvSpPr>
          <p:cNvPr id="18" name="Text 16"/>
          <p:cNvSpPr txBox="1"/>
          <p:nvPr/>
        </p:nvSpPr>
        <p:spPr>
          <a:xfrm>
            <a:off x="4749800" y="2654300"/>
            <a:ext cx="3022600" cy="1587500"/>
          </a:xfrm>
          <a:prstGeom prst="rect">
            <a:avLst/>
          </a:prstGeom>
          <a:noFill/>
          <a:ln/>
        </p:spPr>
        <p:txBody>
          <a:bodyPr wrap="square" lIns="0" tIns="0" rIns="0" bIns="0" rtlCol="0" anchor="t"/>
          <a:lstStyle/>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Code search, reverse engineering code legacy</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Change impact analysis giữa các service</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Q&amp;A có citation</a:t>
            </a:r>
            <a:endParaRPr lang="en-US" sz="1200" dirty="0"/>
          </a:p>
        </p:txBody>
      </p:sp>
      <p:sp>
        <p:nvSpPr>
          <p:cNvPr id="19" name="Shape 17"/>
          <p:cNvSpPr/>
          <p:nvPr/>
        </p:nvSpPr>
        <p:spPr>
          <a:xfrm>
            <a:off x="4749800" y="4318000"/>
            <a:ext cx="3022600" cy="0"/>
          </a:xfrm>
          <a:prstGeom prst="line">
            <a:avLst/>
          </a:prstGeom>
          <a:noFill/>
          <a:ln w="9525">
            <a:solidFill>
              <a:srgbClr val="D0D1EB"/>
            </a:solidFill>
            <a:prstDash val="solid"/>
          </a:ln>
        </p:spPr>
      </p:sp>
      <p:sp>
        <p:nvSpPr>
          <p:cNvPr id="20" name="Text 18"/>
          <p:cNvSpPr txBox="1"/>
          <p:nvPr/>
        </p:nvSpPr>
        <p:spPr>
          <a:xfrm>
            <a:off x="4749800" y="4432300"/>
            <a:ext cx="3022600" cy="165100"/>
          </a:xfrm>
          <a:prstGeom prst="rect">
            <a:avLst/>
          </a:prstGeom>
          <a:noFill/>
          <a:ln/>
        </p:spPr>
        <p:txBody>
          <a:bodyPr wrap="square" lIns="0" tIns="0" rIns="0" bIns="0" rtlCol="0" anchor="t"/>
          <a:lstStyle/>
          <a:p>
            <a:pPr algn="l" indent="0" marL="0">
              <a:buNone/>
            </a:pPr>
            <a:r>
              <a:rPr lang="en-US" sz="900" b="1" spc="100" kern="0" dirty="0">
                <a:solidFill>
                  <a:srgbClr val="1E2BFA"/>
                </a:solidFill>
                <a:latin typeface="Space Grotesk" pitchFamily="34" charset="0"/>
                <a:ea typeface="Space Grotesk" pitchFamily="34" charset="-122"/>
                <a:cs typeface="Space Grotesk" pitchFamily="34" charset="-120"/>
              </a:rPr>
              <a:t>AI LÀM</a:t>
            </a:r>
            <a:endParaRPr lang="en-US" sz="900" dirty="0"/>
          </a:p>
        </p:txBody>
      </p:sp>
      <p:sp>
        <p:nvSpPr>
          <p:cNvPr id="21" name="Text 19"/>
          <p:cNvSpPr txBox="1"/>
          <p:nvPr/>
        </p:nvSpPr>
        <p:spPr>
          <a:xfrm>
            <a:off x="4749800" y="4635500"/>
            <a:ext cx="3022600" cy="457200"/>
          </a:xfrm>
          <a:prstGeom prst="rect">
            <a:avLst/>
          </a:prstGeom>
          <a:noFill/>
          <a:ln/>
        </p:spPr>
        <p:txBody>
          <a:bodyPr wrap="square" lIns="0" tIns="0" rIns="0" bIns="0" rtlCol="0" anchor="t"/>
          <a:lstStyle/>
          <a:p>
            <a:pPr algn="l" indent="0" marL="0">
              <a:lnSpc>
                <a:spcPts val="1563"/>
              </a:lnSpc>
              <a:buNone/>
            </a:pPr>
            <a:r>
              <a:rPr lang="en-US" sz="1250" b="1" dirty="0">
                <a:solidFill>
                  <a:srgbClr val="111111"/>
                </a:solidFill>
                <a:latin typeface="Space Grotesk" pitchFamily="34" charset="0"/>
                <a:ea typeface="Space Grotesk" pitchFamily="34" charset="-122"/>
                <a:cs typeface="Space Grotesk" pitchFamily="34" charset="-120"/>
              </a:rPr>
              <a:t>Team platform làm data, team kit làm skill dùng data</a:t>
            </a:r>
            <a:endParaRPr lang="en-US" sz="1250" dirty="0"/>
          </a:p>
        </p:txBody>
      </p:sp>
      <p:sp>
        <p:nvSpPr>
          <p:cNvPr id="22" name="Shape 20"/>
          <p:cNvSpPr/>
          <p:nvPr/>
        </p:nvSpPr>
        <p:spPr>
          <a:xfrm>
            <a:off x="8153400" y="1841500"/>
            <a:ext cx="3429000" cy="3365500"/>
          </a:xfrm>
          <a:prstGeom prst="roundRect">
            <a:avLst>
              <a:gd name="adj" fmla="val 2642"/>
            </a:avLst>
          </a:prstGeom>
          <a:solidFill>
            <a:srgbClr val="F4F2E8"/>
          </a:solidFill>
          <a:ln w="9525">
            <a:solidFill>
              <a:srgbClr val="D0D1EB"/>
            </a:solidFill>
            <a:prstDash val="solid"/>
          </a:ln>
        </p:spPr>
      </p:sp>
      <p:sp>
        <p:nvSpPr>
          <p:cNvPr id="23" name="Text 21"/>
          <p:cNvSpPr txBox="1"/>
          <p:nvPr/>
        </p:nvSpPr>
        <p:spPr>
          <a:xfrm>
            <a:off x="8356600" y="1981200"/>
            <a:ext cx="406400" cy="596900"/>
          </a:xfrm>
          <a:prstGeom prst="rect">
            <a:avLst/>
          </a:prstGeom>
          <a:noFill/>
          <a:ln/>
        </p:spPr>
        <p:txBody>
          <a:bodyPr wrap="square" lIns="0" tIns="0" rIns="0" bIns="0" rtlCol="0" anchor="t"/>
          <a:lstStyle/>
          <a:p>
            <a:pPr algn="l" indent="0" marL="0">
              <a:buNone/>
            </a:pPr>
            <a:r>
              <a:rPr lang="en-US" sz="3600" b="1" dirty="0">
                <a:solidFill>
                  <a:srgbClr val="1E2BFA"/>
                </a:solidFill>
                <a:latin typeface="Space Grotesk" pitchFamily="34" charset="0"/>
                <a:ea typeface="Space Grotesk" pitchFamily="34" charset="-122"/>
                <a:cs typeface="Space Grotesk" pitchFamily="34" charset="-120"/>
              </a:rPr>
              <a:t>4</a:t>
            </a:r>
            <a:endParaRPr lang="en-US" sz="3600" dirty="0"/>
          </a:p>
        </p:txBody>
      </p:sp>
      <p:sp>
        <p:nvSpPr>
          <p:cNvPr id="24" name="Text 22"/>
          <p:cNvSpPr txBox="1"/>
          <p:nvPr/>
        </p:nvSpPr>
        <p:spPr>
          <a:xfrm>
            <a:off x="8788400" y="2209800"/>
            <a:ext cx="2590800" cy="254000"/>
          </a:xfrm>
          <a:prstGeom prst="rect">
            <a:avLst/>
          </a:prstGeom>
          <a:noFill/>
          <a:ln/>
        </p:spPr>
        <p:txBody>
          <a:bodyPr wrap="square" lIns="0" tIns="0" rIns="0" bIns="0" rtlCol="0" anchor="t"/>
          <a:lstStyle/>
          <a:p>
            <a:pPr algn="l" indent="0" marL="0">
              <a:buNone/>
            </a:pPr>
            <a:r>
              <a:rPr lang="en-US" sz="1400" b="1" dirty="0">
                <a:solidFill>
                  <a:srgbClr val="111111"/>
                </a:solidFill>
                <a:latin typeface="Space Grotesk" pitchFamily="34" charset="0"/>
                <a:ea typeface="Space Grotesk" pitchFamily="34" charset="-122"/>
                <a:cs typeface="Space Grotesk" pitchFamily="34" charset="-120"/>
              </a:rPr>
              <a:t>Governance, CI</a:t>
            </a:r>
            <a:endParaRPr lang="en-US" sz="1400" dirty="0"/>
          </a:p>
        </p:txBody>
      </p:sp>
      <p:sp>
        <p:nvSpPr>
          <p:cNvPr id="25" name="Text 23"/>
          <p:cNvSpPr txBox="1"/>
          <p:nvPr/>
        </p:nvSpPr>
        <p:spPr>
          <a:xfrm>
            <a:off x="8356600" y="2654300"/>
            <a:ext cx="3022600" cy="1587500"/>
          </a:xfrm>
          <a:prstGeom prst="rect">
            <a:avLst/>
          </a:prstGeom>
          <a:noFill/>
          <a:ln/>
        </p:spPr>
        <p:txBody>
          <a:bodyPr wrap="square" lIns="0" tIns="0" rIns="0" bIns="0" rtlCol="0" anchor="t"/>
          <a:lstStyle/>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Human gate</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RBAC</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Cost dashboard</a:t>
            </a:r>
            <a:endParaRPr lang="en-US" sz="1200" dirty="0"/>
          </a:p>
          <a:p>
            <a:pPr algn="l" indent="0" marL="0">
              <a:lnSpc>
                <a:spcPts val="1740"/>
              </a:lnSpc>
              <a:spcAft>
                <a:spcPts val="400"/>
              </a:spcAft>
              <a:buNone/>
            </a:pPr>
            <a:r>
              <a:rPr lang="en-US" sz="1200" dirty="0">
                <a:solidFill>
                  <a:srgbClr val="6B6B6B"/>
                </a:solidFill>
                <a:latin typeface="Inter" pitchFamily="34" charset="0"/>
                <a:ea typeface="Inter" pitchFamily="34" charset="-122"/>
                <a:cs typeface="Inter" pitchFamily="34" charset="-120"/>
              </a:rPr>
              <a:t>Automated test execution kèm evidence pack</a:t>
            </a:r>
            <a:endParaRPr lang="en-US" sz="1200" dirty="0"/>
          </a:p>
        </p:txBody>
      </p:sp>
      <p:sp>
        <p:nvSpPr>
          <p:cNvPr id="26" name="Shape 24"/>
          <p:cNvSpPr/>
          <p:nvPr/>
        </p:nvSpPr>
        <p:spPr>
          <a:xfrm>
            <a:off x="8356600" y="4318000"/>
            <a:ext cx="3022600" cy="0"/>
          </a:xfrm>
          <a:prstGeom prst="line">
            <a:avLst/>
          </a:prstGeom>
          <a:noFill/>
          <a:ln w="9525">
            <a:solidFill>
              <a:srgbClr val="D0D1EB"/>
            </a:solidFill>
            <a:prstDash val="solid"/>
          </a:ln>
        </p:spPr>
      </p:sp>
      <p:sp>
        <p:nvSpPr>
          <p:cNvPr id="27" name="Text 25"/>
          <p:cNvSpPr txBox="1"/>
          <p:nvPr/>
        </p:nvSpPr>
        <p:spPr>
          <a:xfrm>
            <a:off x="8356600" y="4432300"/>
            <a:ext cx="3022600" cy="165100"/>
          </a:xfrm>
          <a:prstGeom prst="rect">
            <a:avLst/>
          </a:prstGeom>
          <a:noFill/>
          <a:ln/>
        </p:spPr>
        <p:txBody>
          <a:bodyPr wrap="square" lIns="0" tIns="0" rIns="0" bIns="0" rtlCol="0" anchor="t"/>
          <a:lstStyle/>
          <a:p>
            <a:pPr algn="l" indent="0" marL="0">
              <a:buNone/>
            </a:pPr>
            <a:r>
              <a:rPr lang="en-US" sz="900" b="1" spc="100" kern="0" dirty="0">
                <a:solidFill>
                  <a:srgbClr val="1E2BFA"/>
                </a:solidFill>
                <a:latin typeface="Space Grotesk" pitchFamily="34" charset="0"/>
                <a:ea typeface="Space Grotesk" pitchFamily="34" charset="-122"/>
                <a:cs typeface="Space Grotesk" pitchFamily="34" charset="-120"/>
              </a:rPr>
              <a:t>AI LÀM</a:t>
            </a:r>
            <a:endParaRPr lang="en-US" sz="900" dirty="0"/>
          </a:p>
        </p:txBody>
      </p:sp>
      <p:sp>
        <p:nvSpPr>
          <p:cNvPr id="28" name="Text 26"/>
          <p:cNvSpPr txBox="1"/>
          <p:nvPr/>
        </p:nvSpPr>
        <p:spPr>
          <a:xfrm>
            <a:off x="8356600" y="4635500"/>
            <a:ext cx="3022600" cy="457200"/>
          </a:xfrm>
          <a:prstGeom prst="rect">
            <a:avLst/>
          </a:prstGeom>
          <a:noFill/>
          <a:ln/>
        </p:spPr>
        <p:txBody>
          <a:bodyPr wrap="square" lIns="0" tIns="0" rIns="0" bIns="0" rtlCol="0" anchor="t"/>
          <a:lstStyle/>
          <a:p>
            <a:pPr algn="l" indent="0" marL="0">
              <a:lnSpc>
                <a:spcPts val="1563"/>
              </a:lnSpc>
              <a:buNone/>
            </a:pPr>
            <a:r>
              <a:rPr lang="en-US" sz="1250" b="1" dirty="0">
                <a:solidFill>
                  <a:srgbClr val="111111"/>
                </a:solidFill>
                <a:latin typeface="Space Grotesk" pitchFamily="34" charset="0"/>
                <a:ea typeface="Space Grotesk" pitchFamily="34" charset="-122"/>
                <a:cs typeface="Space Grotesk" pitchFamily="34" charset="-120"/>
              </a:rPr>
              <a:t>Mua hoặc cấu hình; CI đính evidence pack vào PR</a:t>
            </a:r>
            <a:endParaRPr lang="en-US" sz="1250" dirty="0"/>
          </a:p>
        </p:txBody>
      </p:sp>
      <p:sp>
        <p:nvSpPr>
          <p:cNvPr id="29" name="Text 27"/>
          <p:cNvSpPr txBox="1"/>
          <p:nvPr/>
        </p:nvSpPr>
        <p:spPr>
          <a:xfrm>
            <a:off x="609600" y="5397500"/>
            <a:ext cx="10972800" cy="279400"/>
          </a:xfrm>
          <a:prstGeom prst="rect">
            <a:avLst/>
          </a:prstGeom>
          <a:noFill/>
          <a:ln/>
        </p:spPr>
        <p:txBody>
          <a:bodyPr wrap="square" lIns="0" tIns="0" rIns="0" bIns="0" rtlCol="0" anchor="t"/>
          <a:lstStyle/>
          <a:p>
            <a:pPr algn="l" indent="0" marL="0">
              <a:buNone/>
            </a:pPr>
            <a:r>
              <a:rPr lang="en-US" sz="1200" dirty="0">
                <a:solidFill>
                  <a:srgbClr val="6B6B6B"/>
                </a:solidFill>
                <a:latin typeface="Inter" pitchFamily="34" charset="0"/>
                <a:ea typeface="Inter" pitchFamily="34" charset="-122"/>
                <a:cs typeface="Inter" pitchFamily="34" charset="-120"/>
              </a:rPr>
              <a:t>Kit tài liệu waterfall hiện có đã có bản đầu cho basic design, detail design, API spec, test case và unit test cho code có sẵn.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07 · ĐIỂM YẾU CỦA ĐỀ XUẤT</a:t>
            </a:r>
            <a:endParaRPr lang="en-US" sz="1100" dirty="0"/>
          </a:p>
        </p:txBody>
      </p:sp>
      <p:sp>
        <p:nvSpPr>
          <p:cNvPr id="3" name="Text 1"/>
          <p:cNvSpPr txBox="1"/>
          <p:nvPr/>
        </p:nvSpPr>
        <p:spPr>
          <a:xfrm>
            <a:off x="9658350" y="412750"/>
            <a:ext cx="1924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5 điểm yếu · 5 cách bù</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Đề xuất có điểm yếu, và có cách bù</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15 / 19</a:t>
            </a:r>
            <a:endParaRPr lang="en-US" sz="900" dirty="0"/>
          </a:p>
        </p:txBody>
      </p:sp>
      <p:sp>
        <p:nvSpPr>
          <p:cNvPr id="7" name="Shape 5"/>
          <p:cNvSpPr/>
          <p:nvPr/>
        </p:nvSpPr>
        <p:spPr>
          <a:xfrm>
            <a:off x="0" y="6838950"/>
            <a:ext cx="9625263" cy="19050"/>
          </a:xfrm>
          <a:prstGeom prst="rect">
            <a:avLst/>
          </a:prstGeom>
          <a:solidFill>
            <a:srgbClr val="1E2BFA"/>
          </a:solidFill>
          <a:ln/>
        </p:spPr>
      </p:sp>
      <p:sp>
        <p:nvSpPr>
          <p:cNvPr id="8" name="Shape 6"/>
          <p:cNvSpPr/>
          <p:nvPr/>
        </p:nvSpPr>
        <p:spPr>
          <a:xfrm>
            <a:off x="609600" y="1625600"/>
            <a:ext cx="10972800" cy="4457700"/>
          </a:xfrm>
          <a:prstGeom prst="roundRect">
            <a:avLst>
              <a:gd name="adj" fmla="val 1994"/>
            </a:avLst>
          </a:prstGeom>
          <a:solidFill>
            <a:srgbClr val="F4F2E8"/>
          </a:solidFill>
          <a:ln/>
        </p:spPr>
      </p:sp>
      <p:sp>
        <p:nvSpPr>
          <p:cNvPr id="9" name="Shape 7"/>
          <p:cNvSpPr/>
          <p:nvPr/>
        </p:nvSpPr>
        <p:spPr>
          <a:xfrm>
            <a:off x="609600" y="1625600"/>
            <a:ext cx="10972800" cy="393700"/>
          </a:xfrm>
          <a:prstGeom prst="roundRect">
            <a:avLst>
              <a:gd name="adj" fmla="val 22581"/>
            </a:avLst>
          </a:prstGeom>
          <a:solidFill>
            <a:srgbClr val="E2E1E9"/>
          </a:solidFill>
          <a:ln/>
        </p:spPr>
      </p:sp>
      <p:sp>
        <p:nvSpPr>
          <p:cNvPr id="10" name="Shape 8"/>
          <p:cNvSpPr/>
          <p:nvPr/>
        </p:nvSpPr>
        <p:spPr>
          <a:xfrm>
            <a:off x="609600" y="1822450"/>
            <a:ext cx="10972800" cy="196850"/>
          </a:xfrm>
          <a:prstGeom prst="rect">
            <a:avLst/>
          </a:prstGeom>
          <a:solidFill>
            <a:srgbClr val="E2E1E9"/>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09600" y="1625600"/>
          <a:ext cx="10972800" cy="914400"/>
        </p:xfrm>
        <a:graphic>
          <a:graphicData uri="http://schemas.openxmlformats.org/drawingml/2006/table">
            <a:tbl>
              <a:tblPr/>
              <a:tblGrid>
                <a:gridCol w="5486400"/>
                <a:gridCol w="5486400"/>
              </a:tblGrid>
              <a:tr h="3937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ĐIỂM YẾU</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CÁCH BÙ</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812800">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Portable chỉ đúng phần lớn.</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Skill dần chung, nhưng rule/steering, hook, cách chọn agent khác nhau</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Kit tách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core trung lập + adapter mỏng</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cho từng harness. Không hứa “100% portable”</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812800">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Governance tập trung là nhu cầu thật.</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Bỏ trống thì platform thắng ở đúng chỗ này</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Phương án cụ thể: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LLM gateway</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cho cost và audit, telemetry của harness, dịch vụ có sẵn</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812800">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L4 trên server cần license khác.</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Có thể cần API key hoặc tài khoản LLM trên cloud</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Nêu chi phí và thủ tục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ngay từ đầu</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không để phát hiện muộn</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812800">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Chạy tự động cần guardrail, và tốn công.</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Thao tác xoá qua API có thể không bị hệ thống đích chặn</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Team kit nhận luôn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cấu hình guardrail</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(permission, hook, sandbox, deny list) như một phần của kit</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812800">
                <a:tc>
                  <a:txBody>
                    <a:bodyPr/>
                    <a:lstStyle/>
                    <a:p>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Bằng chứng còn mỏng.</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Hơn một nửa số skill của kit tài liệu chưa chạy trên dự án thật</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c>
                  <a:txBody>
                    <a:bodyPr/>
                    <a:lstStyle/>
                    <a:p>
                      <a:pPr algn="l" indent="0" marL="0">
                        <a:lnSpc>
                          <a:spcPts val="1917"/>
                        </a:lnSpc>
                        <a:buNone/>
                      </a:pPr>
                      <a:r>
                        <a:rPr lang="en-US" sz="1350" dirty="0">
                          <a:solidFill>
                            <a:srgbClr val="6B6B6B"/>
                          </a:solidFill>
                          <a:latin typeface="Inter" pitchFamily="34" charset="0"/>
                          <a:ea typeface="Inter" pitchFamily="34" charset="-122"/>
                          <a:cs typeface="Inter" pitchFamily="34" charset="-120"/>
                        </a:rPr>
                        <a:t>Chạy </a:t>
                      </a:r>
                      <a:pPr algn="l" indent="0" marL="0">
                        <a:lnSpc>
                          <a:spcPts val="1917"/>
                        </a:lnSpc>
                        <a:buNone/>
                      </a:pPr>
                      <a:r>
                        <a:rPr lang="en-US" sz="1350" b="1" dirty="0">
                          <a:solidFill>
                            <a:srgbClr val="111111"/>
                          </a:solidFill>
                          <a:latin typeface="Inter" pitchFamily="34" charset="0"/>
                          <a:ea typeface="Inter" pitchFamily="34" charset="-122"/>
                          <a:cs typeface="Inter" pitchFamily="34" charset="-120"/>
                        </a:rPr>
                        <a:t>PoC trên một hệ thống có sẵn</a:t>
                      </a:r>
                      <a:pPr algn="l" indent="0" marL="0">
                        <a:lnSpc>
                          <a:spcPts val="1917"/>
                        </a:lnSpc>
                        <a:buNone/>
                      </a:pPr>
                      <a:r>
                        <a:rPr lang="en-US" sz="1350" dirty="0">
                          <a:solidFill>
                            <a:srgbClr val="6B6B6B"/>
                          </a:solidFill>
                          <a:latin typeface="Inter" pitchFamily="34" charset="0"/>
                          <a:ea typeface="Inter" pitchFamily="34" charset="-122"/>
                          <a:cs typeface="Inter" pitchFamily="34" charset="-120"/>
                        </a:rPr>
                        <a:t> trước khi trình</a:t>
                      </a:r>
                      <a:endParaRPr lang="en-US" sz="1350" dirty="0">
                        <a:latin typeface="Inter" charset="0"/>
                        <a:ea typeface="Inter" charset="0"/>
                        <a:cs typeface="Inter" charset="0"/>
                      </a:endParaRPr>
                    </a:p>
                  </a:txBody>
                  <a:tcPr marL="177800" marR="177800" marT="101600" marB="101600" anchor="t">
                    <a:lnL w="0" cap="flat" cmpd="sng" algn="ctr">
                      <a:noFill/>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2" name="Shape 9"/>
          <p:cNvSpPr/>
          <p:nvPr/>
        </p:nvSpPr>
        <p:spPr>
          <a:xfrm>
            <a:off x="609600" y="1625600"/>
            <a:ext cx="10972800" cy="4457700"/>
          </a:xfrm>
          <a:prstGeom prst="roundRect">
            <a:avLst>
              <a:gd name="adj" fmla="val 1994"/>
            </a:avLst>
          </a:prstGeom>
          <a:ln w="9525">
            <a:solidFill>
              <a:srgbClr val="D0D1EB"/>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08 · PHÂN VAI ĐỀ XUẤT</a:t>
            </a:r>
            <a:endParaRPr lang="en-US" sz="1100" dirty="0"/>
          </a:p>
        </p:txBody>
      </p:sp>
      <p:sp>
        <p:nvSpPr>
          <p:cNvPr id="3" name="Text 1"/>
          <p:cNvSpPr txBox="1"/>
          <p:nvPr/>
        </p:nvSpPr>
        <p:spPr>
          <a:xfrm>
            <a:off x="9874250" y="412750"/>
            <a:ext cx="17081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Ma trận trách nhiệm</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Cả hai team đều có việc, và không ai viết lại harness</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16 / 19</a:t>
            </a:r>
            <a:endParaRPr lang="en-US" sz="900" dirty="0"/>
          </a:p>
        </p:txBody>
      </p:sp>
      <p:sp>
        <p:nvSpPr>
          <p:cNvPr id="7" name="Shape 5"/>
          <p:cNvSpPr/>
          <p:nvPr/>
        </p:nvSpPr>
        <p:spPr>
          <a:xfrm>
            <a:off x="0" y="6838950"/>
            <a:ext cx="10266947" cy="19050"/>
          </a:xfrm>
          <a:prstGeom prst="rect">
            <a:avLst/>
          </a:prstGeom>
          <a:solidFill>
            <a:srgbClr val="1E2BFA"/>
          </a:solidFill>
          <a:ln/>
        </p:spPr>
      </p:sp>
      <p:sp>
        <p:nvSpPr>
          <p:cNvPr id="8" name="Shape 6"/>
          <p:cNvSpPr/>
          <p:nvPr/>
        </p:nvSpPr>
        <p:spPr>
          <a:xfrm>
            <a:off x="609600" y="1524000"/>
            <a:ext cx="10972800" cy="4635500"/>
          </a:xfrm>
          <a:prstGeom prst="roundRect">
            <a:avLst>
              <a:gd name="adj" fmla="val 1918"/>
            </a:avLst>
          </a:prstGeom>
          <a:solidFill>
            <a:srgbClr val="F4F2E8"/>
          </a:solidFill>
          <a:ln/>
        </p:spPr>
      </p:sp>
      <p:sp>
        <p:nvSpPr>
          <p:cNvPr id="9" name="Shape 7"/>
          <p:cNvSpPr/>
          <p:nvPr/>
        </p:nvSpPr>
        <p:spPr>
          <a:xfrm>
            <a:off x="609600" y="1524000"/>
            <a:ext cx="10972800" cy="406400"/>
          </a:xfrm>
          <a:prstGeom prst="roundRect">
            <a:avLst>
              <a:gd name="adj" fmla="val 21875"/>
            </a:avLst>
          </a:prstGeom>
          <a:solidFill>
            <a:srgbClr val="E2E1E9"/>
          </a:solidFill>
          <a:ln/>
        </p:spPr>
      </p:sp>
      <p:sp>
        <p:nvSpPr>
          <p:cNvPr id="10" name="Shape 8"/>
          <p:cNvSpPr/>
          <p:nvPr/>
        </p:nvSpPr>
        <p:spPr>
          <a:xfrm>
            <a:off x="609600" y="1727200"/>
            <a:ext cx="10972800" cy="203200"/>
          </a:xfrm>
          <a:prstGeom prst="rect">
            <a:avLst/>
          </a:prstGeom>
          <a:solidFill>
            <a:srgbClr val="E2E1E9"/>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09600" y="1524000"/>
          <a:ext cx="10972800" cy="914400"/>
        </p:xfrm>
        <a:graphic>
          <a:graphicData uri="http://schemas.openxmlformats.org/drawingml/2006/table">
            <a:tbl>
              <a:tblPr/>
              <a:tblGrid>
                <a:gridCol w="5048250"/>
                <a:gridCol w="1974850"/>
                <a:gridCol w="1974850"/>
                <a:gridCol w="1974850"/>
              </a:tblGrid>
              <a:tr h="406400">
                <a:tc>
                  <a:txBody>
                    <a:bodyPr/>
                    <a:lstStyle/>
                    <a:p>
                      <a:pPr algn="l" indent="0" marL="0">
                        <a:buNone/>
                      </a:pPr>
                      <a:r>
                        <a:rPr lang="en-US" sz="1000" b="1" spc="100" kern="0" dirty="0">
                          <a:solidFill>
                            <a:srgbClr val="1E2BFA"/>
                          </a:solidFill>
                          <a:latin typeface="Space Grotesk" pitchFamily="34" charset="0"/>
                          <a:ea typeface="Space Grotesk" pitchFamily="34" charset="-122"/>
                          <a:cs typeface="Space Grotesk" pitchFamily="34" charset="-120"/>
                        </a:rPr>
                        <a:t>HẠNG MỤC</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ctr" indent="0" marL="0">
                        <a:buNone/>
                      </a:pPr>
                      <a:r>
                        <a:rPr lang="en-US" sz="1000" b="1" spc="100" kern="0" dirty="0">
                          <a:solidFill>
                            <a:srgbClr val="1E2BFA"/>
                          </a:solidFill>
                          <a:latin typeface="Space Grotesk" pitchFamily="34" charset="0"/>
                          <a:ea typeface="Space Grotesk" pitchFamily="34" charset="-122"/>
                          <a:cs typeface="Space Grotesk" pitchFamily="34" charset="-120"/>
                        </a:rPr>
                        <a:t>TEAM PLATFORM</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ctr" indent="0" marL="0">
                        <a:buNone/>
                      </a:pPr>
                      <a:r>
                        <a:rPr lang="en-US" sz="1000" b="1" spc="100" kern="0" dirty="0">
                          <a:solidFill>
                            <a:srgbClr val="1E2BFA"/>
                          </a:solidFill>
                          <a:latin typeface="Space Grotesk" pitchFamily="34" charset="0"/>
                          <a:ea typeface="Space Grotesk" pitchFamily="34" charset="-122"/>
                          <a:cs typeface="Space Grotesk" pitchFamily="34" charset="-120"/>
                        </a:rPr>
                        <a:t>TEAM KIT</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c>
                  <a:txBody>
                    <a:bodyPr/>
                    <a:lstStyle/>
                    <a:p>
                      <a:pPr algn="ctr" indent="0" marL="0">
                        <a:buNone/>
                      </a:pPr>
                      <a:r>
                        <a:rPr lang="en-US" sz="1000" b="1" spc="100" kern="0" dirty="0">
                          <a:solidFill>
                            <a:srgbClr val="1E2BFA"/>
                          </a:solidFill>
                          <a:latin typeface="Space Grotesk" pitchFamily="34" charset="0"/>
                          <a:ea typeface="Space Grotesk" pitchFamily="34" charset="-122"/>
                          <a:cs typeface="Space Grotesk" pitchFamily="34" charset="-120"/>
                        </a:rPr>
                        <a:t>MUA / CẤU HÌNH</a:t>
                      </a:r>
                      <a:endParaRPr lang="en-US" sz="1000" dirty="0">
                        <a:latin typeface="Space Grotesk" charset="0"/>
                        <a:ea typeface="Space Grotesk" charset="0"/>
                        <a:cs typeface="Space Grotesk" charset="0"/>
                      </a:endParaRPr>
                    </a:p>
                  </a:txBody>
                  <a:tcPr marL="177800" marR="177800" marT="127000" marB="127000" anchor="ctr">
                    <a:lnL w="0" cap="flat" cmpd="sng" algn="ctr">
                      <a:noFill/>
                    </a:lnL>
                    <a:lnR w="0" cap="flat" cmpd="sng" algn="ctr">
                      <a:noFill/>
                    </a:lnR>
                    <a:lnT w="0" cap="flat" cmpd="sng" algn="ctr">
                      <a:noFill/>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Spec index, multi-repo code graph, RBAC dữ liệu</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Expose data qua CLI hoặc MCP</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dirty="0">
                          <a:solidFill>
                            <a:srgbClr val="6B6B6B"/>
                          </a:solidFill>
                          <a:latin typeface="Inter" pitchFamily="34" charset="0"/>
                          <a:ea typeface="Inter" pitchFamily="34" charset="-122"/>
                          <a:cs typeface="Inter" pitchFamily="34" charset="-120"/>
                        </a:rPr>
                        <a:t>dùng</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Skill, workflow, template, checklist</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Connector tới tool nội bộ</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Guardrail (permission, hook, sandbox)</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Adapter cho từng harness</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Harness, LLM</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LLM gateway (cost, audit), telemetry</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dirty="0">
                          <a:solidFill>
                            <a:srgbClr val="6B6B6B"/>
                          </a:solidFill>
                          <a:latin typeface="Inter" pitchFamily="34" charset="0"/>
                          <a:ea typeface="Inter" pitchFamily="34" charset="-122"/>
                          <a:cs typeface="Inter" pitchFamily="34" charset="-120"/>
                        </a:rPr>
                        <a:t>cấu hình</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c>
                  <a:txBody>
                    <a:bodyPr/>
                    <a:lstStyle/>
                    <a:p>
                      <a:pPr algn="ctr" indent="0" marL="0">
                        <a:lnSpc>
                          <a:spcPts val="1917"/>
                        </a:lnSpc>
                        <a:buNone/>
                      </a:pPr>
                      <a:r>
                        <a:rPr lang="en-US" sz="1350" b="1" dirty="0">
                          <a:solidFill>
                            <a:srgbClr val="1E2BFA"/>
                          </a:solidFill>
                          <a:latin typeface="Inter" pitchFamily="34" charset="0"/>
                          <a:ea typeface="Inter" pitchFamily="34" charset="-122"/>
                          <a:cs typeface="Inter" pitchFamily="34" charset="-120"/>
                        </a:rPr>
                        <a:t>✓</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9525" cap="flat" cmpd="sng" algn="ctr">
                      <a:solidFill>
                        <a:srgbClr val="D0D1EB"/>
                      </a:solidFill>
                      <a:prstDash val="solid"/>
                      <a:round/>
                      <a:headEnd type="none" w="med" len="med"/>
                      <a:tailEnd type="none" w="med" len="med"/>
                    </a:lnB>
                  </a:tcPr>
                </a:tc>
              </a:tr>
              <a:tr h="469900">
                <a:tc>
                  <a:txBody>
                    <a:bodyPr/>
                    <a:lstStyle/>
                    <a:p>
                      <a:pPr algn="l" indent="0" marL="0">
                        <a:lnSpc>
                          <a:spcPts val="1820"/>
                        </a:lnSpc>
                        <a:buNone/>
                      </a:pPr>
                      <a:r>
                        <a:rPr lang="en-US" sz="1400" b="1" dirty="0">
                          <a:solidFill>
                            <a:srgbClr val="111111"/>
                          </a:solidFill>
                          <a:latin typeface="Space Grotesk" pitchFamily="34" charset="0"/>
                          <a:ea typeface="Space Grotesk" pitchFamily="34" charset="-122"/>
                          <a:cs typeface="Space Grotesk" pitchFamily="34" charset="-120"/>
                        </a:rPr>
                        <a:t>Human gate, evidence pack trên PR</a:t>
                      </a:r>
                      <a:endParaRPr lang="en-US" sz="1400" dirty="0">
                        <a:latin typeface="Space Grotesk" charset="0"/>
                        <a:ea typeface="Space Grotesk" charset="0"/>
                        <a:cs typeface="Space Grotesk" charset="0"/>
                      </a:endParaRPr>
                    </a:p>
                  </a:txBody>
                  <a:tcPr marL="177800" marR="177800" marT="76200" marB="76200" anchor="ctr">
                    <a:lnL w="0" cap="flat" cmpd="sng" algn="ctr">
                      <a:noFill/>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0" cap="flat" cmpd="sng" algn="ctr">
                      <a:noFill/>
                    </a:lnB>
                  </a:tcPr>
                </a:tc>
                <a:tc>
                  <a:txBody>
                    <a:bodyPr/>
                    <a:lstStyle/>
                    <a:p>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0" cap="flat" cmpd="sng" algn="ctr">
                      <a:noFill/>
                    </a:lnB>
                  </a:tcPr>
                </a:tc>
                <a:tc>
                  <a:txBody>
                    <a:bodyPr/>
                    <a:lstStyle/>
                    <a:p>
                      <a:pPr algn="ctr" indent="0" marL="0">
                        <a:lnSpc>
                          <a:spcPts val="1917"/>
                        </a:lnSpc>
                        <a:buNone/>
                      </a:pPr>
                      <a:r>
                        <a:rPr lang="en-US" sz="1350" dirty="0">
                          <a:solidFill>
                            <a:srgbClr val="6B6B6B"/>
                          </a:solidFill>
                          <a:latin typeface="Inter" pitchFamily="34" charset="0"/>
                          <a:ea typeface="Inter" pitchFamily="34" charset="-122"/>
                          <a:cs typeface="Inter" pitchFamily="34" charset="-120"/>
                        </a:rPr>
                        <a:t>workflow</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9525" cap="flat" cmpd="sng" algn="ctr">
                      <a:solidFill>
                        <a:srgbClr val="D0D1EB"/>
                      </a:solidFill>
                      <a:prstDash val="solid"/>
                      <a:round/>
                      <a:headEnd type="none" w="med" len="med"/>
                      <a:tailEnd type="none" w="med" len="med"/>
                    </a:lnR>
                    <a:lnT w="9525" cap="flat" cmpd="sng" algn="ctr">
                      <a:solidFill>
                        <a:srgbClr val="D0D1EB"/>
                      </a:solidFill>
                      <a:prstDash val="solid"/>
                      <a:round/>
                      <a:headEnd type="none" w="med" len="med"/>
                      <a:tailEnd type="none" w="med" len="med"/>
                    </a:lnT>
                    <a:lnB w="0" cap="flat" cmpd="sng" algn="ctr">
                      <a:noFill/>
                    </a:lnB>
                  </a:tcPr>
                </a:tc>
                <a:tc>
                  <a:txBody>
                    <a:bodyPr/>
                    <a:lstStyle/>
                    <a:p>
                      <a:pPr algn="ctr" indent="0" marL="0">
                        <a:lnSpc>
                          <a:spcPts val="1917"/>
                        </a:lnSpc>
                        <a:buNone/>
                      </a:pPr>
                      <a:r>
                        <a:rPr lang="en-US" sz="1350" dirty="0">
                          <a:solidFill>
                            <a:srgbClr val="6B6B6B"/>
                          </a:solidFill>
                          <a:latin typeface="Inter" pitchFamily="34" charset="0"/>
                          <a:ea typeface="Inter" pitchFamily="34" charset="-122"/>
                          <a:cs typeface="Inter" pitchFamily="34" charset="-120"/>
                        </a:rPr>
                        <a:t>GitHub, CI</a:t>
                      </a:r>
                      <a:endParaRPr lang="en-US" sz="1350" dirty="0">
                        <a:latin typeface="Inter" charset="0"/>
                        <a:ea typeface="Inter" charset="0"/>
                        <a:cs typeface="Inter" charset="0"/>
                      </a:endParaRPr>
                    </a:p>
                  </a:txBody>
                  <a:tcPr marL="177800" marR="177800" marT="76200" marB="76200" anchor="ctr">
                    <a:lnL w="9525" cap="flat" cmpd="sng" algn="ctr">
                      <a:solidFill>
                        <a:srgbClr val="D0D1EB"/>
                      </a:solidFill>
                      <a:prstDash val="solid"/>
                      <a:round/>
                      <a:headEnd type="none" w="med" len="med"/>
                      <a:tailEnd type="none" w="med" len="med"/>
                    </a:lnL>
                    <a:lnR w="0" cap="flat" cmpd="sng" algn="ctr">
                      <a:noFill/>
                    </a:lnR>
                    <a:lnT w="9525" cap="flat" cmpd="sng" algn="ctr">
                      <a:solidFill>
                        <a:srgbClr val="D0D1EB"/>
                      </a:solidFill>
                      <a:prstDash val="solid"/>
                      <a:round/>
                      <a:headEnd type="none" w="med" len="med"/>
                      <a:tailEnd type="none" w="med" len="med"/>
                    </a:lnT>
                    <a:lnB w="0" cap="flat" cmpd="sng" algn="ctr">
                      <a:noFill/>
                    </a:lnB>
                  </a:tcPr>
                </a:tc>
              </a:tr>
            </a:tbl>
          </a:graphicData>
        </a:graphic>
      </p:graphicFrame>
      <p:sp>
        <p:nvSpPr>
          <p:cNvPr id="12" name="Shape 9"/>
          <p:cNvSpPr/>
          <p:nvPr/>
        </p:nvSpPr>
        <p:spPr>
          <a:xfrm>
            <a:off x="609600" y="1524000"/>
            <a:ext cx="10972800" cy="4635500"/>
          </a:xfrm>
          <a:prstGeom prst="roundRect">
            <a:avLst>
              <a:gd name="adj" fmla="val 1918"/>
            </a:avLst>
          </a:prstGeom>
          <a:ln w="9525">
            <a:solidFill>
              <a:srgbClr val="D0D1EB"/>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09 · BƯỚC TIẾP THEO</a:t>
            </a:r>
            <a:endParaRPr lang="en-US" sz="1100" dirty="0"/>
          </a:p>
        </p:txBody>
      </p:sp>
      <p:sp>
        <p:nvSpPr>
          <p:cNvPr id="3" name="Text 1"/>
          <p:cNvSpPr txBox="1"/>
          <p:nvPr/>
        </p:nvSpPr>
        <p:spPr>
          <a:xfrm>
            <a:off x="10166350" y="412750"/>
            <a:ext cx="141605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Trước khi trình</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Bốn bằng chứng cần có trước khi trình</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17 / 19</a:t>
            </a:r>
            <a:endParaRPr lang="en-US" sz="900" dirty="0"/>
          </a:p>
        </p:txBody>
      </p:sp>
      <p:sp>
        <p:nvSpPr>
          <p:cNvPr id="7" name="Shape 5"/>
          <p:cNvSpPr/>
          <p:nvPr/>
        </p:nvSpPr>
        <p:spPr>
          <a:xfrm>
            <a:off x="0" y="6838950"/>
            <a:ext cx="10908632" cy="19050"/>
          </a:xfrm>
          <a:prstGeom prst="rect">
            <a:avLst/>
          </a:prstGeom>
          <a:solidFill>
            <a:srgbClr val="1E2BFA"/>
          </a:solidFill>
          <a:ln/>
        </p:spPr>
      </p:sp>
      <p:sp>
        <p:nvSpPr>
          <p:cNvPr id="8" name="Shape 6"/>
          <p:cNvSpPr/>
          <p:nvPr/>
        </p:nvSpPr>
        <p:spPr>
          <a:xfrm>
            <a:off x="609600" y="2095500"/>
            <a:ext cx="2628900" cy="2984500"/>
          </a:xfrm>
          <a:prstGeom prst="roundRect">
            <a:avLst>
              <a:gd name="adj" fmla="val 3382"/>
            </a:avLst>
          </a:prstGeom>
          <a:solidFill>
            <a:srgbClr val="F4F2E8"/>
          </a:solidFill>
          <a:ln w="9525">
            <a:solidFill>
              <a:srgbClr val="D0D1EB"/>
            </a:solidFill>
            <a:prstDash val="solid"/>
          </a:ln>
        </p:spPr>
      </p:sp>
      <p:sp>
        <p:nvSpPr>
          <p:cNvPr id="9" name="Text 7"/>
          <p:cNvSpPr txBox="1"/>
          <p:nvPr/>
        </p:nvSpPr>
        <p:spPr>
          <a:xfrm>
            <a:off x="800100" y="2298700"/>
            <a:ext cx="381000" cy="381000"/>
          </a:xfrm>
          <a:prstGeom prst="ellipse">
            <a:avLst/>
          </a:prstGeom>
          <a:solidFill>
            <a:srgbClr val="1E2BFA"/>
          </a:solidFill>
          <a:ln/>
        </p:spPr>
        <p:txBody>
          <a:bodyPr wrap="square" lIns="0" tIns="0" rIns="0" bIns="0" rtlCol="0" anchor="ctr"/>
          <a:lstStyle/>
          <a:p>
            <a:pPr algn="ctr" indent="0" marL="0">
              <a:buNone/>
            </a:pPr>
            <a:r>
              <a:rPr lang="en-US" sz="1400" b="1" dirty="0">
                <a:solidFill>
                  <a:srgbClr val="FDFAE7"/>
                </a:solidFill>
                <a:latin typeface="Space Grotesk" pitchFamily="34" charset="0"/>
                <a:ea typeface="Space Grotesk" pitchFamily="34" charset="-122"/>
                <a:cs typeface="Space Grotesk" pitchFamily="34" charset="-120"/>
              </a:rPr>
              <a:t>1</a:t>
            </a:r>
            <a:endParaRPr lang="en-US" sz="1400" dirty="0"/>
          </a:p>
        </p:txBody>
      </p:sp>
      <p:sp>
        <p:nvSpPr>
          <p:cNvPr id="10" name="Text 8"/>
          <p:cNvSpPr txBox="1"/>
          <p:nvPr/>
        </p:nvSpPr>
        <p:spPr>
          <a:xfrm>
            <a:off x="800100" y="2870200"/>
            <a:ext cx="2247900" cy="2032000"/>
          </a:xfrm>
          <a:prstGeom prst="rect">
            <a:avLst/>
          </a:prstGeom>
          <a:noFill/>
          <a:ln/>
        </p:spPr>
        <p:txBody>
          <a:bodyPr wrap="square" lIns="0" tIns="0" rIns="0" bIns="0" rtlCol="0" anchor="t"/>
          <a:lstStyle/>
          <a:p>
            <a:pPr algn="l" indent="0" marL="0">
              <a:lnSpc>
                <a:spcPts val="2000"/>
              </a:lnSpc>
              <a:buNone/>
            </a:pPr>
            <a:r>
              <a:rPr lang="en-US" sz="1600" b="1" dirty="0">
                <a:solidFill>
                  <a:srgbClr val="111111"/>
                </a:solidFill>
                <a:latin typeface="Space Grotesk" pitchFamily="34" charset="0"/>
                <a:ea typeface="Space Grotesk" pitchFamily="34" charset="-122"/>
                <a:cs typeface="Space Grotesk" pitchFamily="34" charset="-120"/>
              </a:rPr>
              <a:t>Chạy trên một hệ thống có sẵn</a:t>
            </a:r>
            <a:endParaRPr lang="en-US" sz="1350" dirty="0"/>
          </a:p>
          <a:p>
            <a:pPr algn="l" indent="0" marL="0">
              <a:lnSpc>
                <a:spcPts val="2025"/>
              </a:lnSpc>
              <a:spcBef>
                <a:spcPts val="800"/>
              </a:spcBef>
              <a:buNone/>
            </a:pPr>
            <a:r>
              <a:rPr lang="en-US" sz="1350" dirty="0">
                <a:solidFill>
                  <a:srgbClr val="6B6B6B"/>
                </a:solidFill>
                <a:latin typeface="Inter" pitchFamily="34" charset="0"/>
                <a:ea typeface="Inter" pitchFamily="34" charset="-122"/>
                <a:cs typeface="Inter" pitchFamily="34" charset="-120"/>
              </a:rPr>
              <a:t>Chuỗi basic design → detail design → unit test của team dự án; ghi thời gian và số lỗi review so với làm tay.</a:t>
            </a:r>
            <a:endParaRPr lang="en-US" sz="1350" dirty="0"/>
          </a:p>
        </p:txBody>
      </p:sp>
      <p:sp>
        <p:nvSpPr>
          <p:cNvPr id="11" name="Shape 9"/>
          <p:cNvSpPr/>
          <p:nvPr/>
        </p:nvSpPr>
        <p:spPr>
          <a:xfrm>
            <a:off x="3390900" y="2095500"/>
            <a:ext cx="2628900" cy="2984500"/>
          </a:xfrm>
          <a:prstGeom prst="roundRect">
            <a:avLst>
              <a:gd name="adj" fmla="val 3382"/>
            </a:avLst>
          </a:prstGeom>
          <a:solidFill>
            <a:srgbClr val="F4F2E8"/>
          </a:solidFill>
          <a:ln w="9525">
            <a:solidFill>
              <a:srgbClr val="D0D1EB"/>
            </a:solidFill>
            <a:prstDash val="solid"/>
          </a:ln>
        </p:spPr>
      </p:sp>
      <p:sp>
        <p:nvSpPr>
          <p:cNvPr id="12" name="Text 10"/>
          <p:cNvSpPr txBox="1"/>
          <p:nvPr/>
        </p:nvSpPr>
        <p:spPr>
          <a:xfrm>
            <a:off x="3581400" y="2298700"/>
            <a:ext cx="381000" cy="381000"/>
          </a:xfrm>
          <a:prstGeom prst="ellipse">
            <a:avLst/>
          </a:prstGeom>
          <a:solidFill>
            <a:srgbClr val="3F4AF7"/>
          </a:solidFill>
          <a:ln/>
        </p:spPr>
        <p:txBody>
          <a:bodyPr wrap="square" lIns="0" tIns="0" rIns="0" bIns="0" rtlCol="0" anchor="ctr"/>
          <a:lstStyle/>
          <a:p>
            <a:pPr algn="ctr" indent="0" marL="0">
              <a:buNone/>
            </a:pPr>
            <a:r>
              <a:rPr lang="en-US" sz="1400" b="1" dirty="0">
                <a:solidFill>
                  <a:srgbClr val="FDFAE7"/>
                </a:solidFill>
                <a:latin typeface="Space Grotesk" pitchFamily="34" charset="0"/>
                <a:ea typeface="Space Grotesk" pitchFamily="34" charset="-122"/>
                <a:cs typeface="Space Grotesk" pitchFamily="34" charset="-120"/>
              </a:rPr>
              <a:t>2</a:t>
            </a:r>
            <a:endParaRPr lang="en-US" sz="1400" dirty="0"/>
          </a:p>
        </p:txBody>
      </p:sp>
      <p:sp>
        <p:nvSpPr>
          <p:cNvPr id="13" name="Text 11"/>
          <p:cNvSpPr txBox="1"/>
          <p:nvPr/>
        </p:nvSpPr>
        <p:spPr>
          <a:xfrm>
            <a:off x="3581400" y="2870200"/>
            <a:ext cx="2247900" cy="2032000"/>
          </a:xfrm>
          <a:prstGeom prst="rect">
            <a:avLst/>
          </a:prstGeom>
          <a:noFill/>
          <a:ln/>
        </p:spPr>
        <p:txBody>
          <a:bodyPr wrap="square" lIns="0" tIns="0" rIns="0" bIns="0" rtlCol="0" anchor="t"/>
          <a:lstStyle/>
          <a:p>
            <a:pPr algn="l" indent="0" marL="0">
              <a:lnSpc>
                <a:spcPts val="2000"/>
              </a:lnSpc>
              <a:buNone/>
            </a:pPr>
            <a:r>
              <a:rPr lang="en-US" sz="1600" b="1" dirty="0">
                <a:solidFill>
                  <a:srgbClr val="111111"/>
                </a:solidFill>
                <a:latin typeface="Space Grotesk" pitchFamily="34" charset="0"/>
                <a:ea typeface="Space Grotesk" pitchFamily="34" charset="-122"/>
                <a:cs typeface="Space Grotesk" pitchFamily="34" charset="-120"/>
              </a:rPr>
              <a:t>Chạy headless một lần</a:t>
            </a:r>
            <a:endParaRPr lang="en-US" sz="1350" dirty="0"/>
          </a:p>
          <a:p>
            <a:pPr algn="l" indent="0" marL="0">
              <a:lnSpc>
                <a:spcPts val="2025"/>
              </a:lnSpc>
              <a:spcBef>
                <a:spcPts val="800"/>
              </a:spcBef>
              <a:buNone/>
            </a:pPr>
            <a:r>
              <a:rPr lang="en-US" sz="1350" dirty="0">
                <a:solidFill>
                  <a:srgbClr val="6B6B6B"/>
                </a:solidFill>
                <a:latin typeface="Inter" pitchFamily="34" charset="0"/>
                <a:ea typeface="Inter" pitchFamily="34" charset="-122"/>
                <a:cs typeface="Inter" pitchFamily="34" charset="-120"/>
              </a:rPr>
              <a:t>Cùng chuỗi đó, có approval gate cuối — chứng minh mức L4 không cần harness tự viết.</a:t>
            </a:r>
            <a:endParaRPr lang="en-US" sz="1350" dirty="0"/>
          </a:p>
        </p:txBody>
      </p:sp>
      <p:sp>
        <p:nvSpPr>
          <p:cNvPr id="14" name="Shape 12"/>
          <p:cNvSpPr/>
          <p:nvPr/>
        </p:nvSpPr>
        <p:spPr>
          <a:xfrm>
            <a:off x="6172200" y="2095500"/>
            <a:ext cx="2628900" cy="2984500"/>
          </a:xfrm>
          <a:prstGeom prst="roundRect">
            <a:avLst>
              <a:gd name="adj" fmla="val 3382"/>
            </a:avLst>
          </a:prstGeom>
          <a:solidFill>
            <a:srgbClr val="F4F2E8"/>
          </a:solidFill>
          <a:ln w="9525">
            <a:solidFill>
              <a:srgbClr val="D0D1EB"/>
            </a:solidFill>
            <a:prstDash val="solid"/>
          </a:ln>
        </p:spPr>
      </p:sp>
      <p:sp>
        <p:nvSpPr>
          <p:cNvPr id="15" name="Text 13"/>
          <p:cNvSpPr txBox="1"/>
          <p:nvPr/>
        </p:nvSpPr>
        <p:spPr>
          <a:xfrm>
            <a:off x="6362700" y="2298700"/>
            <a:ext cx="381000" cy="381000"/>
          </a:xfrm>
          <a:prstGeom prst="ellipse">
            <a:avLst/>
          </a:prstGeom>
          <a:solidFill>
            <a:srgbClr val="6169F4"/>
          </a:solidFill>
          <a:ln/>
        </p:spPr>
        <p:txBody>
          <a:bodyPr wrap="square" lIns="0" tIns="0" rIns="0" bIns="0" rtlCol="0" anchor="ctr"/>
          <a:lstStyle/>
          <a:p>
            <a:pPr algn="ctr" indent="0" marL="0">
              <a:buNone/>
            </a:pPr>
            <a:r>
              <a:rPr lang="en-US" sz="1400" b="1" dirty="0">
                <a:solidFill>
                  <a:srgbClr val="FDFAE7"/>
                </a:solidFill>
                <a:latin typeface="Space Grotesk" pitchFamily="34" charset="0"/>
                <a:ea typeface="Space Grotesk" pitchFamily="34" charset="-122"/>
                <a:cs typeface="Space Grotesk" pitchFamily="34" charset="-120"/>
              </a:rPr>
              <a:t>3</a:t>
            </a:r>
            <a:endParaRPr lang="en-US" sz="1400" dirty="0"/>
          </a:p>
        </p:txBody>
      </p:sp>
      <p:sp>
        <p:nvSpPr>
          <p:cNvPr id="16" name="Text 14"/>
          <p:cNvSpPr txBox="1"/>
          <p:nvPr/>
        </p:nvSpPr>
        <p:spPr>
          <a:xfrm>
            <a:off x="6362700" y="2870200"/>
            <a:ext cx="2247900" cy="2032000"/>
          </a:xfrm>
          <a:prstGeom prst="rect">
            <a:avLst/>
          </a:prstGeom>
          <a:noFill/>
          <a:ln/>
        </p:spPr>
        <p:txBody>
          <a:bodyPr wrap="square" lIns="0" tIns="0" rIns="0" bIns="0" rtlCol="0" anchor="t"/>
          <a:lstStyle/>
          <a:p>
            <a:pPr algn="l" indent="0" marL="0">
              <a:lnSpc>
                <a:spcPts val="2000"/>
              </a:lnSpc>
              <a:buNone/>
            </a:pPr>
            <a:r>
              <a:rPr lang="en-US" sz="1600" b="1" dirty="0">
                <a:solidFill>
                  <a:srgbClr val="111111"/>
                </a:solidFill>
                <a:latin typeface="Space Grotesk" pitchFamily="34" charset="0"/>
                <a:ea typeface="Space Grotesk" pitchFamily="34" charset="-122"/>
                <a:cs typeface="Space Grotesk" pitchFamily="34" charset="-120"/>
              </a:rPr>
              <a:t>Chạy trên hai harness</a:t>
            </a:r>
            <a:endParaRPr lang="en-US" sz="1350" dirty="0"/>
          </a:p>
          <a:p>
            <a:pPr algn="l" indent="0" marL="0">
              <a:lnSpc>
                <a:spcPts val="2025"/>
              </a:lnSpc>
              <a:spcBef>
                <a:spcPts val="800"/>
              </a:spcBef>
              <a:buNone/>
            </a:pPr>
            <a:r>
              <a:rPr lang="en-US" sz="1350" dirty="0">
                <a:solidFill>
                  <a:srgbClr val="6B6B6B"/>
                </a:solidFill>
                <a:latin typeface="Inter" pitchFamily="34" charset="0"/>
                <a:ea typeface="Inter" pitchFamily="34" charset="-122"/>
                <a:cs typeface="Inter" pitchFamily="34" charset="-120"/>
              </a:rPr>
              <a:t>Cùng một kit; ghi phần phải sửa ở adapter.</a:t>
            </a:r>
            <a:endParaRPr lang="en-US" sz="1350" dirty="0"/>
          </a:p>
        </p:txBody>
      </p:sp>
      <p:sp>
        <p:nvSpPr>
          <p:cNvPr id="17" name="Shape 15"/>
          <p:cNvSpPr/>
          <p:nvPr/>
        </p:nvSpPr>
        <p:spPr>
          <a:xfrm>
            <a:off x="8953500" y="2095500"/>
            <a:ext cx="2628900" cy="2984500"/>
          </a:xfrm>
          <a:prstGeom prst="roundRect">
            <a:avLst>
              <a:gd name="adj" fmla="val 3382"/>
            </a:avLst>
          </a:prstGeom>
          <a:solidFill>
            <a:srgbClr val="F4F2E8"/>
          </a:solidFill>
          <a:ln w="9525">
            <a:solidFill>
              <a:srgbClr val="D0D1EB"/>
            </a:solidFill>
            <a:prstDash val="solid"/>
          </a:ln>
        </p:spPr>
      </p:sp>
      <p:sp>
        <p:nvSpPr>
          <p:cNvPr id="18" name="Text 16"/>
          <p:cNvSpPr txBox="1"/>
          <p:nvPr/>
        </p:nvSpPr>
        <p:spPr>
          <a:xfrm>
            <a:off x="9144000" y="2298700"/>
            <a:ext cx="381000" cy="381000"/>
          </a:xfrm>
          <a:prstGeom prst="ellipse">
            <a:avLst/>
          </a:prstGeom>
          <a:solidFill>
            <a:srgbClr val="8288F2"/>
          </a:solidFill>
          <a:ln/>
        </p:spPr>
        <p:txBody>
          <a:bodyPr wrap="square" lIns="0" tIns="0" rIns="0" bIns="0" rtlCol="0" anchor="ctr"/>
          <a:lstStyle/>
          <a:p>
            <a:pPr algn="ctr" indent="0" marL="0">
              <a:buNone/>
            </a:pPr>
            <a:r>
              <a:rPr lang="en-US" sz="1400" b="1" dirty="0">
                <a:solidFill>
                  <a:srgbClr val="FDFAE7"/>
                </a:solidFill>
                <a:latin typeface="Space Grotesk" pitchFamily="34" charset="0"/>
                <a:ea typeface="Space Grotesk" pitchFamily="34" charset="-122"/>
                <a:cs typeface="Space Grotesk" pitchFamily="34" charset="-120"/>
              </a:rPr>
              <a:t>4</a:t>
            </a:r>
            <a:endParaRPr lang="en-US" sz="1400" dirty="0"/>
          </a:p>
        </p:txBody>
      </p:sp>
      <p:sp>
        <p:nvSpPr>
          <p:cNvPr id="19" name="Text 17"/>
          <p:cNvSpPr txBox="1"/>
          <p:nvPr/>
        </p:nvSpPr>
        <p:spPr>
          <a:xfrm>
            <a:off x="9144000" y="2870200"/>
            <a:ext cx="2247900" cy="2032000"/>
          </a:xfrm>
          <a:prstGeom prst="rect">
            <a:avLst/>
          </a:prstGeom>
          <a:noFill/>
          <a:ln/>
        </p:spPr>
        <p:txBody>
          <a:bodyPr wrap="square" lIns="0" tIns="0" rIns="0" bIns="0" rtlCol="0" anchor="t"/>
          <a:lstStyle/>
          <a:p>
            <a:pPr algn="l" indent="0" marL="0">
              <a:lnSpc>
                <a:spcPts val="2000"/>
              </a:lnSpc>
              <a:buNone/>
            </a:pPr>
            <a:r>
              <a:rPr lang="en-US" sz="1600" b="1" dirty="0">
                <a:solidFill>
                  <a:srgbClr val="111111"/>
                </a:solidFill>
                <a:latin typeface="Space Grotesk" pitchFamily="34" charset="0"/>
                <a:ea typeface="Space Grotesk" pitchFamily="34" charset="-122"/>
                <a:cs typeface="Space Grotesk" pitchFamily="34" charset="-120"/>
              </a:rPr>
              <a:t>Dựng thử LLM gateway</a:t>
            </a:r>
            <a:endParaRPr lang="en-US" sz="1350" dirty="0"/>
          </a:p>
          <a:p>
            <a:pPr algn="l" indent="0" marL="0">
              <a:lnSpc>
                <a:spcPts val="2025"/>
              </a:lnSpc>
              <a:spcBef>
                <a:spcPts val="800"/>
              </a:spcBef>
              <a:buNone/>
            </a:pPr>
            <a:r>
              <a:rPr lang="en-US" sz="1350" dirty="0">
                <a:solidFill>
                  <a:srgbClr val="6B6B6B"/>
                </a:solidFill>
                <a:latin typeface="Inter" pitchFamily="34" charset="0"/>
                <a:ea typeface="Inter" pitchFamily="34" charset="-122"/>
                <a:cs typeface="Inter" pitchFamily="34" charset="-120"/>
              </a:rPr>
              <a:t>Ghi cost và log theo user — đủ để trả lời câu hỏi governance.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AE7"/>
        </a:solidFill>
      </p:bgPr>
    </p:bg>
    <p:spTree>
      <p:nvGrpSpPr>
        <p:cNvPr id="1" name=""/>
        <p:cNvGrpSpPr/>
        <p:nvPr/>
      </p:nvGrpSpPr>
      <p:grpSpPr>
        <a:xfrm>
          <a:off x="0" y="0"/>
          <a:ext cx="0" cy="0"/>
          <a:chOff x="0" y="0"/>
          <a:chExt cx="0" cy="0"/>
        </a:xfrm>
      </p:grpSpPr>
      <p:sp>
        <p:nvSpPr>
          <p:cNvPr id="2" name="Text 0"/>
          <p:cNvSpPr txBox="1"/>
          <p:nvPr/>
        </p:nvSpPr>
        <p:spPr>
          <a:xfrm>
            <a:off x="609600" y="444500"/>
            <a:ext cx="8255000" cy="228600"/>
          </a:xfrm>
          <a:prstGeom prst="rect">
            <a:avLst/>
          </a:prstGeom>
          <a:noFill/>
          <a:ln/>
        </p:spPr>
        <p:txBody>
          <a:bodyPr wrap="square" lIns="0" tIns="0" rIns="0" bIns="0" rtlCol="0" anchor="ctr"/>
          <a:lstStyle/>
          <a:p>
            <a:pPr algn="l" indent="0" marL="0">
              <a:buNone/>
            </a:pPr>
            <a:r>
              <a:rPr lang="en-US" sz="1100" b="1" spc="100" kern="0" dirty="0">
                <a:solidFill>
                  <a:srgbClr val="1E2BFA"/>
                </a:solidFill>
                <a:latin typeface="Space Grotesk" pitchFamily="34" charset="0"/>
                <a:ea typeface="Space Grotesk" pitchFamily="34" charset="-122"/>
                <a:cs typeface="Space Grotesk" pitchFamily="34" charset="-120"/>
              </a:rPr>
              <a:t>CÂU HỎI MỞ</a:t>
            </a:r>
            <a:endParaRPr lang="en-US" sz="1100" dirty="0"/>
          </a:p>
        </p:txBody>
      </p:sp>
      <p:sp>
        <p:nvSpPr>
          <p:cNvPr id="3" name="Text 1"/>
          <p:cNvSpPr txBox="1"/>
          <p:nvPr/>
        </p:nvSpPr>
        <p:spPr>
          <a:xfrm>
            <a:off x="10528300" y="412750"/>
            <a:ext cx="1054100" cy="292100"/>
          </a:xfrm>
          <a:prstGeom prst="roundRect">
            <a:avLst>
              <a:gd name="adj" fmla="val 50000"/>
            </a:avLst>
          </a:prstGeom>
          <a:solidFill>
            <a:srgbClr val="EBE9E8"/>
          </a:solidFill>
          <a:ln/>
        </p:spPr>
        <p:txBody>
          <a:bodyPr wrap="square" lIns="0" tIns="0" rIns="0" bIns="0" rtlCol="0" anchor="ctr"/>
          <a:lstStyle/>
          <a:p>
            <a:pPr algn="ctr" indent="0" marL="0">
              <a:buNone/>
            </a:pPr>
            <a:r>
              <a:rPr lang="en-US" sz="1000" dirty="0">
                <a:solidFill>
                  <a:srgbClr val="1E2BFA"/>
                </a:solidFill>
                <a:latin typeface="Space Grotesk" pitchFamily="34" charset="0"/>
                <a:ea typeface="Space Grotesk" pitchFamily="34" charset="-122"/>
                <a:cs typeface="Space Grotesk" pitchFamily="34" charset="-120"/>
              </a:rPr>
              <a:t>Cần làm rõ</a:t>
            </a:r>
            <a:endParaRPr lang="en-US" sz="1000" dirty="0"/>
          </a:p>
        </p:txBody>
      </p:sp>
      <p:sp>
        <p:nvSpPr>
          <p:cNvPr id="4" name="Text 2"/>
          <p:cNvSpPr txBox="1"/>
          <p:nvPr/>
        </p:nvSpPr>
        <p:spPr>
          <a:xfrm>
            <a:off x="609600" y="812800"/>
            <a:ext cx="10414000" cy="533400"/>
          </a:xfrm>
          <a:prstGeom prst="rect">
            <a:avLst/>
          </a:prstGeom>
          <a:noFill/>
          <a:ln/>
        </p:spPr>
        <p:txBody>
          <a:bodyPr wrap="square" lIns="0" tIns="0" rIns="0" bIns="0" rtlCol="0" anchor="t"/>
          <a:lstStyle/>
          <a:p>
            <a:pPr algn="l" indent="0" marL="0">
              <a:lnSpc>
                <a:spcPts val="3393"/>
              </a:lnSpc>
              <a:buNone/>
            </a:pPr>
            <a:r>
              <a:rPr lang="en-US" sz="2900" b="1" dirty="0">
                <a:solidFill>
                  <a:srgbClr val="111111"/>
                </a:solidFill>
                <a:latin typeface="Space Grotesk" pitchFamily="34" charset="0"/>
                <a:ea typeface="Space Grotesk" pitchFamily="34" charset="-122"/>
                <a:cs typeface="Space Grotesk" pitchFamily="34" charset="-120"/>
              </a:rPr>
              <a:t>Bốn câu hỏi còn mở</a:t>
            </a:r>
            <a:endParaRPr lang="en-US" sz="2900" dirty="0"/>
          </a:p>
        </p:txBody>
      </p:sp>
      <p:sp>
        <p:nvSpPr>
          <p:cNvPr id="5" name="Text 3"/>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6" name="Text 4"/>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18 / 19</a:t>
            </a:r>
            <a:endParaRPr lang="en-US" sz="900" dirty="0"/>
          </a:p>
        </p:txBody>
      </p:sp>
      <p:sp>
        <p:nvSpPr>
          <p:cNvPr id="7" name="Shape 5"/>
          <p:cNvSpPr/>
          <p:nvPr/>
        </p:nvSpPr>
        <p:spPr>
          <a:xfrm>
            <a:off x="0" y="6838950"/>
            <a:ext cx="11550316" cy="19050"/>
          </a:xfrm>
          <a:prstGeom prst="rect">
            <a:avLst/>
          </a:prstGeom>
          <a:solidFill>
            <a:srgbClr val="1E2BFA"/>
          </a:solidFill>
          <a:ln/>
        </p:spPr>
      </p:sp>
      <p:sp>
        <p:nvSpPr>
          <p:cNvPr id="8" name="Shape 6"/>
          <p:cNvSpPr/>
          <p:nvPr/>
        </p:nvSpPr>
        <p:spPr>
          <a:xfrm>
            <a:off x="609600" y="2032000"/>
            <a:ext cx="5403850" cy="1562100"/>
          </a:xfrm>
          <a:prstGeom prst="roundRect">
            <a:avLst>
              <a:gd name="adj" fmla="val 5691"/>
            </a:avLst>
          </a:prstGeom>
          <a:solidFill>
            <a:srgbClr val="F4F2E8"/>
          </a:solidFill>
          <a:ln w="9525">
            <a:solidFill>
              <a:srgbClr val="D0D1EB"/>
            </a:solidFill>
            <a:prstDash val="solid"/>
          </a:ln>
        </p:spPr>
      </p:sp>
      <p:sp>
        <p:nvSpPr>
          <p:cNvPr id="9" name="Text 7"/>
          <p:cNvSpPr txBox="1"/>
          <p:nvPr/>
        </p:nvSpPr>
        <p:spPr>
          <a:xfrm>
            <a:off x="863600" y="2273300"/>
            <a:ext cx="635000" cy="4318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Q1</a:t>
            </a:r>
            <a:endParaRPr lang="en-US" sz="2600" dirty="0"/>
          </a:p>
        </p:txBody>
      </p:sp>
      <p:sp>
        <p:nvSpPr>
          <p:cNvPr id="10" name="Text 8"/>
          <p:cNvSpPr txBox="1"/>
          <p:nvPr/>
        </p:nvSpPr>
        <p:spPr>
          <a:xfrm>
            <a:off x="1574800" y="2298700"/>
            <a:ext cx="4184650" cy="1079500"/>
          </a:xfrm>
          <a:prstGeom prst="rect">
            <a:avLst/>
          </a:prstGeom>
          <a:noFill/>
          <a:ln/>
        </p:spPr>
        <p:txBody>
          <a:bodyPr wrap="square" lIns="0" tIns="0" rIns="0" bIns="0" rtlCol="0" anchor="t"/>
          <a:lstStyle/>
          <a:p>
            <a:pPr algn="l" indent="0" marL="0">
              <a:lnSpc>
                <a:spcPts val="2248"/>
              </a:lnSpc>
              <a:buNone/>
            </a:pPr>
            <a:r>
              <a:rPr lang="en-US" sz="1550" dirty="0">
                <a:solidFill>
                  <a:srgbClr val="111111"/>
                </a:solidFill>
                <a:latin typeface="Inter" pitchFamily="34" charset="0"/>
                <a:ea typeface="Inter" pitchFamily="34" charset="-122"/>
                <a:cs typeface="Inter" pitchFamily="34" charset="-120"/>
              </a:rPr>
              <a:t>Team platform đã đầu tư tới đâu ở orchestration layer? Nếu đã nhiều, phần nào chuyển sang data layer được?</a:t>
            </a:r>
            <a:endParaRPr lang="en-US" sz="1550" dirty="0"/>
          </a:p>
        </p:txBody>
      </p:sp>
      <p:sp>
        <p:nvSpPr>
          <p:cNvPr id="11" name="Shape 9"/>
          <p:cNvSpPr/>
          <p:nvPr/>
        </p:nvSpPr>
        <p:spPr>
          <a:xfrm>
            <a:off x="6178550" y="2032000"/>
            <a:ext cx="5403850" cy="1562100"/>
          </a:xfrm>
          <a:prstGeom prst="roundRect">
            <a:avLst>
              <a:gd name="adj" fmla="val 5691"/>
            </a:avLst>
          </a:prstGeom>
          <a:solidFill>
            <a:srgbClr val="F4F2E8"/>
          </a:solidFill>
          <a:ln w="9525">
            <a:solidFill>
              <a:srgbClr val="D0D1EB"/>
            </a:solidFill>
            <a:prstDash val="solid"/>
          </a:ln>
        </p:spPr>
      </p:sp>
      <p:sp>
        <p:nvSpPr>
          <p:cNvPr id="12" name="Text 10"/>
          <p:cNvSpPr txBox="1"/>
          <p:nvPr/>
        </p:nvSpPr>
        <p:spPr>
          <a:xfrm>
            <a:off x="6432550" y="2273300"/>
            <a:ext cx="635000" cy="4318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Q2</a:t>
            </a:r>
            <a:endParaRPr lang="en-US" sz="2600" dirty="0"/>
          </a:p>
        </p:txBody>
      </p:sp>
      <p:sp>
        <p:nvSpPr>
          <p:cNvPr id="13" name="Text 11"/>
          <p:cNvSpPr txBox="1"/>
          <p:nvPr/>
        </p:nvSpPr>
        <p:spPr>
          <a:xfrm>
            <a:off x="7143750" y="2298700"/>
            <a:ext cx="4184650" cy="1079500"/>
          </a:xfrm>
          <a:prstGeom prst="rect">
            <a:avLst/>
          </a:prstGeom>
          <a:noFill/>
          <a:ln/>
        </p:spPr>
        <p:txBody>
          <a:bodyPr wrap="square" lIns="0" tIns="0" rIns="0" bIns="0" rtlCol="0" anchor="t"/>
          <a:lstStyle/>
          <a:p>
            <a:pPr algn="l" indent="0" marL="0">
              <a:lnSpc>
                <a:spcPts val="2248"/>
              </a:lnSpc>
              <a:buNone/>
            </a:pPr>
            <a:r>
              <a:rPr lang="en-US" sz="1550" dirty="0">
                <a:solidFill>
                  <a:srgbClr val="111111"/>
                </a:solidFill>
                <a:latin typeface="Inter" pitchFamily="34" charset="0"/>
                <a:ea typeface="Inter" pitchFamily="34" charset="-122"/>
                <a:cs typeface="Inter" pitchFamily="34" charset="-120"/>
              </a:rPr>
              <a:t>Điều khoản license của harness hiện dùng có cho chạy headless trong CI không, hay cần tài khoản API riêng?</a:t>
            </a:r>
            <a:endParaRPr lang="en-US" sz="1550" dirty="0"/>
          </a:p>
        </p:txBody>
      </p:sp>
      <p:sp>
        <p:nvSpPr>
          <p:cNvPr id="14" name="Shape 12"/>
          <p:cNvSpPr/>
          <p:nvPr/>
        </p:nvSpPr>
        <p:spPr>
          <a:xfrm>
            <a:off x="609600" y="3759200"/>
            <a:ext cx="5403850" cy="1562100"/>
          </a:xfrm>
          <a:prstGeom prst="roundRect">
            <a:avLst>
              <a:gd name="adj" fmla="val 5691"/>
            </a:avLst>
          </a:prstGeom>
          <a:solidFill>
            <a:srgbClr val="F4F2E8"/>
          </a:solidFill>
          <a:ln w="9525">
            <a:solidFill>
              <a:srgbClr val="D0D1EB"/>
            </a:solidFill>
            <a:prstDash val="solid"/>
          </a:ln>
        </p:spPr>
      </p:sp>
      <p:sp>
        <p:nvSpPr>
          <p:cNvPr id="15" name="Text 13"/>
          <p:cNvSpPr txBox="1"/>
          <p:nvPr/>
        </p:nvSpPr>
        <p:spPr>
          <a:xfrm>
            <a:off x="863600" y="4000500"/>
            <a:ext cx="635000" cy="4318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Q3</a:t>
            </a:r>
            <a:endParaRPr lang="en-US" sz="2600" dirty="0"/>
          </a:p>
        </p:txBody>
      </p:sp>
      <p:sp>
        <p:nvSpPr>
          <p:cNvPr id="16" name="Text 14"/>
          <p:cNvSpPr txBox="1"/>
          <p:nvPr/>
        </p:nvSpPr>
        <p:spPr>
          <a:xfrm>
            <a:off x="1574800" y="4025900"/>
            <a:ext cx="4184650" cy="1079500"/>
          </a:xfrm>
          <a:prstGeom prst="rect">
            <a:avLst/>
          </a:prstGeom>
          <a:noFill/>
          <a:ln/>
        </p:spPr>
        <p:txBody>
          <a:bodyPr wrap="square" lIns="0" tIns="0" rIns="0" bIns="0" rtlCol="0" anchor="t"/>
          <a:lstStyle/>
          <a:p>
            <a:pPr algn="l" indent="0" marL="0">
              <a:lnSpc>
                <a:spcPts val="2248"/>
              </a:lnSpc>
              <a:buNone/>
            </a:pPr>
            <a:r>
              <a:rPr lang="en-US" sz="1550" dirty="0">
                <a:solidFill>
                  <a:srgbClr val="111111"/>
                </a:solidFill>
                <a:latin typeface="Inter" pitchFamily="34" charset="0"/>
                <a:ea typeface="Inter" pitchFamily="34" charset="-122"/>
                <a:cs typeface="Inter" pitchFamily="34" charset="-120"/>
              </a:rPr>
              <a:t>Yêu cầu về data residency và LLM được phép dùng của phía khách có loại trừ harness nào không?</a:t>
            </a:r>
            <a:endParaRPr lang="en-US" sz="1550" dirty="0"/>
          </a:p>
        </p:txBody>
      </p:sp>
      <p:sp>
        <p:nvSpPr>
          <p:cNvPr id="17" name="Shape 15"/>
          <p:cNvSpPr/>
          <p:nvPr/>
        </p:nvSpPr>
        <p:spPr>
          <a:xfrm>
            <a:off x="6178550" y="3759200"/>
            <a:ext cx="5403850" cy="1562100"/>
          </a:xfrm>
          <a:prstGeom prst="roundRect">
            <a:avLst>
              <a:gd name="adj" fmla="val 5691"/>
            </a:avLst>
          </a:prstGeom>
          <a:solidFill>
            <a:srgbClr val="F4F2E8"/>
          </a:solidFill>
          <a:ln w="9525">
            <a:solidFill>
              <a:srgbClr val="D0D1EB"/>
            </a:solidFill>
            <a:prstDash val="solid"/>
          </a:ln>
        </p:spPr>
      </p:sp>
      <p:sp>
        <p:nvSpPr>
          <p:cNvPr id="18" name="Text 16"/>
          <p:cNvSpPr txBox="1"/>
          <p:nvPr/>
        </p:nvSpPr>
        <p:spPr>
          <a:xfrm>
            <a:off x="6432550" y="4000500"/>
            <a:ext cx="635000" cy="431800"/>
          </a:xfrm>
          <a:prstGeom prst="rect">
            <a:avLst/>
          </a:prstGeom>
          <a:noFill/>
          <a:ln/>
        </p:spPr>
        <p:txBody>
          <a:bodyPr wrap="square" lIns="0" tIns="0" rIns="0" bIns="0" rtlCol="0" anchor="t"/>
          <a:lstStyle/>
          <a:p>
            <a:pPr algn="l" indent="0" marL="0">
              <a:buNone/>
            </a:pPr>
            <a:r>
              <a:rPr lang="en-US" sz="2600" b="1" dirty="0">
                <a:solidFill>
                  <a:srgbClr val="1E2BFA"/>
                </a:solidFill>
                <a:latin typeface="Space Grotesk" pitchFamily="34" charset="0"/>
                <a:ea typeface="Space Grotesk" pitchFamily="34" charset="-122"/>
                <a:cs typeface="Space Grotesk" pitchFamily="34" charset="-120"/>
              </a:rPr>
              <a:t>Q4</a:t>
            </a:r>
            <a:endParaRPr lang="en-US" sz="2600" dirty="0"/>
          </a:p>
        </p:txBody>
      </p:sp>
      <p:sp>
        <p:nvSpPr>
          <p:cNvPr id="19" name="Text 17"/>
          <p:cNvSpPr txBox="1"/>
          <p:nvPr/>
        </p:nvSpPr>
        <p:spPr>
          <a:xfrm>
            <a:off x="7143750" y="4025900"/>
            <a:ext cx="4184650" cy="1079500"/>
          </a:xfrm>
          <a:prstGeom prst="rect">
            <a:avLst/>
          </a:prstGeom>
          <a:noFill/>
          <a:ln/>
        </p:spPr>
        <p:txBody>
          <a:bodyPr wrap="square" lIns="0" tIns="0" rIns="0" bIns="0" rtlCol="0" anchor="t"/>
          <a:lstStyle/>
          <a:p>
            <a:pPr algn="l" indent="0" marL="0">
              <a:lnSpc>
                <a:spcPts val="2248"/>
              </a:lnSpc>
              <a:buNone/>
            </a:pPr>
            <a:r>
              <a:rPr lang="en-US" sz="1550" dirty="0">
                <a:solidFill>
                  <a:srgbClr val="111111"/>
                </a:solidFill>
                <a:latin typeface="Inter" pitchFamily="34" charset="0"/>
                <a:ea typeface="Inter" pitchFamily="34" charset="-122"/>
                <a:cs typeface="Inter" pitchFamily="34" charset="-120"/>
              </a:rPr>
              <a:t>Ai sở hữu LLM gateway và dữ liệu audit: team platform, team infra, hay đơn vị governance?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AE7"/>
        </a:solidFill>
      </p:bgPr>
    </p:bg>
    <p:spTree>
      <p:nvGrpSpPr>
        <p:cNvPr id="1" name=""/>
        <p:cNvGrpSpPr/>
        <p:nvPr/>
      </p:nvGrpSpPr>
      <p:grpSpPr>
        <a:xfrm>
          <a:off x="0" y="0"/>
          <a:ext cx="0" cy="0"/>
          <a:chOff x="0" y="0"/>
          <a:chExt cx="0" cy="0"/>
        </a:xfrm>
      </p:grpSpPr>
      <p:sp>
        <p:nvSpPr>
          <p:cNvPr id="2" name="Shape 0"/>
          <p:cNvSpPr/>
          <p:nvPr/>
        </p:nvSpPr>
        <p:spPr>
          <a:xfrm>
            <a:off x="4318000" y="1651000"/>
            <a:ext cx="3556000" cy="3556000"/>
          </a:xfrm>
          <a:prstGeom prst="ellipse">
            <a:avLst/>
          </a:prstGeom>
          <a:ln w="9525">
            <a:solidFill>
              <a:srgbClr val="D0D1EB"/>
            </a:solidFill>
            <a:prstDash val="solid"/>
          </a:ln>
        </p:spPr>
      </p:sp>
      <p:sp>
        <p:nvSpPr>
          <p:cNvPr id="3" name="Shape 1"/>
          <p:cNvSpPr/>
          <p:nvPr/>
        </p:nvSpPr>
        <p:spPr>
          <a:xfrm>
            <a:off x="3365500" y="698500"/>
            <a:ext cx="5461000" cy="5461000"/>
          </a:xfrm>
          <a:prstGeom prst="ellipse">
            <a:avLst/>
          </a:prstGeom>
          <a:ln w="9525">
            <a:solidFill>
              <a:srgbClr val="D0D1EB"/>
            </a:solidFill>
            <a:prstDash val="solid"/>
          </a:ln>
        </p:spPr>
      </p:sp>
      <p:sp>
        <p:nvSpPr>
          <p:cNvPr id="4" name="Shape 2"/>
          <p:cNvSpPr/>
          <p:nvPr/>
        </p:nvSpPr>
        <p:spPr>
          <a:xfrm>
            <a:off x="2413000" y="-254000"/>
            <a:ext cx="7366000" cy="7366000"/>
          </a:xfrm>
          <a:prstGeom prst="ellipse">
            <a:avLst/>
          </a:prstGeom>
          <a:ln w="9525">
            <a:solidFill>
              <a:srgbClr val="D0D1EB"/>
            </a:solidFill>
            <a:prstDash val="solid"/>
          </a:ln>
        </p:spPr>
      </p:sp>
      <p:sp>
        <p:nvSpPr>
          <p:cNvPr id="5" name="Shape 3"/>
          <p:cNvSpPr/>
          <p:nvPr/>
        </p:nvSpPr>
        <p:spPr>
          <a:xfrm>
            <a:off x="1460500" y="-1206500"/>
            <a:ext cx="9271000" cy="9271000"/>
          </a:xfrm>
          <a:prstGeom prst="ellipse">
            <a:avLst/>
          </a:prstGeom>
          <a:ln w="9525">
            <a:solidFill>
              <a:srgbClr val="D0D1EB"/>
            </a:solidFill>
            <a:prstDash val="solid"/>
          </a:ln>
        </p:spPr>
      </p:sp>
      <p:sp>
        <p:nvSpPr>
          <p:cNvPr id="6" name="Shape 4"/>
          <p:cNvSpPr/>
          <p:nvPr/>
        </p:nvSpPr>
        <p:spPr>
          <a:xfrm>
            <a:off x="762000" y="698500"/>
            <a:ext cx="88900" cy="88900"/>
          </a:xfrm>
          <a:prstGeom prst="ellipse">
            <a:avLst/>
          </a:prstGeom>
          <a:solidFill>
            <a:srgbClr val="1E2BFA"/>
          </a:solidFill>
          <a:ln/>
        </p:spPr>
      </p:sp>
      <p:sp>
        <p:nvSpPr>
          <p:cNvPr id="7" name="Shape 5"/>
          <p:cNvSpPr/>
          <p:nvPr/>
        </p:nvSpPr>
        <p:spPr>
          <a:xfrm>
            <a:off x="1041400" y="698500"/>
            <a:ext cx="88900" cy="88900"/>
          </a:xfrm>
          <a:prstGeom prst="ellipse">
            <a:avLst/>
          </a:prstGeom>
          <a:solidFill>
            <a:srgbClr val="1E2BFA"/>
          </a:solidFill>
          <a:ln/>
        </p:spPr>
      </p:sp>
      <p:sp>
        <p:nvSpPr>
          <p:cNvPr id="8" name="Shape 6"/>
          <p:cNvSpPr/>
          <p:nvPr/>
        </p:nvSpPr>
        <p:spPr>
          <a:xfrm>
            <a:off x="1320800" y="698500"/>
            <a:ext cx="88900" cy="88900"/>
          </a:xfrm>
          <a:prstGeom prst="ellipse">
            <a:avLst/>
          </a:prstGeom>
          <a:solidFill>
            <a:srgbClr val="1E2BFA"/>
          </a:solidFill>
          <a:ln/>
        </p:spPr>
      </p:sp>
      <p:sp>
        <p:nvSpPr>
          <p:cNvPr id="9" name="Shape 7"/>
          <p:cNvSpPr/>
          <p:nvPr/>
        </p:nvSpPr>
        <p:spPr>
          <a:xfrm>
            <a:off x="762000" y="977900"/>
            <a:ext cx="88900" cy="88900"/>
          </a:xfrm>
          <a:prstGeom prst="ellipse">
            <a:avLst/>
          </a:prstGeom>
          <a:solidFill>
            <a:srgbClr val="1E2BFA"/>
          </a:solidFill>
          <a:ln/>
        </p:spPr>
      </p:sp>
      <p:sp>
        <p:nvSpPr>
          <p:cNvPr id="10" name="Shape 8"/>
          <p:cNvSpPr/>
          <p:nvPr/>
        </p:nvSpPr>
        <p:spPr>
          <a:xfrm>
            <a:off x="1041400" y="977900"/>
            <a:ext cx="88900" cy="88900"/>
          </a:xfrm>
          <a:prstGeom prst="ellipse">
            <a:avLst/>
          </a:prstGeom>
          <a:solidFill>
            <a:srgbClr val="1E2BFA"/>
          </a:solidFill>
          <a:ln/>
        </p:spPr>
      </p:sp>
      <p:sp>
        <p:nvSpPr>
          <p:cNvPr id="11" name="Shape 9"/>
          <p:cNvSpPr/>
          <p:nvPr/>
        </p:nvSpPr>
        <p:spPr>
          <a:xfrm>
            <a:off x="1320800" y="977900"/>
            <a:ext cx="88900" cy="88900"/>
          </a:xfrm>
          <a:prstGeom prst="ellipse">
            <a:avLst/>
          </a:prstGeom>
          <a:solidFill>
            <a:srgbClr val="1E2BFA"/>
          </a:solidFill>
          <a:ln/>
        </p:spPr>
      </p:sp>
      <p:sp>
        <p:nvSpPr>
          <p:cNvPr id="12" name="Shape 10"/>
          <p:cNvSpPr/>
          <p:nvPr/>
        </p:nvSpPr>
        <p:spPr>
          <a:xfrm>
            <a:off x="762000" y="1257300"/>
            <a:ext cx="88900" cy="88900"/>
          </a:xfrm>
          <a:prstGeom prst="ellipse">
            <a:avLst/>
          </a:prstGeom>
          <a:solidFill>
            <a:srgbClr val="1E2BFA"/>
          </a:solidFill>
          <a:ln/>
        </p:spPr>
      </p:sp>
      <p:sp>
        <p:nvSpPr>
          <p:cNvPr id="13" name="Shape 11"/>
          <p:cNvSpPr/>
          <p:nvPr/>
        </p:nvSpPr>
        <p:spPr>
          <a:xfrm>
            <a:off x="1041400" y="1257300"/>
            <a:ext cx="88900" cy="88900"/>
          </a:xfrm>
          <a:prstGeom prst="ellipse">
            <a:avLst/>
          </a:prstGeom>
          <a:solidFill>
            <a:srgbClr val="1E2BFA"/>
          </a:solidFill>
          <a:ln/>
        </p:spPr>
      </p:sp>
      <p:sp>
        <p:nvSpPr>
          <p:cNvPr id="14" name="Shape 12"/>
          <p:cNvSpPr/>
          <p:nvPr/>
        </p:nvSpPr>
        <p:spPr>
          <a:xfrm>
            <a:off x="1320800" y="1257300"/>
            <a:ext cx="88900" cy="88900"/>
          </a:xfrm>
          <a:prstGeom prst="ellipse">
            <a:avLst/>
          </a:prstGeom>
          <a:solidFill>
            <a:srgbClr val="1E2BFA"/>
          </a:solidFill>
          <a:ln/>
        </p:spPr>
      </p:sp>
      <p:sp>
        <p:nvSpPr>
          <p:cNvPr id="15" name="Shape 13"/>
          <p:cNvSpPr/>
          <p:nvPr/>
        </p:nvSpPr>
        <p:spPr>
          <a:xfrm>
            <a:off x="5905500" y="1981200"/>
            <a:ext cx="381000" cy="25400"/>
          </a:xfrm>
          <a:prstGeom prst="roundRect">
            <a:avLst>
              <a:gd name="adj" fmla="val 50000"/>
            </a:avLst>
          </a:prstGeom>
          <a:solidFill>
            <a:srgbClr val="1E2BFA"/>
          </a:solidFill>
          <a:ln/>
        </p:spPr>
      </p:sp>
      <p:sp>
        <p:nvSpPr>
          <p:cNvPr id="16" name="Text 14"/>
          <p:cNvSpPr txBox="1"/>
          <p:nvPr/>
        </p:nvSpPr>
        <p:spPr>
          <a:xfrm>
            <a:off x="609600" y="2235200"/>
            <a:ext cx="10972800" cy="1143000"/>
          </a:xfrm>
          <a:prstGeom prst="rect">
            <a:avLst/>
          </a:prstGeom>
          <a:noFill/>
          <a:ln/>
        </p:spPr>
        <p:txBody>
          <a:bodyPr wrap="square" lIns="0" tIns="0" rIns="0" bIns="0" rtlCol="0" anchor="t"/>
          <a:lstStyle/>
          <a:p>
            <a:pPr algn="ctr" indent="0" marL="0">
              <a:lnSpc>
                <a:spcPts val="4080"/>
              </a:lnSpc>
              <a:buNone/>
            </a:pPr>
            <a:r>
              <a:rPr lang="en-US" sz="3400" b="1" dirty="0">
                <a:solidFill>
                  <a:srgbClr val="111111"/>
                </a:solidFill>
                <a:latin typeface="Space Grotesk" pitchFamily="34" charset="0"/>
                <a:ea typeface="Space Grotesk" pitchFamily="34" charset="-122"/>
                <a:cs typeface="Space Grotesk" pitchFamily="34" charset="-120"/>
              </a:rPr>
              <a:t>Model đổi được trong một dòng cấu hình.</a:t>
            </a:r>
            <a:endParaRPr lang="en-US" sz="3400" dirty="0"/>
          </a:p>
          <a:p>
            <a:pPr algn="ctr" indent="0" marL="0">
              <a:lnSpc>
                <a:spcPts val="4080"/>
              </a:lnSpc>
              <a:buNone/>
            </a:pPr>
            <a:r>
              <a:rPr lang="en-US" sz="3400" b="1" dirty="0">
                <a:solidFill>
                  <a:srgbClr val="111111"/>
                </a:solidFill>
                <a:latin typeface="Space Grotesk" pitchFamily="34" charset="0"/>
                <a:ea typeface="Space Grotesk" pitchFamily="34" charset="-122"/>
                <a:cs typeface="Space Grotesk" pitchFamily="34" charset="-120"/>
              </a:rPr>
              <a:t>Dữ liệu và dây nối thì không ai làm thay được.</a:t>
            </a:r>
            <a:endParaRPr lang="en-US" sz="3400" dirty="0"/>
          </a:p>
        </p:txBody>
      </p:sp>
      <p:sp>
        <p:nvSpPr>
          <p:cNvPr id="17" name="Text 15"/>
          <p:cNvSpPr txBox="1"/>
          <p:nvPr/>
        </p:nvSpPr>
        <p:spPr>
          <a:xfrm>
            <a:off x="609600" y="3505200"/>
            <a:ext cx="10972800" cy="317500"/>
          </a:xfrm>
          <a:prstGeom prst="rect">
            <a:avLst/>
          </a:prstGeom>
          <a:noFill/>
          <a:ln/>
        </p:spPr>
        <p:txBody>
          <a:bodyPr wrap="square" lIns="0" tIns="0" rIns="0" bIns="0" rtlCol="0" anchor="t"/>
          <a:lstStyle/>
          <a:p>
            <a:pPr algn="ctr" indent="0" marL="0">
              <a:buNone/>
            </a:pPr>
            <a:r>
              <a:rPr lang="en-US" sz="1600" dirty="0">
                <a:solidFill>
                  <a:srgbClr val="6B6B6B"/>
                </a:solidFill>
                <a:latin typeface="Inter" pitchFamily="34" charset="0"/>
                <a:ea typeface="Inter" pitchFamily="34" charset="-122"/>
                <a:cs typeface="Inter" pitchFamily="34" charset="-120"/>
              </a:rPr>
              <a:t>Đó là nơi tổ chức nên đầu tư.</a:t>
            </a:r>
            <a:endParaRPr lang="en-US" sz="1600" dirty="0"/>
          </a:p>
        </p:txBody>
      </p:sp>
      <p:sp>
        <p:nvSpPr>
          <p:cNvPr id="18" name="Text 16"/>
          <p:cNvSpPr txBox="1"/>
          <p:nvPr/>
        </p:nvSpPr>
        <p:spPr>
          <a:xfrm>
            <a:off x="4899025" y="4089400"/>
            <a:ext cx="2393950" cy="393700"/>
          </a:xfrm>
          <a:prstGeom prst="roundRect">
            <a:avLst>
              <a:gd name="adj" fmla="val 50000"/>
            </a:avLst>
          </a:prstGeom>
          <a:solidFill>
            <a:srgbClr val="1E2BFA"/>
          </a:solidFill>
          <a:ln/>
        </p:spPr>
        <p:txBody>
          <a:bodyPr wrap="square" lIns="0" tIns="0" rIns="0" bIns="0" rtlCol="0" anchor="ctr"/>
          <a:lstStyle/>
          <a:p>
            <a:pPr algn="ctr" indent="0" marL="0">
              <a:buNone/>
            </a:pPr>
            <a:r>
              <a:rPr lang="en-US" sz="1200" b="1" dirty="0">
                <a:solidFill>
                  <a:srgbClr val="FDFAE7"/>
                </a:solidFill>
                <a:latin typeface="Space Grotesk" pitchFamily="34" charset="0"/>
                <a:ea typeface="Space Grotesk" pitchFamily="34" charset="-122"/>
                <a:cs typeface="Space Grotesk" pitchFamily="34" charset="-120"/>
              </a:rPr>
              <a:t>Kit + dữ liệu AI-ready</a:t>
            </a:r>
            <a:endParaRPr lang="en-US" sz="1200" dirty="0"/>
          </a:p>
        </p:txBody>
      </p:sp>
      <p:sp>
        <p:nvSpPr>
          <p:cNvPr id="19" name="Text 17"/>
          <p:cNvSpPr txBox="1"/>
          <p:nvPr/>
        </p:nvSpPr>
        <p:spPr>
          <a:xfrm>
            <a:off x="609600" y="6502400"/>
            <a:ext cx="5715000" cy="177800"/>
          </a:xfrm>
          <a:prstGeom prst="rect">
            <a:avLst/>
          </a:prstGeom>
          <a:noFill/>
          <a:ln/>
        </p:spPr>
        <p:txBody>
          <a:bodyPr wrap="square" lIns="0" tIns="0" rIns="0" bIns="0" rtlCol="0" anchor="t"/>
          <a:lstStyle/>
          <a:p>
            <a:pPr algn="l" indent="0" marL="0">
              <a:buNone/>
            </a:pPr>
            <a:r>
              <a:rPr lang="en-US" sz="900" spc="90" kern="0" dirty="0">
                <a:solidFill>
                  <a:srgbClr val="9A9A9A"/>
                </a:solidFill>
                <a:latin typeface="Space Grotesk" pitchFamily="34" charset="0"/>
                <a:ea typeface="Space Grotesk" pitchFamily="34" charset="-122"/>
                <a:cs typeface="Space Grotesk" pitchFamily="34" charset="-120"/>
              </a:rPr>
              <a:t>Tổ chức · Kit và dữ liệu, không harness mới</a:t>
            </a:r>
            <a:endParaRPr lang="en-US" sz="900" dirty="0"/>
          </a:p>
        </p:txBody>
      </p:sp>
      <p:sp>
        <p:nvSpPr>
          <p:cNvPr id="20" name="Text 18"/>
          <p:cNvSpPr txBox="1"/>
          <p:nvPr/>
        </p:nvSpPr>
        <p:spPr>
          <a:xfrm>
            <a:off x="9677400" y="6502400"/>
            <a:ext cx="1905000" cy="177800"/>
          </a:xfrm>
          <a:prstGeom prst="rect">
            <a:avLst/>
          </a:prstGeom>
          <a:noFill/>
          <a:ln/>
        </p:spPr>
        <p:txBody>
          <a:bodyPr wrap="square" lIns="0" tIns="0" rIns="0" bIns="0" rtlCol="0" anchor="t"/>
          <a:lstStyle/>
          <a:p>
            <a:pPr algn="r" indent="0" marL="0">
              <a:buNone/>
            </a:pPr>
            <a:r>
              <a:rPr lang="en-US" sz="900" spc="90" kern="0" dirty="0">
                <a:solidFill>
                  <a:srgbClr val="6B6B6B"/>
                </a:solidFill>
                <a:latin typeface="Space Grotesk" pitchFamily="34" charset="0"/>
                <a:ea typeface="Space Grotesk" pitchFamily="34" charset="-122"/>
                <a:cs typeface="Space Grotesk" pitchFamily="34" charset="-120"/>
              </a:rPr>
              <a:t>19 / 19</a:t>
            </a:r>
            <a:endParaRPr lang="en-US" sz="900" dirty="0"/>
          </a:p>
        </p:txBody>
      </p:sp>
      <p:sp>
        <p:nvSpPr>
          <p:cNvPr id="21" name="Shape 19"/>
          <p:cNvSpPr/>
          <p:nvPr/>
        </p:nvSpPr>
        <p:spPr>
          <a:xfrm>
            <a:off x="0" y="6838950"/>
            <a:ext cx="12192000" cy="19050"/>
          </a:xfrm>
          <a:prstGeom prst="rect">
            <a:avLst/>
          </a:prstGeom>
          <a:solidFill>
            <a:srgbClr val="1E2BF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và dữ liệu</dc:title>
  <dc:subject>Đề xuất định hướng đầu tư AI trong phát triển phần mềm — Tổ chức (đề xuất, chưa được duyệt)</dc:subject>
  <dc:creator>Tổ chức</dc:creator>
  <cp:lastModifiedBy>Tổ chức</cp:lastModifiedBy>
  <cp:revision>1</cp:revision>
  <dcterms:created xsi:type="dcterms:W3CDTF">2026-09-28T15:39:34Z</dcterms:created>
  <dcterms:modified xsi:type="dcterms:W3CDTF">2026-09-28T15:39:34Z</dcterms:modified>
</cp:coreProperties>
</file>